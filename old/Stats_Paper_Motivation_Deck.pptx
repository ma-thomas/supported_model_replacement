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motivation deck. The claim it is careful not to make is that class imbalance inflates AUROC.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for the whole argument: the decision maker receives a selected set,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that people are pointing at when they say AUROC is inflated by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exact here, because a reviewer will challenge the loose version and the argument does not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disease detection the user cares far more about the positive class than the pair probability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precise formulation. Metrics built on precision account for this tradeoff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quality rather than ranking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floor equals the prevalence: 0.30 in a population with 30% positives, 0.003 in one with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concession is genuine. The framework is not proposing to replace AP in its own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the floor rather than an invented pair of AP values: the floor is exactly computable and makes the point without fabrication.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defect blocks meta-analysis and any leaderboard spanning more than one evaluation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finite-design chance problem, and it is why a chance correction has to be conditional on the realized design rather than on the class counts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Prior-probability adjustment at the score level, not a reweighting of the ranking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Chance-corrected form: (observed - chance) / (ceiling -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Corroboration in Popper's negative sense: what the claim survived, not the probability the observations lend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downward, each row is answering a defect in the row above it rather than replacing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contribution as a different estimand for a different scientific question, rather than as a better metric for the same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distinction rather than on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6"/>
        </a:solidFill>
      </p:bgPr>
    </p:bg>
    <p:spTree>
      <p:nvGrpSpPr>
        <p:cNvPr id="1" name=""/>
        <p:cNvGrpSpPr/>
        <p:nvPr/>
      </p:nvGrpSpPr>
      <p:grpSpPr>
        <a:xfrm>
          <a:off x="0" y="0"/>
          <a:ext cx="0" cy="0"/>
          <a:chOff x="0" y="0"/>
          <a:chExt cx="0" cy="0"/>
        </a:xfrm>
      </p:grpSpPr>
      <p:sp>
        <p:nvSpPr>
          <p:cNvPr id="2" name="Text 0"/>
          <p:cNvSpPr/>
          <p:nvPr/>
        </p:nvSpPr>
        <p:spPr>
          <a:xfrm>
            <a:off x="868680" y="1691640"/>
            <a:ext cx="9875520" cy="1828800"/>
          </a:xfrm>
          <a:prstGeom prst="rect">
            <a:avLst/>
          </a:prstGeom>
          <a:noFill/>
          <a:ln/>
        </p:spPr>
        <p:txBody>
          <a:bodyPr wrap="square" lIns="0" tIns="0" rIns="0" bIns="0" rtlCol="0" anchor="t"/>
          <a:lstStyle/>
          <a:p>
            <a:pPr indent="0" marL="0">
              <a:lnSpc>
                <a:spcPct val="112000"/>
              </a:lnSpc>
              <a:buNone/>
            </a:pPr>
            <a:r>
              <a:rPr lang="en-US" sz="4000" b="1" dirty="0">
                <a:solidFill>
                  <a:srgbClr val="F4F7FB"/>
                </a:solidFill>
                <a:latin typeface="Cambria" pitchFamily="34" charset="0"/>
                <a:ea typeface="Cambria" pitchFamily="34" charset="-122"/>
                <a:cs typeface="Cambria" pitchFamily="34" charset="-120"/>
              </a:rPr>
              <a:t>Why average precision</a:t>
            </a:r>
            <a:endParaRPr lang="en-US" sz="4000" dirty="0"/>
          </a:p>
          <a:p>
            <a:pPr indent="0" marL="0">
              <a:lnSpc>
                <a:spcPct val="112000"/>
              </a:lnSpc>
              <a:buNone/>
            </a:pPr>
            <a:r>
              <a:rPr lang="en-US" sz="4000" b="1" dirty="0">
                <a:solidFill>
                  <a:srgbClr val="F4F7FB"/>
                </a:solidFill>
                <a:latin typeface="Cambria" pitchFamily="34" charset="0"/>
                <a:ea typeface="Cambria" pitchFamily="34" charset="-122"/>
                <a:cs typeface="Cambria" pitchFamily="34" charset="-120"/>
              </a:rPr>
              <a:t>needs a declared population</a:t>
            </a:r>
            <a:endParaRPr lang="en-US" sz="4000" dirty="0"/>
          </a:p>
        </p:txBody>
      </p:sp>
      <p:sp>
        <p:nvSpPr>
          <p:cNvPr id="3" name="Text 1"/>
          <p:cNvSpPr/>
          <p:nvPr/>
        </p:nvSpPr>
        <p:spPr>
          <a:xfrm>
            <a:off x="868680" y="3703320"/>
            <a:ext cx="9875520" cy="411480"/>
          </a:xfrm>
          <a:prstGeom prst="rect">
            <a:avLst/>
          </a:prstGeom>
          <a:noFill/>
          <a:ln/>
        </p:spPr>
        <p:txBody>
          <a:bodyPr wrap="square" lIns="0" tIns="0" rIns="0" bIns="0" rtlCol="0" anchor="ctr"/>
          <a:lstStyle/>
          <a:p>
            <a:pPr indent="0" marL="0">
              <a:buNone/>
            </a:pPr>
            <a:r>
              <a:rPr lang="en-US" sz="2000" dirty="0">
                <a:solidFill>
                  <a:srgbClr val="9AA6B4"/>
                </a:solidFill>
                <a:latin typeface="Calibri" pitchFamily="34" charset="0"/>
                <a:ea typeface="Calibri" pitchFamily="34" charset="-122"/>
                <a:cs typeface="Calibri" pitchFamily="34" charset="-120"/>
              </a:rPr>
              <a:t>Motivation for a replication-based comparison statistic</a:t>
            </a:r>
            <a:endParaRPr lang="en-US" sz="2000" dirty="0"/>
          </a:p>
        </p:txBody>
      </p:sp>
      <p:sp>
        <p:nvSpPr>
          <p:cNvPr id="4" name="Text 2"/>
          <p:cNvSpPr/>
          <p:nvPr/>
        </p:nvSpPr>
        <p:spPr>
          <a:xfrm>
            <a:off x="868680" y="5989320"/>
            <a:ext cx="9875520" cy="320040"/>
          </a:xfrm>
          <a:prstGeom prst="rect">
            <a:avLst/>
          </a:prstGeom>
          <a:noFill/>
          <a:ln/>
        </p:spPr>
        <p:txBody>
          <a:bodyPr wrap="square" lIns="0" tIns="0" rIns="0" bIns="0" rtlCol="0" anchor="ctr"/>
          <a:lstStyle/>
          <a:p>
            <a:pPr indent="0" marL="0">
              <a:buNone/>
            </a:pPr>
            <a:r>
              <a:rPr lang="en-US" sz="1400" spc="80" kern="0" dirty="0">
                <a:solidFill>
                  <a:srgbClr val="7E8CA0"/>
                </a:solidFill>
                <a:latin typeface="Calibri" pitchFamily="34" charset="0"/>
                <a:ea typeface="Calibri" pitchFamily="34" charset="-122"/>
                <a:cs typeface="Calibri" pitchFamily="34" charset="-120"/>
              </a:rPr>
              <a:t>Marcus A. Thomas   ·   Research motivation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RARE-POSITIVE PROBLEM</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1,000 positives among 999,000 negatives</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01 / 16</a:t>
            </a:r>
            <a:endParaRPr lang="en-US" sz="1100" dirty="0"/>
          </a:p>
        </p:txBody>
      </p:sp>
      <p:sp>
        <p:nvSpPr>
          <p:cNvPr id="5" name="Text 3"/>
          <p:cNvSpPr/>
          <p:nvPr/>
        </p:nvSpPr>
        <p:spPr>
          <a:xfrm>
            <a:off x="868680" y="1874520"/>
            <a:ext cx="10454335" cy="41148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A screening problem in which one case in a thousand is positive.</a:t>
            </a:r>
            <a:endParaRPr lang="en-US" sz="1550" dirty="0"/>
          </a:p>
        </p:txBody>
      </p:sp>
      <p:sp>
        <p:nvSpPr>
          <p:cNvPr id="6" name="Shape 4"/>
          <p:cNvSpPr/>
          <p:nvPr/>
        </p:nvSpPr>
        <p:spPr>
          <a:xfrm>
            <a:off x="868680" y="2514600"/>
            <a:ext cx="3200400" cy="1737360"/>
          </a:xfrm>
          <a:prstGeom prst="roundRect">
            <a:avLst>
              <a:gd name="adj" fmla="val 3158"/>
            </a:avLst>
          </a:prstGeom>
          <a:solidFill>
            <a:srgbClr val="EFF2F6"/>
          </a:solidFill>
          <a:ln/>
        </p:spPr>
      </p:sp>
      <p:sp>
        <p:nvSpPr>
          <p:cNvPr id="7" name="Text 5"/>
          <p:cNvSpPr/>
          <p:nvPr/>
        </p:nvSpPr>
        <p:spPr>
          <a:xfrm>
            <a:off x="1252728" y="2788920"/>
            <a:ext cx="243230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POSITIVES</a:t>
            </a:r>
            <a:endParaRPr lang="en-US" sz="1200" dirty="0"/>
          </a:p>
        </p:txBody>
      </p:sp>
      <p:sp>
        <p:nvSpPr>
          <p:cNvPr id="8" name="Text 6"/>
          <p:cNvSpPr/>
          <p:nvPr/>
        </p:nvSpPr>
        <p:spPr>
          <a:xfrm>
            <a:off x="1252728" y="3099816"/>
            <a:ext cx="2432304" cy="777240"/>
          </a:xfrm>
          <a:prstGeom prst="rect">
            <a:avLst/>
          </a:prstGeom>
          <a:noFill/>
          <a:ln/>
        </p:spPr>
        <p:txBody>
          <a:bodyPr wrap="square" lIns="0" tIns="0" rIns="0" bIns="0" rtlCol="0" anchor="ctr"/>
          <a:lstStyle/>
          <a:p>
            <a:pPr indent="0" marL="0">
              <a:buNone/>
            </a:pPr>
            <a:r>
              <a:rPr lang="en-US" sz="4400" b="1" dirty="0">
                <a:solidFill>
                  <a:srgbClr val="1C2536"/>
                </a:solidFill>
                <a:latin typeface="Cambria" pitchFamily="34" charset="0"/>
                <a:ea typeface="Cambria" pitchFamily="34" charset="-122"/>
                <a:cs typeface="Cambria" pitchFamily="34" charset="-120"/>
              </a:rPr>
              <a:t>1,000</a:t>
            </a:r>
            <a:endParaRPr lang="en-US" sz="4400" dirty="0"/>
          </a:p>
        </p:txBody>
      </p:sp>
      <p:sp>
        <p:nvSpPr>
          <p:cNvPr id="9" name="Shape 7"/>
          <p:cNvSpPr/>
          <p:nvPr/>
        </p:nvSpPr>
        <p:spPr>
          <a:xfrm>
            <a:off x="4480560" y="2514600"/>
            <a:ext cx="3200400" cy="1737360"/>
          </a:xfrm>
          <a:prstGeom prst="roundRect">
            <a:avLst>
              <a:gd name="adj" fmla="val 3158"/>
            </a:avLst>
          </a:prstGeom>
          <a:solidFill>
            <a:srgbClr val="EFF2F6"/>
          </a:solidFill>
          <a:ln/>
        </p:spPr>
      </p:sp>
      <p:sp>
        <p:nvSpPr>
          <p:cNvPr id="10" name="Text 8"/>
          <p:cNvSpPr/>
          <p:nvPr/>
        </p:nvSpPr>
        <p:spPr>
          <a:xfrm>
            <a:off x="4864608" y="2788920"/>
            <a:ext cx="243230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NEGATIVES</a:t>
            </a:r>
            <a:endParaRPr lang="en-US" sz="1200" dirty="0"/>
          </a:p>
        </p:txBody>
      </p:sp>
      <p:sp>
        <p:nvSpPr>
          <p:cNvPr id="11" name="Text 9"/>
          <p:cNvSpPr/>
          <p:nvPr/>
        </p:nvSpPr>
        <p:spPr>
          <a:xfrm>
            <a:off x="4864608" y="3099816"/>
            <a:ext cx="2432304" cy="777240"/>
          </a:xfrm>
          <a:prstGeom prst="rect">
            <a:avLst/>
          </a:prstGeom>
          <a:noFill/>
          <a:ln/>
        </p:spPr>
        <p:txBody>
          <a:bodyPr wrap="square" lIns="0" tIns="0" rIns="0" bIns="0" rtlCol="0" anchor="ctr"/>
          <a:lstStyle/>
          <a:p>
            <a:pPr indent="0" marL="0">
              <a:buNone/>
            </a:pPr>
            <a:r>
              <a:rPr lang="en-US" sz="3800" b="1" dirty="0">
                <a:solidFill>
                  <a:srgbClr val="1C2536"/>
                </a:solidFill>
                <a:latin typeface="Cambria" pitchFamily="34" charset="0"/>
                <a:ea typeface="Cambria" pitchFamily="34" charset="-122"/>
                <a:cs typeface="Cambria" pitchFamily="34" charset="-120"/>
              </a:rPr>
              <a:t>999,000</a:t>
            </a:r>
            <a:endParaRPr lang="en-US" sz="3800" dirty="0"/>
          </a:p>
        </p:txBody>
      </p:sp>
      <p:sp>
        <p:nvSpPr>
          <p:cNvPr id="12" name="Shape 10"/>
          <p:cNvSpPr/>
          <p:nvPr/>
        </p:nvSpPr>
        <p:spPr>
          <a:xfrm>
            <a:off x="8092440" y="2514600"/>
            <a:ext cx="3246120" cy="1737360"/>
          </a:xfrm>
          <a:prstGeom prst="roundRect">
            <a:avLst>
              <a:gd name="adj" fmla="val 3158"/>
            </a:avLst>
          </a:prstGeom>
          <a:solidFill>
            <a:srgbClr val="EFF2F6"/>
          </a:solidFill>
          <a:ln/>
        </p:spPr>
      </p:sp>
      <p:sp>
        <p:nvSpPr>
          <p:cNvPr id="13" name="Text 11"/>
          <p:cNvSpPr/>
          <p:nvPr/>
        </p:nvSpPr>
        <p:spPr>
          <a:xfrm>
            <a:off x="8476488" y="2788920"/>
            <a:ext cx="247802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PREVALENCE</a:t>
            </a:r>
            <a:endParaRPr lang="en-US" sz="1200" dirty="0"/>
          </a:p>
        </p:txBody>
      </p:sp>
      <p:sp>
        <p:nvSpPr>
          <p:cNvPr id="14" name="Text 12"/>
          <p:cNvSpPr/>
          <p:nvPr/>
        </p:nvSpPr>
        <p:spPr>
          <a:xfrm>
            <a:off x="8476488" y="3099816"/>
            <a:ext cx="2478024" cy="777240"/>
          </a:xfrm>
          <a:prstGeom prst="rect">
            <a:avLst/>
          </a:prstGeom>
          <a:noFill/>
          <a:ln/>
        </p:spPr>
        <p:txBody>
          <a:bodyPr wrap="square" lIns="0" tIns="0" rIns="0" bIns="0" rtlCol="0" anchor="ctr"/>
          <a:lstStyle/>
          <a:p>
            <a:pPr indent="0" marL="0">
              <a:buNone/>
            </a:pPr>
            <a:r>
              <a:rPr lang="en-US" sz="4400" b="1" dirty="0">
                <a:solidFill>
                  <a:srgbClr val="A8412A"/>
                </a:solidFill>
                <a:latin typeface="Cambria" pitchFamily="34" charset="0"/>
                <a:ea typeface="Cambria" pitchFamily="34" charset="-122"/>
                <a:cs typeface="Cambria" pitchFamily="34" charset="-120"/>
              </a:rPr>
              <a:t>0.001</a:t>
            </a:r>
            <a:endParaRPr lang="en-US" sz="4400" dirty="0"/>
          </a:p>
        </p:txBody>
      </p:sp>
      <p:sp>
        <p:nvSpPr>
          <p:cNvPr id="15" name="Text 13"/>
          <p:cNvSpPr/>
          <p:nvPr/>
        </p:nvSpPr>
        <p:spPr>
          <a:xfrm>
            <a:off x="868680" y="4709160"/>
            <a:ext cx="10058400" cy="54864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The model is to rank cases so that a small selected set can be sent for review.</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RARE-POSITIVE PROBLEM</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 0.1% false-positive rate leaves 999 false positives</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02 / 16</a:t>
            </a:r>
            <a:endParaRPr lang="en-US" sz="1100" dirty="0"/>
          </a:p>
        </p:txBody>
      </p:sp>
      <p:sp>
        <p:nvSpPr>
          <p:cNvPr id="5" name="Text 3"/>
          <p:cNvSpPr/>
          <p:nvPr/>
        </p:nvSpPr>
        <p:spPr>
          <a:xfrm>
            <a:off x="868680" y="1874520"/>
            <a:ext cx="10454335" cy="41148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At 90% sensitivity and a false-positive rate of one in a thousand.</a:t>
            </a:r>
            <a:endParaRPr lang="en-US" sz="1550" dirty="0"/>
          </a:p>
        </p:txBody>
      </p:sp>
      <p:sp>
        <p:nvSpPr>
          <p:cNvPr id="6" name="Shape 4"/>
          <p:cNvSpPr/>
          <p:nvPr/>
        </p:nvSpPr>
        <p:spPr>
          <a:xfrm>
            <a:off x="868680" y="2514600"/>
            <a:ext cx="3200400" cy="1737360"/>
          </a:xfrm>
          <a:prstGeom prst="roundRect">
            <a:avLst>
              <a:gd name="adj" fmla="val 3158"/>
            </a:avLst>
          </a:prstGeom>
          <a:solidFill>
            <a:srgbClr val="EFF2F6"/>
          </a:solidFill>
          <a:ln/>
        </p:spPr>
      </p:sp>
      <p:sp>
        <p:nvSpPr>
          <p:cNvPr id="7" name="Text 5"/>
          <p:cNvSpPr/>
          <p:nvPr/>
        </p:nvSpPr>
        <p:spPr>
          <a:xfrm>
            <a:off x="1252728" y="2788920"/>
            <a:ext cx="243230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TRUE POSITIVES</a:t>
            </a:r>
            <a:endParaRPr lang="en-US" sz="1200" dirty="0"/>
          </a:p>
        </p:txBody>
      </p:sp>
      <p:sp>
        <p:nvSpPr>
          <p:cNvPr id="8" name="Text 6"/>
          <p:cNvSpPr/>
          <p:nvPr/>
        </p:nvSpPr>
        <p:spPr>
          <a:xfrm>
            <a:off x="1252728" y="3099816"/>
            <a:ext cx="2432304" cy="777240"/>
          </a:xfrm>
          <a:prstGeom prst="rect">
            <a:avLst/>
          </a:prstGeom>
          <a:noFill/>
          <a:ln/>
        </p:spPr>
        <p:txBody>
          <a:bodyPr wrap="square" lIns="0" tIns="0" rIns="0" bIns="0" rtlCol="0" anchor="ctr"/>
          <a:lstStyle/>
          <a:p>
            <a:pPr indent="0" marL="0">
              <a:buNone/>
            </a:pPr>
            <a:r>
              <a:rPr lang="en-US" sz="4400" b="1" dirty="0">
                <a:solidFill>
                  <a:srgbClr val="1C2536"/>
                </a:solidFill>
                <a:latin typeface="Cambria" pitchFamily="34" charset="0"/>
                <a:ea typeface="Cambria" pitchFamily="34" charset="-122"/>
                <a:cs typeface="Cambria" pitchFamily="34" charset="-120"/>
              </a:rPr>
              <a:t>900</a:t>
            </a:r>
            <a:endParaRPr lang="en-US" sz="4400" dirty="0"/>
          </a:p>
        </p:txBody>
      </p:sp>
      <p:sp>
        <p:nvSpPr>
          <p:cNvPr id="9" name="Shape 7"/>
          <p:cNvSpPr/>
          <p:nvPr/>
        </p:nvSpPr>
        <p:spPr>
          <a:xfrm>
            <a:off x="4480560" y="2514600"/>
            <a:ext cx="3200400" cy="1737360"/>
          </a:xfrm>
          <a:prstGeom prst="roundRect">
            <a:avLst>
              <a:gd name="adj" fmla="val 3158"/>
            </a:avLst>
          </a:prstGeom>
          <a:solidFill>
            <a:srgbClr val="EFF2F6"/>
          </a:solidFill>
          <a:ln/>
        </p:spPr>
      </p:sp>
      <p:sp>
        <p:nvSpPr>
          <p:cNvPr id="10" name="Text 8"/>
          <p:cNvSpPr/>
          <p:nvPr/>
        </p:nvSpPr>
        <p:spPr>
          <a:xfrm>
            <a:off x="4864608" y="2788920"/>
            <a:ext cx="243230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FALSE POSITIVES</a:t>
            </a:r>
            <a:endParaRPr lang="en-US" sz="1200" dirty="0"/>
          </a:p>
        </p:txBody>
      </p:sp>
      <p:sp>
        <p:nvSpPr>
          <p:cNvPr id="11" name="Text 9"/>
          <p:cNvSpPr/>
          <p:nvPr/>
        </p:nvSpPr>
        <p:spPr>
          <a:xfrm>
            <a:off x="4864608" y="3099816"/>
            <a:ext cx="2432304" cy="777240"/>
          </a:xfrm>
          <a:prstGeom prst="rect">
            <a:avLst/>
          </a:prstGeom>
          <a:noFill/>
          <a:ln/>
        </p:spPr>
        <p:txBody>
          <a:bodyPr wrap="square" lIns="0" tIns="0" rIns="0" bIns="0" rtlCol="0" anchor="ctr"/>
          <a:lstStyle/>
          <a:p>
            <a:pPr indent="0" marL="0">
              <a:buNone/>
            </a:pPr>
            <a:r>
              <a:rPr lang="en-US" sz="4400" b="1" dirty="0">
                <a:solidFill>
                  <a:srgbClr val="1C2536"/>
                </a:solidFill>
                <a:latin typeface="Cambria" pitchFamily="34" charset="0"/>
                <a:ea typeface="Cambria" pitchFamily="34" charset="-122"/>
                <a:cs typeface="Cambria" pitchFamily="34" charset="-120"/>
              </a:rPr>
              <a:t>999</a:t>
            </a:r>
            <a:endParaRPr lang="en-US" sz="4400" dirty="0"/>
          </a:p>
        </p:txBody>
      </p:sp>
      <p:sp>
        <p:nvSpPr>
          <p:cNvPr id="12" name="Shape 10"/>
          <p:cNvSpPr/>
          <p:nvPr/>
        </p:nvSpPr>
        <p:spPr>
          <a:xfrm>
            <a:off x="8092440" y="2514600"/>
            <a:ext cx="3246120" cy="1737360"/>
          </a:xfrm>
          <a:prstGeom prst="roundRect">
            <a:avLst>
              <a:gd name="adj" fmla="val 3158"/>
            </a:avLst>
          </a:prstGeom>
          <a:solidFill>
            <a:srgbClr val="EFF2F6"/>
          </a:solidFill>
          <a:ln/>
        </p:spPr>
      </p:sp>
      <p:sp>
        <p:nvSpPr>
          <p:cNvPr id="13" name="Text 11"/>
          <p:cNvSpPr/>
          <p:nvPr/>
        </p:nvSpPr>
        <p:spPr>
          <a:xfrm>
            <a:off x="8476488" y="2788920"/>
            <a:ext cx="247802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PRECISION</a:t>
            </a:r>
            <a:endParaRPr lang="en-US" sz="1200" dirty="0"/>
          </a:p>
        </p:txBody>
      </p:sp>
      <p:sp>
        <p:nvSpPr>
          <p:cNvPr id="14" name="Text 12"/>
          <p:cNvSpPr/>
          <p:nvPr/>
        </p:nvSpPr>
        <p:spPr>
          <a:xfrm>
            <a:off x="8476488" y="3099816"/>
            <a:ext cx="2478024" cy="777240"/>
          </a:xfrm>
          <a:prstGeom prst="rect">
            <a:avLst/>
          </a:prstGeom>
          <a:noFill/>
          <a:ln/>
        </p:spPr>
        <p:txBody>
          <a:bodyPr wrap="square" lIns="0" tIns="0" rIns="0" bIns="0" rtlCol="0" anchor="ctr"/>
          <a:lstStyle/>
          <a:p>
            <a:pPr indent="0" marL="0">
              <a:buNone/>
            </a:pPr>
            <a:r>
              <a:rPr lang="en-US" sz="4400" b="1" dirty="0">
                <a:solidFill>
                  <a:srgbClr val="A8412A"/>
                </a:solidFill>
                <a:latin typeface="Cambria" pitchFamily="34" charset="0"/>
                <a:ea typeface="Cambria" pitchFamily="34" charset="-122"/>
                <a:cs typeface="Cambria" pitchFamily="34" charset="-120"/>
              </a:rPr>
              <a:t>0.47</a:t>
            </a:r>
            <a:endParaRPr lang="en-US" sz="4400" dirty="0"/>
          </a:p>
        </p:txBody>
      </p:sp>
      <p:sp>
        <p:nvSpPr>
          <p:cNvPr id="15" name="Text 13"/>
          <p:cNvSpPr/>
          <p:nvPr/>
        </p:nvSpPr>
        <p:spPr>
          <a:xfrm>
            <a:off x="868680" y="4709160"/>
            <a:ext cx="10058400" cy="82296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Almost half of the flagged cases are wrong, although the false-positive rate is a tenth of one percent. The rate is small because the negative class is large.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RARE-POSITIVE PROBLEM</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AUROC does not move with prevalence</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03 / 16</a:t>
            </a:r>
            <a:endParaRPr lang="en-US" sz="1100" dirty="0"/>
          </a:p>
        </p:txBody>
      </p:sp>
      <p:pic>
        <p:nvPicPr>
          <p:cNvPr id="5" name="Image 0" descr="/sessions/wizardly-upbeat-edison/mnt/outputs/math/auroc_def.png">    </p:cNvPr>
          <p:cNvPicPr>
            <a:picLocks noChangeAspect="1"/>
          </p:cNvPicPr>
          <p:nvPr/>
        </p:nvPicPr>
        <p:blipFill>
          <a:blip r:embed="rId1"/>
          <a:stretch>
            <a:fillRect/>
          </a:stretch>
        </p:blipFill>
        <p:spPr>
          <a:xfrm>
            <a:off x="3672688" y="2011680"/>
            <a:ext cx="4846320" cy="753144"/>
          </a:xfrm>
          <a:prstGeom prst="rect">
            <a:avLst/>
          </a:prstGeom>
        </p:spPr>
      </p:pic>
      <p:sp>
        <p:nvSpPr>
          <p:cNvPr id="6" name="Text 3"/>
          <p:cNvSpPr/>
          <p:nvPr/>
        </p:nvSpPr>
        <p:spPr>
          <a:xfrm>
            <a:off x="868680" y="3337560"/>
            <a:ext cx="10058400" cy="118872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AUROC is the probability that a random positive outranks a random negative. Hold the two class-conditional score distributions fixed, change the class balance from a half to a hundredth, and the expected value is unchanged.</a:t>
            </a:r>
            <a:endParaRPr lang="en-US" sz="1900" dirty="0"/>
          </a:p>
        </p:txBody>
      </p:sp>
      <p:sp>
        <p:nvSpPr>
          <p:cNvPr id="7" name="Text 4"/>
          <p:cNvSpPr/>
          <p:nvPr/>
        </p:nvSpPr>
        <p:spPr>
          <a:xfrm>
            <a:off x="868680" y="4800600"/>
            <a:ext cx="10058400" cy="64008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Prevalence invariance is one of its defining properties, so the common claim that imbalance inflates AUROC is not correct as stated.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RARE-POSITIVE PROBLEM</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Every positive–negative pair counts the same</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04 / 16</a:t>
            </a:r>
            <a:endParaRPr lang="en-US" sz="1100" dirty="0"/>
          </a:p>
        </p:txBody>
      </p:sp>
      <p:sp>
        <p:nvSpPr>
          <p:cNvPr id="5" name="Text 3"/>
          <p:cNvSpPr/>
          <p:nvPr/>
        </p:nvSpPr>
        <p:spPr>
          <a:xfrm>
            <a:off x="868680" y="1965960"/>
            <a:ext cx="10058400" cy="114300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The pair probability weights the two classes equally, so a large negative class delivers high specificity without much ranking ability, and the curve looks strong while the flagged set stays impure.</a:t>
            </a:r>
            <a:endParaRPr lang="en-US" sz="1900" dirty="0"/>
          </a:p>
        </p:txBody>
      </p:sp>
      <p:sp>
        <p:nvSpPr>
          <p:cNvPr id="6" name="Shape 4"/>
          <p:cNvSpPr/>
          <p:nvPr/>
        </p:nvSpPr>
        <p:spPr>
          <a:xfrm>
            <a:off x="868680" y="3429000"/>
            <a:ext cx="4983480" cy="1828800"/>
          </a:xfrm>
          <a:prstGeom prst="roundRect">
            <a:avLst>
              <a:gd name="adj" fmla="val 3000"/>
            </a:avLst>
          </a:prstGeom>
          <a:solidFill>
            <a:srgbClr val="EFF2F6"/>
          </a:solidFill>
          <a:ln/>
        </p:spPr>
      </p:sp>
      <p:sp>
        <p:nvSpPr>
          <p:cNvPr id="7" name="Text 5"/>
          <p:cNvSpPr/>
          <p:nvPr/>
        </p:nvSpPr>
        <p:spPr>
          <a:xfrm>
            <a:off x="1216152" y="3703320"/>
            <a:ext cx="4288536" cy="548640"/>
          </a:xfrm>
          <a:prstGeom prst="rect">
            <a:avLst/>
          </a:prstGeom>
          <a:noFill/>
          <a:ln/>
        </p:spPr>
        <p:txBody>
          <a:bodyPr wrap="square" lIns="0" tIns="0" rIns="0" bIns="0" rtlCol="0" anchor="t"/>
          <a:lstStyle/>
          <a:p>
            <a:pPr indent="0" marL="0">
              <a:buNone/>
            </a:pPr>
            <a:r>
              <a:rPr lang="en-US" sz="1900" b="1" dirty="0">
                <a:solidFill>
                  <a:srgbClr val="1C2536"/>
                </a:solidFill>
                <a:latin typeface="Cambria" pitchFamily="34" charset="0"/>
                <a:ea typeface="Cambria" pitchFamily="34" charset="-122"/>
                <a:cs typeface="Cambria" pitchFamily="34" charset="-120"/>
              </a:rPr>
              <a:t>What AUROC measures</a:t>
            </a:r>
            <a:endParaRPr lang="en-US" sz="1900" dirty="0"/>
          </a:p>
        </p:txBody>
      </p:sp>
      <p:sp>
        <p:nvSpPr>
          <p:cNvPr id="8" name="Text 6"/>
          <p:cNvSpPr/>
          <p:nvPr/>
        </p:nvSpPr>
        <p:spPr>
          <a:xfrm>
            <a:off x="1216152" y="4297680"/>
            <a:ext cx="4288536" cy="731520"/>
          </a:xfrm>
          <a:prstGeom prst="rect">
            <a:avLst/>
          </a:prstGeom>
          <a:noFill/>
          <a:ln/>
        </p:spPr>
        <p:txBody>
          <a:bodyPr wrap="square" lIns="0" tIns="0" rIns="0" bIns="0" rtlCol="0" anchor="t"/>
          <a:lstStyle/>
          <a:p>
            <a:pPr indent="0" marL="0">
              <a:lnSpc>
                <a:spcPct val="128000"/>
              </a:lnSpc>
              <a:buNone/>
            </a:pPr>
            <a:r>
              <a:rPr lang="en-US" sz="1550" dirty="0">
                <a:solidFill>
                  <a:srgbClr val="1C2536"/>
                </a:solidFill>
                <a:latin typeface="Calibri" pitchFamily="34" charset="0"/>
                <a:ea typeface="Calibri" pitchFamily="34" charset="-122"/>
                <a:cs typeface="Calibri" pitchFamily="34" charset="-120"/>
              </a:rPr>
              <a:t>The quality of the ranking, over all positive–negative pairs.</a:t>
            </a:r>
            <a:endParaRPr lang="en-US" sz="1550" dirty="0"/>
          </a:p>
        </p:txBody>
      </p:sp>
      <p:sp>
        <p:nvSpPr>
          <p:cNvPr id="9" name="Shape 7"/>
          <p:cNvSpPr/>
          <p:nvPr/>
        </p:nvSpPr>
        <p:spPr>
          <a:xfrm>
            <a:off x="6355080" y="3429000"/>
            <a:ext cx="4983480" cy="1828800"/>
          </a:xfrm>
          <a:prstGeom prst="roundRect">
            <a:avLst>
              <a:gd name="adj" fmla="val 3000"/>
            </a:avLst>
          </a:prstGeom>
          <a:solidFill>
            <a:srgbClr val="EFF2F6"/>
          </a:solidFill>
          <a:ln/>
        </p:spPr>
      </p:sp>
      <p:sp>
        <p:nvSpPr>
          <p:cNvPr id="10" name="Text 8"/>
          <p:cNvSpPr/>
          <p:nvPr/>
        </p:nvSpPr>
        <p:spPr>
          <a:xfrm>
            <a:off x="6702552" y="3703320"/>
            <a:ext cx="4288536" cy="548640"/>
          </a:xfrm>
          <a:prstGeom prst="rect">
            <a:avLst/>
          </a:prstGeom>
          <a:noFill/>
          <a:ln/>
        </p:spPr>
        <p:txBody>
          <a:bodyPr wrap="square" lIns="0" tIns="0" rIns="0" bIns="0" rtlCol="0" anchor="t"/>
          <a:lstStyle/>
          <a:p>
            <a:pPr indent="0" marL="0">
              <a:buNone/>
            </a:pPr>
            <a:r>
              <a:rPr lang="en-US" sz="1900" b="1" dirty="0">
                <a:solidFill>
                  <a:srgbClr val="A8412A"/>
                </a:solidFill>
                <a:latin typeface="Cambria" pitchFamily="34" charset="0"/>
                <a:ea typeface="Cambria" pitchFamily="34" charset="-122"/>
                <a:cs typeface="Cambria" pitchFamily="34" charset="-120"/>
              </a:rPr>
              <a:t>What it does not measure</a:t>
            </a:r>
            <a:endParaRPr lang="en-US" sz="1900" dirty="0"/>
          </a:p>
        </p:txBody>
      </p:sp>
      <p:sp>
        <p:nvSpPr>
          <p:cNvPr id="11" name="Text 9"/>
          <p:cNvSpPr/>
          <p:nvPr/>
        </p:nvSpPr>
        <p:spPr>
          <a:xfrm>
            <a:off x="6702552" y="4297680"/>
            <a:ext cx="4288536" cy="731520"/>
          </a:xfrm>
          <a:prstGeom prst="rect">
            <a:avLst/>
          </a:prstGeom>
          <a:noFill/>
          <a:ln/>
        </p:spPr>
        <p:txBody>
          <a:bodyPr wrap="square" lIns="0" tIns="0" rIns="0" bIns="0" rtlCol="0" anchor="t"/>
          <a:lstStyle/>
          <a:p>
            <a:pPr indent="0" marL="0">
              <a:lnSpc>
                <a:spcPct val="128000"/>
              </a:lnSpc>
              <a:buNone/>
            </a:pPr>
            <a:r>
              <a:rPr lang="en-US" sz="1550" dirty="0">
                <a:solidFill>
                  <a:srgbClr val="1C2536"/>
                </a:solidFill>
                <a:latin typeface="Calibri" pitchFamily="34" charset="0"/>
                <a:ea typeface="Calibri" pitchFamily="34" charset="-122"/>
                <a:cs typeface="Calibri" pitchFamily="34" charset="-120"/>
              </a:rPr>
              <a:t>The composition of the set the decision maker actually receives.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RARE-POSITIVE PROBLEM</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AUROC stays fixed while precision collapses</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05 / 16</a:t>
            </a:r>
            <a:endParaRPr lang="en-US" sz="1100" dirty="0"/>
          </a:p>
        </p:txBody>
      </p:sp>
      <p:sp>
        <p:nvSpPr>
          <p:cNvPr id="5" name="Text 3"/>
          <p:cNvSpPr/>
          <p:nvPr/>
        </p:nvSpPr>
        <p:spPr>
          <a:xfrm>
            <a:off x="868680" y="2011680"/>
            <a:ext cx="10058400" cy="1234440"/>
          </a:xfrm>
          <a:prstGeom prst="rect">
            <a:avLst/>
          </a:prstGeom>
          <a:noFill/>
          <a:ln/>
        </p:spPr>
        <p:txBody>
          <a:bodyPr wrap="square" lIns="0" tIns="0" rIns="0" bIns="0" rtlCol="0" anchor="t"/>
          <a:lstStyle/>
          <a:p>
            <a:pPr indent="0" marL="0">
              <a:lnSpc>
                <a:spcPct val="130000"/>
              </a:lnSpc>
              <a:buNone/>
            </a:pPr>
            <a:r>
              <a:rPr lang="en-US" sz="2000" dirty="0">
                <a:solidFill>
                  <a:srgbClr val="1C2536"/>
                </a:solidFill>
                <a:latin typeface="Calibri" pitchFamily="34" charset="0"/>
                <a:ea typeface="Calibri" pitchFamily="34" charset="-122"/>
                <a:cs typeface="Calibri" pitchFamily="34" charset="-120"/>
              </a:rPr>
              <a:t>AUROC remains prevalence-invariant, yet in a rare-positive problem it can present an optimistic picture of retrieval, because a very low false-positive rate may still correspond to a large number of false positives.</a:t>
            </a:r>
            <a:endParaRPr lang="en-US" sz="2000" dirty="0"/>
          </a:p>
        </p:txBody>
      </p:sp>
      <p:sp>
        <p:nvSpPr>
          <p:cNvPr id="6" name="Text 4"/>
          <p:cNvSpPr/>
          <p:nvPr/>
        </p:nvSpPr>
        <p:spPr>
          <a:xfrm>
            <a:off x="868680" y="3611880"/>
            <a:ext cx="10058400" cy="54864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Stated this way the motivation survives review, because nothing in it turns on a property AUROC does not have.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AVERAGE PRECISION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AP measures the purity of the retrieved set</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06 / 16</a:t>
            </a:r>
            <a:endParaRPr lang="en-US" sz="1100" dirty="0"/>
          </a:p>
        </p:txBody>
      </p:sp>
      <p:pic>
        <p:nvPicPr>
          <p:cNvPr id="5" name="Image 0" descr="/sessions/wizardly-upbeat-edison/mnt/outputs/math/prec_simple.png">    </p:cNvPr>
          <p:cNvPicPr>
            <a:picLocks noChangeAspect="1"/>
          </p:cNvPicPr>
          <p:nvPr/>
        </p:nvPicPr>
        <p:blipFill>
          <a:blip r:embed="rId1"/>
          <a:stretch>
            <a:fillRect/>
          </a:stretch>
        </p:blipFill>
        <p:spPr>
          <a:xfrm>
            <a:off x="4541368" y="2011680"/>
            <a:ext cx="3108960" cy="887566"/>
          </a:xfrm>
          <a:prstGeom prst="rect">
            <a:avLst/>
          </a:prstGeom>
        </p:spPr>
      </p:pic>
      <p:sp>
        <p:nvSpPr>
          <p:cNvPr id="6" name="Text 3"/>
          <p:cNvSpPr/>
          <p:nvPr/>
        </p:nvSpPr>
        <p:spPr>
          <a:xfrm>
            <a:off x="868680" y="3520440"/>
            <a:ext cx="10058400" cy="100584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Average precision aggregates precision as the ranking is traversed, so it answers the operational question directly: of the cases this model puts forward, how many are right?</a:t>
            </a:r>
            <a:endParaRPr lang="en-US" sz="1900" dirty="0"/>
          </a:p>
        </p:txBody>
      </p:sp>
      <p:sp>
        <p:nvSpPr>
          <p:cNvPr id="7" name="Text 4"/>
          <p:cNvSpPr/>
          <p:nvPr/>
        </p:nvSpPr>
        <p:spPr>
          <a:xfrm>
            <a:off x="868680" y="4800600"/>
            <a:ext cx="10058400" cy="54864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This is why AP is preferred to AUROC where positives are rare and the selected set is what gets acted on.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AVERAGE PRECISION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AP falls as the positives become rarer</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07 / 16</a:t>
            </a:r>
            <a:endParaRPr lang="en-US" sz="1100" dirty="0"/>
          </a:p>
        </p:txBody>
      </p:sp>
      <p:pic>
        <p:nvPicPr>
          <p:cNvPr id="5" name="Image 0" descr="/sessions/wizardly-upbeat-edison/mnt/outputs/math/ap_floor.png">    </p:cNvPr>
          <p:cNvPicPr>
            <a:picLocks noChangeAspect="1"/>
          </p:cNvPicPr>
          <p:nvPr/>
        </p:nvPicPr>
        <p:blipFill>
          <a:blip r:embed="rId1"/>
          <a:stretch>
            <a:fillRect/>
          </a:stretch>
        </p:blipFill>
        <p:spPr>
          <a:xfrm>
            <a:off x="2804008" y="2148840"/>
            <a:ext cx="6583680" cy="627551"/>
          </a:xfrm>
          <a:prstGeom prst="rect">
            <a:avLst/>
          </a:prstGeom>
        </p:spPr>
      </p:pic>
      <p:sp>
        <p:nvSpPr>
          <p:cNvPr id="6" name="Text 3"/>
          <p:cNvSpPr/>
          <p:nvPr/>
        </p:nvSpPr>
        <p:spPr>
          <a:xfrm>
            <a:off x="868680" y="3429000"/>
            <a:ext cx="10058400" cy="100584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Under a fixed ranking, average precision decreases with the prevalence of the population it is evaluated in, and its random-ranking floor is that prevalence itself.</a:t>
            </a:r>
            <a:endParaRPr lang="en-US" sz="1900" dirty="0"/>
          </a:p>
        </p:txBody>
      </p:sp>
      <p:sp>
        <p:nvSpPr>
          <p:cNvPr id="7" name="Text 4"/>
          <p:cNvSpPr/>
          <p:nvPr/>
        </p:nvSpPr>
        <p:spPr>
          <a:xfrm>
            <a:off x="868680" y="4709160"/>
            <a:ext cx="10058400" cy="54864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The dependence is real and it is not an artefact. The question is whether it is wanted.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AVERAGE PRECISION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Within one dataset the dependence is a feature</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08 / 16</a:t>
            </a:r>
            <a:endParaRPr lang="en-US" sz="1100" dirty="0"/>
          </a:p>
        </p:txBody>
      </p:sp>
      <p:sp>
        <p:nvSpPr>
          <p:cNvPr id="5" name="Text 3"/>
          <p:cNvSpPr/>
          <p:nvPr/>
        </p:nvSpPr>
        <p:spPr>
          <a:xfrm>
            <a:off x="868680" y="1965960"/>
            <a:ext cx="10058400" cy="91440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When every model faces the same population, the shared floor cancels out of any comparison, so differences in AP are differences in ranking ability.</a:t>
            </a:r>
            <a:endParaRPr lang="en-US" sz="1900" dirty="0"/>
          </a:p>
        </p:txBody>
      </p:sp>
      <p:sp>
        <p:nvSpPr>
          <p:cNvPr id="6" name="Text 4"/>
          <p:cNvSpPr/>
          <p:nvPr/>
        </p:nvSpPr>
        <p:spPr>
          <a:xfrm>
            <a:off x="868680" y="3063240"/>
            <a:ext cx="10058400" cy="91440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It also answers the practical question in the units the analyst cares about: investigate the flagged cases, and this is how often you are right.</a:t>
            </a:r>
            <a:endParaRPr lang="en-US" sz="1900" dirty="0"/>
          </a:p>
        </p:txBody>
      </p:sp>
      <p:sp>
        <p:nvSpPr>
          <p:cNvPr id="7" name="Text 5"/>
          <p:cNvSpPr/>
          <p:nvPr/>
        </p:nvSpPr>
        <p:spPr>
          <a:xfrm>
            <a:off x="868680" y="4297680"/>
            <a:ext cx="10058400" cy="59436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This is why AP became standard in retrieval benchmarks and shared-task evaluations, and nothing about it needs repair there.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AVERAGE PRECISION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Two datasets, floors of 0.30 and 0.003</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09 / 16</a:t>
            </a:r>
            <a:endParaRPr lang="en-US" sz="1100" dirty="0"/>
          </a:p>
        </p:txBody>
      </p:sp>
      <p:sp>
        <p:nvSpPr>
          <p:cNvPr id="5" name="Text 3"/>
          <p:cNvSpPr/>
          <p:nvPr/>
        </p:nvSpPr>
        <p:spPr>
          <a:xfrm>
            <a:off x="868680" y="1874520"/>
            <a:ext cx="10454335" cy="41148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Two models of identical ranking ability, one evaluated on each dataset.</a:t>
            </a:r>
            <a:endParaRPr lang="en-US" sz="1550" dirty="0"/>
          </a:p>
        </p:txBody>
      </p:sp>
      <p:sp>
        <p:nvSpPr>
          <p:cNvPr id="6" name="Shape 4"/>
          <p:cNvSpPr/>
          <p:nvPr/>
        </p:nvSpPr>
        <p:spPr>
          <a:xfrm>
            <a:off x="868680" y="2514600"/>
            <a:ext cx="4983480" cy="2194560"/>
          </a:xfrm>
          <a:prstGeom prst="roundRect">
            <a:avLst>
              <a:gd name="adj" fmla="val 2500"/>
            </a:avLst>
          </a:prstGeom>
          <a:solidFill>
            <a:srgbClr val="EFF2F6"/>
          </a:solidFill>
          <a:ln/>
        </p:spPr>
      </p:sp>
      <p:sp>
        <p:nvSpPr>
          <p:cNvPr id="7" name="Text 5"/>
          <p:cNvSpPr/>
          <p:nvPr/>
        </p:nvSpPr>
        <p:spPr>
          <a:xfrm>
            <a:off x="1252728" y="2788920"/>
            <a:ext cx="421538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DATASET A · PREVALENCE 30%</a:t>
            </a:r>
            <a:endParaRPr lang="en-US" sz="1200" dirty="0"/>
          </a:p>
        </p:txBody>
      </p:sp>
      <p:sp>
        <p:nvSpPr>
          <p:cNvPr id="8" name="Text 6"/>
          <p:cNvSpPr/>
          <p:nvPr/>
        </p:nvSpPr>
        <p:spPr>
          <a:xfrm>
            <a:off x="1252728" y="3099816"/>
            <a:ext cx="4215384" cy="777240"/>
          </a:xfrm>
          <a:prstGeom prst="rect">
            <a:avLst/>
          </a:prstGeom>
          <a:noFill/>
          <a:ln/>
        </p:spPr>
        <p:txBody>
          <a:bodyPr wrap="square" lIns="0" tIns="0" rIns="0" bIns="0" rtlCol="0" anchor="ctr"/>
          <a:lstStyle/>
          <a:p>
            <a:pPr indent="0" marL="0">
              <a:buNone/>
            </a:pPr>
            <a:r>
              <a:rPr lang="en-US" sz="4400" b="1" dirty="0">
                <a:solidFill>
                  <a:srgbClr val="A8412A"/>
                </a:solidFill>
                <a:latin typeface="Cambria" pitchFamily="34" charset="0"/>
                <a:ea typeface="Cambria" pitchFamily="34" charset="-122"/>
                <a:cs typeface="Cambria" pitchFamily="34" charset="-120"/>
              </a:rPr>
              <a:t>0.30</a:t>
            </a:r>
            <a:endParaRPr lang="en-US" sz="4400" dirty="0"/>
          </a:p>
        </p:txBody>
      </p:sp>
      <p:sp>
        <p:nvSpPr>
          <p:cNvPr id="9" name="Text 7"/>
          <p:cNvSpPr/>
          <p:nvPr/>
        </p:nvSpPr>
        <p:spPr>
          <a:xfrm>
            <a:off x="1252728" y="3913632"/>
            <a:ext cx="4215384" cy="548640"/>
          </a:xfrm>
          <a:prstGeom prst="rect">
            <a:avLst/>
          </a:prstGeom>
          <a:noFill/>
          <a:ln/>
        </p:spPr>
        <p:txBody>
          <a:bodyPr wrap="square" lIns="0" tIns="0" rIns="0" bIns="0" rtlCol="0" anchor="t"/>
          <a:lstStyle/>
          <a:p>
            <a:pPr indent="0" marL="0">
              <a:lnSpc>
                <a:spcPct val="122000"/>
              </a:lnSpc>
              <a:buNone/>
            </a:pPr>
            <a:r>
              <a:rPr lang="en-US" sz="1500" dirty="0">
                <a:solidFill>
                  <a:srgbClr val="1C2536"/>
                </a:solidFill>
                <a:latin typeface="Calibri" pitchFamily="34" charset="0"/>
                <a:ea typeface="Calibri" pitchFamily="34" charset="-122"/>
                <a:cs typeface="Calibri" pitchFamily="34" charset="-120"/>
              </a:rPr>
              <a:t>the value a random ranking attains</a:t>
            </a:r>
            <a:endParaRPr lang="en-US" sz="1500" dirty="0"/>
          </a:p>
        </p:txBody>
      </p:sp>
      <p:sp>
        <p:nvSpPr>
          <p:cNvPr id="10" name="Shape 8"/>
          <p:cNvSpPr/>
          <p:nvPr/>
        </p:nvSpPr>
        <p:spPr>
          <a:xfrm>
            <a:off x="6355080" y="2514600"/>
            <a:ext cx="4983480" cy="2194560"/>
          </a:xfrm>
          <a:prstGeom prst="roundRect">
            <a:avLst>
              <a:gd name="adj" fmla="val 2500"/>
            </a:avLst>
          </a:prstGeom>
          <a:solidFill>
            <a:srgbClr val="EFF2F6"/>
          </a:solidFill>
          <a:ln/>
        </p:spPr>
      </p:sp>
      <p:sp>
        <p:nvSpPr>
          <p:cNvPr id="11" name="Text 9"/>
          <p:cNvSpPr/>
          <p:nvPr/>
        </p:nvSpPr>
        <p:spPr>
          <a:xfrm>
            <a:off x="6739128" y="2788920"/>
            <a:ext cx="4215384" cy="274320"/>
          </a:xfrm>
          <a:prstGeom prst="rect">
            <a:avLst/>
          </a:prstGeom>
          <a:noFill/>
          <a:ln/>
        </p:spPr>
        <p:txBody>
          <a:bodyPr wrap="square" lIns="0" tIns="0" rIns="0" bIns="0" rtlCol="0" anchor="ctr"/>
          <a:lstStyle/>
          <a:p>
            <a:pPr indent="0" marL="0">
              <a:buNone/>
            </a:pPr>
            <a:r>
              <a:rPr lang="en-US" sz="1200" b="1" spc="160" kern="0" dirty="0">
                <a:solidFill>
                  <a:srgbClr val="6E7A8C"/>
                </a:solidFill>
                <a:latin typeface="Calibri" pitchFamily="34" charset="0"/>
                <a:ea typeface="Calibri" pitchFamily="34" charset="-122"/>
                <a:cs typeface="Calibri" pitchFamily="34" charset="-120"/>
              </a:rPr>
              <a:t>DATASET B · PREVALENCE 0.3%</a:t>
            </a:r>
            <a:endParaRPr lang="en-US" sz="1200" dirty="0"/>
          </a:p>
        </p:txBody>
      </p:sp>
      <p:sp>
        <p:nvSpPr>
          <p:cNvPr id="12" name="Text 10"/>
          <p:cNvSpPr/>
          <p:nvPr/>
        </p:nvSpPr>
        <p:spPr>
          <a:xfrm>
            <a:off x="6739128" y="3099816"/>
            <a:ext cx="4215384" cy="777240"/>
          </a:xfrm>
          <a:prstGeom prst="rect">
            <a:avLst/>
          </a:prstGeom>
          <a:noFill/>
          <a:ln/>
        </p:spPr>
        <p:txBody>
          <a:bodyPr wrap="square" lIns="0" tIns="0" rIns="0" bIns="0" rtlCol="0" anchor="ctr"/>
          <a:lstStyle/>
          <a:p>
            <a:pPr indent="0" marL="0">
              <a:buNone/>
            </a:pPr>
            <a:r>
              <a:rPr lang="en-US" sz="4400" b="1" dirty="0">
                <a:solidFill>
                  <a:srgbClr val="A8412A"/>
                </a:solidFill>
                <a:latin typeface="Cambria" pitchFamily="34" charset="0"/>
                <a:ea typeface="Cambria" pitchFamily="34" charset="-122"/>
                <a:cs typeface="Cambria" pitchFamily="34" charset="-120"/>
              </a:rPr>
              <a:t>0.003</a:t>
            </a:r>
            <a:endParaRPr lang="en-US" sz="4400" dirty="0"/>
          </a:p>
        </p:txBody>
      </p:sp>
      <p:sp>
        <p:nvSpPr>
          <p:cNvPr id="13" name="Text 11"/>
          <p:cNvSpPr/>
          <p:nvPr/>
        </p:nvSpPr>
        <p:spPr>
          <a:xfrm>
            <a:off x="6739128" y="3913632"/>
            <a:ext cx="4215384" cy="548640"/>
          </a:xfrm>
          <a:prstGeom prst="rect">
            <a:avLst/>
          </a:prstGeom>
          <a:noFill/>
          <a:ln/>
        </p:spPr>
        <p:txBody>
          <a:bodyPr wrap="square" lIns="0" tIns="0" rIns="0" bIns="0" rtlCol="0" anchor="t"/>
          <a:lstStyle/>
          <a:p>
            <a:pPr indent="0" marL="0">
              <a:lnSpc>
                <a:spcPct val="122000"/>
              </a:lnSpc>
              <a:buNone/>
            </a:pPr>
            <a:r>
              <a:rPr lang="en-US" sz="1500" dirty="0">
                <a:solidFill>
                  <a:srgbClr val="1C2536"/>
                </a:solidFill>
                <a:latin typeface="Calibri" pitchFamily="34" charset="0"/>
                <a:ea typeface="Calibri" pitchFamily="34" charset="-122"/>
                <a:cs typeface="Calibri" pitchFamily="34" charset="-120"/>
              </a:rPr>
              <a:t>the value a random ranking attains</a:t>
            </a:r>
            <a:endParaRPr lang="en-US" sz="1500" dirty="0"/>
          </a:p>
        </p:txBody>
      </p:sp>
      <p:sp>
        <p:nvSpPr>
          <p:cNvPr id="14" name="Text 12"/>
          <p:cNvSpPr/>
          <p:nvPr/>
        </p:nvSpPr>
        <p:spPr>
          <a:xfrm>
            <a:off x="868680" y="5074920"/>
            <a:ext cx="10058400" cy="64008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The two reports differ by a factor of a hundred in their floor alone, before any ranking ability is measured.</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AVERAGE PRECISION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AP conflates ranking ability with the population</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10 / 16</a:t>
            </a:r>
            <a:endParaRPr lang="en-US" sz="1100" dirty="0"/>
          </a:p>
        </p:txBody>
      </p:sp>
      <p:sp>
        <p:nvSpPr>
          <p:cNvPr id="5" name="Text 3"/>
          <p:cNvSpPr/>
          <p:nvPr/>
        </p:nvSpPr>
        <p:spPr>
          <a:xfrm>
            <a:off x="868680" y="1965960"/>
            <a:ext cx="10058400" cy="123444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A comparison across datasets mixes two quantities: how well the model ranks, and how rare positives were where it was measured. For a claim about diseases, sites or cohorts, only the first is the object of interest.</a:t>
            </a:r>
            <a:endParaRPr lang="en-US" sz="1900" dirty="0"/>
          </a:p>
        </p:txBody>
      </p:sp>
      <p:sp>
        <p:nvSpPr>
          <p:cNvPr id="6" name="Text 4"/>
          <p:cNvSpPr/>
          <p:nvPr/>
        </p:nvSpPr>
        <p:spPr>
          <a:xfrm>
            <a:off x="868680" y="3520440"/>
            <a:ext cx="10058400" cy="54864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The metric changed because the evaluation environment changed, not because the model became worse.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AVERAGE PRECISION</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Attainable AP also depends on the design</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11 / 16</a:t>
            </a:r>
            <a:endParaRPr lang="en-US" sz="1100" dirty="0"/>
          </a:p>
        </p:txBody>
      </p:sp>
      <p:sp>
        <p:nvSpPr>
          <p:cNvPr id="5" name="Text 3"/>
          <p:cNvSpPr/>
          <p:nvPr/>
        </p:nvSpPr>
        <p:spPr>
          <a:xfrm>
            <a:off x="868680" y="1965960"/>
            <a:ext cx="10058400" cy="123444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The floor of a finite design is not the population floor. Under random ordering, stepwise AP sits above the prevalence, by an amount depending on the number of positive cases and on how many distinct scores the model produces.</a:t>
            </a:r>
            <a:endParaRPr lang="en-US" sz="1900" dirty="0"/>
          </a:p>
        </p:txBody>
      </p:sp>
      <p:sp>
        <p:nvSpPr>
          <p:cNvPr id="6" name="Text 4"/>
          <p:cNvSpPr/>
          <p:nvPr/>
        </p:nvSpPr>
        <p:spPr>
          <a:xfrm>
            <a:off x="868680" y="3520440"/>
            <a:ext cx="10058400" cy="45720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Equal prevalence is therefore not sufficient to place two studies on one scale.</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DIFFERENT ESTIMAND</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Evaluate every model at one declared prevalence</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12 / 16</a:t>
            </a:r>
            <a:endParaRPr lang="en-US" sz="1100" dirty="0"/>
          </a:p>
        </p:txBody>
      </p:sp>
      <p:sp>
        <p:nvSpPr>
          <p:cNvPr id="5" name="Text 3"/>
          <p:cNvSpPr/>
          <p:nvPr/>
        </p:nvSpPr>
        <p:spPr>
          <a:xfrm>
            <a:off x="868680" y="1965960"/>
            <a:ext cx="10058400" cy="123444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Prior standardization rewrites the class weights so the observed class-conditional ranking behaviour is read in a population with a declared prior. The ranking evidence is untouched; only the population it is read in changes.</a:t>
            </a:r>
            <a:endParaRPr lang="en-US" sz="1900" dirty="0"/>
          </a:p>
        </p:txBody>
      </p:sp>
      <p:sp>
        <p:nvSpPr>
          <p:cNvPr id="6" name="Text 4"/>
          <p:cNvSpPr/>
          <p:nvPr/>
        </p:nvSpPr>
        <p:spPr>
          <a:xfrm>
            <a:off x="868680" y="3566160"/>
            <a:ext cx="10058400" cy="73152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It requires the class-conditional score behaviour to hold in the target population, which is a transport claim to be declared in advance rather than a diagnostic to be read off the data.</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DIFFERENT ESTIMAND</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Chance normalization removes the new baseline</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13 / 16</a:t>
            </a:r>
            <a:endParaRPr lang="en-US" sz="1100" dirty="0"/>
          </a:p>
        </p:txBody>
      </p:sp>
      <p:pic>
        <p:nvPicPr>
          <p:cNvPr id="5" name="Image 0" descr="/sessions/wizardly-upbeat-edison/mnt/outputs/math/cnap.png">    </p:cNvPr>
          <p:cNvPicPr>
            <a:picLocks noChangeAspect="1"/>
          </p:cNvPicPr>
          <p:nvPr/>
        </p:nvPicPr>
        <p:blipFill>
          <a:blip r:embed="rId1"/>
          <a:stretch>
            <a:fillRect/>
          </a:stretch>
        </p:blipFill>
        <p:spPr>
          <a:xfrm>
            <a:off x="3628716" y="2057400"/>
            <a:ext cx="4934262" cy="1143000"/>
          </a:xfrm>
          <a:prstGeom prst="rect">
            <a:avLst/>
          </a:prstGeom>
        </p:spPr>
      </p:pic>
      <p:sp>
        <p:nvSpPr>
          <p:cNvPr id="6" name="Text 3"/>
          <p:cNvSpPr/>
          <p:nvPr/>
        </p:nvSpPr>
        <p:spPr>
          <a:xfrm>
            <a:off x="868680" y="3749040"/>
            <a:ext cx="10058400" cy="118872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Standardizing names the population but leaves each prevalence with its own random-ranking floor. Subtracting that floor and rescaling gives every target prevalence the same endpoints: zero for random ranking, one for perfect ranking.</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DIFFERENT ESTIMAND</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Replication support asks whether the level recurs</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14 / 16</a:t>
            </a:r>
            <a:endParaRPr lang="en-US" sz="1100" dirty="0"/>
          </a:p>
        </p:txBody>
      </p:sp>
      <p:pic>
        <p:nvPicPr>
          <p:cNvPr id="5" name="Image 0" descr="/sessions/wizardly-upbeat-edison/mnt/outputs/math/support.png">    </p:cNvPr>
          <p:cNvPicPr>
            <a:picLocks noChangeAspect="1"/>
          </p:cNvPicPr>
          <p:nvPr/>
        </p:nvPicPr>
        <p:blipFill>
          <a:blip r:embed="rId1"/>
          <a:stretch>
            <a:fillRect/>
          </a:stretch>
        </p:blipFill>
        <p:spPr>
          <a:xfrm>
            <a:off x="3718408" y="2103120"/>
            <a:ext cx="4754880" cy="1053948"/>
          </a:xfrm>
          <a:prstGeom prst="rect">
            <a:avLst/>
          </a:prstGeom>
        </p:spPr>
      </p:pic>
      <p:sp>
        <p:nvSpPr>
          <p:cNvPr id="6" name="Text 3"/>
          <p:cNvSpPr/>
          <p:nvPr/>
        </p:nvSpPr>
        <p:spPr>
          <a:xfrm>
            <a:off x="868680" y="3520440"/>
            <a:ext cx="10058400" cy="114300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A standardized value from one evaluation still says nothing about new units, a new site, or another development run. Support reports the level jointly retained by K independent replications of a declared regime.</a:t>
            </a:r>
            <a:endParaRPr lang="en-US" sz="1900" dirty="0"/>
          </a:p>
        </p:txBody>
      </p:sp>
      <p:sp>
        <p:nvSpPr>
          <p:cNvPr id="7" name="Text 4"/>
          <p:cNvSpPr/>
          <p:nvPr/>
        </p:nvSpPr>
        <p:spPr>
          <a:xfrm>
            <a:off x="868680" y="4937760"/>
            <a:ext cx="10058400" cy="548640"/>
          </a:xfrm>
          <a:prstGeom prst="rect">
            <a:avLst/>
          </a:prstGeom>
          <a:noFill/>
          <a:ln/>
        </p:spPr>
        <p:txBody>
          <a:bodyPr wrap="square" lIns="0" tIns="0" rIns="0" bIns="0" rtlCol="0" anchor="t"/>
          <a:lstStyle/>
          <a:p>
            <a:pPr indent="0" marL="0">
              <a:lnSpc>
                <a:spcPct val="128000"/>
              </a:lnSpc>
              <a:buNone/>
            </a:pPr>
            <a:r>
              <a:rPr lang="en-US" sz="1550" dirty="0">
                <a:solidFill>
                  <a:srgbClr val="6E7A8C"/>
                </a:solidFill>
                <a:latin typeface="Calibri" pitchFamily="34" charset="0"/>
                <a:ea typeface="Calibri" pitchFamily="34" charset="-122"/>
                <a:cs typeface="Calibri" pitchFamily="34" charset="-120"/>
              </a:rPr>
              <a:t>A stronger replication cannot compensate for a level another replication has already defeated.</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DIFFERENT ESTIMAND</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Each step repaired the previous step's defect</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15 / 16</a:t>
            </a:r>
            <a:endParaRPr lang="en-US" sz="1100" dirty="0"/>
          </a:p>
        </p:txBody>
      </p:sp>
      <p:sp>
        <p:nvSpPr>
          <p:cNvPr id="5" name="Text 3"/>
          <p:cNvSpPr/>
          <p:nvPr/>
        </p:nvSpPr>
        <p:spPr>
          <a:xfrm>
            <a:off x="868680" y="1920240"/>
            <a:ext cx="3200400" cy="457200"/>
          </a:xfrm>
          <a:prstGeom prst="rect">
            <a:avLst/>
          </a:prstGeom>
          <a:noFill/>
          <a:ln/>
        </p:spPr>
        <p:txBody>
          <a:bodyPr wrap="square" lIns="0" tIns="0" rIns="0" bIns="0" rtlCol="0" anchor="t"/>
          <a:lstStyle/>
          <a:p>
            <a:pPr indent="0" marL="0">
              <a:buNone/>
            </a:pPr>
            <a:r>
              <a:rPr lang="en-US" sz="1700" b="1" dirty="0">
                <a:solidFill>
                  <a:srgbClr val="1C2536"/>
                </a:solidFill>
                <a:latin typeface="Cambria" pitchFamily="34" charset="0"/>
                <a:ea typeface="Cambria" pitchFamily="34" charset="-122"/>
                <a:cs typeface="Cambria" pitchFamily="34" charset="-120"/>
              </a:rPr>
              <a:t>Accuracy</a:t>
            </a:r>
            <a:endParaRPr lang="en-US" sz="1700" dirty="0"/>
          </a:p>
        </p:txBody>
      </p:sp>
      <p:sp>
        <p:nvSpPr>
          <p:cNvPr id="6" name="Text 4"/>
          <p:cNvSpPr/>
          <p:nvPr/>
        </p:nvSpPr>
        <p:spPr>
          <a:xfrm>
            <a:off x="4297680" y="1920240"/>
            <a:ext cx="6995160" cy="548640"/>
          </a:xfrm>
          <a:prstGeom prst="rect">
            <a:avLst/>
          </a:prstGeom>
          <a:noFill/>
          <a:ln/>
        </p:spPr>
        <p:txBody>
          <a:bodyPr wrap="square" lIns="0" tIns="0" rIns="0" bIns="0" rtlCol="0" anchor="t"/>
          <a:lstStyle/>
          <a:p>
            <a:pPr indent="0" marL="0">
              <a:lnSpc>
                <a:spcPct val="122000"/>
              </a:lnSpc>
              <a:buNone/>
            </a:pPr>
            <a:r>
              <a:rPr lang="en-US" sz="1600" dirty="0">
                <a:solidFill>
                  <a:srgbClr val="1C2536"/>
                </a:solidFill>
                <a:latin typeface="Calibri" pitchFamily="34" charset="0"/>
                <a:ea typeface="Calibri" pitchFamily="34" charset="-122"/>
                <a:cs typeface="Calibri" pitchFamily="34" charset="-120"/>
              </a:rPr>
              <a:t>Misleading wherever the classes are imbalanced.</a:t>
            </a:r>
            <a:endParaRPr lang="en-US" sz="1600" dirty="0"/>
          </a:p>
        </p:txBody>
      </p:sp>
      <p:sp>
        <p:nvSpPr>
          <p:cNvPr id="7" name="Text 5"/>
          <p:cNvSpPr/>
          <p:nvPr/>
        </p:nvSpPr>
        <p:spPr>
          <a:xfrm>
            <a:off x="868680" y="2743200"/>
            <a:ext cx="3200400" cy="457200"/>
          </a:xfrm>
          <a:prstGeom prst="rect">
            <a:avLst/>
          </a:prstGeom>
          <a:noFill/>
          <a:ln/>
        </p:spPr>
        <p:txBody>
          <a:bodyPr wrap="square" lIns="0" tIns="0" rIns="0" bIns="0" rtlCol="0" anchor="t"/>
          <a:lstStyle/>
          <a:p>
            <a:pPr indent="0" marL="0">
              <a:buNone/>
            </a:pPr>
            <a:r>
              <a:rPr lang="en-US" sz="1700" b="1" dirty="0">
                <a:solidFill>
                  <a:srgbClr val="1C2536"/>
                </a:solidFill>
                <a:latin typeface="Cambria" pitchFamily="34" charset="0"/>
                <a:ea typeface="Cambria" pitchFamily="34" charset="-122"/>
                <a:cs typeface="Cambria" pitchFamily="34" charset="-120"/>
              </a:rPr>
              <a:t>AUROC</a:t>
            </a:r>
            <a:endParaRPr lang="en-US" sz="1700" dirty="0"/>
          </a:p>
        </p:txBody>
      </p:sp>
      <p:sp>
        <p:nvSpPr>
          <p:cNvPr id="8" name="Text 6"/>
          <p:cNvSpPr/>
          <p:nvPr/>
        </p:nvSpPr>
        <p:spPr>
          <a:xfrm>
            <a:off x="4297680" y="2743200"/>
            <a:ext cx="6995160" cy="548640"/>
          </a:xfrm>
          <a:prstGeom prst="rect">
            <a:avLst/>
          </a:prstGeom>
          <a:noFill/>
          <a:ln/>
        </p:spPr>
        <p:txBody>
          <a:bodyPr wrap="square" lIns="0" tIns="0" rIns="0" bIns="0" rtlCol="0" anchor="t"/>
          <a:lstStyle/>
          <a:p>
            <a:pPr indent="0" marL="0">
              <a:lnSpc>
                <a:spcPct val="122000"/>
              </a:lnSpc>
              <a:buNone/>
            </a:pPr>
            <a:r>
              <a:rPr lang="en-US" sz="1600" dirty="0">
                <a:solidFill>
                  <a:srgbClr val="1C2536"/>
                </a:solidFill>
                <a:latin typeface="Calibri" pitchFamily="34" charset="0"/>
                <a:ea typeface="Calibri" pitchFamily="34" charset="-122"/>
                <a:cs typeface="Calibri" pitchFamily="34" charset="-120"/>
              </a:rPr>
              <a:t>Threshold-free and prevalence-invariant, and silent on the flagged set.</a:t>
            </a:r>
            <a:endParaRPr lang="en-US" sz="1600" dirty="0"/>
          </a:p>
        </p:txBody>
      </p:sp>
      <p:sp>
        <p:nvSpPr>
          <p:cNvPr id="9" name="Text 7"/>
          <p:cNvSpPr/>
          <p:nvPr/>
        </p:nvSpPr>
        <p:spPr>
          <a:xfrm>
            <a:off x="868680" y="3566160"/>
            <a:ext cx="3200400" cy="457200"/>
          </a:xfrm>
          <a:prstGeom prst="rect">
            <a:avLst/>
          </a:prstGeom>
          <a:noFill/>
          <a:ln/>
        </p:spPr>
        <p:txBody>
          <a:bodyPr wrap="square" lIns="0" tIns="0" rIns="0" bIns="0" rtlCol="0" anchor="t"/>
          <a:lstStyle/>
          <a:p>
            <a:pPr indent="0" marL="0">
              <a:buNone/>
            </a:pPr>
            <a:r>
              <a:rPr lang="en-US" sz="1700" b="1" dirty="0">
                <a:solidFill>
                  <a:srgbClr val="1C2536"/>
                </a:solidFill>
                <a:latin typeface="Cambria" pitchFamily="34" charset="0"/>
                <a:ea typeface="Cambria" pitchFamily="34" charset="-122"/>
                <a:cs typeface="Cambria" pitchFamily="34" charset="-120"/>
              </a:rPr>
              <a:t>AP</a:t>
            </a:r>
            <a:endParaRPr lang="en-US" sz="1700" dirty="0"/>
          </a:p>
        </p:txBody>
      </p:sp>
      <p:sp>
        <p:nvSpPr>
          <p:cNvPr id="10" name="Text 8"/>
          <p:cNvSpPr/>
          <p:nvPr/>
        </p:nvSpPr>
        <p:spPr>
          <a:xfrm>
            <a:off x="4297680" y="3566160"/>
            <a:ext cx="6995160" cy="548640"/>
          </a:xfrm>
          <a:prstGeom prst="rect">
            <a:avLst/>
          </a:prstGeom>
          <a:noFill/>
          <a:ln/>
        </p:spPr>
        <p:txBody>
          <a:bodyPr wrap="square" lIns="0" tIns="0" rIns="0" bIns="0" rtlCol="0" anchor="t"/>
          <a:lstStyle/>
          <a:p>
            <a:pPr indent="0" marL="0">
              <a:lnSpc>
                <a:spcPct val="122000"/>
              </a:lnSpc>
              <a:buNone/>
            </a:pPr>
            <a:r>
              <a:rPr lang="en-US" sz="1600" dirty="0">
                <a:solidFill>
                  <a:srgbClr val="1C2536"/>
                </a:solidFill>
                <a:latin typeface="Calibri" pitchFamily="34" charset="0"/>
                <a:ea typeface="Calibri" pitchFamily="34" charset="-122"/>
                <a:cs typeface="Calibri" pitchFamily="34" charset="-120"/>
              </a:rPr>
              <a:t>Measures the flagged set, and is indexed to the population it was measured in.</a:t>
            </a:r>
            <a:endParaRPr lang="en-US" sz="1600" dirty="0"/>
          </a:p>
        </p:txBody>
      </p:sp>
      <p:sp>
        <p:nvSpPr>
          <p:cNvPr id="11" name="Text 9"/>
          <p:cNvSpPr/>
          <p:nvPr/>
        </p:nvSpPr>
        <p:spPr>
          <a:xfrm>
            <a:off x="868680" y="4389120"/>
            <a:ext cx="3200400" cy="457200"/>
          </a:xfrm>
          <a:prstGeom prst="rect">
            <a:avLst/>
          </a:prstGeom>
          <a:noFill/>
          <a:ln/>
        </p:spPr>
        <p:txBody>
          <a:bodyPr wrap="square" lIns="0" tIns="0" rIns="0" bIns="0" rtlCol="0" anchor="t"/>
          <a:lstStyle/>
          <a:p>
            <a:pPr indent="0" marL="0">
              <a:buNone/>
            </a:pPr>
            <a:r>
              <a:rPr lang="en-US" sz="1700" b="1" dirty="0">
                <a:solidFill>
                  <a:srgbClr val="1C2536"/>
                </a:solidFill>
                <a:latin typeface="Cambria" pitchFamily="34" charset="0"/>
                <a:ea typeface="Cambria" pitchFamily="34" charset="-122"/>
                <a:cs typeface="Cambria" pitchFamily="34" charset="-120"/>
              </a:rPr>
              <a:t>Standardized, normalized AP</a:t>
            </a:r>
            <a:endParaRPr lang="en-US" sz="1700" dirty="0"/>
          </a:p>
        </p:txBody>
      </p:sp>
      <p:sp>
        <p:nvSpPr>
          <p:cNvPr id="12" name="Text 10"/>
          <p:cNvSpPr/>
          <p:nvPr/>
        </p:nvSpPr>
        <p:spPr>
          <a:xfrm>
            <a:off x="4297680" y="4389120"/>
            <a:ext cx="6995160" cy="548640"/>
          </a:xfrm>
          <a:prstGeom prst="rect">
            <a:avLst/>
          </a:prstGeom>
          <a:noFill/>
          <a:ln/>
        </p:spPr>
        <p:txBody>
          <a:bodyPr wrap="square" lIns="0" tIns="0" rIns="0" bIns="0" rtlCol="0" anchor="t"/>
          <a:lstStyle/>
          <a:p>
            <a:pPr indent="0" marL="0">
              <a:lnSpc>
                <a:spcPct val="122000"/>
              </a:lnSpc>
              <a:buNone/>
            </a:pPr>
            <a:r>
              <a:rPr lang="en-US" sz="1600" dirty="0">
                <a:solidFill>
                  <a:srgbClr val="1C2536"/>
                </a:solidFill>
                <a:latin typeface="Calibri" pitchFamily="34" charset="0"/>
                <a:ea typeface="Calibri" pitchFamily="34" charset="-122"/>
                <a:cs typeface="Calibri" pitchFamily="34" charset="-120"/>
              </a:rPr>
              <a:t>Comparable across populations, and read from a single evaluation.</a:t>
            </a:r>
            <a:endParaRPr lang="en-US" sz="1600" dirty="0"/>
          </a:p>
        </p:txBody>
      </p:sp>
      <p:sp>
        <p:nvSpPr>
          <p:cNvPr id="13" name="Text 11"/>
          <p:cNvSpPr/>
          <p:nvPr/>
        </p:nvSpPr>
        <p:spPr>
          <a:xfrm>
            <a:off x="868680" y="5212080"/>
            <a:ext cx="3200400" cy="457200"/>
          </a:xfrm>
          <a:prstGeom prst="rect">
            <a:avLst/>
          </a:prstGeom>
          <a:noFill/>
          <a:ln/>
        </p:spPr>
        <p:txBody>
          <a:bodyPr wrap="square" lIns="0" tIns="0" rIns="0" bIns="0" rtlCol="0" anchor="t"/>
          <a:lstStyle/>
          <a:p>
            <a:pPr indent="0" marL="0">
              <a:buNone/>
            </a:pPr>
            <a:r>
              <a:rPr lang="en-US" sz="1700" b="1" dirty="0">
                <a:solidFill>
                  <a:srgbClr val="A8412A"/>
                </a:solidFill>
                <a:latin typeface="Cambria" pitchFamily="34" charset="0"/>
                <a:ea typeface="Cambria" pitchFamily="34" charset="-122"/>
                <a:cs typeface="Cambria" pitchFamily="34" charset="-120"/>
              </a:rPr>
              <a:t>Replication support</a:t>
            </a:r>
            <a:endParaRPr lang="en-US" sz="1700" dirty="0"/>
          </a:p>
        </p:txBody>
      </p:sp>
      <p:sp>
        <p:nvSpPr>
          <p:cNvPr id="14" name="Text 12"/>
          <p:cNvSpPr/>
          <p:nvPr/>
        </p:nvSpPr>
        <p:spPr>
          <a:xfrm>
            <a:off x="4297680" y="5212080"/>
            <a:ext cx="6995160" cy="548640"/>
          </a:xfrm>
          <a:prstGeom prst="rect">
            <a:avLst/>
          </a:prstGeom>
          <a:noFill/>
          <a:ln/>
        </p:spPr>
        <p:txBody>
          <a:bodyPr wrap="square" lIns="0" tIns="0" rIns="0" bIns="0" rtlCol="0" anchor="t"/>
          <a:lstStyle/>
          <a:p>
            <a:pPr indent="0" marL="0">
              <a:lnSpc>
                <a:spcPct val="122000"/>
              </a:lnSpc>
              <a:buNone/>
            </a:pPr>
            <a:r>
              <a:rPr lang="en-US" sz="1600" dirty="0">
                <a:solidFill>
                  <a:srgbClr val="1C2536"/>
                </a:solidFill>
                <a:latin typeface="Calibri" pitchFamily="34" charset="0"/>
                <a:ea typeface="Calibri" pitchFamily="34" charset="-122"/>
                <a:cs typeface="Calibri" pitchFamily="34" charset="-120"/>
              </a:rPr>
              <a:t>A level that survived declared repetition.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457200"/>
            <a:ext cx="10454335" cy="274320"/>
          </a:xfrm>
          <a:prstGeom prst="rect">
            <a:avLst/>
          </a:prstGeom>
          <a:noFill/>
          <a:ln/>
        </p:spPr>
        <p:txBody>
          <a:bodyPr wrap="square" lIns="0" tIns="0" rIns="0" bIns="0" rtlCol="0" anchor="ctr"/>
          <a:lstStyle/>
          <a:p>
            <a:pPr indent="0" marL="0">
              <a:buNone/>
            </a:pPr>
            <a:r>
              <a:rPr lang="en-US" sz="1200" b="1" spc="220" kern="0" dirty="0">
                <a:solidFill>
                  <a:srgbClr val="6E7A8C"/>
                </a:solidFill>
                <a:latin typeface="Calibri" pitchFamily="34" charset="0"/>
                <a:ea typeface="Calibri" pitchFamily="34" charset="-122"/>
                <a:cs typeface="Calibri" pitchFamily="34" charset="-120"/>
              </a:rPr>
              <a:t>A DIFFERENT ESTIMAND</a:t>
            </a:r>
            <a:endParaRPr lang="en-US" sz="1200" dirty="0"/>
          </a:p>
        </p:txBody>
      </p:sp>
      <p:sp>
        <p:nvSpPr>
          <p:cNvPr id="3" name="Text 1"/>
          <p:cNvSpPr/>
          <p:nvPr/>
        </p:nvSpPr>
        <p:spPr>
          <a:xfrm>
            <a:off x="868680" y="841248"/>
            <a:ext cx="10454335" cy="914400"/>
          </a:xfrm>
          <a:prstGeom prst="rect">
            <a:avLst/>
          </a:prstGeom>
          <a:noFill/>
          <a:ln/>
        </p:spPr>
        <p:txBody>
          <a:bodyPr wrap="square" lIns="0" tIns="0" rIns="0" bIns="0" rtlCol="0" anchor="t"/>
          <a:lstStyle/>
          <a:p>
            <a:pPr indent="0" marL="0">
              <a:lnSpc>
                <a:spcPct val="105000"/>
              </a:lnSpc>
              <a:buNone/>
            </a:pPr>
            <a:r>
              <a:rPr lang="en-US" sz="3300" b="1" dirty="0">
                <a:solidFill>
                  <a:srgbClr val="1C2536"/>
                </a:solidFill>
                <a:latin typeface="Cambria" pitchFamily="34" charset="0"/>
                <a:ea typeface="Cambria" pitchFamily="34" charset="-122"/>
                <a:cs typeface="Cambria" pitchFamily="34" charset="-120"/>
              </a:rPr>
              <a:t>AP and this statistic answer different questions</a:t>
            </a:r>
            <a:endParaRPr lang="en-US" sz="3300" dirty="0"/>
          </a:p>
        </p:txBody>
      </p:sp>
      <p:sp>
        <p:nvSpPr>
          <p:cNvPr id="4" name="Text 2"/>
          <p:cNvSpPr/>
          <p:nvPr/>
        </p:nvSpPr>
        <p:spPr>
          <a:xfrm>
            <a:off x="868680" y="6199632"/>
            <a:ext cx="1280160" cy="292608"/>
          </a:xfrm>
          <a:prstGeom prst="rect">
            <a:avLst/>
          </a:prstGeom>
          <a:noFill/>
          <a:ln/>
        </p:spPr>
        <p:txBody>
          <a:bodyPr wrap="square" lIns="0" tIns="0" rIns="0" bIns="0" rtlCol="0" anchor="ctr"/>
          <a:lstStyle/>
          <a:p>
            <a:pPr indent="0" marL="0">
              <a:buNone/>
            </a:pPr>
            <a:r>
              <a:rPr lang="en-US" sz="1100" dirty="0">
                <a:solidFill>
                  <a:srgbClr val="B6BFCB"/>
                </a:solidFill>
                <a:latin typeface="Calibri" pitchFamily="34" charset="0"/>
                <a:ea typeface="Calibri" pitchFamily="34" charset="-122"/>
                <a:cs typeface="Calibri" pitchFamily="34" charset="-120"/>
              </a:rPr>
              <a:t>16 / 16</a:t>
            </a:r>
            <a:endParaRPr lang="en-US" sz="1100" dirty="0"/>
          </a:p>
        </p:txBody>
      </p:sp>
      <p:sp>
        <p:nvSpPr>
          <p:cNvPr id="5" name="Shape 3"/>
          <p:cNvSpPr/>
          <p:nvPr/>
        </p:nvSpPr>
        <p:spPr>
          <a:xfrm>
            <a:off x="868680" y="2103120"/>
            <a:ext cx="4983480" cy="2651760"/>
          </a:xfrm>
          <a:prstGeom prst="roundRect">
            <a:avLst>
              <a:gd name="adj" fmla="val 2069"/>
            </a:avLst>
          </a:prstGeom>
          <a:solidFill>
            <a:srgbClr val="EFF2F6"/>
          </a:solidFill>
          <a:ln/>
        </p:spPr>
      </p:sp>
      <p:sp>
        <p:nvSpPr>
          <p:cNvPr id="6" name="Text 4"/>
          <p:cNvSpPr/>
          <p:nvPr/>
        </p:nvSpPr>
        <p:spPr>
          <a:xfrm>
            <a:off x="1216152" y="2377440"/>
            <a:ext cx="4288536" cy="548640"/>
          </a:xfrm>
          <a:prstGeom prst="rect">
            <a:avLst/>
          </a:prstGeom>
          <a:noFill/>
          <a:ln/>
        </p:spPr>
        <p:txBody>
          <a:bodyPr wrap="square" lIns="0" tIns="0" rIns="0" bIns="0" rtlCol="0" anchor="t"/>
          <a:lstStyle/>
          <a:p>
            <a:pPr indent="0" marL="0">
              <a:buNone/>
            </a:pPr>
            <a:r>
              <a:rPr lang="en-US" sz="1900" b="1" dirty="0">
                <a:solidFill>
                  <a:srgbClr val="1C2536"/>
                </a:solidFill>
                <a:latin typeface="Cambria" pitchFamily="34" charset="0"/>
                <a:ea typeface="Cambria" pitchFamily="34" charset="-122"/>
                <a:cs typeface="Cambria" pitchFamily="34" charset="-120"/>
              </a:rPr>
              <a:t>Average precision</a:t>
            </a:r>
            <a:endParaRPr lang="en-US" sz="1900" dirty="0"/>
          </a:p>
        </p:txBody>
      </p:sp>
      <p:sp>
        <p:nvSpPr>
          <p:cNvPr id="7" name="Text 5"/>
          <p:cNvSpPr/>
          <p:nvPr/>
        </p:nvSpPr>
        <p:spPr>
          <a:xfrm>
            <a:off x="1216152" y="2971800"/>
            <a:ext cx="4288536" cy="1554480"/>
          </a:xfrm>
          <a:prstGeom prst="rect">
            <a:avLst/>
          </a:prstGeom>
          <a:noFill/>
          <a:ln/>
        </p:spPr>
        <p:txBody>
          <a:bodyPr wrap="square" lIns="0" tIns="0" rIns="0" bIns="0" rtlCol="0" anchor="t"/>
          <a:lstStyle/>
          <a:p>
            <a:pPr indent="0" marL="0">
              <a:lnSpc>
                <a:spcPct val="128000"/>
              </a:lnSpc>
              <a:buNone/>
            </a:pPr>
            <a:r>
              <a:rPr lang="en-US" sz="1550" dirty="0">
                <a:solidFill>
                  <a:srgbClr val="1C2536"/>
                </a:solidFill>
                <a:latin typeface="Calibri" pitchFamily="34" charset="0"/>
                <a:ea typeface="Calibri" pitchFamily="34" charset="-122"/>
                <a:cs typeface="Calibri" pitchFamily="34" charset="-120"/>
              </a:rPr>
              <a:t>How well did this model retrieve positives in this population?</a:t>
            </a:r>
            <a:endParaRPr lang="en-US" sz="1550" dirty="0"/>
          </a:p>
        </p:txBody>
      </p:sp>
      <p:sp>
        <p:nvSpPr>
          <p:cNvPr id="8" name="Shape 6"/>
          <p:cNvSpPr/>
          <p:nvPr/>
        </p:nvSpPr>
        <p:spPr>
          <a:xfrm>
            <a:off x="6355080" y="2103120"/>
            <a:ext cx="4983480" cy="2651760"/>
          </a:xfrm>
          <a:prstGeom prst="roundRect">
            <a:avLst>
              <a:gd name="adj" fmla="val 2069"/>
            </a:avLst>
          </a:prstGeom>
          <a:solidFill>
            <a:srgbClr val="EFF2F6"/>
          </a:solidFill>
          <a:ln/>
        </p:spPr>
      </p:sp>
      <p:sp>
        <p:nvSpPr>
          <p:cNvPr id="9" name="Text 7"/>
          <p:cNvSpPr/>
          <p:nvPr/>
        </p:nvSpPr>
        <p:spPr>
          <a:xfrm>
            <a:off x="6702552" y="2377440"/>
            <a:ext cx="4288536" cy="548640"/>
          </a:xfrm>
          <a:prstGeom prst="rect">
            <a:avLst/>
          </a:prstGeom>
          <a:noFill/>
          <a:ln/>
        </p:spPr>
        <p:txBody>
          <a:bodyPr wrap="square" lIns="0" tIns="0" rIns="0" bIns="0" rtlCol="0" anchor="t"/>
          <a:lstStyle/>
          <a:p>
            <a:pPr indent="0" marL="0">
              <a:buNone/>
            </a:pPr>
            <a:r>
              <a:rPr lang="en-US" sz="1900" b="1" dirty="0">
                <a:solidFill>
                  <a:srgbClr val="A8412A"/>
                </a:solidFill>
                <a:latin typeface="Cambria" pitchFamily="34" charset="0"/>
                <a:ea typeface="Cambria" pitchFamily="34" charset="-122"/>
                <a:cs typeface="Cambria" pitchFamily="34" charset="-120"/>
              </a:rPr>
              <a:t>Supported CNAP</a:t>
            </a:r>
            <a:endParaRPr lang="en-US" sz="1900" dirty="0"/>
          </a:p>
        </p:txBody>
      </p:sp>
      <p:sp>
        <p:nvSpPr>
          <p:cNvPr id="10" name="Text 8"/>
          <p:cNvSpPr/>
          <p:nvPr/>
        </p:nvSpPr>
        <p:spPr>
          <a:xfrm>
            <a:off x="6702552" y="2971800"/>
            <a:ext cx="4288536" cy="1554480"/>
          </a:xfrm>
          <a:prstGeom prst="rect">
            <a:avLst/>
          </a:prstGeom>
          <a:noFill/>
          <a:ln/>
        </p:spPr>
        <p:txBody>
          <a:bodyPr wrap="square" lIns="0" tIns="0" rIns="0" bIns="0" rtlCol="0" anchor="t"/>
          <a:lstStyle/>
          <a:p>
            <a:pPr indent="0" marL="0">
              <a:lnSpc>
                <a:spcPct val="128000"/>
              </a:lnSpc>
              <a:buNone/>
            </a:pPr>
            <a:r>
              <a:rPr lang="en-US" sz="1550" dirty="0">
                <a:solidFill>
                  <a:srgbClr val="1C2536"/>
                </a:solidFill>
                <a:latin typeface="Calibri" pitchFamily="34" charset="0"/>
                <a:ea typeface="Calibri" pitchFamily="34" charset="-122"/>
                <a:cs typeface="Calibri" pitchFamily="34" charset="-120"/>
              </a:rPr>
              <a:t>How well would it retrieve under a declared reference population, and how much support is there that the level would recur?</a:t>
            </a:r>
            <a:endParaRPr lang="en-US" sz="1550" dirty="0"/>
          </a:p>
        </p:txBody>
      </p:sp>
      <p:sp>
        <p:nvSpPr>
          <p:cNvPr id="11" name="Text 9"/>
          <p:cNvSpPr/>
          <p:nvPr/>
        </p:nvSpPr>
        <p:spPr>
          <a:xfrm>
            <a:off x="868680" y="5074920"/>
            <a:ext cx="10058400" cy="822960"/>
          </a:xfrm>
          <a:prstGeom prst="rect">
            <a:avLst/>
          </a:prstGeom>
          <a:noFill/>
          <a:ln/>
        </p:spPr>
        <p:txBody>
          <a:bodyPr wrap="square" lIns="0" tIns="0" rIns="0" bIns="0" rtlCol="0" anchor="t"/>
          <a:lstStyle/>
          <a:p>
            <a:pPr indent="0" marL="0">
              <a:lnSpc>
                <a:spcPct val="130000"/>
              </a:lnSpc>
              <a:buNone/>
            </a:pPr>
            <a:r>
              <a:rPr lang="en-US" sz="1900" dirty="0">
                <a:solidFill>
                  <a:srgbClr val="1C2536"/>
                </a:solidFill>
                <a:latin typeface="Calibri" pitchFamily="34" charset="0"/>
                <a:ea typeface="Calibri" pitchFamily="34" charset="-122"/>
                <a:cs typeface="Calibri" pitchFamily="34" charset="-120"/>
              </a:rPr>
              <a:t>The second does not replace the first. AP is already the right quantity when the deployment prevalence is the quantity of interest.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2536"/>
        </a:solidFill>
      </p:bgPr>
    </p:bg>
    <p:spTree>
      <p:nvGrpSpPr>
        <p:cNvPr id="1" name=""/>
        <p:cNvGrpSpPr/>
        <p:nvPr/>
      </p:nvGrpSpPr>
      <p:grpSpPr>
        <a:xfrm>
          <a:off x="0" y="0"/>
          <a:ext cx="0" cy="0"/>
          <a:chOff x="0" y="0"/>
          <a:chExt cx="0" cy="0"/>
        </a:xfrm>
      </p:grpSpPr>
      <p:sp>
        <p:nvSpPr>
          <p:cNvPr id="2" name="Text 0"/>
          <p:cNvSpPr/>
          <p:nvPr/>
        </p:nvSpPr>
        <p:spPr>
          <a:xfrm>
            <a:off x="868680" y="1554480"/>
            <a:ext cx="10058400" cy="731520"/>
          </a:xfrm>
          <a:prstGeom prst="rect">
            <a:avLst/>
          </a:prstGeom>
          <a:noFill/>
          <a:ln/>
        </p:spPr>
        <p:txBody>
          <a:bodyPr wrap="square" lIns="0" tIns="0" rIns="0" bIns="0" rtlCol="0" anchor="ctr"/>
          <a:lstStyle/>
          <a:p>
            <a:pPr indent="0" marL="0">
              <a:buNone/>
            </a:pPr>
            <a:r>
              <a:rPr lang="en-US" sz="3000" b="1" dirty="0">
                <a:solidFill>
                  <a:srgbClr val="F4F7FB"/>
                </a:solidFill>
                <a:latin typeface="Cambria" pitchFamily="34" charset="0"/>
                <a:ea typeface="Cambria" pitchFamily="34" charset="-122"/>
                <a:cs typeface="Cambria" pitchFamily="34" charset="-120"/>
              </a:rPr>
              <a:t>Two questions, two estimands.</a:t>
            </a:r>
            <a:endParaRPr lang="en-US" sz="3000" dirty="0"/>
          </a:p>
        </p:txBody>
      </p:sp>
      <p:pic>
        <p:nvPicPr>
          <p:cNvPr id="3" name="Image 0" descr="/sessions/wizardly-upbeat-edison/mnt/outputs/math/two_estimands.png">    </p:cNvPr>
          <p:cNvPicPr>
            <a:picLocks noChangeAspect="1"/>
          </p:cNvPicPr>
          <p:nvPr/>
        </p:nvPicPr>
        <p:blipFill>
          <a:blip r:embed="rId1"/>
          <a:stretch>
            <a:fillRect/>
          </a:stretch>
        </p:blipFill>
        <p:spPr>
          <a:xfrm>
            <a:off x="1798168" y="2834640"/>
            <a:ext cx="8595360" cy="1922835"/>
          </a:xfrm>
          <a:prstGeom prst="rect">
            <a:avLst/>
          </a:prstGeom>
        </p:spPr>
      </p:pic>
      <p:sp>
        <p:nvSpPr>
          <p:cNvPr id="4" name="Text 1"/>
          <p:cNvSpPr/>
          <p:nvPr/>
        </p:nvSpPr>
        <p:spPr>
          <a:xfrm>
            <a:off x="868680" y="5212080"/>
            <a:ext cx="10058400" cy="822960"/>
          </a:xfrm>
          <a:prstGeom prst="rect">
            <a:avLst/>
          </a:prstGeom>
          <a:noFill/>
          <a:ln/>
        </p:spPr>
        <p:txBody>
          <a:bodyPr wrap="square" lIns="0" tIns="0" rIns="0" bIns="0" rtlCol="0" anchor="ctr"/>
          <a:lstStyle/>
          <a:p>
            <a:pPr indent="0" marL="0">
              <a:lnSpc>
                <a:spcPct val="130000"/>
              </a:lnSpc>
              <a:buNone/>
            </a:pPr>
            <a:r>
              <a:rPr lang="en-US" sz="1700" dirty="0">
                <a:solidFill>
                  <a:srgbClr val="9AA6B4"/>
                </a:solidFill>
                <a:latin typeface="Calibri" pitchFamily="34" charset="0"/>
                <a:ea typeface="Calibri" pitchFamily="34" charset="-122"/>
                <a:cs typeface="Calibri" pitchFamily="34" charset="-120"/>
              </a:rPr>
              <a:t>The research programme is to define the second carefully enough that a claim made with it says what it appears to say.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average precision needs a declared population</dc:title>
  <dc:subject>PptxGenJS Presentation</dc:subject>
  <dc:creator>Marcus A. Thomas</dc:creator>
  <cp:lastModifiedBy>Marcus A. Thomas</cp:lastModifiedBy>
  <cp:revision>1</cp:revision>
  <dcterms:created xsi:type="dcterms:W3CDTF">2026-07-30T13:31:48Z</dcterms:created>
  <dcterms:modified xsi:type="dcterms:W3CDTF">2026-07-30T13:31:48Z</dcterms:modified>
</cp:coreProperties>
</file>