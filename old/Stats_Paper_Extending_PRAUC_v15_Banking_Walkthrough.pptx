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37"/>
  </p:notesMasterIdLst>
  <p:sldIdLst>
    <p:sldId id="256" r:id="rId3"/>
    <p:sldId id="257" r:id="rId4"/>
    <p:sldId id="309" r:id="rId5"/>
    <p:sldId id="273" r:id="rId6"/>
    <p:sldId id="274" r:id="rId7"/>
    <p:sldId id="275" r:id="rId8"/>
    <p:sldId id="276" r:id="rId9"/>
    <p:sldId id="258" r:id="rId10"/>
    <p:sldId id="259" r:id="rId11"/>
    <p:sldId id="260" r:id="rId12"/>
    <p:sldId id="261" r:id="rId13"/>
    <p:sldId id="262" r:id="rId14"/>
    <p:sldId id="293" r:id="rId15"/>
    <p:sldId id="263" r:id="rId16"/>
    <p:sldId id="264" r:id="rId17"/>
    <p:sldId id="266" r:id="rId18"/>
    <p:sldId id="294" r:id="rId19"/>
    <p:sldId id="268" r:id="rId20"/>
    <p:sldId id="269" r:id="rId21"/>
    <p:sldId id="295" r:id="rId22"/>
    <p:sldId id="270" r:id="rId23"/>
    <p:sldId id="278" r:id="rId24"/>
    <p:sldId id="296" r:id="rId25"/>
    <p:sldId id="297" r:id="rId26"/>
    <p:sldId id="302" r:id="rId27"/>
    <p:sldId id="308" r:id="rId28"/>
    <p:sldId id="279" r:id="rId29"/>
    <p:sldId id="281" r:id="rId30"/>
    <p:sldId id="282" r:id="rId31"/>
    <p:sldId id="283" r:id="rId32"/>
    <p:sldId id="284" r:id="rId33"/>
    <p:sldId id="285" r:id="rId34"/>
    <p:sldId id="286"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7"/>
    <p:restoredTop sz="94867"/>
  </p:normalViewPr>
  <p:slideViewPr>
    <p:cSldViewPr snapToGrid="0">
      <p:cViewPr varScale="1">
        <p:scale>
          <a:sx n="90" d="100"/>
          <a:sy n="90" d="100"/>
        </p:scale>
        <p:origin x="4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AUROC is not inflated by class imbalance — it is prevalence-invariant by construction, being the probability that a random positive outranks a random negative. That invariance is a genuine strength: it is threshold-free and it is comparable across populations. Its limitation is different: it scores ranking, not the purity of the retrieved set. With 999,000 negatives, an FPR of 0.1% is 999 false positives against 900 true ones — precision 47%. AP fixes exactly that, because its baseline is the prevalence and it scores the retrieved set. But AP gives up the property AUROC had: comparability across populations. The rest of the talk is about recovering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bank must decide </a:t>
            </a:r>
            <a:r>
              <a:rPr lang="en-US" b="1" dirty="0"/>
              <a:t>which customers to contact first in a direct-marketing campaign</a:t>
            </a:r>
            <a:r>
              <a:rPr lang="en-US" dirty="0"/>
              <a:t>, given limited contact capacity. The positive outcome is that a contacted customer becomes a client.</a:t>
            </a:r>
          </a:p>
          <a:p>
            <a:endParaRPr lang="en-US" dirty="0"/>
          </a:p>
          <a:p>
            <a:r>
              <a:rPr lang="en-US" dirty="0"/>
              <a:t>This is a ranking task—similar to our neoantigen ranking task. </a:t>
            </a:r>
          </a:p>
          <a:p>
            <a:endParaRPr lang="en-US" dirty="0"/>
          </a:p>
          <a:p>
            <a:r>
              <a:rPr lang="en-US" dirty="0"/>
              <a:t>AP is relevant because it rewards rankings that place likely subscribers near the top, reach subscribers quickly, and maintain a high subscription rate among contacted customers.</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33173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UCI </a:t>
            </a:r>
            <a:r>
              <a:rPr lang="en-US" b="1" dirty="0"/>
              <a:t>Bank Marketing</a:t>
            </a:r>
            <a:r>
              <a:rPr lang="en-US" dirty="0"/>
              <a:t> dataset: 41,188 observations from Portuguese bank telephone-marketing campaigns, ordered from May 2008 through November 2010. The outcome </a:t>
            </a:r>
            <a:r>
              <a:rPr lang="en-US" sz="1200" kern="1200" dirty="0"/>
              <a:t>y</a:t>
            </a:r>
            <a:r>
              <a:rPr lang="en-US" dirty="0"/>
              <a:t> records whether the customer subscribed to a term deposit.</a:t>
            </a:r>
          </a:p>
          <a:p>
            <a:r>
              <a:rPr lang="en-US" dirty="0"/>
              <a:t>For the primary comparison, the </a:t>
            </a:r>
            <a:r>
              <a:rPr lang="en-US" b="1" dirty="0"/>
              <a:t>random forest and full logistic regression use exactly the same 19 predictors</a:t>
            </a:r>
            <a:r>
              <a:rPr lang="en-US" dirty="0"/>
              <a:t>:</a:t>
            </a:r>
          </a:p>
          <a:p>
            <a:r>
              <a:rPr lang="en-US" dirty="0"/>
              <a:t>Customer characteristics: age, job, marital status, education, credit default, housing loan, and personal loan.</a:t>
            </a:r>
          </a:p>
          <a:p>
            <a:r>
              <a:rPr lang="en-US" dirty="0"/>
              <a:t>Current campaign information: contact method, month, day of week, and number of campaign contacts.</a:t>
            </a:r>
          </a:p>
          <a:p>
            <a:r>
              <a:rPr lang="en-US" dirty="0"/>
              <a:t>Prior campaign history: days since prior contact, number of earlier contacts, and prior campaign outcome.</a:t>
            </a:r>
          </a:p>
          <a:p>
            <a:r>
              <a:rPr lang="en-US" dirty="0"/>
              <a:t>Economic conditions: employment variation rate, consumer price index, consumer confidence index, three-month Euribor rate, and number employed.</a:t>
            </a:r>
          </a:p>
          <a:p>
            <a:r>
              <a:rPr lang="en-US" dirty="0"/>
              <a:t>Categorical variables are one-hot encoded and numeric variables standardized. The models differ in how they use this information: logistic regression fits an additive linear model on the log-odds scale, while the random forest can represent nonlinearities and interactions. See the [model construction (line 142)](/Users/thomm15/Documents/</a:t>
            </a:r>
            <a:r>
              <a:rPr lang="en-US" dirty="0" err="1"/>
              <a:t>Stats_Paper_AUPRC_extension</a:t>
            </a:r>
            <a:r>
              <a:rPr lang="en-US" dirty="0"/>
              <a:t>/</a:t>
            </a:r>
            <a:r>
              <a:rPr lang="en-US" dirty="0" err="1"/>
              <a:t>supported_ap_code</a:t>
            </a:r>
            <a:r>
              <a:rPr lang="en-US" dirty="0"/>
              <a:t>/</a:t>
            </a:r>
            <a:r>
              <a:rPr lang="en-US" dirty="0" err="1"/>
              <a:t>domain_study</a:t>
            </a:r>
            <a:r>
              <a:rPr lang="en-US" dirty="0"/>
              <a:t>/banking_story.py:142).</a:t>
            </a:r>
          </a:p>
          <a:p>
            <a:r>
              <a:rPr lang="en-US" dirty="0"/>
              <a:t>Importantly, </a:t>
            </a:r>
            <a:r>
              <a:rPr lang="en-US" b="1" dirty="0"/>
              <a:t>call duration is excluded</a:t>
            </a:r>
            <a:r>
              <a:rPr lang="en-US" dirty="0"/>
              <a:t>. Although highly predictive, it is only known after the call has occurred, so it cannot inform the bank’s pre-contact ranking decision.</a:t>
            </a:r>
          </a:p>
          <a:p>
            <a:r>
              <a:rPr lang="en-US" dirty="0"/>
              <a:t>The first 32,950 chronologically ordered observations train the models and the last 8,238 evaluate them. This produces a substantial temporal prevalence shift: 6.37% subscribers in training versus 30.83% in evaluation ([report (line 6)](/Users/thomm15/Documents/</a:t>
            </a:r>
            <a:r>
              <a:rPr lang="en-US" dirty="0" err="1"/>
              <a:t>Stats_Paper_AUPRC_extension</a:t>
            </a:r>
            <a:r>
              <a:rPr lang="en-US" dirty="0"/>
              <a:t>/</a:t>
            </a:r>
            <a:r>
              <a:rPr lang="en-US" dirty="0" err="1"/>
              <a:t>supported_ap_code</a:t>
            </a:r>
            <a:r>
              <a:rPr lang="en-US" dirty="0"/>
              <a:t>/</a:t>
            </a:r>
            <a:r>
              <a:rPr lang="en-US" dirty="0" err="1"/>
              <a:t>domain_study</a:t>
            </a:r>
            <a:r>
              <a:rPr lang="en-US" dirty="0"/>
              <a:t>/outputs/REPORT.md:6)).</a:t>
            </a:r>
          </a:p>
          <a:p>
            <a:r>
              <a:rPr lang="en-US" dirty="0"/>
              <a:t>There is also a third, demographic-only logistic classifier used as a positive control; it receives only age, job, marital status, and education.</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19517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Prevalence is a computed challenge within each resampled evaluation, not a claim that the observed prevalence is uncertain.</a:t>
            </a:r>
          </a:p>
          <a:p>
            <a:r>
              <a:t>The study does not represent refitting, reselection, or a new deployment environment.</a:t>
            </a:r>
          </a:p>
          <a:p>
            <a:endParaRPr/>
          </a:p>
          <a:p>
            <a:r>
              <a:t>[Sources]</a:t>
            </a:r>
          </a:p>
          <a:p>
            <a:r>
              <a:t>- Stats_Paper_Extending_PRAUC_v12.tex, assessment and estimation sections.</a:t>
            </a:r>
          </a:p>
          <a:p>
            <a:r>
              <a:t>- supported_ap_code/domain_study/outputs/REPORT.md.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17687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full-logistic ranking is held fixed while target prevalence changes.</a:t>
            </a:r>
          </a:p>
          <a:p>
            <a:r>
              <a:t>CNAP places population random ranking at zero, but it does not make the interior profile prevalence-invariant.</a:t>
            </a:r>
          </a:p>
          <a:p>
            <a:endParaRPr/>
          </a:p>
          <a:p>
            <a:r>
              <a:t>[Sources]</a:t>
            </a:r>
          </a:p>
          <a:p>
            <a:r>
              <a:t>- Stats_Paper_Extending_PRAUC_v12.tex, prevalence standardization section.</a:t>
            </a:r>
          </a:p>
          <a:p>
            <a:r>
              <a:t>- supported_ap_code/domain_study/outputs/tables/prevalence_standardization.csv.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36697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 two axes, then connect them to the empirical sum: P_n is precision after step n and R_n − R_(n−1) is the recall gain. Each product is one contribution to AP.</a:t>
            </a:r>
          </a:p>
          <a:p>
            <a:endParaRPr/>
          </a:p>
          <a:p>
            <a:r>
              <a:t>[Sources]</a:t>
            </a:r>
          </a:p>
          <a:p>
            <a:r>
              <a:t>- Stats_Paper_Extending_PRAUC_v12.tex.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threshold down the list. The curve is generated by a sequence of selected sets.</a:t>
            </a:r>
          </a:p>
          <a:p>
            <a:endParaRPr/>
          </a:p>
          <a:p>
            <a:r>
              <a:t>[Sources]</a:t>
            </a:r>
          </a:p>
          <a:p>
            <a:r>
              <a:t>- Stats_Paper_Extending_PRAUC_v12.tex.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AP directly from the three positive ranks. This makes the later weighted formula less mysterious.</a:t>
            </a:r>
          </a:p>
          <a:p>
            <a:endParaRPr/>
          </a:p>
          <a:p>
            <a:r>
              <a:t>[Sources]</a:t>
            </a:r>
          </a:p>
          <a:p>
            <a:r>
              <a:t>- Stats_Paper_Extending_PRAUC_v12.tex.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recall increments are computed from the observed positives alone, which is what makes them free of the class prior. This is also why the weighted implementation works: weight each positive by pi/n+ and each negative by (1-pi)/n-, and weighted recall is unchanged.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TP/n = (n+/n)(TP/n+) = pi-hat times r, and FP/n = (n-/n)(FP/n-) = (1 - pi-hat) times f. The identity is exact; ordinary AP is the case where the target prevalence equals the sample's own.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Equivalently: weight each positive unit by pi/n+ and each negative by (1-pi)/n-. Weighted stepwise AP returns the same quantity.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literature, people have solved problem 1, and separately problems 2-3. I haven’t seen anyone combine them into my CNAP_pi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24E8B-F1ED-82AF-64B1-01E1A6AA8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98462-3CFA-F550-C2FA-91029A717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D1FDF-7219-A82E-9DA5-EA7045E07CF6}"/>
              </a:ext>
            </a:extLst>
          </p:cNvPr>
          <p:cNvSpPr>
            <a:spLocks noGrp="1"/>
          </p:cNvSpPr>
          <p:nvPr>
            <p:ph type="body" idx="1"/>
          </p:nvPr>
        </p:nvSpPr>
        <p:spPr/>
        <p:txBody>
          <a:bodyPr/>
          <a:lstStyle/>
          <a:p>
            <a:r>
              <a:rPr lang="en-US" dirty="0"/>
              <a:t>See part B</a:t>
            </a:r>
            <a:endParaRPr dirty="0"/>
          </a:p>
        </p:txBody>
      </p:sp>
      <p:sp>
        <p:nvSpPr>
          <p:cNvPr id="4" name="Slide Number Placeholder 3">
            <a:extLst>
              <a:ext uri="{FF2B5EF4-FFF2-40B4-BE49-F238E27FC236}">
                <a16:creationId xmlns:a16="http://schemas.microsoft.com/office/drawing/2014/main" id="{8245BC92-2B75-49D9-EA78-10C1798F759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94568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minimum is a severe test in the Popperian sense.</a:t>
            </a:r>
          </a:p>
          <a:p>
            <a:r>
              <a:t>It asks what prediction claim survives all prevalence values we are likely to encounter when the model is deployed.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 performance claim about a fixed model, is it about performance in a new environment? Is it about a training procedure?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level claim survives a set of K evaluations only if every evaluation exceeds that level.</a:t>
            </a:r>
          </a:p>
          <a:p>
            <a:r>
              <a:t>The realized minimum is the greatest level retained by one set of K challenges; the support operator averages that retained level over executions of the declared regime.</a:t>
            </a:r>
          </a:p>
          <a:p>
            <a:r>
              <a:t>Support remains on the scale of T. It is neither a probability that the claim is true nor a confidence bound.</a:t>
            </a:r>
          </a:p>
          <a:p>
            <a:endParaRPr/>
          </a:p>
          <a:p>
            <a:r>
              <a:t>[Sources]</a:t>
            </a:r>
          </a:p>
          <a:p>
            <a:r>
              <a:t>- Stats_Paper_Extending_PRAUC_v12.tex, replication-survival support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 2 is the first value at which joint survival asks more than expected performance. Other values must be prespecified and examined for sensitivity. The quantity stays on the scale of the effect: not a probability, not a confidence bound.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we anchored CNAP to the 0,1 scale, applying the support operator takes it off the scale again.</a:t>
            </a:r>
          </a:p>
          <a:p>
            <a:r>
              <a:rPr lang="en-US" dirty="0"/>
              <a:t>We can renormalize by empirically estimating the chance level of the support operator, and then calibrating based on that.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Unfortunately, even after calibration to the model specific null, we technically still can’t directly compare this value with that same quantity evaluated on another model.</a:t>
            </a:r>
          </a:p>
          <a:p>
            <a:endParaRPr lang="en-US" dirty="0"/>
          </a:p>
          <a:p>
            <a:r>
              <a:rPr lang="en-US" dirty="0"/>
              <a:t>This led me to a very interesting idea. A way to actually compare supported, chance normalized AP across models.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positive value is an advantage for A that survives every declared prevalence and the replication criterion.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margin translates performance evidence into one component of a decision.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primary comparison changes ordering near 10.3% prevalence, so neither model wins throughout the range.</a:t>
            </a:r>
          </a:p>
          <a:p>
            <a:r>
              <a:t>The positive control remains favorable throughout and has a positive range-wide effect.</a:t>
            </a:r>
          </a:p>
          <a:p>
            <a:endParaRPr/>
          </a:p>
          <a:p>
            <a:r>
              <a:t>[Sources]</a:t>
            </a:r>
          </a:p>
          <a:p>
            <a:r>
              <a:t>- supported_ap_code/domain_study/outputs/reports/random_forest_vs_full_logistic.json.</a:t>
            </a:r>
          </a:p>
          <a:p>
            <a:r>
              <a:t>- supported_ap_code/domain_study/outputs/reports/full_vs_demographic_logistic.json.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thin profile is evaluated over the full prevalence range before its minimum is retained.</a:t>
            </a:r>
          </a:p>
          <a:p>
            <a:r>
              <a:t>The K=2 supported value is the expected weaker of two range-wide replication effects.</a:t>
            </a:r>
          </a:p>
          <a:p>
            <a:endParaRPr/>
          </a:p>
          <a:p>
            <a:r>
              <a:t>[Sources]</a:t>
            </a:r>
          </a:p>
          <a:p>
            <a:r>
              <a:t>- supported_ap_code/domain_study/outputs/reports/full_vs_demographic_logistic_inner_trace.json.</a:t>
            </a:r>
          </a:p>
          <a:p>
            <a:r>
              <a:t>- Stats_Paper_Extending_PRAUC_v12.tex, support estimation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outer layer asks how well one observed evaluation identifies the supported target.</a:t>
            </a:r>
          </a:p>
          <a:p>
            <a:r>
              <a:t>The nonsmooth prevalence minimum means ordinary bootstrap coverage is not automatic.</a:t>
            </a:r>
          </a:p>
          <a:p>
            <a:endParaRPr/>
          </a:p>
          <a:p>
            <a:r>
              <a:t>[Sources]</a:t>
            </a:r>
          </a:p>
          <a:p>
            <a:r>
              <a:t>- Stats_Paper_Extending_PRAUC_v12.tex, outer uncertainty section.</a:t>
            </a:r>
          </a:p>
          <a:p>
            <a:r>
              <a:t>- supported_ap_code/domain_study/outputs/REPORT.md.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random-forest candidate does not clear the zero replacement margin.</a:t>
            </a:r>
          </a:p>
          <a:p>
            <a:r>
              <a:t>The positive control has a positive supported estimate and a positive outer lower bound.</a:t>
            </a:r>
          </a:p>
          <a:p>
            <a:endParaRPr/>
          </a:p>
          <a:p>
            <a:r>
              <a:t>[Sources]</a:t>
            </a:r>
          </a:p>
          <a:p>
            <a:r>
              <a:t>- supported_ap_code/domain_study/outputs/reports/random_forest_vs_full_logistic.json.</a:t>
            </a:r>
          </a:p>
          <a:p>
            <a:r>
              <a:t>- supported_ap_code/domain_study/outputs/reports/full_vs_demographic_logistic.json.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Failure to establish A over B is not evidence that B is superior to A.</a:t>
            </a:r>
          </a:p>
          <a:p>
            <a:r>
              <a:t>The prevalence infimum makes the reversed orientation a separate estimand rather than the negative of the forward supported value.</a:t>
            </a:r>
          </a:p>
          <a:p>
            <a:endParaRPr/>
          </a:p>
          <a:p>
            <a:r>
              <a:t>[Sources]</a:t>
            </a:r>
          </a:p>
          <a:p>
            <a:r>
              <a:t>- Stats_Paper_Extending_PRAUC_v12.tex, orientation coherence section.</a:t>
            </a:r>
          </a:p>
          <a:p>
            <a:r>
              <a:t>- supported_ap_code/domain_study/outputs/reports/random_forest_vs_full_logistic.json.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Assessment-relative reporting prevents the supported value from being detached from its population and replication challenges.</a:t>
            </a:r>
          </a:p>
          <a:p>
            <a:r>
              <a:t>Operational deployment still requires inputs outside ranking performance.</a:t>
            </a:r>
          </a:p>
          <a:p>
            <a:endParaRPr/>
          </a:p>
          <a:p>
            <a:r>
              <a:t>[Sources]</a:t>
            </a:r>
          </a:p>
          <a:p>
            <a:r>
              <a:t>- Stats_Paper_Extending_PRAUC_v12.tex, interpretation and reporting sections.</a:t>
            </a:r>
          </a:p>
          <a:p>
            <a:r>
              <a:t>- supported_ap_code/domain_study/outputs/REPORT.md.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returning to the decision problem rather than to the mechanics.</a:t>
            </a:r>
          </a:p>
          <a:p>
            <a:r>
              <a:t>The framework does not produce a universal model winner; it makes the replacement claim explicit and open to criticism.</a:t>
            </a:r>
          </a:p>
          <a:p>
            <a:endParaRPr/>
          </a:p>
          <a:p>
            <a:r>
              <a:t>[Sources]</a:t>
            </a:r>
          </a:p>
          <a:p>
            <a:r>
              <a:t>- Stats_Paper_Extending_PRAUC_v12.tex, conclusion.</a:t>
            </a:r>
          </a:p>
          <a:p>
            <a:r>
              <a:t>- supported_ap_code/domain_study/outputs/REPORT.md.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for questions about intellectual lineage and technical sources.</a:t>
            </a:r>
          </a:p>
          <a:p>
            <a:endParaRPr/>
          </a:p>
          <a:p>
            <a:r>
              <a:t>[Sources]</a:t>
            </a:r>
          </a:p>
          <a:p>
            <a:r>
              <a:t>- Stats_Paper_Extending_PRAUC_v12.tex.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13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1167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8933849"/>
      </p:ext>
    </p:extLst>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25B2124-338F-4EA8-8D37-1B0D6F505F7F}"/>
              </a:ext>
            </a:extLst>
          </p:cNvPr>
          <p:cNvSpPr>
            <a:spLocks noGrp="1"/>
          </p:cNvSpPr>
          <p:nvPr/>
        </p:nvSpPr>
        <p:spPr>
          <a:xfrm>
            <a:off x="723900" y="514350"/>
            <a:ext cx="3429000" cy="20955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LAB WALKTHROUGH</a:t>
            </a:r>
          </a:p>
        </p:txBody>
      </p:sp>
      <p:sp>
        <p:nvSpPr>
          <p:cNvPr id="2" name="Rectangle 1">
            <a:extLst>
              <a:ext uri="{FF2B5EF4-FFF2-40B4-BE49-F238E27FC236}">
                <a16:creationId xmlns:a16="http://schemas.microsoft.com/office/drawing/2014/main" id="{75E3AD4A-129E-4C9A-BF5D-B38F541FCFC9}"/>
              </a:ext>
            </a:extLst>
          </p:cNvPr>
          <p:cNvSpPr>
            <a:spLocks noGrp="1"/>
          </p:cNvSpPr>
          <p:nvPr/>
        </p:nvSpPr>
        <p:spPr>
          <a:xfrm>
            <a:off x="723900" y="1200150"/>
            <a:ext cx="8096250" cy="1733550"/>
          </a:xfrm>
          <a:prstGeom prst="rect">
            <a:avLst/>
          </a:prstGeom>
          <a:noFill/>
          <a:ln w="0">
            <a:noFill/>
            <a:prstDash val="solid"/>
          </a:ln>
        </p:spPr>
        <p:txBody>
          <a:bodyPr/>
          <a:lstStyle/>
          <a:p>
            <a:pPr algn="l">
              <a:buNone/>
              <a:defRPr sz="4650" b="1" i="0">
                <a:solidFill>
                  <a:srgbClr val="11253D"/>
                </a:solidFill>
              </a:defRPr>
            </a:pPr>
            <a:r>
              <a:rPr lang="en-US" sz="4650" b="1" i="0" dirty="0">
                <a:solidFill>
                  <a:srgbClr val="11253D"/>
                </a:solidFill>
              </a:rPr>
              <a:t>How do we judge model quality?</a:t>
            </a:r>
            <a:endParaRPr sz="4650" b="1" i="0" dirty="0">
              <a:solidFill>
                <a:srgbClr val="11253D"/>
              </a:solidFill>
            </a:endParaRPr>
          </a:p>
        </p:txBody>
      </p:sp>
      <p:sp>
        <p:nvSpPr>
          <p:cNvPr id="3" name="Rectangle 2">
            <a:extLst>
              <a:ext uri="{FF2B5EF4-FFF2-40B4-BE49-F238E27FC236}">
                <a16:creationId xmlns:a16="http://schemas.microsoft.com/office/drawing/2014/main" id="{983C7020-F718-478D-8473-FC237C01D1B1}"/>
              </a:ext>
            </a:extLst>
          </p:cNvPr>
          <p:cNvSpPr>
            <a:spLocks noGrp="1"/>
          </p:cNvSpPr>
          <p:nvPr/>
        </p:nvSpPr>
        <p:spPr>
          <a:xfrm>
            <a:off x="762000" y="3352800"/>
            <a:ext cx="8001000" cy="781050"/>
          </a:xfrm>
          <a:prstGeom prst="rect">
            <a:avLst/>
          </a:prstGeom>
          <a:noFill/>
          <a:ln w="0">
            <a:noFill/>
            <a:prstDash val="solid"/>
          </a:ln>
        </p:spPr>
        <p:txBody>
          <a:bodyPr/>
          <a:lstStyle/>
          <a:p>
            <a:pPr algn="l">
              <a:buNone/>
              <a:defRPr sz="2025" b="0" i="0">
                <a:solidFill>
                  <a:srgbClr val="5F6B78"/>
                </a:solidFill>
              </a:defRPr>
            </a:pPr>
            <a:endParaRPr sz="2025" b="0" i="0" dirty="0">
              <a:solidFill>
                <a:srgbClr val="5F6B78"/>
              </a:solidFill>
            </a:endParaRPr>
          </a:p>
        </p:txBody>
      </p:sp>
      <p:sp>
        <p:nvSpPr>
          <p:cNvPr id="4" name="Rounded Rectangle 3">
            <a:extLst>
              <a:ext uri="{FF2B5EF4-FFF2-40B4-BE49-F238E27FC236}">
                <a16:creationId xmlns:a16="http://schemas.microsoft.com/office/drawing/2014/main" id="{1C95059D-009E-4799-A517-7EC1462B73DB}"/>
              </a:ext>
            </a:extLst>
          </p:cNvPr>
          <p:cNvSpPr>
            <a:spLocks noGrp="1"/>
          </p:cNvSpPr>
          <p:nvPr/>
        </p:nvSpPr>
        <p:spPr>
          <a:xfrm>
            <a:off x="9067800" y="1200150"/>
            <a:ext cx="1976438" cy="1619250"/>
          </a:xfrm>
          <a:prstGeom prst="roundRect">
            <a:avLst>
              <a:gd name="adj" fmla="val 7059"/>
            </a:avLst>
          </a:prstGeom>
          <a:solidFill>
            <a:srgbClr val="DCEAF7"/>
          </a:solidFill>
          <a:ln w="0">
            <a:noFill/>
            <a:prstDash val="solid"/>
          </a:ln>
        </p:spPr>
        <p:txBody>
          <a:bodyPr/>
          <a:lstStyle/>
          <a:p>
            <a:endParaRPr/>
          </a:p>
        </p:txBody>
      </p:sp>
      <p:sp>
        <p:nvSpPr>
          <p:cNvPr id="6" name="Rectangle 5">
            <a:extLst>
              <a:ext uri="{FF2B5EF4-FFF2-40B4-BE49-F238E27FC236}">
                <a16:creationId xmlns:a16="http://schemas.microsoft.com/office/drawing/2014/main" id="{3C24B822-06DC-4137-927B-6C5DDA60362F}"/>
              </a:ext>
            </a:extLst>
          </p:cNvPr>
          <p:cNvSpPr>
            <a:spLocks noGrp="1"/>
          </p:cNvSpPr>
          <p:nvPr/>
        </p:nvSpPr>
        <p:spPr>
          <a:xfrm rot="2896843">
            <a:off x="9120776" y="2417356"/>
            <a:ext cx="533400" cy="381000"/>
          </a:xfrm>
          <a:prstGeom prst="rect">
            <a:avLst/>
          </a:prstGeom>
          <a:noFill/>
          <a:ln w="0">
            <a:noFill/>
            <a:prstDash val="solid"/>
          </a:ln>
        </p:spPr>
        <p:txBody>
          <a:bodyPr/>
          <a:lstStyle/>
          <a:p>
            <a:pPr algn="ctr">
              <a:buNone/>
              <a:defRPr sz="2400" b="1" i="0">
                <a:solidFill>
                  <a:srgbClr val="D97706"/>
                </a:solidFill>
              </a:defRPr>
            </a:pPr>
            <a:r>
              <a:rPr sz="2400" b="1" i="0" dirty="0">
                <a:solidFill>
                  <a:srgbClr val="D97706"/>
                </a:solidFill>
              </a:rPr>
              <a:t>↓</a:t>
            </a:r>
          </a:p>
        </p:txBody>
      </p:sp>
      <p:sp>
        <p:nvSpPr>
          <p:cNvPr id="9" name="Rectangle 8">
            <a:extLst>
              <a:ext uri="{FF2B5EF4-FFF2-40B4-BE49-F238E27FC236}">
                <a16:creationId xmlns:a16="http://schemas.microsoft.com/office/drawing/2014/main" id="{C4D2D4A1-4814-4ED5-85FC-D9B87C9E7D1A}"/>
              </a:ext>
            </a:extLst>
          </p:cNvPr>
          <p:cNvSpPr>
            <a:spLocks noGrp="1"/>
          </p:cNvSpPr>
          <p:nvPr/>
        </p:nvSpPr>
        <p:spPr>
          <a:xfrm>
            <a:off x="9848850" y="3352800"/>
            <a:ext cx="1314450" cy="685800"/>
          </a:xfrm>
          <a:prstGeom prst="rect">
            <a:avLst/>
          </a:prstGeom>
          <a:noFill/>
          <a:ln w="0">
            <a:noFill/>
            <a:prstDash val="solid"/>
          </a:ln>
        </p:spPr>
        <p:txBody>
          <a:bodyPr/>
          <a:lstStyle/>
          <a:p>
            <a:pPr algn="ctr">
              <a:buNone/>
              <a:defRPr sz="1725" b="0" i="0">
                <a:solidFill>
                  <a:srgbClr val="0E7C66"/>
                </a:solidFill>
              </a:defRPr>
            </a:pPr>
            <a:endParaRPr sz="1725" b="0" i="0" dirty="0">
              <a:solidFill>
                <a:srgbClr val="0E7C66"/>
              </a:solidFill>
            </a:endParaRPr>
          </a:p>
        </p:txBody>
      </p:sp>
      <p:sp>
        <p:nvSpPr>
          <p:cNvPr id="10" name="Rectangle 9">
            <a:extLst>
              <a:ext uri="{FF2B5EF4-FFF2-40B4-BE49-F238E27FC236}">
                <a16:creationId xmlns:a16="http://schemas.microsoft.com/office/drawing/2014/main" id="{E7876E6A-E5E4-4DE2-8D32-2BC47D9C8758}"/>
              </a:ext>
            </a:extLst>
          </p:cNvPr>
          <p:cNvSpPr>
            <a:spLocks noGrp="1"/>
          </p:cNvSpPr>
          <p:nvPr/>
        </p:nvSpPr>
        <p:spPr>
          <a:xfrm>
            <a:off x="723900" y="5753100"/>
            <a:ext cx="10591800" cy="19050"/>
          </a:xfrm>
          <a:prstGeom prst="rect">
            <a:avLst/>
          </a:prstGeom>
          <a:solidFill>
            <a:srgbClr val="D9DEE5"/>
          </a:solidFill>
          <a:ln w="0">
            <a:noFill/>
            <a:prstDash val="solid"/>
          </a:ln>
        </p:spPr>
        <p:txBody>
          <a:bodyPr/>
          <a:lstStyle/>
          <a:p>
            <a:endParaRPr/>
          </a:p>
        </p:txBody>
      </p:sp>
      <p:sp>
        <p:nvSpPr>
          <p:cNvPr id="14" name="Rectangle 13">
            <a:extLst>
              <a:ext uri="{FF2B5EF4-FFF2-40B4-BE49-F238E27FC236}">
                <a16:creationId xmlns:a16="http://schemas.microsoft.com/office/drawing/2014/main" id="{CBBDCD65-8937-4FAB-C6C2-7CCED3B7D2AF}"/>
              </a:ext>
            </a:extLst>
          </p:cNvPr>
          <p:cNvSpPr>
            <a:spLocks noGrp="1"/>
          </p:cNvSpPr>
          <p:nvPr/>
        </p:nvSpPr>
        <p:spPr>
          <a:xfrm>
            <a:off x="9246394" y="1466850"/>
            <a:ext cx="1797844" cy="1047750"/>
          </a:xfrm>
          <a:prstGeom prst="rect">
            <a:avLst/>
          </a:prstGeom>
          <a:noFill/>
          <a:ln w="0">
            <a:noFill/>
            <a:prstDash val="solid"/>
          </a:ln>
        </p:spPr>
        <p:txBody>
          <a:bodyPr/>
          <a:lstStyle/>
          <a:p>
            <a:pPr algn="ctr">
              <a:buNone/>
              <a:defRPr sz="4350" b="1" i="0">
                <a:solidFill>
                  <a:srgbClr val="2B6CB0"/>
                </a:solidFill>
              </a:defRPr>
            </a:pPr>
            <a:r>
              <a:rPr lang="en-US" sz="2000" b="1" dirty="0">
                <a:solidFill>
                  <a:srgbClr val="2B6CB0"/>
                </a:solidFill>
              </a:rPr>
              <a:t>How to choose</a:t>
            </a:r>
            <a:r>
              <a:rPr lang="en-US" sz="2000" b="1" i="0" dirty="0">
                <a:solidFill>
                  <a:srgbClr val="2B6CB0"/>
                </a:solidFill>
              </a:rPr>
              <a:t> performance metric(s)</a:t>
            </a:r>
            <a:endParaRPr sz="2000" b="1" i="0" dirty="0">
              <a:solidFill>
                <a:srgbClr val="2B6CB0"/>
              </a:solidFill>
            </a:endParaRPr>
          </a:p>
        </p:txBody>
      </p:sp>
      <p:sp>
        <p:nvSpPr>
          <p:cNvPr id="16" name="Rounded Rectangle 15">
            <a:extLst>
              <a:ext uri="{FF2B5EF4-FFF2-40B4-BE49-F238E27FC236}">
                <a16:creationId xmlns:a16="http://schemas.microsoft.com/office/drawing/2014/main" id="{6D5D8A21-A2DE-CDFB-5940-CCBDF9FFD633}"/>
              </a:ext>
            </a:extLst>
          </p:cNvPr>
          <p:cNvSpPr>
            <a:spLocks noGrp="1"/>
          </p:cNvSpPr>
          <p:nvPr/>
        </p:nvSpPr>
        <p:spPr>
          <a:xfrm>
            <a:off x="9067800" y="3352800"/>
            <a:ext cx="2662238" cy="1943100"/>
          </a:xfrm>
          <a:prstGeom prst="roundRect">
            <a:avLst>
              <a:gd name="adj" fmla="val 7059"/>
            </a:avLst>
          </a:prstGeom>
          <a:solidFill>
            <a:srgbClr val="DCEAF7"/>
          </a:solidFill>
          <a:ln w="0">
            <a:noFill/>
            <a:prstDash val="solid"/>
          </a:ln>
        </p:spPr>
        <p:txBody>
          <a:bodyPr/>
          <a:lstStyle/>
          <a:p>
            <a:endParaRPr/>
          </a:p>
        </p:txBody>
      </p:sp>
      <p:sp>
        <p:nvSpPr>
          <p:cNvPr id="17" name="Rectangle 16">
            <a:extLst>
              <a:ext uri="{FF2B5EF4-FFF2-40B4-BE49-F238E27FC236}">
                <a16:creationId xmlns:a16="http://schemas.microsoft.com/office/drawing/2014/main" id="{D124B946-66D7-A8C4-F3CF-7525F00D590B}"/>
              </a:ext>
            </a:extLst>
          </p:cNvPr>
          <p:cNvSpPr>
            <a:spLocks noGrp="1"/>
          </p:cNvSpPr>
          <p:nvPr/>
        </p:nvSpPr>
        <p:spPr>
          <a:xfrm>
            <a:off x="9246394" y="3586162"/>
            <a:ext cx="2394347" cy="1343025"/>
          </a:xfrm>
          <a:prstGeom prst="rect">
            <a:avLst/>
          </a:prstGeom>
          <a:noFill/>
          <a:ln w="0">
            <a:noFill/>
            <a:prstDash val="solid"/>
          </a:ln>
        </p:spPr>
        <p:txBody>
          <a:bodyPr/>
          <a:lstStyle/>
          <a:p>
            <a:pPr algn="ctr">
              <a:buNone/>
              <a:defRPr sz="4350" b="1" i="0">
                <a:solidFill>
                  <a:srgbClr val="2B6CB0"/>
                </a:solidFill>
              </a:defRPr>
            </a:pPr>
            <a:r>
              <a:rPr lang="en-US" sz="2000" b="1" i="0" dirty="0">
                <a:solidFill>
                  <a:srgbClr val="2B6CB0"/>
                </a:solidFill>
              </a:rPr>
              <a:t>How well do performance claims survive attempts to refute them?</a:t>
            </a:r>
            <a:endParaRPr sz="2000" b="1" i="0" dirty="0">
              <a:solidFill>
                <a:srgbClr val="2B6CB0"/>
              </a:solidFill>
            </a:endParaRPr>
          </a:p>
        </p:txBody>
      </p:sp>
      <p:sp>
        <p:nvSpPr>
          <p:cNvPr id="18" name="Rounded Rectangle 17">
            <a:extLst>
              <a:ext uri="{FF2B5EF4-FFF2-40B4-BE49-F238E27FC236}">
                <a16:creationId xmlns:a16="http://schemas.microsoft.com/office/drawing/2014/main" id="{49469DD0-45F2-DCA9-A23F-D038E90E0FF5}"/>
              </a:ext>
            </a:extLst>
          </p:cNvPr>
          <p:cNvSpPr>
            <a:spLocks noGrp="1"/>
          </p:cNvSpPr>
          <p:nvPr/>
        </p:nvSpPr>
        <p:spPr>
          <a:xfrm>
            <a:off x="6493669" y="2724150"/>
            <a:ext cx="1976438" cy="1619250"/>
          </a:xfrm>
          <a:prstGeom prst="roundRect">
            <a:avLst>
              <a:gd name="adj" fmla="val 7059"/>
            </a:avLst>
          </a:prstGeom>
          <a:solidFill>
            <a:srgbClr val="DCEAF7"/>
          </a:solidFill>
          <a:ln w="0">
            <a:noFill/>
            <a:prstDash val="solid"/>
          </a:ln>
        </p:spPr>
        <p:txBody>
          <a:bodyPr/>
          <a:lstStyle/>
          <a:p>
            <a:endParaRPr/>
          </a:p>
        </p:txBody>
      </p:sp>
      <p:sp>
        <p:nvSpPr>
          <p:cNvPr id="19" name="Rectangle 18">
            <a:extLst>
              <a:ext uri="{FF2B5EF4-FFF2-40B4-BE49-F238E27FC236}">
                <a16:creationId xmlns:a16="http://schemas.microsoft.com/office/drawing/2014/main" id="{7F86596A-C856-2C9A-AA43-E4E2518F03FA}"/>
              </a:ext>
            </a:extLst>
          </p:cNvPr>
          <p:cNvSpPr>
            <a:spLocks noGrp="1"/>
          </p:cNvSpPr>
          <p:nvPr/>
        </p:nvSpPr>
        <p:spPr>
          <a:xfrm>
            <a:off x="6672263" y="2990850"/>
            <a:ext cx="1797844" cy="1047750"/>
          </a:xfrm>
          <a:prstGeom prst="rect">
            <a:avLst/>
          </a:prstGeom>
          <a:noFill/>
          <a:ln w="0">
            <a:noFill/>
            <a:prstDash val="solid"/>
          </a:ln>
        </p:spPr>
        <p:txBody>
          <a:bodyPr/>
          <a:lstStyle/>
          <a:p>
            <a:pPr algn="ctr">
              <a:buNone/>
              <a:defRPr sz="4350" b="1" i="0">
                <a:solidFill>
                  <a:srgbClr val="2B6CB0"/>
                </a:solidFill>
              </a:defRPr>
            </a:pPr>
            <a:r>
              <a:rPr lang="en-US" sz="2000" b="1" dirty="0">
                <a:solidFill>
                  <a:srgbClr val="2B6CB0"/>
                </a:solidFill>
              </a:rPr>
              <a:t>How can we improve our metrics</a:t>
            </a:r>
            <a:endParaRPr sz="2000" b="1" i="0" dirty="0">
              <a:solidFill>
                <a:srgbClr val="2B6CB0"/>
              </a:solidFill>
            </a:endParaRPr>
          </a:p>
        </p:txBody>
      </p:sp>
      <p:sp>
        <p:nvSpPr>
          <p:cNvPr id="20" name="Rectangle 19">
            <a:extLst>
              <a:ext uri="{FF2B5EF4-FFF2-40B4-BE49-F238E27FC236}">
                <a16:creationId xmlns:a16="http://schemas.microsoft.com/office/drawing/2014/main" id="{7E7DC2CA-B22C-BD0B-1878-2CE7841DA203}"/>
              </a:ext>
            </a:extLst>
          </p:cNvPr>
          <p:cNvSpPr>
            <a:spLocks noGrp="1"/>
          </p:cNvSpPr>
          <p:nvPr/>
        </p:nvSpPr>
        <p:spPr>
          <a:xfrm rot="16200000">
            <a:off x="8007549" y="3848100"/>
            <a:ext cx="533400" cy="381000"/>
          </a:xfrm>
          <a:prstGeom prst="rect">
            <a:avLst/>
          </a:prstGeom>
          <a:noFill/>
          <a:ln w="0">
            <a:noFill/>
            <a:prstDash val="solid"/>
          </a:ln>
        </p:spPr>
        <p:txBody>
          <a:bodyPr/>
          <a:lstStyle/>
          <a:p>
            <a:pPr algn="ctr">
              <a:buNone/>
              <a:defRPr sz="2400" b="1" i="0">
                <a:solidFill>
                  <a:srgbClr val="D97706"/>
                </a:solidFill>
              </a:defRPr>
            </a:pPr>
            <a:r>
              <a:rPr sz="2400" b="1" i="0" dirty="0">
                <a:solidFill>
                  <a:srgbClr val="D97706"/>
                </a:solidFill>
              </a:rPr>
              <a:t>↓</a:t>
            </a:r>
          </a:p>
        </p:txBody>
      </p:sp>
    </p:spTree>
    <p:extLst>
      <p:ext uri="{BB962C8B-B14F-4D97-AF65-F5344CB8AC3E}">
        <p14:creationId xmlns:p14="http://schemas.microsoft.com/office/powerpoint/2010/main" val="139574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D2476BC3-37D9-E2FD-B8CF-92125D185B1E}"/>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WHY AP?</a:t>
            </a:r>
          </a:p>
        </p:txBody>
      </p:sp>
      <p:sp>
        <p:nvSpPr>
          <p:cNvPr id="2" name="Rectangle 1">
            <a:extLst>
              <a:ext uri="{FF2B5EF4-FFF2-40B4-BE49-F238E27FC236}">
                <a16:creationId xmlns:a16="http://schemas.microsoft.com/office/drawing/2014/main" id="{F98537C0-52FD-ECCF-F0C2-81582872E2A6}"/>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AUROC vs Average Precision (AP/AUPRC)</a:t>
            </a:r>
          </a:p>
        </p:txBody>
      </p:sp>
      <p:sp>
        <p:nvSpPr>
          <p:cNvPr id="3" name="Rectangle 2">
            <a:extLst>
              <a:ext uri="{FF2B5EF4-FFF2-40B4-BE49-F238E27FC236}">
                <a16:creationId xmlns:a16="http://schemas.microsoft.com/office/drawing/2014/main" id="{40A93E01-9D9C-0F6C-E832-8E98619C3BF9}"/>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5" name="Rectangle 4">
            <a:extLst>
              <a:ext uri="{FF2B5EF4-FFF2-40B4-BE49-F238E27FC236}">
                <a16:creationId xmlns:a16="http://schemas.microsoft.com/office/drawing/2014/main" id="{ED94A257-728D-3768-46BD-5A85B91C7CEA}"/>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02</a:t>
            </a:r>
          </a:p>
        </p:txBody>
      </p:sp>
      <p:sp>
        <p:nvSpPr>
          <p:cNvPr id="17" name="Rectangle 16">
            <a:extLst>
              <a:ext uri="{FF2B5EF4-FFF2-40B4-BE49-F238E27FC236}">
                <a16:creationId xmlns:a16="http://schemas.microsoft.com/office/drawing/2014/main" id="{9FC80619-0296-BC1B-3D5A-3270F7311FAA}"/>
              </a:ext>
            </a:extLst>
          </p:cNvPr>
          <p:cNvSpPr>
            <a:spLocks noGrp="1"/>
          </p:cNvSpPr>
          <p:nvPr/>
        </p:nvSpPr>
        <p:spPr>
          <a:xfrm>
            <a:off x="6597743" y="3024188"/>
            <a:ext cx="2857500" cy="209550"/>
          </a:xfrm>
          <a:prstGeom prst="rect">
            <a:avLst/>
          </a:prstGeom>
          <a:noFill/>
          <a:ln w="0">
            <a:noFill/>
            <a:prstDash val="solid"/>
          </a:ln>
        </p:spPr>
        <p:txBody>
          <a:bodyPr/>
          <a:lstStyle/>
          <a:p>
            <a:pPr algn="l">
              <a:buNone/>
              <a:defRPr sz="1125" b="1" i="0">
                <a:solidFill>
                  <a:srgbClr val="0E7C66"/>
                </a:solidFill>
              </a:defRPr>
            </a:pPr>
            <a:r>
              <a:rPr sz="1125" b="1" i="0">
                <a:solidFill>
                  <a:srgbClr val="0E7C66"/>
                </a:solidFill>
              </a:rPr>
              <a:t>Eg, at a particular threshold</a:t>
            </a:r>
          </a:p>
        </p:txBody>
      </p:sp>
      <p:sp>
        <p:nvSpPr>
          <p:cNvPr id="18" name="Rounded Rectangle 17">
            <a:extLst>
              <a:ext uri="{FF2B5EF4-FFF2-40B4-BE49-F238E27FC236}">
                <a16:creationId xmlns:a16="http://schemas.microsoft.com/office/drawing/2014/main" id="{5F9E381A-68EB-4B89-AB0E-B8DF89902512}"/>
              </a:ext>
            </a:extLst>
          </p:cNvPr>
          <p:cNvSpPr>
            <a:spLocks noGrp="1"/>
          </p:cNvSpPr>
          <p:nvPr/>
        </p:nvSpPr>
        <p:spPr>
          <a:xfrm>
            <a:off x="6572250" y="3565808"/>
            <a:ext cx="4476750" cy="1053791"/>
          </a:xfrm>
          <a:prstGeom prst="roundRect">
            <a:avLst>
              <a:gd name="adj" fmla="val 8000"/>
            </a:avLst>
          </a:prstGeom>
          <a:solidFill>
            <a:srgbClr val="D9EEE8"/>
          </a:solidFill>
          <a:ln w="0">
            <a:noFill/>
            <a:prstDash val="solid"/>
          </a:ln>
        </p:spPr>
        <p:txBody>
          <a:bodyPr/>
          <a:lstStyle/>
          <a:p>
            <a:endParaRPr/>
          </a:p>
        </p:txBody>
      </p:sp>
      <p:sp>
        <p:nvSpPr>
          <p:cNvPr id="26" name="Rectangle 25">
            <a:extLst>
              <a:ext uri="{FF2B5EF4-FFF2-40B4-BE49-F238E27FC236}">
                <a16:creationId xmlns:a16="http://schemas.microsoft.com/office/drawing/2014/main" id="{A6D37F81-2D74-86D1-2C13-6363B353FC7A}"/>
              </a:ext>
            </a:extLst>
          </p:cNvPr>
          <p:cNvSpPr>
            <a:spLocks noGrp="1"/>
          </p:cNvSpPr>
          <p:nvPr/>
        </p:nvSpPr>
        <p:spPr>
          <a:xfrm>
            <a:off x="6572250" y="4886325"/>
            <a:ext cx="4476750" cy="1676400"/>
          </a:xfrm>
          <a:prstGeom prst="rect">
            <a:avLst/>
          </a:prstGeom>
          <a:noFill/>
          <a:ln w="0">
            <a:noFill/>
            <a:prstDash val="solid"/>
          </a:ln>
        </p:spPr>
        <p:txBody>
          <a:bodyPr/>
          <a:lstStyle/>
          <a:p>
            <a:pPr algn="l">
              <a:buNone/>
              <a:defRPr sz="2100" b="1" i="0">
                <a:solidFill>
                  <a:srgbClr val="0E7C66"/>
                </a:solidFill>
              </a:defRPr>
            </a:pPr>
            <a:r>
              <a:rPr sz="2100" b="1">
                <a:solidFill>
                  <a:srgbClr val="0E7C66"/>
                </a:solidFill>
              </a:rPr>
              <a:t>AP has no probability interpretation. It asks: </a:t>
            </a:r>
          </a:p>
          <a:p>
            <a:pPr>
              <a:buNone/>
              <a:defRPr sz="2100" b="1" i="0">
                <a:solidFill>
                  <a:srgbClr val="0E7C66"/>
                </a:solidFill>
              </a:defRPr>
            </a:pPr>
            <a:r>
              <a:rPr sz="2100" b="1"/>
              <a:t>On average, how pure are the model's predictions while progressively retrieving more of the true positives?</a:t>
            </a:r>
          </a:p>
        </p:txBody>
      </p:sp>
      <p:sp>
        <p:nvSpPr>
          <p:cNvPr id="40" name="Oval 39">
            <a:extLst>
              <a:ext uri="{FF2B5EF4-FFF2-40B4-BE49-F238E27FC236}">
                <a16:creationId xmlns:a16="http://schemas.microsoft.com/office/drawing/2014/main" id="{E0EA9190-2C75-864D-DF09-5198AF2695D1}"/>
              </a:ext>
            </a:extLst>
          </p:cNvPr>
          <p:cNvSpPr>
            <a:spLocks noGrp="1"/>
          </p:cNvSpPr>
          <p:nvPr/>
        </p:nvSpPr>
        <p:spPr>
          <a:xfrm>
            <a:off x="7967662" y="3910013"/>
            <a:ext cx="361950" cy="361950"/>
          </a:xfrm>
          <a:prstGeom prst="ellipse">
            <a:avLst/>
          </a:prstGeom>
          <a:solidFill>
            <a:srgbClr val="D97706"/>
          </a:solidFill>
          <a:ln w="0">
            <a:noFill/>
            <a:prstDash val="solid"/>
          </a:ln>
        </p:spPr>
        <p:txBody>
          <a:bodyPr/>
          <a:lstStyle/>
          <a:p>
            <a:endParaRPr/>
          </a:p>
        </p:txBody>
      </p:sp>
      <p:sp>
        <p:nvSpPr>
          <p:cNvPr id="41" name="Oval 40">
            <a:extLst>
              <a:ext uri="{FF2B5EF4-FFF2-40B4-BE49-F238E27FC236}">
                <a16:creationId xmlns:a16="http://schemas.microsoft.com/office/drawing/2014/main" id="{59211347-0B37-D789-9C24-9FF79C3B53A8}"/>
              </a:ext>
            </a:extLst>
          </p:cNvPr>
          <p:cNvSpPr>
            <a:spLocks noGrp="1"/>
          </p:cNvSpPr>
          <p:nvPr/>
        </p:nvSpPr>
        <p:spPr>
          <a:xfrm>
            <a:off x="8491537" y="3967163"/>
            <a:ext cx="361950" cy="361950"/>
          </a:xfrm>
          <a:prstGeom prst="ellipse">
            <a:avLst/>
          </a:prstGeom>
          <a:solidFill>
            <a:srgbClr val="D97706"/>
          </a:solidFill>
          <a:ln w="0">
            <a:noFill/>
            <a:prstDash val="solid"/>
          </a:ln>
        </p:spPr>
        <p:txBody>
          <a:bodyPr/>
          <a:lstStyle/>
          <a:p>
            <a:endParaRPr/>
          </a:p>
        </p:txBody>
      </p:sp>
      <p:sp>
        <p:nvSpPr>
          <p:cNvPr id="42" name="Oval 41">
            <a:extLst>
              <a:ext uri="{FF2B5EF4-FFF2-40B4-BE49-F238E27FC236}">
                <a16:creationId xmlns:a16="http://schemas.microsoft.com/office/drawing/2014/main" id="{A35383D2-67D2-04B8-0B11-7949BD747B2E}"/>
              </a:ext>
            </a:extLst>
          </p:cNvPr>
          <p:cNvSpPr>
            <a:spLocks noGrp="1"/>
          </p:cNvSpPr>
          <p:nvPr/>
        </p:nvSpPr>
        <p:spPr>
          <a:xfrm>
            <a:off x="9015412" y="3910013"/>
            <a:ext cx="361950" cy="361950"/>
          </a:xfrm>
          <a:prstGeom prst="ellipse">
            <a:avLst/>
          </a:prstGeom>
          <a:solidFill>
            <a:srgbClr val="D97706"/>
          </a:solidFill>
          <a:ln w="0">
            <a:noFill/>
            <a:prstDash val="solid"/>
          </a:ln>
        </p:spPr>
        <p:txBody>
          <a:bodyPr/>
          <a:lstStyle/>
          <a:p>
            <a:endParaRPr/>
          </a:p>
        </p:txBody>
      </p:sp>
      <p:sp>
        <p:nvSpPr>
          <p:cNvPr id="43" name="Oval 42">
            <a:extLst>
              <a:ext uri="{FF2B5EF4-FFF2-40B4-BE49-F238E27FC236}">
                <a16:creationId xmlns:a16="http://schemas.microsoft.com/office/drawing/2014/main" id="{896426D4-AA65-8371-946A-972CC52E2AC2}"/>
              </a:ext>
            </a:extLst>
          </p:cNvPr>
          <p:cNvSpPr>
            <a:spLocks noGrp="1"/>
          </p:cNvSpPr>
          <p:nvPr/>
        </p:nvSpPr>
        <p:spPr>
          <a:xfrm>
            <a:off x="9539287" y="3967163"/>
            <a:ext cx="361950" cy="361950"/>
          </a:xfrm>
          <a:prstGeom prst="ellipse">
            <a:avLst/>
          </a:prstGeom>
          <a:solidFill>
            <a:srgbClr val="D97706"/>
          </a:solidFill>
          <a:ln w="0">
            <a:noFill/>
            <a:prstDash val="solid"/>
          </a:ln>
        </p:spPr>
        <p:txBody>
          <a:bodyPr/>
          <a:lstStyle/>
          <a:p>
            <a:endParaRPr/>
          </a:p>
        </p:txBody>
      </p:sp>
      <p:sp>
        <p:nvSpPr>
          <p:cNvPr id="44" name="Rectangle 43">
            <a:extLst>
              <a:ext uri="{FF2B5EF4-FFF2-40B4-BE49-F238E27FC236}">
                <a16:creationId xmlns:a16="http://schemas.microsoft.com/office/drawing/2014/main" id="{377614E6-27F7-83AB-2FFB-FDDB6A66A5AD}"/>
              </a:ext>
            </a:extLst>
          </p:cNvPr>
          <p:cNvSpPr>
            <a:spLocks noGrp="1"/>
          </p:cNvSpPr>
          <p:nvPr/>
        </p:nvSpPr>
        <p:spPr>
          <a:xfrm>
            <a:off x="9509031" y="3805238"/>
            <a:ext cx="476250" cy="400050"/>
          </a:xfrm>
          <a:prstGeom prst="rect">
            <a:avLst/>
          </a:prstGeom>
          <a:noFill/>
          <a:ln w="0">
            <a:noFill/>
            <a:prstDash val="solid"/>
          </a:ln>
        </p:spPr>
        <p:txBody>
          <a:bodyPr/>
          <a:lstStyle/>
          <a:p>
            <a:pPr algn="ctr">
              <a:buNone/>
              <a:defRPr sz="3450" b="1" i="0">
                <a:solidFill>
                  <a:srgbClr val="5F6B78"/>
                </a:solidFill>
              </a:defRPr>
            </a:pPr>
            <a:r>
              <a:rPr sz="3450" b="1">
                <a:solidFill>
                  <a:schemeClr val="bg1"/>
                </a:solidFill>
              </a:rPr>
              <a:t>+</a:t>
            </a:r>
          </a:p>
        </p:txBody>
      </p:sp>
      <p:sp>
        <p:nvSpPr>
          <p:cNvPr id="45" name="Rectangle 44">
            <a:extLst>
              <a:ext uri="{FF2B5EF4-FFF2-40B4-BE49-F238E27FC236}">
                <a16:creationId xmlns:a16="http://schemas.microsoft.com/office/drawing/2014/main" id="{1F79C291-D283-EA10-8D15-E08F33991328}"/>
              </a:ext>
            </a:extLst>
          </p:cNvPr>
          <p:cNvSpPr>
            <a:spLocks noGrp="1"/>
          </p:cNvSpPr>
          <p:nvPr/>
        </p:nvSpPr>
        <p:spPr>
          <a:xfrm>
            <a:off x="8978993" y="3767138"/>
            <a:ext cx="476250" cy="400050"/>
          </a:xfrm>
          <a:prstGeom prst="rect">
            <a:avLst/>
          </a:prstGeom>
          <a:noFill/>
          <a:ln w="0">
            <a:noFill/>
            <a:prstDash val="solid"/>
          </a:ln>
        </p:spPr>
        <p:txBody>
          <a:bodyPr/>
          <a:lstStyle/>
          <a:p>
            <a:pPr algn="ctr">
              <a:buNone/>
              <a:defRPr sz="3450" b="1" i="0">
                <a:solidFill>
                  <a:srgbClr val="5F6B78"/>
                </a:solidFill>
              </a:defRPr>
            </a:pPr>
            <a:r>
              <a:rPr sz="3450" b="1">
                <a:solidFill>
                  <a:schemeClr val="bg1"/>
                </a:solidFill>
              </a:rPr>
              <a:t>+</a:t>
            </a:r>
          </a:p>
        </p:txBody>
      </p:sp>
      <p:sp>
        <p:nvSpPr>
          <p:cNvPr id="46" name="Rectangle 45">
            <a:extLst>
              <a:ext uri="{FF2B5EF4-FFF2-40B4-BE49-F238E27FC236}">
                <a16:creationId xmlns:a16="http://schemas.microsoft.com/office/drawing/2014/main" id="{B346EFA5-ACBB-9DFD-440D-1D3CC5F90468}"/>
              </a:ext>
            </a:extLst>
          </p:cNvPr>
          <p:cNvSpPr>
            <a:spLocks noGrp="1"/>
          </p:cNvSpPr>
          <p:nvPr/>
        </p:nvSpPr>
        <p:spPr>
          <a:xfrm>
            <a:off x="8434387" y="3786188"/>
            <a:ext cx="476250" cy="400050"/>
          </a:xfrm>
          <a:prstGeom prst="rect">
            <a:avLst/>
          </a:prstGeom>
          <a:noFill/>
          <a:ln w="0">
            <a:noFill/>
            <a:prstDash val="solid"/>
          </a:ln>
        </p:spPr>
        <p:txBody>
          <a:bodyPr/>
          <a:lstStyle/>
          <a:p>
            <a:pPr algn="ctr">
              <a:buNone/>
              <a:defRPr sz="3450" b="1" i="0">
                <a:solidFill>
                  <a:srgbClr val="5F6B78"/>
                </a:solidFill>
              </a:defRPr>
            </a:pPr>
            <a:r>
              <a:rPr sz="3450" b="1">
                <a:solidFill>
                  <a:schemeClr val="bg1"/>
                </a:solidFill>
              </a:rPr>
              <a:t>-</a:t>
            </a:r>
          </a:p>
        </p:txBody>
      </p:sp>
      <p:sp>
        <p:nvSpPr>
          <p:cNvPr id="47" name="Rectangle 46">
            <a:extLst>
              <a:ext uri="{FF2B5EF4-FFF2-40B4-BE49-F238E27FC236}">
                <a16:creationId xmlns:a16="http://schemas.microsoft.com/office/drawing/2014/main" id="{4403D25B-EB79-D8C3-42D3-E4A723E950BD}"/>
              </a:ext>
            </a:extLst>
          </p:cNvPr>
          <p:cNvSpPr>
            <a:spLocks noGrp="1"/>
          </p:cNvSpPr>
          <p:nvPr/>
        </p:nvSpPr>
        <p:spPr>
          <a:xfrm>
            <a:off x="7916956" y="3748088"/>
            <a:ext cx="476250" cy="400050"/>
          </a:xfrm>
          <a:prstGeom prst="rect">
            <a:avLst/>
          </a:prstGeom>
          <a:noFill/>
          <a:ln w="0">
            <a:noFill/>
            <a:prstDash val="solid"/>
          </a:ln>
        </p:spPr>
        <p:txBody>
          <a:bodyPr/>
          <a:lstStyle/>
          <a:p>
            <a:pPr algn="ctr">
              <a:buNone/>
              <a:defRPr sz="3450" b="1" i="0">
                <a:solidFill>
                  <a:srgbClr val="5F6B78"/>
                </a:solidFill>
              </a:defRPr>
            </a:pPr>
            <a:r>
              <a:rPr sz="3450" b="1" i="0">
                <a:solidFill>
                  <a:schemeClr val="bg1"/>
                </a:solidFill>
              </a:rPr>
              <a:t>-</a:t>
            </a:r>
          </a:p>
        </p:txBody>
      </p:sp>
      <p:sp>
        <p:nvSpPr>
          <p:cNvPr id="61" name="Rectangle 60">
            <a:extLst>
              <a:ext uri="{FF2B5EF4-FFF2-40B4-BE49-F238E27FC236}">
                <a16:creationId xmlns:a16="http://schemas.microsoft.com/office/drawing/2014/main" id="{1BD2D959-3C30-5F9E-501D-EF5798F8970A}"/>
              </a:ext>
            </a:extLst>
          </p:cNvPr>
          <p:cNvSpPr>
            <a:spLocks noGrp="1"/>
          </p:cNvSpPr>
          <p:nvPr/>
        </p:nvSpPr>
        <p:spPr>
          <a:xfrm>
            <a:off x="388215" y="3678891"/>
            <a:ext cx="5231536" cy="3160059"/>
          </a:xfrm>
          <a:prstGeom prst="rect">
            <a:avLst/>
          </a:prstGeom>
          <a:noFill/>
          <a:ln w="0">
            <a:noFill/>
            <a:prstDash val="solid"/>
          </a:ln>
        </p:spPr>
        <p:txBody>
          <a:bodyPr/>
          <a:lstStyle/>
          <a:p>
            <a:pPr algn="l">
              <a:buNone/>
              <a:defRPr sz="2100" b="1" i="0">
                <a:solidFill>
                  <a:srgbClr val="11253D"/>
                </a:solidFill>
              </a:defRPr>
            </a:pPr>
            <a:r>
              <a:rPr sz="2100" b="1">
                <a:solidFill>
                  <a:srgbClr val="11253D"/>
                </a:solidFill>
              </a:rPr>
              <a:t>AUROC: vary classification threshold in order to compute area under Receiver Operating Curve. It also has a probability interpretation.</a:t>
            </a:r>
          </a:p>
          <a:p>
            <a:pPr algn="l">
              <a:buNone/>
              <a:defRPr sz="2100" b="1" i="0">
                <a:solidFill>
                  <a:srgbClr val="11253D"/>
                </a:solidFill>
              </a:defRPr>
            </a:pPr>
            <a:endParaRPr sz="2100" b="1">
              <a:solidFill>
                <a:srgbClr val="11253D"/>
              </a:solidFill>
            </a:endParaRPr>
          </a:p>
          <a:p>
            <a:pPr algn="l">
              <a:buNone/>
              <a:defRPr sz="2100" b="1" i="0">
                <a:solidFill>
                  <a:srgbClr val="11253D"/>
                </a:solidFill>
              </a:defRPr>
            </a:pPr>
            <a:endParaRPr sz="2100" b="1">
              <a:solidFill>
                <a:srgbClr val="11253D"/>
              </a:solidFill>
            </a:endParaRPr>
          </a:p>
          <a:p>
            <a:pPr algn="l">
              <a:buNone/>
              <a:defRPr sz="2100" b="1" i="0">
                <a:solidFill>
                  <a:srgbClr val="11253D"/>
                </a:solidFill>
              </a:defRPr>
            </a:pPr>
            <a:endParaRPr sz="2100" b="1">
              <a:solidFill>
                <a:srgbClr val="11253D"/>
              </a:solidFill>
            </a:endParaRPr>
          </a:p>
          <a:p>
            <a:pPr>
              <a:buNone/>
              <a:defRPr sz="2100" b="1" i="0">
                <a:solidFill>
                  <a:srgbClr val="11253D"/>
                </a:solidFill>
              </a:defRPr>
            </a:pPr>
            <a:r>
              <a:rPr sz="2100" b="1"/>
              <a:t>the probability that a randomly chosen positive example receives a higher score than a randomly chosen negative example.</a:t>
            </a:r>
          </a:p>
        </p:txBody>
      </p:sp>
      <p:sp>
        <p:nvSpPr>
          <p:cNvPr id="4" name="Rectangle 3">
            <a:extLst>
              <a:ext uri="{FF2B5EF4-FFF2-40B4-BE49-F238E27FC236}">
                <a16:creationId xmlns:a16="http://schemas.microsoft.com/office/drawing/2014/main" id="{10FBCF46-AC10-F39C-EF96-87CD24A718E1}"/>
              </a:ext>
            </a:extLst>
          </p:cNvPr>
          <p:cNvSpPr>
            <a:spLocks noGrp="1"/>
          </p:cNvSpPr>
          <p:nvPr/>
        </p:nvSpPr>
        <p:spPr>
          <a:xfrm>
            <a:off x="6453537" y="1949193"/>
            <a:ext cx="4933249" cy="730766"/>
          </a:xfrm>
          <a:prstGeom prst="rect">
            <a:avLst/>
          </a:prstGeom>
          <a:noFill/>
          <a:ln w="0">
            <a:noFill/>
            <a:prstDash val="solid"/>
          </a:ln>
        </p:spPr>
        <p:txBody>
          <a:bodyPr/>
          <a:lstStyle/>
          <a:p>
            <a:pPr algn="l">
              <a:buNone/>
              <a:defRPr sz="2100" b="1" i="0">
                <a:solidFill>
                  <a:srgbClr val="11253D"/>
                </a:solidFill>
              </a:defRPr>
            </a:pPr>
            <a:r>
              <a:rPr sz="2100" b="1" dirty="0">
                <a:solidFill>
                  <a:srgbClr val="11253D"/>
                </a:solidFill>
              </a:rPr>
              <a:t>AP: Vary classification threshold but only look at positives.</a:t>
            </a:r>
          </a:p>
          <a:p>
            <a:pPr algn="l">
              <a:buNone/>
              <a:defRPr sz="2100" b="1" i="0">
                <a:solidFill>
                  <a:srgbClr val="11253D"/>
                </a:solidFill>
              </a:defRPr>
            </a:pPr>
            <a:endParaRPr sz="2100" b="1" dirty="0">
              <a:solidFill>
                <a:srgbClr val="11253D"/>
              </a:solidFill>
            </a:endParaRPr>
          </a:p>
        </p:txBody>
      </p:sp>
      <p:sp>
        <p:nvSpPr>
          <p:cNvPr id="27" name="Rectangle 26">
            <a:extLst>
              <a:ext uri="{FF2B5EF4-FFF2-40B4-BE49-F238E27FC236}">
                <a16:creationId xmlns:a16="http://schemas.microsoft.com/office/drawing/2014/main" id="{F4AA828A-ED0A-E7A2-3D69-477BFEA443E2}"/>
              </a:ext>
            </a:extLst>
          </p:cNvPr>
          <p:cNvSpPr>
            <a:spLocks noGrp="1"/>
          </p:cNvSpPr>
          <p:nvPr/>
        </p:nvSpPr>
        <p:spPr>
          <a:xfrm>
            <a:off x="876299" y="2095500"/>
            <a:ext cx="3355041" cy="238406"/>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Model provides a score, s. (The darker the higher)</a:t>
            </a:r>
          </a:p>
        </p:txBody>
      </p:sp>
      <p:sp>
        <p:nvSpPr>
          <p:cNvPr id="28" name="Oval 27">
            <a:extLst>
              <a:ext uri="{FF2B5EF4-FFF2-40B4-BE49-F238E27FC236}">
                <a16:creationId xmlns:a16="http://schemas.microsoft.com/office/drawing/2014/main" id="{22D6ACB0-8399-8B69-242F-535508E5748A}"/>
              </a:ext>
            </a:extLst>
          </p:cNvPr>
          <p:cNvSpPr>
            <a:spLocks noGrp="1"/>
          </p:cNvSpPr>
          <p:nvPr/>
        </p:nvSpPr>
        <p:spPr>
          <a:xfrm>
            <a:off x="876300" y="2571750"/>
            <a:ext cx="361950" cy="361950"/>
          </a:xfrm>
          <a:prstGeom prst="ellipse">
            <a:avLst/>
          </a:prstGeom>
          <a:solidFill>
            <a:schemeClr val="bg2"/>
          </a:solidFill>
          <a:ln w="0">
            <a:noFill/>
            <a:prstDash val="solid"/>
          </a:ln>
        </p:spPr>
        <p:txBody>
          <a:bodyPr/>
          <a:lstStyle/>
          <a:p>
            <a:endParaRPr/>
          </a:p>
        </p:txBody>
      </p:sp>
      <p:sp>
        <p:nvSpPr>
          <p:cNvPr id="30" name="Oval 29">
            <a:extLst>
              <a:ext uri="{FF2B5EF4-FFF2-40B4-BE49-F238E27FC236}">
                <a16:creationId xmlns:a16="http://schemas.microsoft.com/office/drawing/2014/main" id="{D06D8489-322B-A9A3-04E7-DB1A0B4CCA16}"/>
              </a:ext>
            </a:extLst>
          </p:cNvPr>
          <p:cNvSpPr>
            <a:spLocks noGrp="1"/>
          </p:cNvSpPr>
          <p:nvPr/>
        </p:nvSpPr>
        <p:spPr>
          <a:xfrm>
            <a:off x="1400175" y="2628900"/>
            <a:ext cx="361950" cy="361950"/>
          </a:xfrm>
          <a:prstGeom prst="ellipse">
            <a:avLst/>
          </a:prstGeom>
          <a:solidFill>
            <a:schemeClr val="bg2">
              <a:lumMod val="90000"/>
            </a:schemeClr>
          </a:solidFill>
          <a:ln w="0">
            <a:noFill/>
            <a:prstDash val="solid"/>
          </a:ln>
        </p:spPr>
        <p:txBody>
          <a:bodyPr/>
          <a:lstStyle/>
          <a:p>
            <a:endParaRPr/>
          </a:p>
        </p:txBody>
      </p:sp>
      <p:sp>
        <p:nvSpPr>
          <p:cNvPr id="31" name="Oval 30">
            <a:extLst>
              <a:ext uri="{FF2B5EF4-FFF2-40B4-BE49-F238E27FC236}">
                <a16:creationId xmlns:a16="http://schemas.microsoft.com/office/drawing/2014/main" id="{CE8CC660-8DAE-870E-1C81-480C5F9613E8}"/>
              </a:ext>
            </a:extLst>
          </p:cNvPr>
          <p:cNvSpPr>
            <a:spLocks noGrp="1"/>
          </p:cNvSpPr>
          <p:nvPr/>
        </p:nvSpPr>
        <p:spPr>
          <a:xfrm>
            <a:off x="1924050" y="2571750"/>
            <a:ext cx="361950" cy="361950"/>
          </a:xfrm>
          <a:prstGeom prst="ellipse">
            <a:avLst/>
          </a:prstGeom>
          <a:solidFill>
            <a:schemeClr val="bg2">
              <a:lumMod val="75000"/>
            </a:schemeClr>
          </a:solidFill>
          <a:ln w="0">
            <a:noFill/>
            <a:prstDash val="solid"/>
          </a:ln>
        </p:spPr>
        <p:txBody>
          <a:bodyPr/>
          <a:lstStyle/>
          <a:p>
            <a:endParaRPr/>
          </a:p>
        </p:txBody>
      </p:sp>
      <p:sp>
        <p:nvSpPr>
          <p:cNvPr id="32" name="Oval 31">
            <a:extLst>
              <a:ext uri="{FF2B5EF4-FFF2-40B4-BE49-F238E27FC236}">
                <a16:creationId xmlns:a16="http://schemas.microsoft.com/office/drawing/2014/main" id="{FC803B4B-07B1-58EA-8AC8-02F062C9EC4A}"/>
              </a:ext>
            </a:extLst>
          </p:cNvPr>
          <p:cNvSpPr>
            <a:spLocks noGrp="1"/>
          </p:cNvSpPr>
          <p:nvPr/>
        </p:nvSpPr>
        <p:spPr>
          <a:xfrm>
            <a:off x="2447925" y="2628900"/>
            <a:ext cx="361950" cy="361950"/>
          </a:xfrm>
          <a:prstGeom prst="ellipse">
            <a:avLst/>
          </a:prstGeom>
          <a:solidFill>
            <a:schemeClr val="tx1">
              <a:lumMod val="50000"/>
              <a:lumOff val="50000"/>
            </a:schemeClr>
          </a:solidFill>
          <a:ln w="0">
            <a:noFill/>
            <a:prstDash val="solid"/>
          </a:ln>
        </p:spPr>
        <p:txBody>
          <a:bodyPr/>
          <a:lstStyle/>
          <a:p>
            <a:endParaRPr/>
          </a:p>
        </p:txBody>
      </p:sp>
      <p:sp>
        <p:nvSpPr>
          <p:cNvPr id="33" name="Oval 32">
            <a:extLst>
              <a:ext uri="{FF2B5EF4-FFF2-40B4-BE49-F238E27FC236}">
                <a16:creationId xmlns:a16="http://schemas.microsoft.com/office/drawing/2014/main" id="{E8AF48CD-7A70-60BF-B299-D1B312612020}"/>
              </a:ext>
            </a:extLst>
          </p:cNvPr>
          <p:cNvSpPr>
            <a:spLocks noGrp="1"/>
          </p:cNvSpPr>
          <p:nvPr/>
        </p:nvSpPr>
        <p:spPr>
          <a:xfrm>
            <a:off x="2999535" y="2614613"/>
            <a:ext cx="361950" cy="361950"/>
          </a:xfrm>
          <a:prstGeom prst="ellipse">
            <a:avLst/>
          </a:prstGeom>
          <a:solidFill>
            <a:schemeClr val="tx1">
              <a:lumMod val="65000"/>
              <a:lumOff val="35000"/>
            </a:schemeClr>
          </a:solidFill>
          <a:ln w="0">
            <a:noFill/>
            <a:prstDash val="solid"/>
          </a:ln>
        </p:spPr>
        <p:txBody>
          <a:bodyPr/>
          <a:lstStyle/>
          <a:p>
            <a:endParaRPr/>
          </a:p>
        </p:txBody>
      </p:sp>
      <p:sp>
        <p:nvSpPr>
          <p:cNvPr id="34" name="Oval 33">
            <a:extLst>
              <a:ext uri="{FF2B5EF4-FFF2-40B4-BE49-F238E27FC236}">
                <a16:creationId xmlns:a16="http://schemas.microsoft.com/office/drawing/2014/main" id="{4F7171F6-1B11-7EE8-389A-6D77F3851A54}"/>
              </a:ext>
            </a:extLst>
          </p:cNvPr>
          <p:cNvSpPr>
            <a:spLocks noGrp="1"/>
          </p:cNvSpPr>
          <p:nvPr/>
        </p:nvSpPr>
        <p:spPr>
          <a:xfrm>
            <a:off x="3523410" y="2671763"/>
            <a:ext cx="361950" cy="361950"/>
          </a:xfrm>
          <a:prstGeom prst="ellipse">
            <a:avLst/>
          </a:prstGeom>
          <a:solidFill>
            <a:schemeClr val="tx1">
              <a:lumMod val="75000"/>
              <a:lumOff val="25000"/>
            </a:schemeClr>
          </a:solidFill>
          <a:ln w="0">
            <a:noFill/>
            <a:prstDash val="solid"/>
          </a:ln>
        </p:spPr>
        <p:txBody>
          <a:bodyPr/>
          <a:lstStyle/>
          <a:p>
            <a:endParaRPr/>
          </a:p>
        </p:txBody>
      </p:sp>
      <p:sp>
        <p:nvSpPr>
          <p:cNvPr id="35" name="Oval 34">
            <a:extLst>
              <a:ext uri="{FF2B5EF4-FFF2-40B4-BE49-F238E27FC236}">
                <a16:creationId xmlns:a16="http://schemas.microsoft.com/office/drawing/2014/main" id="{E6EA7E43-63FD-5F15-CE70-8067B3A38F35}"/>
              </a:ext>
            </a:extLst>
          </p:cNvPr>
          <p:cNvSpPr>
            <a:spLocks noGrp="1"/>
          </p:cNvSpPr>
          <p:nvPr/>
        </p:nvSpPr>
        <p:spPr>
          <a:xfrm>
            <a:off x="4047285" y="2614613"/>
            <a:ext cx="361950" cy="361950"/>
          </a:xfrm>
          <a:prstGeom prst="ellipse">
            <a:avLst/>
          </a:prstGeom>
          <a:solidFill>
            <a:schemeClr val="tx1">
              <a:lumMod val="85000"/>
              <a:lumOff val="15000"/>
            </a:schemeClr>
          </a:solidFill>
          <a:ln w="0">
            <a:noFill/>
            <a:prstDash val="solid"/>
          </a:ln>
        </p:spPr>
        <p:txBody>
          <a:bodyPr/>
          <a:lstStyle/>
          <a:p>
            <a:endParaRPr/>
          </a:p>
        </p:txBody>
      </p:sp>
      <p:sp>
        <p:nvSpPr>
          <p:cNvPr id="36" name="Oval 35">
            <a:extLst>
              <a:ext uri="{FF2B5EF4-FFF2-40B4-BE49-F238E27FC236}">
                <a16:creationId xmlns:a16="http://schemas.microsoft.com/office/drawing/2014/main" id="{3A561911-B5A5-C963-86D4-F13D9F9C3F64}"/>
              </a:ext>
            </a:extLst>
          </p:cNvPr>
          <p:cNvSpPr>
            <a:spLocks noGrp="1"/>
          </p:cNvSpPr>
          <p:nvPr/>
        </p:nvSpPr>
        <p:spPr>
          <a:xfrm>
            <a:off x="4571160" y="2671763"/>
            <a:ext cx="361950" cy="361950"/>
          </a:xfrm>
          <a:prstGeom prst="ellipse">
            <a:avLst/>
          </a:prstGeom>
          <a:solidFill>
            <a:schemeClr val="tx1"/>
          </a:solidFill>
          <a:ln w="0">
            <a:noFill/>
            <a:prstDash val="solid"/>
          </a:ln>
        </p:spPr>
        <p:txBody>
          <a:bodyPr/>
          <a:lstStyle/>
          <a:p>
            <a:endParaRPr/>
          </a:p>
        </p:txBody>
      </p:sp>
      <p:sp>
        <p:nvSpPr>
          <p:cNvPr id="75" name="Rectangle 74">
            <a:extLst>
              <a:ext uri="{FF2B5EF4-FFF2-40B4-BE49-F238E27FC236}">
                <a16:creationId xmlns:a16="http://schemas.microsoft.com/office/drawing/2014/main" id="{0BE35FE4-8D83-2811-8C3F-39B9C4E05196}"/>
              </a:ext>
            </a:extLst>
          </p:cNvPr>
          <p:cNvSpPr>
            <a:spLocks noGrp="1"/>
          </p:cNvSpPr>
          <p:nvPr/>
        </p:nvSpPr>
        <p:spPr>
          <a:xfrm>
            <a:off x="4514010" y="2518803"/>
            <a:ext cx="476250" cy="400050"/>
          </a:xfrm>
          <a:prstGeom prst="rect">
            <a:avLst/>
          </a:prstGeom>
          <a:noFill/>
          <a:ln w="0">
            <a:noFill/>
            <a:prstDash val="solid"/>
          </a:ln>
        </p:spPr>
        <p:txBody>
          <a:bodyPr/>
          <a:lstStyle/>
          <a:p>
            <a:pPr algn="ctr">
              <a:buNone/>
              <a:defRPr sz="3450" b="1" i="0">
                <a:solidFill>
                  <a:srgbClr val="5F6B78"/>
                </a:solidFill>
              </a:defRPr>
            </a:pPr>
            <a:r>
              <a:rPr sz="3450" b="1">
                <a:solidFill>
                  <a:schemeClr val="bg1"/>
                </a:solidFill>
              </a:rPr>
              <a:t>+</a:t>
            </a:r>
          </a:p>
        </p:txBody>
      </p:sp>
      <p:sp>
        <p:nvSpPr>
          <p:cNvPr id="77" name="Rectangle 76">
            <a:extLst>
              <a:ext uri="{FF2B5EF4-FFF2-40B4-BE49-F238E27FC236}">
                <a16:creationId xmlns:a16="http://schemas.microsoft.com/office/drawing/2014/main" id="{3805AF65-5AFE-D42C-076E-6685DE7CC7FF}"/>
              </a:ext>
            </a:extLst>
          </p:cNvPr>
          <p:cNvSpPr>
            <a:spLocks noGrp="1"/>
          </p:cNvSpPr>
          <p:nvPr/>
        </p:nvSpPr>
        <p:spPr>
          <a:xfrm>
            <a:off x="3996297" y="2448766"/>
            <a:ext cx="476250" cy="400050"/>
          </a:xfrm>
          <a:prstGeom prst="rect">
            <a:avLst/>
          </a:prstGeom>
          <a:noFill/>
          <a:ln w="0">
            <a:noFill/>
            <a:prstDash val="solid"/>
          </a:ln>
        </p:spPr>
        <p:txBody>
          <a:bodyPr/>
          <a:lstStyle/>
          <a:p>
            <a:pPr algn="ctr">
              <a:buNone/>
              <a:defRPr sz="3450" b="1" i="0">
                <a:solidFill>
                  <a:srgbClr val="5F6B78"/>
                </a:solidFill>
              </a:defRPr>
            </a:pPr>
            <a:r>
              <a:rPr sz="3450" b="1" i="0">
                <a:solidFill>
                  <a:schemeClr val="bg1"/>
                </a:solidFill>
              </a:rPr>
              <a:t>-</a:t>
            </a:r>
          </a:p>
        </p:txBody>
      </p:sp>
      <p:sp>
        <p:nvSpPr>
          <p:cNvPr id="78" name="Rectangle 77">
            <a:extLst>
              <a:ext uri="{FF2B5EF4-FFF2-40B4-BE49-F238E27FC236}">
                <a16:creationId xmlns:a16="http://schemas.microsoft.com/office/drawing/2014/main" id="{82DD51EA-7506-3263-B1FA-0B91DF7B27F0}"/>
              </a:ext>
            </a:extLst>
          </p:cNvPr>
          <p:cNvSpPr>
            <a:spLocks noGrp="1"/>
          </p:cNvSpPr>
          <p:nvPr/>
        </p:nvSpPr>
        <p:spPr>
          <a:xfrm>
            <a:off x="3466260" y="2518803"/>
            <a:ext cx="476250" cy="400050"/>
          </a:xfrm>
          <a:prstGeom prst="rect">
            <a:avLst/>
          </a:prstGeom>
          <a:noFill/>
          <a:ln w="0">
            <a:noFill/>
            <a:prstDash val="solid"/>
          </a:ln>
        </p:spPr>
        <p:txBody>
          <a:bodyPr/>
          <a:lstStyle/>
          <a:p>
            <a:pPr algn="ctr">
              <a:buNone/>
              <a:defRPr sz="3450" b="1" i="0">
                <a:solidFill>
                  <a:srgbClr val="5F6B78"/>
                </a:solidFill>
              </a:defRPr>
            </a:pPr>
            <a:r>
              <a:rPr sz="3450" b="1">
                <a:solidFill>
                  <a:schemeClr val="bg1"/>
                </a:solidFill>
              </a:rPr>
              <a:t>+</a:t>
            </a:r>
          </a:p>
        </p:txBody>
      </p:sp>
      <p:sp>
        <p:nvSpPr>
          <p:cNvPr id="80" name="Rectangle 79">
            <a:extLst>
              <a:ext uri="{FF2B5EF4-FFF2-40B4-BE49-F238E27FC236}">
                <a16:creationId xmlns:a16="http://schemas.microsoft.com/office/drawing/2014/main" id="{1512C100-55CE-6AA5-01AC-7723AFB7AAB1}"/>
              </a:ext>
            </a:extLst>
          </p:cNvPr>
          <p:cNvSpPr>
            <a:spLocks noGrp="1"/>
          </p:cNvSpPr>
          <p:nvPr/>
        </p:nvSpPr>
        <p:spPr>
          <a:xfrm>
            <a:off x="2958914" y="2471737"/>
            <a:ext cx="476250" cy="400050"/>
          </a:xfrm>
          <a:prstGeom prst="rect">
            <a:avLst/>
          </a:prstGeom>
          <a:noFill/>
          <a:ln w="0">
            <a:noFill/>
            <a:prstDash val="solid"/>
          </a:ln>
        </p:spPr>
        <p:txBody>
          <a:bodyPr/>
          <a:lstStyle/>
          <a:p>
            <a:pPr algn="ctr">
              <a:buNone/>
              <a:defRPr sz="3450" b="1" i="0">
                <a:solidFill>
                  <a:srgbClr val="5F6B78"/>
                </a:solidFill>
              </a:defRPr>
            </a:pPr>
            <a:r>
              <a:rPr sz="3450" b="1">
                <a:solidFill>
                  <a:schemeClr val="bg1"/>
                </a:solidFill>
              </a:rPr>
              <a:t>+</a:t>
            </a:r>
          </a:p>
        </p:txBody>
      </p:sp>
      <p:sp>
        <p:nvSpPr>
          <p:cNvPr id="81" name="Rectangle 80">
            <a:extLst>
              <a:ext uri="{FF2B5EF4-FFF2-40B4-BE49-F238E27FC236}">
                <a16:creationId xmlns:a16="http://schemas.microsoft.com/office/drawing/2014/main" id="{A96496C4-3B30-F0E7-5717-D5F28B66225B}"/>
              </a:ext>
            </a:extLst>
          </p:cNvPr>
          <p:cNvSpPr>
            <a:spLocks noGrp="1"/>
          </p:cNvSpPr>
          <p:nvPr/>
        </p:nvSpPr>
        <p:spPr>
          <a:xfrm>
            <a:off x="2411786" y="2463333"/>
            <a:ext cx="476250" cy="400050"/>
          </a:xfrm>
          <a:prstGeom prst="rect">
            <a:avLst/>
          </a:prstGeom>
          <a:noFill/>
          <a:ln w="0">
            <a:noFill/>
            <a:prstDash val="solid"/>
          </a:ln>
        </p:spPr>
        <p:txBody>
          <a:bodyPr/>
          <a:lstStyle/>
          <a:p>
            <a:pPr algn="ctr">
              <a:buNone/>
              <a:defRPr sz="3450" b="1" i="0">
                <a:solidFill>
                  <a:srgbClr val="5F6B78"/>
                </a:solidFill>
              </a:defRPr>
            </a:pPr>
            <a:r>
              <a:rPr sz="3450" b="1">
                <a:solidFill>
                  <a:schemeClr val="bg1"/>
                </a:solidFill>
              </a:rPr>
              <a:t>+</a:t>
            </a:r>
          </a:p>
        </p:txBody>
      </p:sp>
      <p:sp>
        <p:nvSpPr>
          <p:cNvPr id="82" name="Rectangle 81">
            <a:extLst>
              <a:ext uri="{FF2B5EF4-FFF2-40B4-BE49-F238E27FC236}">
                <a16:creationId xmlns:a16="http://schemas.microsoft.com/office/drawing/2014/main" id="{646519C2-EED3-326C-2ACB-4EBD18C4400E}"/>
              </a:ext>
            </a:extLst>
          </p:cNvPr>
          <p:cNvSpPr>
            <a:spLocks noGrp="1"/>
          </p:cNvSpPr>
          <p:nvPr/>
        </p:nvSpPr>
        <p:spPr>
          <a:xfrm>
            <a:off x="1890713" y="2419350"/>
            <a:ext cx="476250" cy="400050"/>
          </a:xfrm>
          <a:prstGeom prst="rect">
            <a:avLst/>
          </a:prstGeom>
          <a:noFill/>
          <a:ln w="0">
            <a:noFill/>
            <a:prstDash val="solid"/>
          </a:ln>
        </p:spPr>
        <p:txBody>
          <a:bodyPr/>
          <a:lstStyle/>
          <a:p>
            <a:pPr algn="ctr">
              <a:buNone/>
              <a:defRPr sz="3450" b="1" i="0">
                <a:solidFill>
                  <a:srgbClr val="5F6B78"/>
                </a:solidFill>
              </a:defRPr>
            </a:pPr>
            <a:r>
              <a:rPr sz="3450" b="1" i="0">
                <a:solidFill>
                  <a:schemeClr val="bg1"/>
                </a:solidFill>
              </a:rPr>
              <a:t>-</a:t>
            </a:r>
          </a:p>
        </p:txBody>
      </p:sp>
      <p:sp>
        <p:nvSpPr>
          <p:cNvPr id="84" name="Rectangle 83">
            <a:extLst>
              <a:ext uri="{FF2B5EF4-FFF2-40B4-BE49-F238E27FC236}">
                <a16:creationId xmlns:a16="http://schemas.microsoft.com/office/drawing/2014/main" id="{666E3750-25E3-6D2C-BBB5-9053987D75FF}"/>
              </a:ext>
            </a:extLst>
          </p:cNvPr>
          <p:cNvSpPr>
            <a:spLocks noGrp="1"/>
          </p:cNvSpPr>
          <p:nvPr/>
        </p:nvSpPr>
        <p:spPr>
          <a:xfrm>
            <a:off x="1345265" y="2468376"/>
            <a:ext cx="476250" cy="400050"/>
          </a:xfrm>
          <a:prstGeom prst="rect">
            <a:avLst/>
          </a:prstGeom>
          <a:noFill/>
          <a:ln w="0">
            <a:noFill/>
            <a:prstDash val="solid"/>
          </a:ln>
        </p:spPr>
        <p:txBody>
          <a:bodyPr/>
          <a:lstStyle/>
          <a:p>
            <a:pPr algn="ctr">
              <a:buNone/>
              <a:defRPr sz="3450" b="1" i="0">
                <a:solidFill>
                  <a:srgbClr val="5F6B78"/>
                </a:solidFill>
              </a:defRPr>
            </a:pPr>
            <a:r>
              <a:rPr sz="3450" b="1" i="0">
                <a:solidFill>
                  <a:schemeClr val="bg1"/>
                </a:solidFill>
              </a:rPr>
              <a:t>-</a:t>
            </a:r>
          </a:p>
        </p:txBody>
      </p:sp>
      <p:sp>
        <p:nvSpPr>
          <p:cNvPr id="85" name="Rectangle 84">
            <a:extLst>
              <a:ext uri="{FF2B5EF4-FFF2-40B4-BE49-F238E27FC236}">
                <a16:creationId xmlns:a16="http://schemas.microsoft.com/office/drawing/2014/main" id="{106A7E0D-3548-C31D-36B8-4FF009EED465}"/>
              </a:ext>
            </a:extLst>
          </p:cNvPr>
          <p:cNvSpPr>
            <a:spLocks noGrp="1"/>
          </p:cNvSpPr>
          <p:nvPr/>
        </p:nvSpPr>
        <p:spPr>
          <a:xfrm>
            <a:off x="815789" y="2406323"/>
            <a:ext cx="476250" cy="400050"/>
          </a:xfrm>
          <a:prstGeom prst="rect">
            <a:avLst/>
          </a:prstGeom>
          <a:noFill/>
          <a:ln w="0">
            <a:noFill/>
            <a:prstDash val="solid"/>
          </a:ln>
        </p:spPr>
        <p:txBody>
          <a:bodyPr/>
          <a:lstStyle/>
          <a:p>
            <a:pPr algn="ctr">
              <a:buNone/>
              <a:defRPr sz="3450" b="1" i="0">
                <a:solidFill>
                  <a:srgbClr val="5F6B78"/>
                </a:solidFill>
              </a:defRPr>
            </a:pPr>
            <a:r>
              <a:rPr sz="3450" b="1" i="0">
                <a:solidFill>
                  <a:schemeClr val="bg1"/>
                </a:solidFill>
              </a:rPr>
              <a:t>-</a:t>
            </a:r>
          </a:p>
        </p:txBody>
      </p:sp>
      <mc:AlternateContent xmlns:mc="http://schemas.openxmlformats.org/markup-compatibility/2006">
        <mc:Choice xmlns:a14="http://schemas.microsoft.com/office/drawing/2010/main" Requires="a14">
          <p:sp>
            <p:nvSpPr>
              <p:cNvPr id="86" name="TextBox 85">
                <a:extLst>
                  <a:ext uri="{FF2B5EF4-FFF2-40B4-BE49-F238E27FC236}">
                    <a16:creationId xmlns:a16="http://schemas.microsoft.com/office/drawing/2014/main" id="{6894260B-A914-C165-23A2-EA2AE112C1FF}"/>
                  </a:ext>
                </a:extLst>
              </p:cNvPr>
              <p:cNvSpPr>
                <a:spLocks noGrp="1"/>
              </p:cNvSpPr>
              <p:nvPr/>
            </p:nvSpPr>
            <p:spPr>
              <a:xfrm>
                <a:off x="1234989" y="5021941"/>
                <a:ext cx="3430234" cy="299569"/>
              </a:xfrm>
              <a:prstGeom prst="rect">
                <a:avLst/>
              </a:prstGeom>
              <a:noFill/>
            </p:spPr>
            <p:txBody>
              <a:bodyPr wrap="none" lIns="0" tIns="0" rIns="0" bIns="0">
                <a:spAutoFit/>
              </a:bodyPr>
              <a:lstStyle/>
              <a:p>
                <a:pPr>
                  <a:buNone/>
                </a:pPr>
                <a14:m>
                  <m:oMathPara xmlns:m="http://schemas.openxmlformats.org/officeDocument/2006/math">
                    <m:oMathParaPr>
                      <m:jc m:val="centerGroup"/>
                    </m:oMathParaPr>
                    <m:oMath xmlns:m="http://schemas.openxmlformats.org/officeDocument/2006/math">
                      <m:r>
                        <a:rPr lang="en-US" b="0" i="1">
                          <a:latin typeface="Cambria Math"/>
                          <a:ea typeface="Cambria Math"/>
                          <a:cs typeface="Cambria Math"/>
                        </a:rPr>
                        <m:t>𝐴𝑈𝑅𝑂𝐶</m:t>
                      </m:r>
                      <m:r>
                        <a:rPr lang="en-US" b="0" i="1">
                          <a:latin typeface="Cambria Math"/>
                          <a:ea typeface="Cambria Math"/>
                          <a:cs typeface="Cambria Math"/>
                        </a:rPr>
                        <m:t>= </m:t>
                      </m:r>
                      <m:r>
                        <a:rPr lang="en-US" b="0" i="1">
                          <a:latin typeface="Cambria Math"/>
                          <a:ea typeface="Cambria Math"/>
                          <a:cs typeface="Cambria Math"/>
                        </a:rPr>
                        <m:t>𝑃</m:t>
                      </m:r>
                      <m:r>
                        <a:rPr lang="en-US" b="0" i="1">
                          <a:latin typeface="Cambria Math"/>
                          <a:ea typeface="Cambria Math"/>
                          <a:cs typeface="Cambria Math"/>
                        </a:rPr>
                        <m:t>(  </m:t>
                      </m:r>
                      <m:r>
                        <a:rPr lang="en-US" b="0" i="1">
                          <a:latin typeface="Cambria Math"/>
                          <a:ea typeface="Cambria Math"/>
                          <a:cs typeface="Cambria Math"/>
                        </a:rPr>
                        <m:t>𝑠</m:t>
                      </m:r>
                      <m:d>
                        <m:dPr>
                          <m:ctrlPr>
                            <a:rPr lang="en-US" b="0" i="1">
                              <a:latin typeface="Cambria Math" panose="02040503050406030204" pitchFamily="18" charset="0"/>
                              <a:ea typeface="Cambria Math"/>
                              <a:cs typeface="Cambria Math"/>
                            </a:rPr>
                          </m:ctrlPr>
                        </m:dPr>
                        <m:e>
                          <m:sSub>
                            <m:sSubPr>
                              <m:ctrlPr>
                                <a:rPr lang="en-US" b="0" i="1">
                                  <a:latin typeface="Cambria Math" panose="02040503050406030204" pitchFamily="18" charset="0"/>
                                  <a:ea typeface="Cambria Math"/>
                                  <a:cs typeface="Cambria Math"/>
                                </a:rPr>
                              </m:ctrlPr>
                            </m:sSubPr>
                            <m:e>
                              <m:r>
                                <a:rPr lang="en-US" b="0" i="1">
                                  <a:latin typeface="Cambria Math"/>
                                  <a:ea typeface="Cambria Math"/>
                                  <a:cs typeface="Cambria Math"/>
                                </a:rPr>
                                <m:t>𝑥</m:t>
                              </m:r>
                            </m:e>
                            <m:sub>
                              <m:r>
                                <a:rPr lang="en-US" b="0" i="1">
                                  <a:latin typeface="Cambria Math"/>
                                  <a:ea typeface="Cambria Math"/>
                                  <a:cs typeface="Cambria Math"/>
                                </a:rPr>
                                <m:t>𝑝𝑜𝑠</m:t>
                              </m:r>
                            </m:sub>
                          </m:sSub>
                        </m:e>
                      </m:d>
                      <m:r>
                        <a:rPr lang="en-US" b="0" i="1">
                          <a:latin typeface="Cambria Math"/>
                          <a:ea typeface="Cambria Math"/>
                          <a:cs typeface="Cambria Math"/>
                        </a:rPr>
                        <m:t>&gt;</m:t>
                      </m:r>
                      <m:r>
                        <a:rPr lang="en-US" b="0" i="1">
                          <a:latin typeface="Cambria Math"/>
                          <a:ea typeface="Cambria Math"/>
                          <a:cs typeface="Cambria Math"/>
                        </a:rPr>
                        <m:t>𝑠</m:t>
                      </m:r>
                      <m:d>
                        <m:dPr>
                          <m:ctrlPr>
                            <a:rPr lang="en-US" b="0" i="1">
                              <a:latin typeface="Cambria Math" panose="02040503050406030204" pitchFamily="18" charset="0"/>
                              <a:ea typeface="Cambria Math"/>
                              <a:cs typeface="Cambria Math"/>
                            </a:rPr>
                          </m:ctrlPr>
                        </m:dPr>
                        <m:e>
                          <m:sSub>
                            <m:sSubPr>
                              <m:ctrlPr>
                                <a:rPr lang="en-US" b="0" i="1">
                                  <a:latin typeface="Cambria Math" panose="02040503050406030204" pitchFamily="18" charset="0"/>
                                  <a:ea typeface="Cambria Math"/>
                                  <a:cs typeface="Cambria Math"/>
                                </a:rPr>
                              </m:ctrlPr>
                            </m:sSubPr>
                            <m:e>
                              <m:r>
                                <a:rPr lang="en-US" b="0" i="1">
                                  <a:latin typeface="Cambria Math"/>
                                  <a:ea typeface="Cambria Math"/>
                                  <a:cs typeface="Cambria Math"/>
                                </a:rPr>
                                <m:t>𝑥</m:t>
                              </m:r>
                            </m:e>
                            <m:sub>
                              <m:r>
                                <a:rPr lang="en-US" b="0" i="1">
                                  <a:latin typeface="Cambria Math"/>
                                  <a:ea typeface="Cambria Math"/>
                                  <a:cs typeface="Cambria Math"/>
                                </a:rPr>
                                <m:t>𝑛𝑒𝑔</m:t>
                              </m:r>
                            </m:sub>
                          </m:sSub>
                        </m:e>
                      </m:d>
                      <m:r>
                        <a:rPr lang="en-US" b="0" i="1">
                          <a:latin typeface="Cambria Math"/>
                          <a:ea typeface="Cambria Math"/>
                          <a:cs typeface="Cambria Math"/>
                        </a:rPr>
                        <m:t> )</m:t>
                      </m:r>
                    </m:oMath>
                  </m:oMathPara>
                </a14:m>
                <a:endParaRPr/>
              </a:p>
            </p:txBody>
          </p:sp>
        </mc:Choice>
        <mc:Fallback>
          <p:sp>
            <p:nvSpPr>
              <p:cNvPr id="86" name="TextBox 85">
                <a:extLst>
                  <a:ext uri="{FF2B5EF4-FFF2-40B4-BE49-F238E27FC236}">
                    <a16:creationId xmlns:a16="http://schemas.microsoft.com/office/drawing/2014/main" id="{6894260B-A914-C165-23A2-EA2AE112C1FF}"/>
                  </a:ext>
                </a:extLst>
              </p:cNvPr>
              <p:cNvSpPr>
                <a:spLocks noGrp="1" noRot="1" noChangeAspect="1" noMove="1" noResize="1" noEditPoints="1" noAdjustHandles="1" noChangeArrowheads="1" noChangeShapeType="1" noTextEdit="1"/>
              </p:cNvSpPr>
              <p:nvPr/>
            </p:nvSpPr>
            <p:spPr>
              <a:xfrm>
                <a:off x="1234989" y="5021941"/>
                <a:ext cx="3430234" cy="299569"/>
              </a:xfrm>
              <a:prstGeom prst="rect">
                <a:avLst/>
              </a:prstGeom>
              <a:blipFill>
                <a:blip r:embed="rId3"/>
                <a:stretch>
                  <a:fillRect l="-1107" t="-8000" r="-1845" b="-24000"/>
                </a:stretch>
              </a:blipFill>
            </p:spPr>
            <p:txBody>
              <a:bodyPr/>
              <a:lstStyle/>
              <a:p>
                <a:r>
                  <a:rPr lang="en-US">
                    <a:noFill/>
                  </a:rPr>
                  <a:t> </a:t>
                </a:r>
              </a:p>
            </p:txBody>
          </p:sp>
        </mc:Fallback>
      </mc:AlternateContent>
    </p:spTree>
    <p:extLst>
      <p:ext uri="{BB962C8B-B14F-4D97-AF65-F5344CB8AC3E}">
        <p14:creationId xmlns:p14="http://schemas.microsoft.com/office/powerpoint/2010/main" val="2609178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9184"/>
            <a:ext cx="11064240" cy="566928"/>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AUROC and AP answer different questions</a:t>
            </a:r>
            <a:endParaRPr lang="en-US" sz="36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buNone/>
            </a:pPr>
            <a:r>
              <a:rPr lang="en-US" sz="1800" b="1" dirty="0">
                <a:solidFill>
                  <a:srgbClr val="00A896"/>
                </a:solidFill>
                <a:latin typeface="Calibri" pitchFamily="34" charset="0"/>
                <a:ea typeface="Calibri" pitchFamily="34" charset="-122"/>
                <a:cs typeface="Calibri" pitchFamily="34" charset="-120"/>
              </a:rPr>
              <a:t>Each has the property the other lacks. </a:t>
            </a:r>
            <a:endParaRPr lang="en-US" sz="1800" dirty="0"/>
          </a:p>
        </p:txBody>
      </p:sp>
      <p:sp>
        <p:nvSpPr>
          <p:cNvPr id="4" name="Shape 2"/>
          <p:cNvSpPr/>
          <p:nvPr/>
        </p:nvSpPr>
        <p:spPr>
          <a:xfrm>
            <a:off x="548640" y="1517904"/>
            <a:ext cx="5349240" cy="2939796"/>
          </a:xfrm>
          <a:prstGeom prst="roundRect">
            <a:avLst>
              <a:gd name="adj" fmla="val 4580"/>
            </a:avLst>
          </a:prstGeom>
          <a:solidFill>
            <a:srgbClr val="1C2951"/>
          </a:solidFill>
          <a:ln/>
          <a:effectLst>
            <a:outerShdw blurRad="101600" dist="635" dir="5400000" algn="bl" rotWithShape="0">
              <a:srgbClr val="000000">
                <a:alpha val="35000"/>
              </a:srgbClr>
            </a:outerShdw>
          </a:effectLst>
        </p:spPr>
        <p:txBody>
          <a:bodyPr/>
          <a:lstStyle/>
          <a:p>
            <a:endParaRPr lang="en-US"/>
          </a:p>
        </p:txBody>
      </p:sp>
      <p:sp>
        <p:nvSpPr>
          <p:cNvPr id="5" name="Text 3"/>
          <p:cNvSpPr/>
          <p:nvPr/>
        </p:nvSpPr>
        <p:spPr>
          <a:xfrm>
            <a:off x="896112" y="1737360"/>
            <a:ext cx="4663440" cy="402336"/>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AUROC</a:t>
            </a:r>
            <a:endParaRPr lang="en-US" sz="2600" dirty="0"/>
          </a:p>
        </p:txBody>
      </p:sp>
      <p:sp>
        <p:nvSpPr>
          <p:cNvPr id="6" name="Text 4"/>
          <p:cNvSpPr/>
          <p:nvPr/>
        </p:nvSpPr>
        <p:spPr>
          <a:xfrm>
            <a:off x="896112" y="2139696"/>
            <a:ext cx="4663440" cy="256032"/>
          </a:xfrm>
          <a:prstGeom prst="rect">
            <a:avLst/>
          </a:prstGeom>
          <a:noFill/>
          <a:ln/>
        </p:spPr>
        <p:txBody>
          <a:bodyPr wrap="square" lIns="0" tIns="0" rIns="0" bIns="0" rtlCol="0" anchor="ctr"/>
          <a:lstStyle/>
          <a:p>
            <a:pPr marL="0" indent="0">
              <a:buNone/>
            </a:pPr>
            <a:r>
              <a:rPr lang="en-US" sz="1300" i="1" dirty="0">
                <a:solidFill>
                  <a:srgbClr val="8FA3C8"/>
                </a:solidFill>
                <a:latin typeface="Calibri" pitchFamily="34" charset="0"/>
                <a:ea typeface="Calibri" pitchFamily="34" charset="-122"/>
                <a:cs typeface="Calibri" pitchFamily="34" charset="-120"/>
              </a:rPr>
              <a:t>Does the model rank positives above negatives?</a:t>
            </a:r>
            <a:endParaRPr lang="en-US" sz="1300" dirty="0"/>
          </a:p>
        </p:txBody>
      </p:sp>
      <p:sp>
        <p:nvSpPr>
          <p:cNvPr id="9" name="Text 7"/>
          <p:cNvSpPr/>
          <p:nvPr/>
        </p:nvSpPr>
        <p:spPr>
          <a:xfrm>
            <a:off x="896112" y="2926080"/>
            <a:ext cx="274320" cy="27432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225296" y="2926080"/>
            <a:ext cx="4343400" cy="274320"/>
          </a:xfrm>
          <a:prstGeom prst="rect">
            <a:avLst/>
          </a:prstGeom>
          <a:noFill/>
          <a:ln/>
        </p:spPr>
        <p:txBody>
          <a:bodyPr wrap="square" lIns="0" tIns="0" rIns="0" bIns="0" rtlCol="0" anchor="ctr"/>
          <a:lstStyle/>
          <a:p>
            <a:pPr marL="0" indent="0">
              <a:buNone/>
            </a:pPr>
            <a:r>
              <a:rPr lang="en-US" sz="1450" dirty="0">
                <a:solidFill>
                  <a:srgbClr val="CADCFC"/>
                </a:solidFill>
                <a:latin typeface="Calibri" pitchFamily="34" charset="0"/>
                <a:ea typeface="Calibri" pitchFamily="34" charset="-122"/>
                <a:cs typeface="Calibri" pitchFamily="34" charset="-120"/>
              </a:rPr>
              <a:t>Prevalence-invariant — comparable across populations</a:t>
            </a:r>
            <a:endParaRPr lang="en-US" sz="1450" dirty="0"/>
          </a:p>
        </p:txBody>
      </p:sp>
      <p:sp>
        <p:nvSpPr>
          <p:cNvPr id="11" name="Text 9"/>
          <p:cNvSpPr/>
          <p:nvPr/>
        </p:nvSpPr>
        <p:spPr>
          <a:xfrm>
            <a:off x="896112" y="3691890"/>
            <a:ext cx="274320" cy="274320"/>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216152" y="3657601"/>
            <a:ext cx="4343400"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Blind to the purity of what you actually retrieve. (Can look good just because there are many negatives)</a:t>
            </a:r>
            <a:endParaRPr lang="en-US" sz="1450" dirty="0"/>
          </a:p>
        </p:txBody>
      </p:sp>
      <p:sp>
        <p:nvSpPr>
          <p:cNvPr id="13" name="Shape 11"/>
          <p:cNvSpPr/>
          <p:nvPr/>
        </p:nvSpPr>
        <p:spPr>
          <a:xfrm>
            <a:off x="6263640" y="1517904"/>
            <a:ext cx="5349240" cy="2939796"/>
          </a:xfrm>
          <a:prstGeom prst="roundRect">
            <a:avLst>
              <a:gd name="adj" fmla="val 4580"/>
            </a:avLst>
          </a:prstGeom>
          <a:solidFill>
            <a:srgbClr val="1C2951"/>
          </a:solidFill>
          <a:ln/>
          <a:effectLst>
            <a:outerShdw blurRad="101600" dist="635" dir="5400000" algn="bl" rotWithShape="0">
              <a:srgbClr val="000000">
                <a:alpha val="35000"/>
              </a:srgbClr>
            </a:outerShdw>
          </a:effectLst>
        </p:spPr>
        <p:txBody>
          <a:bodyPr/>
          <a:lstStyle/>
          <a:p>
            <a:endParaRPr lang="en-US"/>
          </a:p>
        </p:txBody>
      </p:sp>
      <p:sp>
        <p:nvSpPr>
          <p:cNvPr id="14" name="Text 12"/>
          <p:cNvSpPr/>
          <p:nvPr/>
        </p:nvSpPr>
        <p:spPr>
          <a:xfrm>
            <a:off x="6611112" y="1737360"/>
            <a:ext cx="4663440" cy="402336"/>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Average Precision</a:t>
            </a:r>
            <a:endParaRPr lang="en-US" sz="2600" dirty="0"/>
          </a:p>
        </p:txBody>
      </p:sp>
      <p:sp>
        <p:nvSpPr>
          <p:cNvPr id="15" name="Text 13"/>
          <p:cNvSpPr/>
          <p:nvPr/>
        </p:nvSpPr>
        <p:spPr>
          <a:xfrm>
            <a:off x="6611112" y="2139696"/>
            <a:ext cx="4663440" cy="256032"/>
          </a:xfrm>
          <a:prstGeom prst="rect">
            <a:avLst/>
          </a:prstGeom>
          <a:noFill/>
          <a:ln/>
        </p:spPr>
        <p:txBody>
          <a:bodyPr wrap="square" lIns="0" tIns="0" rIns="0" bIns="0" rtlCol="0" anchor="ctr"/>
          <a:lstStyle/>
          <a:p>
            <a:pPr marL="0" indent="0">
              <a:buNone/>
            </a:pPr>
            <a:r>
              <a:rPr lang="en-US" sz="1300" i="1" dirty="0">
                <a:solidFill>
                  <a:srgbClr val="8FA3C8"/>
                </a:solidFill>
                <a:latin typeface="Calibri" pitchFamily="34" charset="0"/>
                <a:ea typeface="Calibri" pitchFamily="34" charset="-122"/>
                <a:cs typeface="Calibri" pitchFamily="34" charset="-120"/>
              </a:rPr>
              <a:t>How good is the set of positives it retrieves?</a:t>
            </a:r>
            <a:endParaRPr lang="en-US" sz="1300" dirty="0"/>
          </a:p>
        </p:txBody>
      </p:sp>
      <p:sp>
        <p:nvSpPr>
          <p:cNvPr id="16" name="Text 14"/>
          <p:cNvSpPr/>
          <p:nvPr/>
        </p:nvSpPr>
        <p:spPr>
          <a:xfrm>
            <a:off x="6611112" y="2505456"/>
            <a:ext cx="274320" cy="27432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6940296" y="2505456"/>
            <a:ext cx="4343400" cy="274320"/>
          </a:xfrm>
          <a:prstGeom prst="rect">
            <a:avLst/>
          </a:prstGeom>
          <a:noFill/>
          <a:ln/>
        </p:spPr>
        <p:txBody>
          <a:bodyPr wrap="square" lIns="0" tIns="0" rIns="0" bIns="0" rtlCol="0" anchor="ctr"/>
          <a:lstStyle/>
          <a:p>
            <a:pPr marL="0" indent="0">
              <a:buNone/>
            </a:pPr>
            <a:r>
              <a:rPr lang="en-US" sz="1450" dirty="0">
                <a:solidFill>
                  <a:srgbClr val="CADCFC"/>
                </a:solidFill>
                <a:latin typeface="Calibri" pitchFamily="34" charset="0"/>
                <a:ea typeface="Calibri" pitchFamily="34" charset="-122"/>
                <a:cs typeface="Calibri" pitchFamily="34" charset="-120"/>
              </a:rPr>
              <a:t>Precision-based — scores the retrieved set itself</a:t>
            </a:r>
            <a:endParaRPr lang="en-US" sz="1450" dirty="0"/>
          </a:p>
        </p:txBody>
      </p:sp>
      <p:sp>
        <p:nvSpPr>
          <p:cNvPr id="20" name="Text 18"/>
          <p:cNvSpPr/>
          <p:nvPr/>
        </p:nvSpPr>
        <p:spPr>
          <a:xfrm>
            <a:off x="6611112" y="3401568"/>
            <a:ext cx="274320" cy="274320"/>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6940296" y="3401568"/>
            <a:ext cx="4343400" cy="9144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Prevalence-dependent — good (reflects difficulty of task when there is class imbalance) and bad (not comparable across populations with different prevalence)</a:t>
            </a:r>
            <a:endParaRPr lang="en-US" sz="1450" dirty="0"/>
          </a:p>
        </p:txBody>
      </p:sp>
      <p:sp>
        <p:nvSpPr>
          <p:cNvPr id="28" name="Shape 26"/>
          <p:cNvSpPr/>
          <p:nvPr/>
        </p:nvSpPr>
        <p:spPr>
          <a:xfrm>
            <a:off x="548640" y="5413248"/>
            <a:ext cx="11064240" cy="658368"/>
          </a:xfrm>
          <a:prstGeom prst="roundRect">
            <a:avLst>
              <a:gd name="adj" fmla="val 13889"/>
            </a:avLst>
          </a:prstGeom>
          <a:solidFill>
            <a:srgbClr val="0B1226"/>
          </a:solidFill>
          <a:ln/>
        </p:spPr>
        <p:txBody>
          <a:bodyPr/>
          <a:lstStyle/>
          <a:p>
            <a:endParaRPr lang="en-US"/>
          </a:p>
        </p:txBody>
      </p:sp>
      <p:sp>
        <p:nvSpPr>
          <p:cNvPr id="29" name="Text 27"/>
          <p:cNvSpPr/>
          <p:nvPr/>
        </p:nvSpPr>
        <p:spPr>
          <a:xfrm>
            <a:off x="868680" y="5532120"/>
            <a:ext cx="10424160" cy="420624"/>
          </a:xfrm>
          <a:prstGeom prst="rect">
            <a:avLst/>
          </a:prstGeom>
          <a:noFill/>
          <a:ln/>
        </p:spPr>
        <p:txBody>
          <a:bodyPr wrap="square" lIns="0" tIns="0" rIns="0" bIns="0" rtlCol="0" anchor="ctr"/>
          <a:lstStyle/>
          <a:p>
            <a:pPr marL="0" indent="0">
              <a:lnSpc>
                <a:spcPct val="105000"/>
              </a:lnSpc>
              <a:buNone/>
            </a:pPr>
            <a:r>
              <a:rPr lang="en-US" sz="1550" b="1" dirty="0">
                <a:solidFill>
                  <a:srgbClr val="00A896"/>
                </a:solidFill>
                <a:latin typeface="Calibri" pitchFamily="34" charset="0"/>
                <a:ea typeface="Calibri" pitchFamily="34" charset="-122"/>
                <a:cs typeface="Calibri" pitchFamily="34" charset="-120"/>
              </a:rPr>
              <a:t>What we want.  </a:t>
            </a:r>
            <a:r>
              <a:rPr lang="en-US" sz="1550" dirty="0">
                <a:solidFill>
                  <a:srgbClr val="CADCFC"/>
                </a:solidFill>
                <a:latin typeface="Calibri" pitchFamily="34" charset="0"/>
                <a:ea typeface="Calibri" pitchFamily="34" charset="-122"/>
                <a:cs typeface="Calibri" pitchFamily="34" charset="-120"/>
              </a:rPr>
              <a:t>AP’s question, with AUROC’s cross dataset comparability.</a:t>
            </a:r>
            <a:endParaRPr lang="en-US" sz="1550" dirty="0"/>
          </a:p>
        </p:txBody>
      </p:sp>
      <p:sp>
        <p:nvSpPr>
          <p:cNvPr id="30" name="Shape 28"/>
          <p:cNvSpPr/>
          <p:nvPr/>
        </p:nvSpPr>
        <p:spPr>
          <a:xfrm>
            <a:off x="548640" y="6272784"/>
            <a:ext cx="1645920" cy="274320"/>
          </a:xfrm>
          <a:prstGeom prst="roundRect">
            <a:avLst>
              <a:gd name="adj" fmla="val 50000"/>
            </a:avLst>
          </a:prstGeom>
          <a:solidFill>
            <a:srgbClr val="00A896"/>
          </a:solidFill>
          <a:ln/>
        </p:spPr>
        <p:txBody>
          <a:bodyPr/>
          <a:lstStyle/>
          <a:p>
            <a:endParaRPr lang="en-US"/>
          </a:p>
        </p:txBody>
      </p:sp>
      <p:sp>
        <p:nvSpPr>
          <p:cNvPr id="31" name="Text 29"/>
          <p:cNvSpPr/>
          <p:nvPr/>
        </p:nvSpPr>
        <p:spPr>
          <a:xfrm>
            <a:off x="548640" y="6272784"/>
            <a:ext cx="1645920" cy="274320"/>
          </a:xfrm>
          <a:prstGeom prst="rect">
            <a:avLst/>
          </a:prstGeom>
          <a:noFill/>
          <a:ln/>
        </p:spPr>
        <p:txBody>
          <a:bodyPr wrap="square" lIns="0" tIns="0" rIns="0" bIns="0" rtlCol="0" anchor="ctr"/>
          <a:lstStyle/>
          <a:p>
            <a:pPr marL="0" indent="0" algn="ctr">
              <a:buNone/>
            </a:pPr>
            <a:r>
              <a:rPr lang="en-US" sz="1050" b="1" dirty="0">
                <a:solidFill>
                  <a:srgbClr val="0B1226"/>
                </a:solidFill>
                <a:latin typeface="Calibri" pitchFamily="34" charset="0"/>
                <a:ea typeface="Calibri" pitchFamily="34" charset="-122"/>
                <a:cs typeface="Calibri" pitchFamily="34" charset="-120"/>
              </a:rPr>
              <a:t>1 · Two metrics</a:t>
            </a:r>
            <a:endParaRPr lang="en-US" sz="1050" dirty="0"/>
          </a:p>
        </p:txBody>
      </p:sp>
      <p:sp>
        <p:nvSpPr>
          <p:cNvPr id="32" name="Shape 30"/>
          <p:cNvSpPr/>
          <p:nvPr/>
        </p:nvSpPr>
        <p:spPr>
          <a:xfrm>
            <a:off x="2322576" y="6272784"/>
            <a:ext cx="1783080" cy="274320"/>
          </a:xfrm>
          <a:prstGeom prst="roundRect">
            <a:avLst>
              <a:gd name="adj" fmla="val 50000"/>
            </a:avLst>
          </a:prstGeom>
          <a:solidFill>
            <a:srgbClr val="1C2951"/>
          </a:solidFill>
          <a:ln/>
        </p:spPr>
        <p:txBody>
          <a:bodyPr/>
          <a:lstStyle/>
          <a:p>
            <a:endParaRPr lang="en-US"/>
          </a:p>
        </p:txBody>
      </p:sp>
      <p:sp>
        <p:nvSpPr>
          <p:cNvPr id="33" name="Text 31"/>
          <p:cNvSpPr/>
          <p:nvPr/>
        </p:nvSpPr>
        <p:spPr>
          <a:xfrm>
            <a:off x="2322576" y="6272784"/>
            <a:ext cx="1783080" cy="274320"/>
          </a:xfrm>
          <a:prstGeom prst="rect">
            <a:avLst/>
          </a:prstGeom>
          <a:noFill/>
          <a:ln/>
        </p:spPr>
        <p:txBody>
          <a:bodyPr wrap="square" lIns="0" tIns="0" rIns="0" bIns="0" rtlCol="0" anchor="ctr"/>
          <a:lstStyle/>
          <a:p>
            <a:pPr marL="0" indent="0" algn="ctr">
              <a:buNone/>
            </a:pPr>
            <a:r>
              <a:rPr lang="en-US" sz="1050" dirty="0">
                <a:solidFill>
                  <a:srgbClr val="8FA3C8"/>
                </a:solidFill>
                <a:latin typeface="Calibri" pitchFamily="34" charset="0"/>
                <a:ea typeface="Calibri" pitchFamily="34" charset="-122"/>
                <a:cs typeface="Calibri" pitchFamily="34" charset="-120"/>
              </a:rPr>
              <a:t>2 · Comparability</a:t>
            </a:r>
            <a:endParaRPr lang="en-US" sz="1050" dirty="0"/>
          </a:p>
        </p:txBody>
      </p:sp>
      <p:sp>
        <p:nvSpPr>
          <p:cNvPr id="34" name="Shape 32"/>
          <p:cNvSpPr/>
          <p:nvPr/>
        </p:nvSpPr>
        <p:spPr>
          <a:xfrm>
            <a:off x="4233672" y="6272784"/>
            <a:ext cx="2057400" cy="274320"/>
          </a:xfrm>
          <a:prstGeom prst="roundRect">
            <a:avLst>
              <a:gd name="adj" fmla="val 50000"/>
            </a:avLst>
          </a:prstGeom>
          <a:solidFill>
            <a:srgbClr val="1C2951"/>
          </a:solidFill>
          <a:ln/>
        </p:spPr>
        <p:txBody>
          <a:bodyPr/>
          <a:lstStyle/>
          <a:p>
            <a:endParaRPr lang="en-US"/>
          </a:p>
        </p:txBody>
      </p:sp>
      <p:sp>
        <p:nvSpPr>
          <p:cNvPr id="35" name="Text 33"/>
          <p:cNvSpPr/>
          <p:nvPr/>
        </p:nvSpPr>
        <p:spPr>
          <a:xfrm>
            <a:off x="4233672" y="6272784"/>
            <a:ext cx="2057400" cy="274320"/>
          </a:xfrm>
          <a:prstGeom prst="rect">
            <a:avLst/>
          </a:prstGeom>
          <a:noFill/>
          <a:ln/>
        </p:spPr>
        <p:txBody>
          <a:bodyPr wrap="square" lIns="0" tIns="0" rIns="0" bIns="0" rtlCol="0" anchor="ctr"/>
          <a:lstStyle/>
          <a:p>
            <a:pPr marL="0" indent="0" algn="ctr">
              <a:buNone/>
            </a:pPr>
            <a:r>
              <a:rPr lang="en-US" sz="1050" dirty="0">
                <a:solidFill>
                  <a:srgbClr val="8FA3C8"/>
                </a:solidFill>
                <a:latin typeface="Calibri" pitchFamily="34" charset="0"/>
                <a:ea typeface="Calibri" pitchFamily="34" charset="-122"/>
                <a:cs typeface="Calibri" pitchFamily="34" charset="-120"/>
              </a:rPr>
              <a:t>3 · Supported claims</a:t>
            </a:r>
            <a:endParaRPr lang="en-US" sz="1050" dirty="0"/>
          </a:p>
        </p:txBody>
      </p:sp>
      <p:sp>
        <p:nvSpPr>
          <p:cNvPr id="36" name="Text 16">
            <a:extLst>
              <a:ext uri="{FF2B5EF4-FFF2-40B4-BE49-F238E27FC236}">
                <a16:creationId xmlns:a16="http://schemas.microsoft.com/office/drawing/2014/main" id="{36860DC2-B6E4-58AA-53CC-36E4E8E0196A}"/>
              </a:ext>
            </a:extLst>
          </p:cNvPr>
          <p:cNvSpPr/>
          <p:nvPr/>
        </p:nvSpPr>
        <p:spPr>
          <a:xfrm>
            <a:off x="6336792" y="3392424"/>
            <a:ext cx="274320" cy="27432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DOMAIN STUDY</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lang="en-US" sz="3600" b="1" i="0" dirty="0">
                <a:solidFill>
                  <a:srgbClr val="11253D"/>
                </a:solidFill>
              </a:rPr>
              <a:t>Example: Banking dataset (banks must </a:t>
            </a:r>
            <a:r>
              <a:rPr lang="en-US" sz="3600" b="1" i="0" dirty="0" err="1">
                <a:solidFill>
                  <a:srgbClr val="11253D"/>
                </a:solidFill>
              </a:rPr>
              <a:t>cla</a:t>
            </a:r>
            <a:endParaRPr sz="3600" b="1" i="0" dirty="0">
              <a:solidFill>
                <a:srgbClr val="11253D"/>
              </a:solidFill>
            </a:endParaRP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DOMAIN STUDY</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18</a:t>
            </a:r>
          </a:p>
        </p:txBody>
      </p:sp>
      <p:pic>
        <p:nvPicPr>
          <p:cNvPr id="29" name="Picture 27"/>
          <p:cNvPicPr>
            <a:picLocks noChangeAspect="1"/>
          </p:cNvPicPr>
          <p:nvPr/>
        </p:nvPicPr>
        <p:blipFill>
          <a:blip r:embed="rId3"/>
          <a:stretch/>
        </p:blipFill>
        <p:spPr>
          <a:xfrm>
            <a:off x="711343" y="1847850"/>
            <a:ext cx="10769315" cy="4400550"/>
          </a:xfrm>
          <a:prstGeom prst="rect">
            <a:avLst/>
          </a:prstGeom>
        </p:spPr>
      </p:pic>
      <p:sp>
        <p:nvSpPr>
          <p:cNvPr id="20" name="figure-heading-mask">
            <a:extLst>
              <a:ext uri="{FF2B5EF4-FFF2-40B4-BE49-F238E27FC236}">
                <a16:creationId xmlns:a16="http://schemas.microsoft.com/office/drawing/2014/main" id="{0B858A79-AF89-4C2C-869C-B80B3DCC6750}"/>
              </a:ext>
            </a:extLst>
          </p:cNvPr>
          <p:cNvSpPr>
            <a:spLocks noGrp="1"/>
          </p:cNvSpPr>
          <p:nvPr/>
        </p:nvSpPr>
        <p:spPr>
          <a:xfrm>
            <a:off x="685800" y="1847850"/>
            <a:ext cx="10820400" cy="628650"/>
          </a:xfrm>
          <a:prstGeom prst="roundRect">
            <a:avLst>
              <a:gd name="adj" fmla="val 0"/>
            </a:avLst>
          </a:prstGeom>
          <a:solidFill>
            <a:srgbClr val="FFFFFF"/>
          </a:solidFill>
          <a:ln w="9525">
            <a:solidFill>
              <a:srgbClr val="FFFFFF"/>
            </a:solidFill>
            <a:prstDash val="solid"/>
          </a:ln>
        </p:spPr>
        <p:txBody>
          <a:bodyPr/>
          <a:lstStyle/>
          <a:p>
            <a:endParaRPr/>
          </a:p>
        </p:txBody>
      </p:sp>
      <p:sp>
        <p:nvSpPr>
          <p:cNvPr id="21" name="panel-a-heading">
            <a:extLst>
              <a:ext uri="{FF2B5EF4-FFF2-40B4-BE49-F238E27FC236}">
                <a16:creationId xmlns:a16="http://schemas.microsoft.com/office/drawing/2014/main" id="{68053127-22D4-48E8-81A2-C54D4E442FCE}"/>
              </a:ext>
            </a:extLst>
          </p:cNvPr>
          <p:cNvSpPr>
            <a:spLocks noGrp="1"/>
          </p:cNvSpPr>
          <p:nvPr/>
        </p:nvSpPr>
        <p:spPr>
          <a:xfrm>
            <a:off x="1066800" y="2009775"/>
            <a:ext cx="4953000" cy="285750"/>
          </a:xfrm>
          <a:prstGeom prst="rect">
            <a:avLst/>
          </a:prstGeom>
          <a:noFill/>
          <a:ln w="0">
            <a:noFill/>
            <a:prstDash val="solid"/>
          </a:ln>
        </p:spPr>
        <p:txBody>
          <a:bodyPr/>
          <a:lstStyle/>
          <a:p>
            <a:pPr algn="ctr">
              <a:buNone/>
              <a:defRPr sz="1350" b="0">
                <a:solidFill>
                  <a:srgbClr val="11253D"/>
                </a:solidFill>
              </a:defRPr>
            </a:pPr>
            <a:r>
              <a:rPr sz="1350" b="0">
                <a:solidFill>
                  <a:srgbClr val="11253D"/>
                </a:solidFill>
              </a:rPr>
              <a:t>A. How quickly are subscribers found?</a:t>
            </a:r>
          </a:p>
        </p:txBody>
      </p:sp>
      <p:sp>
        <p:nvSpPr>
          <p:cNvPr id="22" name="panel-b-heading">
            <a:extLst>
              <a:ext uri="{FF2B5EF4-FFF2-40B4-BE49-F238E27FC236}">
                <a16:creationId xmlns:a16="http://schemas.microsoft.com/office/drawing/2014/main" id="{5CACFA66-4D67-465F-A064-66453315F0A7}"/>
              </a:ext>
            </a:extLst>
          </p:cNvPr>
          <p:cNvSpPr>
            <a:spLocks noGrp="1"/>
          </p:cNvSpPr>
          <p:nvPr/>
        </p:nvSpPr>
        <p:spPr>
          <a:xfrm>
            <a:off x="6172200" y="2009775"/>
            <a:ext cx="4953000" cy="285750"/>
          </a:xfrm>
          <a:prstGeom prst="rect">
            <a:avLst/>
          </a:prstGeom>
          <a:noFill/>
          <a:ln w="0">
            <a:noFill/>
            <a:prstDash val="solid"/>
          </a:ln>
        </p:spPr>
        <p:txBody>
          <a:bodyPr/>
          <a:lstStyle/>
          <a:p>
            <a:pPr algn="ctr">
              <a:buNone/>
              <a:defRPr sz="1350" b="0">
                <a:solidFill>
                  <a:srgbClr val="11253D"/>
                </a:solidFill>
              </a:defRPr>
            </a:pPr>
            <a:r>
              <a:rPr sz="1350" b="0">
                <a:solidFill>
                  <a:srgbClr val="11253D"/>
                </a:solidFill>
              </a:rPr>
              <a:t>B. How precise is the contacted group?</a:t>
            </a:r>
          </a:p>
        </p:txBody>
      </p:sp>
    </p:spTree>
    <p:extLst>
      <p:ext uri="{BB962C8B-B14F-4D97-AF65-F5344CB8AC3E}">
        <p14:creationId xmlns:p14="http://schemas.microsoft.com/office/powerpoint/2010/main" val="2258060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DOMAIN STUDY</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Two comparisons play different roles</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DOMAIN STUDY</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19</a:t>
            </a:r>
          </a:p>
        </p:txBody>
      </p:sp>
      <p:sp>
        <p:nvSpPr>
          <p:cNvPr id="19" name="content-surface">
            <a:extLst>
              <a:ext uri="{FF2B5EF4-FFF2-40B4-BE49-F238E27FC236}">
                <a16:creationId xmlns:a16="http://schemas.microsoft.com/office/drawing/2014/main" id="{65EB519A-4747-4389-A049-9AA96E905BF8}"/>
              </a:ext>
            </a:extLst>
          </p:cNvPr>
          <p:cNvSpPr>
            <a:spLocks noGrp="1"/>
          </p:cNvSpPr>
          <p:nvPr/>
        </p:nvSpPr>
        <p:spPr>
          <a:xfrm>
            <a:off x="781050" y="2114550"/>
            <a:ext cx="3333750" cy="2857500"/>
          </a:xfrm>
          <a:prstGeom prst="roundRect">
            <a:avLst>
              <a:gd name="adj" fmla="val 4667"/>
            </a:avLst>
          </a:prstGeom>
          <a:solidFill>
            <a:srgbClr val="DCEAF7"/>
          </a:solidFill>
          <a:ln w="9525">
            <a:solidFill>
              <a:srgbClr val="DCEAF7"/>
            </a:solidFill>
            <a:prstDash val="solid"/>
          </a:ln>
        </p:spPr>
        <p:txBody>
          <a:bodyPr/>
          <a:lstStyle/>
          <a:p>
            <a:endParaRPr/>
          </a:p>
        </p:txBody>
      </p:sp>
      <p:sp>
        <p:nvSpPr>
          <p:cNvPr id="20" name="Data and split-label">
            <a:extLst>
              <a:ext uri="{FF2B5EF4-FFF2-40B4-BE49-F238E27FC236}">
                <a16:creationId xmlns:a16="http://schemas.microsoft.com/office/drawing/2014/main" id="{4E2B3CBB-E896-41BA-9528-C514BD9069BF}"/>
              </a:ext>
            </a:extLst>
          </p:cNvPr>
          <p:cNvSpPr>
            <a:spLocks noGrp="1"/>
          </p:cNvSpPr>
          <p:nvPr/>
        </p:nvSpPr>
        <p:spPr>
          <a:xfrm>
            <a:off x="990600" y="2286000"/>
            <a:ext cx="2914650" cy="209550"/>
          </a:xfrm>
          <a:prstGeom prst="rect">
            <a:avLst/>
          </a:prstGeom>
          <a:noFill/>
          <a:ln w="0">
            <a:noFill/>
            <a:prstDash val="solid"/>
          </a:ln>
        </p:spPr>
        <p:txBody>
          <a:bodyPr/>
          <a:lstStyle/>
          <a:p>
            <a:pPr algn="l">
              <a:buNone/>
              <a:defRPr sz="900" b="1">
                <a:solidFill>
                  <a:srgbClr val="2B6CB0"/>
                </a:solidFill>
              </a:defRPr>
            </a:pPr>
            <a:r>
              <a:rPr sz="900" b="1">
                <a:solidFill>
                  <a:srgbClr val="2B6CB0"/>
                </a:solidFill>
              </a:rPr>
              <a:t>DATA AND SPLIT</a:t>
            </a:r>
          </a:p>
        </p:txBody>
      </p:sp>
      <p:sp>
        <p:nvSpPr>
          <p:cNvPr id="21" name="Data and split-heading">
            <a:extLst>
              <a:ext uri="{FF2B5EF4-FFF2-40B4-BE49-F238E27FC236}">
                <a16:creationId xmlns:a16="http://schemas.microsoft.com/office/drawing/2014/main" id="{C93F082C-3BC2-48BC-8351-31DE761E9505}"/>
              </a:ext>
            </a:extLst>
          </p:cNvPr>
          <p:cNvSpPr>
            <a:spLocks noGrp="1"/>
          </p:cNvSpPr>
          <p:nvPr/>
        </p:nvSpPr>
        <p:spPr>
          <a:xfrm>
            <a:off x="990600" y="2609850"/>
            <a:ext cx="2914650" cy="381000"/>
          </a:xfrm>
          <a:prstGeom prst="rect">
            <a:avLst/>
          </a:prstGeom>
          <a:noFill/>
          <a:ln w="0">
            <a:noFill/>
            <a:prstDash val="solid"/>
          </a:ln>
        </p:spPr>
        <p:txBody>
          <a:bodyPr/>
          <a:lstStyle/>
          <a:p>
            <a:pPr algn="l">
              <a:buNone/>
              <a:defRPr sz="1575" b="1">
                <a:solidFill>
                  <a:srgbClr val="11253D"/>
                </a:solidFill>
              </a:defRPr>
            </a:pPr>
            <a:r>
              <a:rPr sz="1575" b="1">
                <a:solidFill>
                  <a:srgbClr val="11253D"/>
                </a:solidFill>
              </a:rPr>
              <a:t>41,188 campaign records</a:t>
            </a:r>
          </a:p>
        </p:txBody>
      </p:sp>
      <p:sp>
        <p:nvSpPr>
          <p:cNvPr id="22" name="Data and split-body">
            <a:extLst>
              <a:ext uri="{FF2B5EF4-FFF2-40B4-BE49-F238E27FC236}">
                <a16:creationId xmlns:a16="http://schemas.microsoft.com/office/drawing/2014/main" id="{A37B6326-2047-475F-9C1E-B27AB460E65A}"/>
              </a:ext>
            </a:extLst>
          </p:cNvPr>
          <p:cNvSpPr>
            <a:spLocks noGrp="1"/>
          </p:cNvSpPr>
          <p:nvPr/>
        </p:nvSpPr>
        <p:spPr>
          <a:xfrm>
            <a:off x="990600" y="3105150"/>
            <a:ext cx="2914650" cy="167640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First 32,950 rows train each model.</a:t>
            </a:r>
          </a:p>
          <a:p>
            <a:endParaRPr sz="1275" b="0">
              <a:solidFill>
                <a:srgbClr val="5F6B78"/>
              </a:solidFill>
            </a:endParaRPr>
          </a:p>
          <a:p>
            <a:pPr algn="l">
              <a:buNone/>
              <a:defRPr sz="1275" b="0">
                <a:solidFill>
                  <a:srgbClr val="5F6B78"/>
                </a:solidFill>
              </a:defRPr>
            </a:pPr>
            <a:r>
              <a:rPr sz="1275" b="0">
                <a:solidFill>
                  <a:srgbClr val="5F6B78"/>
                </a:solidFill>
              </a:rPr>
              <a:t>Final 8,238 rows form the source-ordered evaluation.</a:t>
            </a:r>
          </a:p>
          <a:p>
            <a:endParaRPr sz="1275" b="0">
              <a:solidFill>
                <a:srgbClr val="5F6B78"/>
              </a:solidFill>
            </a:endParaRPr>
          </a:p>
          <a:p>
            <a:pPr algn="l">
              <a:buNone/>
              <a:defRPr sz="1275" b="0">
                <a:solidFill>
                  <a:srgbClr val="5F6B78"/>
                </a:solidFill>
              </a:defRPr>
            </a:pPr>
            <a:r>
              <a:rPr sz="1275" b="0">
                <a:solidFill>
                  <a:srgbClr val="5F6B78"/>
                </a:solidFill>
              </a:rPr>
              <a:t>Call duration is excluded before fitting.</a:t>
            </a:r>
          </a:p>
        </p:txBody>
      </p:sp>
      <p:sp>
        <p:nvSpPr>
          <p:cNvPr id="23" name="content-surface">
            <a:extLst>
              <a:ext uri="{FF2B5EF4-FFF2-40B4-BE49-F238E27FC236}">
                <a16:creationId xmlns:a16="http://schemas.microsoft.com/office/drawing/2014/main" id="{2AD14D4B-3690-4E08-8053-7B9F0D77619B}"/>
              </a:ext>
            </a:extLst>
          </p:cNvPr>
          <p:cNvSpPr>
            <a:spLocks noGrp="1"/>
          </p:cNvSpPr>
          <p:nvPr/>
        </p:nvSpPr>
        <p:spPr>
          <a:xfrm>
            <a:off x="4429125" y="2114550"/>
            <a:ext cx="3333750" cy="2857500"/>
          </a:xfrm>
          <a:prstGeom prst="roundRect">
            <a:avLst>
              <a:gd name="adj" fmla="val 4667"/>
            </a:avLst>
          </a:prstGeom>
          <a:solidFill>
            <a:srgbClr val="F7E7CF"/>
          </a:solidFill>
          <a:ln w="9525">
            <a:solidFill>
              <a:srgbClr val="F7E7CF"/>
            </a:solidFill>
            <a:prstDash val="solid"/>
          </a:ln>
        </p:spPr>
        <p:txBody>
          <a:bodyPr/>
          <a:lstStyle/>
          <a:p>
            <a:endParaRPr/>
          </a:p>
        </p:txBody>
      </p:sp>
      <p:sp>
        <p:nvSpPr>
          <p:cNvPr id="24" name="Primary question-label">
            <a:extLst>
              <a:ext uri="{FF2B5EF4-FFF2-40B4-BE49-F238E27FC236}">
                <a16:creationId xmlns:a16="http://schemas.microsoft.com/office/drawing/2014/main" id="{A2499591-5B4B-408E-8AC7-0A2BDA4B050C}"/>
              </a:ext>
            </a:extLst>
          </p:cNvPr>
          <p:cNvSpPr>
            <a:spLocks noGrp="1"/>
          </p:cNvSpPr>
          <p:nvPr/>
        </p:nvSpPr>
        <p:spPr>
          <a:xfrm>
            <a:off x="4638675" y="2286000"/>
            <a:ext cx="2914650" cy="209550"/>
          </a:xfrm>
          <a:prstGeom prst="rect">
            <a:avLst/>
          </a:prstGeom>
          <a:noFill/>
          <a:ln w="0">
            <a:noFill/>
            <a:prstDash val="solid"/>
          </a:ln>
        </p:spPr>
        <p:txBody>
          <a:bodyPr/>
          <a:lstStyle/>
          <a:p>
            <a:pPr algn="l">
              <a:buNone/>
              <a:defRPr sz="900" b="1">
                <a:solidFill>
                  <a:srgbClr val="D97706"/>
                </a:solidFill>
              </a:defRPr>
            </a:pPr>
            <a:r>
              <a:rPr sz="900" b="1">
                <a:solidFill>
                  <a:srgbClr val="D97706"/>
                </a:solidFill>
              </a:rPr>
              <a:t>PRIMARY QUESTION</a:t>
            </a:r>
          </a:p>
        </p:txBody>
      </p:sp>
      <p:sp>
        <p:nvSpPr>
          <p:cNvPr id="25" name="Primary question-heading">
            <a:extLst>
              <a:ext uri="{FF2B5EF4-FFF2-40B4-BE49-F238E27FC236}">
                <a16:creationId xmlns:a16="http://schemas.microsoft.com/office/drawing/2014/main" id="{D278C9FE-2F9F-453C-8B35-AEDDDB0CE07A}"/>
              </a:ext>
            </a:extLst>
          </p:cNvPr>
          <p:cNvSpPr>
            <a:spLocks noGrp="1"/>
          </p:cNvSpPr>
          <p:nvPr/>
        </p:nvSpPr>
        <p:spPr>
          <a:xfrm>
            <a:off x="4638675" y="2609850"/>
            <a:ext cx="2914650" cy="590550"/>
          </a:xfrm>
          <a:prstGeom prst="rect">
            <a:avLst/>
          </a:prstGeom>
          <a:noFill/>
          <a:ln w="0">
            <a:noFill/>
            <a:prstDash val="solid"/>
          </a:ln>
        </p:spPr>
        <p:txBody>
          <a:bodyPr/>
          <a:lstStyle/>
          <a:p>
            <a:pPr algn="l">
              <a:buNone/>
              <a:defRPr sz="1575" b="1">
                <a:solidFill>
                  <a:srgbClr val="11253D"/>
                </a:solidFill>
              </a:defRPr>
            </a:pPr>
            <a:r>
              <a:rPr sz="1575" b="1">
                <a:solidFill>
                  <a:srgbClr val="11253D"/>
                </a:solidFill>
              </a:rPr>
              <a:t>Random forest</a:t>
            </a:r>
          </a:p>
          <a:p>
            <a:pPr algn="l">
              <a:buNone/>
              <a:defRPr sz="1575" b="1">
                <a:solidFill>
                  <a:srgbClr val="11253D"/>
                </a:solidFill>
              </a:defRPr>
            </a:pPr>
            <a:r>
              <a:rPr sz="1575" b="1">
                <a:solidFill>
                  <a:srgbClr val="11253D"/>
                </a:solidFill>
              </a:rPr>
              <a:t>versus full logistic</a:t>
            </a:r>
          </a:p>
        </p:txBody>
      </p:sp>
      <p:sp>
        <p:nvSpPr>
          <p:cNvPr id="26" name="Primary question-body">
            <a:extLst>
              <a:ext uri="{FF2B5EF4-FFF2-40B4-BE49-F238E27FC236}">
                <a16:creationId xmlns:a16="http://schemas.microsoft.com/office/drawing/2014/main" id="{CB7B5790-13F8-4BB6-A445-84B578FDD757}"/>
              </a:ext>
            </a:extLst>
          </p:cNvPr>
          <p:cNvSpPr>
            <a:spLocks noGrp="1"/>
          </p:cNvSpPr>
          <p:nvPr/>
        </p:nvSpPr>
        <p:spPr>
          <a:xfrm>
            <a:off x="4638675" y="3314700"/>
            <a:ext cx="2914650" cy="146685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Candidate: random forest</a:t>
            </a:r>
          </a:p>
          <a:p>
            <a:pPr algn="l">
              <a:buNone/>
              <a:defRPr sz="1275" b="0">
                <a:solidFill>
                  <a:srgbClr val="5F6B78"/>
                </a:solidFill>
              </a:defRPr>
            </a:pPr>
            <a:r>
              <a:rPr sz="1275" b="0">
                <a:solidFill>
                  <a:srgbClr val="5F6B78"/>
                </a:solidFill>
              </a:rPr>
              <a:t>Incumbent: full logistic</a:t>
            </a:r>
          </a:p>
          <a:p>
            <a:endParaRPr sz="1275" b="0">
              <a:solidFill>
                <a:srgbClr val="5F6B78"/>
              </a:solidFill>
            </a:endParaRPr>
          </a:p>
          <a:p>
            <a:pPr algn="l">
              <a:buNone/>
              <a:defRPr sz="1275" b="0">
                <a:solidFill>
                  <a:srgbClr val="5F6B78"/>
                </a:solidFill>
              </a:defRPr>
            </a:pPr>
            <a:r>
              <a:rPr sz="1275" b="0">
                <a:solidFill>
                  <a:srgbClr val="5F6B78"/>
                </a:solidFill>
              </a:rPr>
              <a:t>Can the candidate justify replacing the incumbent?</a:t>
            </a:r>
          </a:p>
        </p:txBody>
      </p:sp>
      <p:sp>
        <p:nvSpPr>
          <p:cNvPr id="27" name="content-surface">
            <a:extLst>
              <a:ext uri="{FF2B5EF4-FFF2-40B4-BE49-F238E27FC236}">
                <a16:creationId xmlns:a16="http://schemas.microsoft.com/office/drawing/2014/main" id="{3E66F613-5DDA-4AF6-927E-A64E65BCEBA0}"/>
              </a:ext>
            </a:extLst>
          </p:cNvPr>
          <p:cNvSpPr>
            <a:spLocks noGrp="1"/>
          </p:cNvSpPr>
          <p:nvPr/>
        </p:nvSpPr>
        <p:spPr>
          <a:xfrm>
            <a:off x="8077200" y="2114550"/>
            <a:ext cx="3333750" cy="2857500"/>
          </a:xfrm>
          <a:prstGeom prst="roundRect">
            <a:avLst>
              <a:gd name="adj" fmla="val 4667"/>
            </a:avLst>
          </a:prstGeom>
          <a:solidFill>
            <a:srgbClr val="D9EEE8"/>
          </a:solidFill>
          <a:ln w="9525">
            <a:solidFill>
              <a:srgbClr val="D9EEE8"/>
            </a:solidFill>
            <a:prstDash val="solid"/>
          </a:ln>
        </p:spPr>
        <p:txBody>
          <a:bodyPr/>
          <a:lstStyle/>
          <a:p>
            <a:endParaRPr/>
          </a:p>
        </p:txBody>
      </p:sp>
      <p:sp>
        <p:nvSpPr>
          <p:cNvPr id="28" name="Positive control-label">
            <a:extLst>
              <a:ext uri="{FF2B5EF4-FFF2-40B4-BE49-F238E27FC236}">
                <a16:creationId xmlns:a16="http://schemas.microsoft.com/office/drawing/2014/main" id="{E06E480D-163D-492C-95C6-1ED390394BF1}"/>
              </a:ext>
            </a:extLst>
          </p:cNvPr>
          <p:cNvSpPr>
            <a:spLocks noGrp="1"/>
          </p:cNvSpPr>
          <p:nvPr/>
        </p:nvSpPr>
        <p:spPr>
          <a:xfrm>
            <a:off x="8286750" y="2286000"/>
            <a:ext cx="2914650" cy="209550"/>
          </a:xfrm>
          <a:prstGeom prst="rect">
            <a:avLst/>
          </a:prstGeom>
          <a:noFill/>
          <a:ln w="0">
            <a:noFill/>
            <a:prstDash val="solid"/>
          </a:ln>
        </p:spPr>
        <p:txBody>
          <a:bodyPr/>
          <a:lstStyle/>
          <a:p>
            <a:pPr algn="l">
              <a:buNone/>
              <a:defRPr sz="900" b="1">
                <a:solidFill>
                  <a:srgbClr val="0E7C66"/>
                </a:solidFill>
              </a:defRPr>
            </a:pPr>
            <a:r>
              <a:rPr sz="900" b="1">
                <a:solidFill>
                  <a:srgbClr val="0E7C66"/>
                </a:solidFill>
              </a:rPr>
              <a:t>POSITIVE CONTROL</a:t>
            </a:r>
          </a:p>
        </p:txBody>
      </p:sp>
      <p:sp>
        <p:nvSpPr>
          <p:cNvPr id="29" name="Positive control-heading">
            <a:extLst>
              <a:ext uri="{FF2B5EF4-FFF2-40B4-BE49-F238E27FC236}">
                <a16:creationId xmlns:a16="http://schemas.microsoft.com/office/drawing/2014/main" id="{84588366-D17E-431B-A78C-9C5A13A69E16}"/>
              </a:ext>
            </a:extLst>
          </p:cNvPr>
          <p:cNvSpPr>
            <a:spLocks noGrp="1"/>
          </p:cNvSpPr>
          <p:nvPr/>
        </p:nvSpPr>
        <p:spPr>
          <a:xfrm>
            <a:off x="8286750" y="2609850"/>
            <a:ext cx="2914650" cy="590550"/>
          </a:xfrm>
          <a:prstGeom prst="rect">
            <a:avLst/>
          </a:prstGeom>
          <a:noFill/>
          <a:ln w="0">
            <a:noFill/>
            <a:prstDash val="solid"/>
          </a:ln>
        </p:spPr>
        <p:txBody>
          <a:bodyPr/>
          <a:lstStyle/>
          <a:p>
            <a:pPr algn="l">
              <a:buNone/>
              <a:defRPr sz="1575" b="1">
                <a:solidFill>
                  <a:srgbClr val="11253D"/>
                </a:solidFill>
              </a:defRPr>
            </a:pPr>
            <a:r>
              <a:rPr sz="1575" b="1">
                <a:solidFill>
                  <a:srgbClr val="11253D"/>
                </a:solidFill>
              </a:rPr>
              <a:t>Full versus</a:t>
            </a:r>
          </a:p>
          <a:p>
            <a:pPr algn="l">
              <a:buNone/>
              <a:defRPr sz="1575" b="1">
                <a:solidFill>
                  <a:srgbClr val="11253D"/>
                </a:solidFill>
              </a:defRPr>
            </a:pPr>
            <a:r>
              <a:rPr sz="1575" b="1">
                <a:solidFill>
                  <a:srgbClr val="11253D"/>
                </a:solidFill>
              </a:rPr>
              <a:t>demographic logistic</a:t>
            </a:r>
          </a:p>
        </p:txBody>
      </p:sp>
      <p:sp>
        <p:nvSpPr>
          <p:cNvPr id="30" name="Positive control-body">
            <a:extLst>
              <a:ext uri="{FF2B5EF4-FFF2-40B4-BE49-F238E27FC236}">
                <a16:creationId xmlns:a16="http://schemas.microsoft.com/office/drawing/2014/main" id="{B8AE2AE6-AC88-4A66-B82D-DE70F352B683}"/>
              </a:ext>
            </a:extLst>
          </p:cNvPr>
          <p:cNvSpPr>
            <a:spLocks noGrp="1"/>
          </p:cNvSpPr>
          <p:nvPr/>
        </p:nvSpPr>
        <p:spPr>
          <a:xfrm>
            <a:off x="8286750" y="3314700"/>
            <a:ext cx="2914650" cy="146685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The reduced model omits non-demographic predictors.</a:t>
            </a:r>
          </a:p>
          <a:p>
            <a:endParaRPr sz="1275" b="0">
              <a:solidFill>
                <a:srgbClr val="5F6B78"/>
              </a:solidFill>
            </a:endParaRPr>
          </a:p>
          <a:p>
            <a:pPr algn="l">
              <a:buNone/>
              <a:defRPr sz="1275" b="0">
                <a:solidFill>
                  <a:srgbClr val="5F6B78"/>
                </a:solidFill>
              </a:defRPr>
            </a:pPr>
            <a:r>
              <a:rPr sz="1275" b="0">
                <a:solidFill>
                  <a:srgbClr val="5F6B78"/>
                </a:solidFill>
              </a:rPr>
              <a:t>This checks that the procedure can return a supported replacement.</a:t>
            </a:r>
          </a:p>
        </p:txBody>
      </p:sp>
      <p:sp>
        <p:nvSpPr>
          <p:cNvPr id="31" name="content-surface">
            <a:extLst>
              <a:ext uri="{FF2B5EF4-FFF2-40B4-BE49-F238E27FC236}">
                <a16:creationId xmlns:a16="http://schemas.microsoft.com/office/drawing/2014/main" id="{C0FE7132-06DE-4AAE-8AFB-1FE0F4D309CA}"/>
              </a:ext>
            </a:extLst>
          </p:cNvPr>
          <p:cNvSpPr>
            <a:spLocks noGrp="1"/>
          </p:cNvSpPr>
          <p:nvPr/>
        </p:nvSpPr>
        <p:spPr>
          <a:xfrm>
            <a:off x="1714500" y="5257800"/>
            <a:ext cx="8763000" cy="628650"/>
          </a:xfrm>
          <a:prstGeom prst="roundRect">
            <a:avLst>
              <a:gd name="adj" fmla="val 18182"/>
            </a:avLst>
          </a:prstGeom>
          <a:solidFill>
            <a:srgbClr val="E8E0F0"/>
          </a:solidFill>
          <a:ln w="9525">
            <a:solidFill>
              <a:srgbClr val="E8E0F0"/>
            </a:solidFill>
            <a:prstDash val="solid"/>
          </a:ln>
        </p:spPr>
        <p:txBody>
          <a:bodyPr/>
          <a:lstStyle/>
          <a:p>
            <a:endParaRPr/>
          </a:p>
        </p:txBody>
      </p:sp>
      <p:sp>
        <p:nvSpPr>
          <p:cNvPr id="32" name="takeaway-banner">
            <a:extLst>
              <a:ext uri="{FF2B5EF4-FFF2-40B4-BE49-F238E27FC236}">
                <a16:creationId xmlns:a16="http://schemas.microsoft.com/office/drawing/2014/main" id="{D9561408-40B1-4C90-8A32-01DD42F98AC6}"/>
              </a:ext>
            </a:extLst>
          </p:cNvPr>
          <p:cNvSpPr>
            <a:spLocks noGrp="1"/>
          </p:cNvSpPr>
          <p:nvPr/>
        </p:nvSpPr>
        <p:spPr>
          <a:xfrm>
            <a:off x="1905000" y="5400675"/>
            <a:ext cx="8382000" cy="400050"/>
          </a:xfrm>
          <a:prstGeom prst="rect">
            <a:avLst/>
          </a:prstGeom>
          <a:noFill/>
          <a:ln w="0">
            <a:noFill/>
            <a:prstDash val="solid"/>
          </a:ln>
        </p:spPr>
        <p:txBody>
          <a:bodyPr/>
          <a:lstStyle/>
          <a:p>
            <a:pPr algn="ctr">
              <a:buNone/>
              <a:defRPr sz="1350" b="1">
                <a:solidFill>
                  <a:srgbClr val="6B4E8E"/>
                </a:solidFill>
              </a:defRPr>
            </a:pPr>
            <a:r>
              <a:rPr sz="1350" b="1">
                <a:solidFill>
                  <a:srgbClr val="6B4E8E"/>
                </a:solidFill>
              </a:rPr>
              <a:t>Training prevalence 6.37%  •  Evaluation prevalence 30.83% • Deployment prevalence range: [0.01,0.5]</a:t>
            </a:r>
          </a:p>
        </p:txBody>
      </p:sp>
    </p:spTree>
    <p:extLst>
      <p:ext uri="{BB962C8B-B14F-4D97-AF65-F5344CB8AC3E}">
        <p14:creationId xmlns:p14="http://schemas.microsoft.com/office/powerpoint/2010/main" val="2610140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ASSESSMENT</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Declare what a replacement claim must survive</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ASSESSMENT</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20</a:t>
            </a:r>
          </a:p>
        </p:txBody>
      </p:sp>
      <p:sp>
        <p:nvSpPr>
          <p:cNvPr id="19" name="content-surface">
            <a:extLst>
              <a:ext uri="{FF2B5EF4-FFF2-40B4-BE49-F238E27FC236}">
                <a16:creationId xmlns:a16="http://schemas.microsoft.com/office/drawing/2014/main" id="{F3FB1B45-5F76-44B1-A70A-99CD4B25760B}"/>
              </a:ext>
            </a:extLst>
          </p:cNvPr>
          <p:cNvSpPr>
            <a:spLocks noGrp="1"/>
          </p:cNvSpPr>
          <p:nvPr/>
        </p:nvSpPr>
        <p:spPr>
          <a:xfrm>
            <a:off x="781050" y="2266950"/>
            <a:ext cx="2543175" cy="2628900"/>
          </a:xfrm>
          <a:prstGeom prst="roundRect">
            <a:avLst>
              <a:gd name="adj" fmla="val 5243"/>
            </a:avLst>
          </a:prstGeom>
          <a:solidFill>
            <a:srgbClr val="DCEAF7"/>
          </a:solidFill>
          <a:ln w="9525">
            <a:solidFill>
              <a:srgbClr val="DCEAF7"/>
            </a:solidFill>
            <a:prstDash val="solid"/>
          </a:ln>
        </p:spPr>
        <p:txBody>
          <a:bodyPr/>
          <a:lstStyle/>
          <a:p>
            <a:endParaRPr/>
          </a:p>
        </p:txBody>
      </p:sp>
      <p:sp>
        <p:nvSpPr>
          <p:cNvPr id="20" name="Population set Π-label">
            <a:extLst>
              <a:ext uri="{FF2B5EF4-FFF2-40B4-BE49-F238E27FC236}">
                <a16:creationId xmlns:a16="http://schemas.microsoft.com/office/drawing/2014/main" id="{A630BED8-A311-433F-878C-DB28A2EDEFFF}"/>
              </a:ext>
            </a:extLst>
          </p:cNvPr>
          <p:cNvSpPr>
            <a:spLocks noGrp="1"/>
          </p:cNvSpPr>
          <p:nvPr/>
        </p:nvSpPr>
        <p:spPr>
          <a:xfrm>
            <a:off x="990600" y="2438400"/>
            <a:ext cx="2124075" cy="209550"/>
          </a:xfrm>
          <a:prstGeom prst="rect">
            <a:avLst/>
          </a:prstGeom>
          <a:noFill/>
          <a:ln w="0">
            <a:noFill/>
            <a:prstDash val="solid"/>
          </a:ln>
        </p:spPr>
        <p:txBody>
          <a:bodyPr/>
          <a:lstStyle/>
          <a:p>
            <a:pPr algn="l">
              <a:buNone/>
              <a:defRPr sz="900" b="1">
                <a:solidFill>
                  <a:srgbClr val="2B6CB0"/>
                </a:solidFill>
              </a:defRPr>
            </a:pPr>
            <a:r>
              <a:rPr sz="900" b="1">
                <a:solidFill>
                  <a:srgbClr val="2B6CB0"/>
                </a:solidFill>
              </a:rPr>
              <a:t>POPULATION SET Π</a:t>
            </a:r>
          </a:p>
        </p:txBody>
      </p:sp>
      <p:sp>
        <p:nvSpPr>
          <p:cNvPr id="21" name="Population set Π-heading">
            <a:extLst>
              <a:ext uri="{FF2B5EF4-FFF2-40B4-BE49-F238E27FC236}">
                <a16:creationId xmlns:a16="http://schemas.microsoft.com/office/drawing/2014/main" id="{4B6026D6-D4F0-433A-8661-33C7566B0D1E}"/>
              </a:ext>
            </a:extLst>
          </p:cNvPr>
          <p:cNvSpPr>
            <a:spLocks noGrp="1"/>
          </p:cNvSpPr>
          <p:nvPr/>
        </p:nvSpPr>
        <p:spPr>
          <a:xfrm>
            <a:off x="990600" y="2762250"/>
            <a:ext cx="2124075" cy="381000"/>
          </a:xfrm>
          <a:prstGeom prst="rect">
            <a:avLst/>
          </a:prstGeom>
          <a:noFill/>
          <a:ln w="0">
            <a:noFill/>
            <a:prstDash val="solid"/>
          </a:ln>
        </p:spPr>
        <p:txBody>
          <a:bodyPr/>
          <a:lstStyle/>
          <a:p>
            <a:pPr algn="l">
              <a:buNone/>
              <a:defRPr sz="1575" b="1">
                <a:solidFill>
                  <a:srgbClr val="11253D"/>
                </a:solidFill>
              </a:defRPr>
            </a:pPr>
            <a:r>
              <a:rPr sz="1575" b="1">
                <a:solidFill>
                  <a:srgbClr val="11253D"/>
                </a:solidFill>
              </a:rPr>
              <a:t>1%–50%</a:t>
            </a:r>
          </a:p>
        </p:txBody>
      </p:sp>
      <p:sp>
        <p:nvSpPr>
          <p:cNvPr id="22" name="Population set Π-body">
            <a:extLst>
              <a:ext uri="{FF2B5EF4-FFF2-40B4-BE49-F238E27FC236}">
                <a16:creationId xmlns:a16="http://schemas.microsoft.com/office/drawing/2014/main" id="{3388D5C2-E6E8-489A-9620-E3E2FB659B9B}"/>
              </a:ext>
            </a:extLst>
          </p:cNvPr>
          <p:cNvSpPr>
            <a:spLocks noGrp="1"/>
          </p:cNvSpPr>
          <p:nvPr/>
        </p:nvSpPr>
        <p:spPr>
          <a:xfrm>
            <a:off x="990600" y="3257550"/>
            <a:ext cx="2124075" cy="144780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Every target prevalence in the declared deployment range.</a:t>
            </a:r>
          </a:p>
        </p:txBody>
      </p:sp>
      <p:sp>
        <p:nvSpPr>
          <p:cNvPr id="23" name="content-surface">
            <a:extLst>
              <a:ext uri="{FF2B5EF4-FFF2-40B4-BE49-F238E27FC236}">
                <a16:creationId xmlns:a16="http://schemas.microsoft.com/office/drawing/2014/main" id="{0CD028C0-8BD9-4B4B-8459-FFBF3CE97920}"/>
              </a:ext>
            </a:extLst>
          </p:cNvPr>
          <p:cNvSpPr>
            <a:spLocks noGrp="1"/>
          </p:cNvSpPr>
          <p:nvPr/>
        </p:nvSpPr>
        <p:spPr>
          <a:xfrm>
            <a:off x="3476625" y="2266950"/>
            <a:ext cx="2543175" cy="2628900"/>
          </a:xfrm>
          <a:prstGeom prst="roundRect">
            <a:avLst>
              <a:gd name="adj" fmla="val 5243"/>
            </a:avLst>
          </a:prstGeom>
          <a:solidFill>
            <a:srgbClr val="E8E0F0"/>
          </a:solidFill>
          <a:ln w="9525">
            <a:solidFill>
              <a:srgbClr val="E8E0F0"/>
            </a:solidFill>
            <a:prstDash val="solid"/>
          </a:ln>
        </p:spPr>
        <p:txBody>
          <a:bodyPr/>
          <a:lstStyle/>
          <a:p>
            <a:endParaRPr/>
          </a:p>
        </p:txBody>
      </p:sp>
      <p:sp>
        <p:nvSpPr>
          <p:cNvPr id="24" name="Regime ℛ-label">
            <a:extLst>
              <a:ext uri="{FF2B5EF4-FFF2-40B4-BE49-F238E27FC236}">
                <a16:creationId xmlns:a16="http://schemas.microsoft.com/office/drawing/2014/main" id="{C784DB0A-4E66-465D-A873-4603F09DA535}"/>
              </a:ext>
            </a:extLst>
          </p:cNvPr>
          <p:cNvSpPr>
            <a:spLocks noGrp="1"/>
          </p:cNvSpPr>
          <p:nvPr/>
        </p:nvSpPr>
        <p:spPr>
          <a:xfrm>
            <a:off x="3686175" y="2438400"/>
            <a:ext cx="2124075" cy="209550"/>
          </a:xfrm>
          <a:prstGeom prst="rect">
            <a:avLst/>
          </a:prstGeom>
          <a:noFill/>
          <a:ln w="0">
            <a:noFill/>
            <a:prstDash val="solid"/>
          </a:ln>
        </p:spPr>
        <p:txBody>
          <a:bodyPr/>
          <a:lstStyle/>
          <a:p>
            <a:pPr algn="l">
              <a:buNone/>
              <a:defRPr sz="900" b="1">
                <a:solidFill>
                  <a:srgbClr val="6B4E8E"/>
                </a:solidFill>
              </a:defRPr>
            </a:pPr>
            <a:r>
              <a:rPr sz="900" b="1">
                <a:solidFill>
                  <a:srgbClr val="6B4E8E"/>
                </a:solidFill>
              </a:rPr>
              <a:t>REGIME ℛ</a:t>
            </a:r>
          </a:p>
        </p:txBody>
      </p:sp>
      <p:sp>
        <p:nvSpPr>
          <p:cNvPr id="25" name="Regime ℛ-heading">
            <a:extLst>
              <a:ext uri="{FF2B5EF4-FFF2-40B4-BE49-F238E27FC236}">
                <a16:creationId xmlns:a16="http://schemas.microsoft.com/office/drawing/2014/main" id="{020786E7-6B07-4154-9F26-0373B8C9A29D}"/>
              </a:ext>
            </a:extLst>
          </p:cNvPr>
          <p:cNvSpPr>
            <a:spLocks noGrp="1"/>
          </p:cNvSpPr>
          <p:nvPr/>
        </p:nvSpPr>
        <p:spPr>
          <a:xfrm>
            <a:off x="3686175" y="2762250"/>
            <a:ext cx="2124075" cy="381000"/>
          </a:xfrm>
          <a:prstGeom prst="rect">
            <a:avLst/>
          </a:prstGeom>
          <a:noFill/>
          <a:ln w="0">
            <a:noFill/>
            <a:prstDash val="solid"/>
          </a:ln>
        </p:spPr>
        <p:txBody>
          <a:bodyPr/>
          <a:lstStyle/>
          <a:p>
            <a:pPr algn="l">
              <a:buNone/>
              <a:defRPr sz="1575" b="1">
                <a:solidFill>
                  <a:srgbClr val="11253D"/>
                </a:solidFill>
              </a:defRPr>
            </a:pPr>
            <a:r>
              <a:rPr sz="1575" b="1">
                <a:solidFill>
                  <a:srgbClr val="11253D"/>
                </a:solidFill>
              </a:rPr>
              <a:t>Fixed model</a:t>
            </a:r>
          </a:p>
        </p:txBody>
      </p:sp>
      <p:sp>
        <p:nvSpPr>
          <p:cNvPr id="26" name="Regime ℛ-body">
            <a:extLst>
              <a:ext uri="{FF2B5EF4-FFF2-40B4-BE49-F238E27FC236}">
                <a16:creationId xmlns:a16="http://schemas.microsoft.com/office/drawing/2014/main" id="{B3775A40-A061-487C-8EB4-43521E674428}"/>
              </a:ext>
            </a:extLst>
          </p:cNvPr>
          <p:cNvSpPr>
            <a:spLocks noGrp="1"/>
          </p:cNvSpPr>
          <p:nvPr/>
        </p:nvSpPr>
        <p:spPr>
          <a:xfrm>
            <a:off x="3686175" y="3257550"/>
            <a:ext cx="2124075" cy="144780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New independent evaluation units; class-stratified resampling.</a:t>
            </a:r>
          </a:p>
        </p:txBody>
      </p:sp>
      <p:sp>
        <p:nvSpPr>
          <p:cNvPr id="27" name="content-surface">
            <a:extLst>
              <a:ext uri="{FF2B5EF4-FFF2-40B4-BE49-F238E27FC236}">
                <a16:creationId xmlns:a16="http://schemas.microsoft.com/office/drawing/2014/main" id="{4CF91563-F1C8-4B40-852C-EFA8A7F3A976}"/>
              </a:ext>
            </a:extLst>
          </p:cNvPr>
          <p:cNvSpPr>
            <a:spLocks noGrp="1"/>
          </p:cNvSpPr>
          <p:nvPr/>
        </p:nvSpPr>
        <p:spPr>
          <a:xfrm>
            <a:off x="6172200" y="2266950"/>
            <a:ext cx="2543175" cy="2628900"/>
          </a:xfrm>
          <a:prstGeom prst="roundRect">
            <a:avLst>
              <a:gd name="adj" fmla="val 5243"/>
            </a:avLst>
          </a:prstGeom>
          <a:solidFill>
            <a:srgbClr val="F7E7CF"/>
          </a:solidFill>
          <a:ln w="9525">
            <a:solidFill>
              <a:srgbClr val="F7E7CF"/>
            </a:solidFill>
            <a:prstDash val="solid"/>
          </a:ln>
        </p:spPr>
        <p:txBody>
          <a:bodyPr/>
          <a:lstStyle/>
          <a:p>
            <a:endParaRPr/>
          </a:p>
        </p:txBody>
      </p:sp>
      <p:sp>
        <p:nvSpPr>
          <p:cNvPr id="28" name="Support order K-label">
            <a:extLst>
              <a:ext uri="{FF2B5EF4-FFF2-40B4-BE49-F238E27FC236}">
                <a16:creationId xmlns:a16="http://schemas.microsoft.com/office/drawing/2014/main" id="{9204B064-1F58-4A43-B397-EBAB2495E84B}"/>
              </a:ext>
            </a:extLst>
          </p:cNvPr>
          <p:cNvSpPr>
            <a:spLocks noGrp="1"/>
          </p:cNvSpPr>
          <p:nvPr/>
        </p:nvSpPr>
        <p:spPr>
          <a:xfrm>
            <a:off x="6381750" y="2438400"/>
            <a:ext cx="2124075" cy="209550"/>
          </a:xfrm>
          <a:prstGeom prst="rect">
            <a:avLst/>
          </a:prstGeom>
          <a:noFill/>
          <a:ln w="0">
            <a:noFill/>
            <a:prstDash val="solid"/>
          </a:ln>
        </p:spPr>
        <p:txBody>
          <a:bodyPr/>
          <a:lstStyle/>
          <a:p>
            <a:pPr algn="l">
              <a:buNone/>
              <a:defRPr sz="900" b="1">
                <a:solidFill>
                  <a:srgbClr val="D97706"/>
                </a:solidFill>
              </a:defRPr>
            </a:pPr>
            <a:r>
              <a:rPr sz="900" b="1">
                <a:solidFill>
                  <a:srgbClr val="D97706"/>
                </a:solidFill>
              </a:rPr>
              <a:t>SUPPORT ORDER K</a:t>
            </a:r>
          </a:p>
        </p:txBody>
      </p:sp>
      <p:sp>
        <p:nvSpPr>
          <p:cNvPr id="29" name="Support order K-heading">
            <a:extLst>
              <a:ext uri="{FF2B5EF4-FFF2-40B4-BE49-F238E27FC236}">
                <a16:creationId xmlns:a16="http://schemas.microsoft.com/office/drawing/2014/main" id="{FE890B42-E0AB-4C5F-B3CC-72AD300F0AF4}"/>
              </a:ext>
            </a:extLst>
          </p:cNvPr>
          <p:cNvSpPr>
            <a:spLocks noGrp="1"/>
          </p:cNvSpPr>
          <p:nvPr/>
        </p:nvSpPr>
        <p:spPr>
          <a:xfrm>
            <a:off x="6381750" y="2762250"/>
            <a:ext cx="2124075" cy="381000"/>
          </a:xfrm>
          <a:prstGeom prst="rect">
            <a:avLst/>
          </a:prstGeom>
          <a:noFill/>
          <a:ln w="0">
            <a:noFill/>
            <a:prstDash val="solid"/>
          </a:ln>
        </p:spPr>
        <p:txBody>
          <a:bodyPr/>
          <a:lstStyle/>
          <a:p>
            <a:pPr algn="l">
              <a:buNone/>
              <a:defRPr sz="1575" b="1">
                <a:solidFill>
                  <a:srgbClr val="11253D"/>
                </a:solidFill>
              </a:defRPr>
            </a:pPr>
            <a:r>
              <a:rPr sz="1575" b="1">
                <a:solidFill>
                  <a:srgbClr val="11253D"/>
                </a:solidFill>
              </a:rPr>
              <a:t>K = 2</a:t>
            </a:r>
          </a:p>
        </p:txBody>
      </p:sp>
      <p:sp>
        <p:nvSpPr>
          <p:cNvPr id="30" name="Support order K-body">
            <a:extLst>
              <a:ext uri="{FF2B5EF4-FFF2-40B4-BE49-F238E27FC236}">
                <a16:creationId xmlns:a16="http://schemas.microsoft.com/office/drawing/2014/main" id="{3AB38273-12F1-4EE4-8E78-04FEA30412F3}"/>
              </a:ext>
            </a:extLst>
          </p:cNvPr>
          <p:cNvSpPr>
            <a:spLocks noGrp="1"/>
          </p:cNvSpPr>
          <p:nvPr/>
        </p:nvSpPr>
        <p:spPr>
          <a:xfrm>
            <a:off x="6381750" y="3257550"/>
            <a:ext cx="2124075" cy="144780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Two complete evaluations must retain the claimed advantage.</a:t>
            </a:r>
          </a:p>
        </p:txBody>
      </p:sp>
      <p:sp>
        <p:nvSpPr>
          <p:cNvPr id="31" name="content-surface">
            <a:extLst>
              <a:ext uri="{FF2B5EF4-FFF2-40B4-BE49-F238E27FC236}">
                <a16:creationId xmlns:a16="http://schemas.microsoft.com/office/drawing/2014/main" id="{E1224B03-07A0-4B9E-BC10-559B86959C52}"/>
              </a:ext>
            </a:extLst>
          </p:cNvPr>
          <p:cNvSpPr>
            <a:spLocks noGrp="1"/>
          </p:cNvSpPr>
          <p:nvPr/>
        </p:nvSpPr>
        <p:spPr>
          <a:xfrm>
            <a:off x="8867775" y="2266950"/>
            <a:ext cx="2543175" cy="2628900"/>
          </a:xfrm>
          <a:prstGeom prst="roundRect">
            <a:avLst>
              <a:gd name="adj" fmla="val 5243"/>
            </a:avLst>
          </a:prstGeom>
          <a:solidFill>
            <a:srgbClr val="D9EEE8"/>
          </a:solidFill>
          <a:ln w="9525">
            <a:solidFill>
              <a:srgbClr val="D9EEE8"/>
            </a:solidFill>
            <a:prstDash val="solid"/>
          </a:ln>
        </p:spPr>
        <p:txBody>
          <a:bodyPr/>
          <a:lstStyle/>
          <a:p>
            <a:endParaRPr/>
          </a:p>
        </p:txBody>
      </p:sp>
      <p:sp>
        <p:nvSpPr>
          <p:cNvPr id="32" name="Decision margin-label">
            <a:extLst>
              <a:ext uri="{FF2B5EF4-FFF2-40B4-BE49-F238E27FC236}">
                <a16:creationId xmlns:a16="http://schemas.microsoft.com/office/drawing/2014/main" id="{151202B0-C611-48C9-9710-66576E5B106B}"/>
              </a:ext>
            </a:extLst>
          </p:cNvPr>
          <p:cNvSpPr>
            <a:spLocks noGrp="1"/>
          </p:cNvSpPr>
          <p:nvPr/>
        </p:nvSpPr>
        <p:spPr>
          <a:xfrm>
            <a:off x="9077325" y="2438400"/>
            <a:ext cx="2124075" cy="209550"/>
          </a:xfrm>
          <a:prstGeom prst="rect">
            <a:avLst/>
          </a:prstGeom>
          <a:noFill/>
          <a:ln w="0">
            <a:noFill/>
            <a:prstDash val="solid"/>
          </a:ln>
        </p:spPr>
        <p:txBody>
          <a:bodyPr/>
          <a:lstStyle/>
          <a:p>
            <a:pPr algn="l">
              <a:buNone/>
              <a:defRPr sz="900" b="1">
                <a:solidFill>
                  <a:srgbClr val="0E7C66"/>
                </a:solidFill>
              </a:defRPr>
            </a:pPr>
            <a:r>
              <a:rPr sz="900" b="1">
                <a:solidFill>
                  <a:srgbClr val="0E7C66"/>
                </a:solidFill>
              </a:rPr>
              <a:t>DECISION MARGIN</a:t>
            </a:r>
          </a:p>
        </p:txBody>
      </p:sp>
      <p:sp>
        <p:nvSpPr>
          <p:cNvPr id="33" name="Decision margin-heading">
            <a:extLst>
              <a:ext uri="{FF2B5EF4-FFF2-40B4-BE49-F238E27FC236}">
                <a16:creationId xmlns:a16="http://schemas.microsoft.com/office/drawing/2014/main" id="{AD4CD282-7544-40C7-82FA-090204733E81}"/>
              </a:ext>
            </a:extLst>
          </p:cNvPr>
          <p:cNvSpPr>
            <a:spLocks noGrp="1"/>
          </p:cNvSpPr>
          <p:nvPr/>
        </p:nvSpPr>
        <p:spPr>
          <a:xfrm>
            <a:off x="9077325" y="2762250"/>
            <a:ext cx="2124075" cy="381000"/>
          </a:xfrm>
          <a:prstGeom prst="rect">
            <a:avLst/>
          </a:prstGeom>
          <a:noFill/>
          <a:ln w="0">
            <a:noFill/>
            <a:prstDash val="solid"/>
          </a:ln>
        </p:spPr>
        <p:txBody>
          <a:bodyPr/>
          <a:lstStyle/>
          <a:p>
            <a:pPr algn="l">
              <a:buNone/>
              <a:defRPr sz="1575" b="1">
                <a:solidFill>
                  <a:srgbClr val="11253D"/>
                </a:solidFill>
              </a:defRPr>
            </a:pPr>
            <a:r>
              <a:rPr sz="1575" b="1">
                <a:solidFill>
                  <a:srgbClr val="11253D"/>
                </a:solidFill>
              </a:rPr>
              <a:t>δ = 0</a:t>
            </a:r>
          </a:p>
        </p:txBody>
      </p:sp>
      <p:sp>
        <p:nvSpPr>
          <p:cNvPr id="34" name="Decision margin-body">
            <a:extLst>
              <a:ext uri="{FF2B5EF4-FFF2-40B4-BE49-F238E27FC236}">
                <a16:creationId xmlns:a16="http://schemas.microsoft.com/office/drawing/2014/main" id="{6631E86C-572F-4AC3-8BB9-50001306E9F2}"/>
              </a:ext>
            </a:extLst>
          </p:cNvPr>
          <p:cNvSpPr>
            <a:spLocks noGrp="1"/>
          </p:cNvSpPr>
          <p:nvPr/>
        </p:nvSpPr>
        <p:spPr>
          <a:xfrm>
            <a:off x="9077325" y="3257550"/>
            <a:ext cx="2124075" cy="144780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Any strictly positive lower bound clears the performance margin.</a:t>
            </a:r>
          </a:p>
        </p:txBody>
      </p:sp>
      <p:sp>
        <p:nvSpPr>
          <p:cNvPr id="35" name="content-surface">
            <a:extLst>
              <a:ext uri="{FF2B5EF4-FFF2-40B4-BE49-F238E27FC236}">
                <a16:creationId xmlns:a16="http://schemas.microsoft.com/office/drawing/2014/main" id="{28FF03E4-60FB-4EB4-9A31-D96325E329D0}"/>
              </a:ext>
            </a:extLst>
          </p:cNvPr>
          <p:cNvSpPr>
            <a:spLocks noGrp="1"/>
          </p:cNvSpPr>
          <p:nvPr/>
        </p:nvSpPr>
        <p:spPr>
          <a:xfrm>
            <a:off x="1714500" y="5238750"/>
            <a:ext cx="8763000" cy="628650"/>
          </a:xfrm>
          <a:prstGeom prst="roundRect">
            <a:avLst>
              <a:gd name="adj" fmla="val 18182"/>
            </a:avLst>
          </a:prstGeom>
          <a:solidFill>
            <a:srgbClr val="F4DEDB"/>
          </a:solidFill>
          <a:ln w="9525">
            <a:solidFill>
              <a:srgbClr val="F4DEDB"/>
            </a:solidFill>
            <a:prstDash val="solid"/>
          </a:ln>
        </p:spPr>
        <p:txBody>
          <a:bodyPr/>
          <a:lstStyle/>
          <a:p>
            <a:endParaRPr/>
          </a:p>
        </p:txBody>
      </p:sp>
      <p:sp>
        <p:nvSpPr>
          <p:cNvPr id="36" name="takeaway-banner">
            <a:extLst>
              <a:ext uri="{FF2B5EF4-FFF2-40B4-BE49-F238E27FC236}">
                <a16:creationId xmlns:a16="http://schemas.microsoft.com/office/drawing/2014/main" id="{3EF8CC6F-4761-4C36-AFE0-4006870F79AE}"/>
              </a:ext>
            </a:extLst>
          </p:cNvPr>
          <p:cNvSpPr>
            <a:spLocks noGrp="1"/>
          </p:cNvSpPr>
          <p:nvPr/>
        </p:nvSpPr>
        <p:spPr>
          <a:xfrm>
            <a:off x="1905000" y="5381625"/>
            <a:ext cx="8382000" cy="400050"/>
          </a:xfrm>
          <a:prstGeom prst="rect">
            <a:avLst/>
          </a:prstGeom>
          <a:noFill/>
          <a:ln w="0">
            <a:noFill/>
            <a:prstDash val="solid"/>
          </a:ln>
        </p:spPr>
        <p:txBody>
          <a:bodyPr/>
          <a:lstStyle/>
          <a:p>
            <a:pPr algn="ctr">
              <a:buNone/>
              <a:defRPr sz="1275" b="1">
                <a:solidFill>
                  <a:srgbClr val="B5473C"/>
                </a:solidFill>
              </a:defRPr>
            </a:pPr>
            <a:r>
              <a:rPr sz="1275" b="1">
                <a:solidFill>
                  <a:srgbClr val="B5473C"/>
                </a:solidFill>
              </a:rPr>
              <a:t>Transport assumption: class-conditional score distributions remain stable across target prevalences.</a:t>
            </a:r>
          </a:p>
        </p:txBody>
      </p:sp>
    </p:spTree>
    <p:extLst>
      <p:ext uri="{BB962C8B-B14F-4D97-AF65-F5344CB8AC3E}">
        <p14:creationId xmlns:p14="http://schemas.microsoft.com/office/powerpoint/2010/main" val="1967228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POPULATION</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AP needs a target prevalence</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POPULATION</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21</a:t>
            </a:r>
          </a:p>
        </p:txBody>
      </p:sp>
      <p:pic>
        <p:nvPicPr>
          <p:cNvPr id="25" name="Picture 24"/>
          <p:cNvPicPr>
            <a:picLocks noChangeAspect="1"/>
          </p:cNvPicPr>
          <p:nvPr/>
        </p:nvPicPr>
        <p:blipFill>
          <a:blip r:embed="rId3"/>
          <a:stretch/>
        </p:blipFill>
        <p:spPr>
          <a:xfrm>
            <a:off x="713491" y="1847850"/>
            <a:ext cx="10765017" cy="4400550"/>
          </a:xfrm>
          <a:prstGeom prst="rect">
            <a:avLst/>
          </a:prstGeom>
        </p:spPr>
      </p:pic>
    </p:spTree>
    <p:extLst>
      <p:ext uri="{BB962C8B-B14F-4D97-AF65-F5344CB8AC3E}">
        <p14:creationId xmlns:p14="http://schemas.microsoft.com/office/powerpoint/2010/main" val="2644617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2D48ACF-3F0F-48C7-8065-F0162AB4CB4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WHY AP?</a:t>
            </a:r>
          </a:p>
        </p:txBody>
      </p:sp>
      <p:sp>
        <p:nvSpPr>
          <p:cNvPr id="2" name="Rectangle 1">
            <a:extLst>
              <a:ext uri="{FF2B5EF4-FFF2-40B4-BE49-F238E27FC236}">
                <a16:creationId xmlns:a16="http://schemas.microsoft.com/office/drawing/2014/main" id="{3A804195-36A0-4DF1-A11F-CCC066EEC775}"/>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latin typeface="Calibri"/>
                <a:ea typeface="Calibri"/>
                <a:cs typeface="Calibri"/>
              </a:defRPr>
            </a:pPr>
            <a:r>
              <a:rPr sz="3600" b="1" i="0">
                <a:solidFill>
                  <a:srgbClr val="11253D"/>
                </a:solidFill>
                <a:latin typeface="Calibri"/>
                <a:ea typeface="Calibri"/>
                <a:cs typeface="Calibri"/>
              </a:rPr>
              <a:t>AP combines precision with each gain in recall</a:t>
            </a:r>
          </a:p>
        </p:txBody>
      </p:sp>
      <p:sp>
        <p:nvSpPr>
          <p:cNvPr id="3" name="Rectangle 2">
            <a:extLst>
              <a:ext uri="{FF2B5EF4-FFF2-40B4-BE49-F238E27FC236}">
                <a16:creationId xmlns:a16="http://schemas.microsoft.com/office/drawing/2014/main" id="{47262E9E-5EE9-40CC-B85B-A5A4A32020C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5" name="Rectangle 4">
            <a:extLst>
              <a:ext uri="{FF2B5EF4-FFF2-40B4-BE49-F238E27FC236}">
                <a16:creationId xmlns:a16="http://schemas.microsoft.com/office/drawing/2014/main" id="{286198A7-6BC3-4BC2-BC03-D21AE31E15D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03</a:t>
            </a:r>
          </a:p>
        </p:txBody>
      </p:sp>
      <p:sp>
        <p:nvSpPr>
          <p:cNvPr id="6" name="Rounded Rectangle 5">
            <a:extLst>
              <a:ext uri="{FF2B5EF4-FFF2-40B4-BE49-F238E27FC236}">
                <a16:creationId xmlns:a16="http://schemas.microsoft.com/office/drawing/2014/main" id="{775307B3-2B37-48B5-9437-C3DB7B1823F8}"/>
              </a:ext>
            </a:extLst>
          </p:cNvPr>
          <p:cNvSpPr>
            <a:spLocks noGrp="1"/>
          </p:cNvSpPr>
          <p:nvPr/>
        </p:nvSpPr>
        <p:spPr>
          <a:xfrm>
            <a:off x="876300" y="2114550"/>
            <a:ext cx="4648200" cy="2400300"/>
          </a:xfrm>
          <a:prstGeom prst="roundRect">
            <a:avLst>
              <a:gd name="adj" fmla="val 4762"/>
            </a:avLst>
          </a:prstGeom>
          <a:solidFill>
            <a:srgbClr val="DCEAF7"/>
          </a:solidFill>
          <a:ln w="0">
            <a:noFill/>
            <a:prstDash val="solid"/>
          </a:ln>
        </p:spPr>
        <p:txBody>
          <a:bodyPr/>
          <a:lstStyle/>
          <a:p>
            <a:endParaRPr/>
          </a:p>
        </p:txBody>
      </p:sp>
      <p:sp>
        <p:nvSpPr>
          <p:cNvPr id="7" name="Rectangle 6">
            <a:extLst>
              <a:ext uri="{FF2B5EF4-FFF2-40B4-BE49-F238E27FC236}">
                <a16:creationId xmlns:a16="http://schemas.microsoft.com/office/drawing/2014/main" id="{F2A992B0-4A8B-47FA-BD7F-08C69984E872}"/>
              </a:ext>
            </a:extLst>
          </p:cNvPr>
          <p:cNvSpPr>
            <a:spLocks noGrp="1"/>
          </p:cNvSpPr>
          <p:nvPr/>
        </p:nvSpPr>
        <p:spPr>
          <a:xfrm>
            <a:off x="1162050" y="2381250"/>
            <a:ext cx="1905000" cy="20955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PRECISION AT STEP n</a:t>
            </a:r>
          </a:p>
        </p:txBody>
      </p:sp>
      <p:sp>
        <p:nvSpPr>
          <p:cNvPr id="8" name="Rectangle 7">
            <a:extLst>
              <a:ext uri="{FF2B5EF4-FFF2-40B4-BE49-F238E27FC236}">
                <a16:creationId xmlns:a16="http://schemas.microsoft.com/office/drawing/2014/main" id="{822AA8A8-F504-4E94-858D-20A40320788F}"/>
              </a:ext>
            </a:extLst>
          </p:cNvPr>
          <p:cNvSpPr>
            <a:spLocks noGrp="1"/>
          </p:cNvSpPr>
          <p:nvPr/>
        </p:nvSpPr>
        <p:spPr>
          <a:xfrm>
            <a:off x="1162050" y="2857500"/>
            <a:ext cx="3905250" cy="742950"/>
          </a:xfrm>
          <a:prstGeom prst="rect">
            <a:avLst/>
          </a:prstGeom>
          <a:noFill/>
          <a:ln w="0">
            <a:noFill/>
            <a:prstDash val="solid"/>
          </a:ln>
        </p:spPr>
        <p:txBody>
          <a:bodyPr/>
          <a:lstStyle/>
          <a:p>
            <a:pPr algn="l">
              <a:buNone/>
              <a:defRPr sz="2250" b="1" i="0">
                <a:solidFill>
                  <a:srgbClr val="11253D"/>
                </a:solidFill>
                <a:latin typeface="Calibri"/>
                <a:ea typeface="Calibri"/>
                <a:cs typeface="Calibri"/>
              </a:defRPr>
            </a:pPr>
            <a:r>
              <a:rPr sz="2250" b="1" i="0">
                <a:solidFill>
                  <a:srgbClr val="11253D"/>
                </a:solidFill>
                <a:latin typeface="Calibri"/>
                <a:ea typeface="Calibri"/>
                <a:cs typeface="Calibri"/>
              </a:rPr>
              <a:t>P_n: precision after</a:t>
            </a:r>
          </a:p>
          <a:p>
            <a:pPr algn="l">
              <a:buNone/>
              <a:defRPr sz="2250" b="1" i="0">
                <a:solidFill>
                  <a:srgbClr val="11253D"/>
                </a:solidFill>
                <a:latin typeface="Calibri"/>
                <a:ea typeface="Calibri"/>
                <a:cs typeface="Calibri"/>
              </a:defRPr>
            </a:pPr>
            <a:r>
              <a:rPr sz="2250" b="1" i="0">
                <a:solidFill>
                  <a:srgbClr val="11253D"/>
                </a:solidFill>
                <a:latin typeface="Calibri"/>
                <a:ea typeface="Calibri"/>
                <a:cs typeface="Calibri"/>
              </a:rPr>
              <a:t>threshold step n</a:t>
            </a:r>
          </a:p>
        </p:txBody>
      </p:sp>
      <p:pic>
        <p:nvPicPr>
          <p:cNvPr id="26" name="Picture 23"/>
          <p:cNvPicPr>
            <a:picLocks noChangeAspect="1"/>
          </p:cNvPicPr>
          <p:nvPr/>
        </p:nvPicPr>
        <p:blipFill>
          <a:blip r:embed="rId3"/>
          <a:stretch/>
        </p:blipFill>
        <p:spPr>
          <a:xfrm>
            <a:off x="2074196" y="3790950"/>
            <a:ext cx="2080958" cy="514350"/>
          </a:xfrm>
          <a:prstGeom prst="rect">
            <a:avLst/>
          </a:prstGeom>
        </p:spPr>
      </p:pic>
      <p:sp>
        <p:nvSpPr>
          <p:cNvPr id="10" name="Rounded Rectangle 9">
            <a:extLst>
              <a:ext uri="{FF2B5EF4-FFF2-40B4-BE49-F238E27FC236}">
                <a16:creationId xmlns:a16="http://schemas.microsoft.com/office/drawing/2014/main" id="{CDC6E005-B75D-4B55-B304-6095E53B4935}"/>
              </a:ext>
            </a:extLst>
          </p:cNvPr>
          <p:cNvSpPr>
            <a:spLocks noGrp="1"/>
          </p:cNvSpPr>
          <p:nvPr/>
        </p:nvSpPr>
        <p:spPr>
          <a:xfrm>
            <a:off x="6667500" y="2114550"/>
            <a:ext cx="4648200" cy="2400300"/>
          </a:xfrm>
          <a:prstGeom prst="roundRect">
            <a:avLst>
              <a:gd name="adj" fmla="val 4762"/>
            </a:avLst>
          </a:prstGeom>
          <a:solidFill>
            <a:srgbClr val="D9EEE8"/>
          </a:solidFill>
          <a:ln w="0">
            <a:noFill/>
            <a:prstDash val="solid"/>
          </a:ln>
        </p:spPr>
        <p:txBody>
          <a:bodyPr/>
          <a:lstStyle/>
          <a:p>
            <a:endParaRPr/>
          </a:p>
        </p:txBody>
      </p:sp>
      <p:sp>
        <p:nvSpPr>
          <p:cNvPr id="11" name="Rectangle 10">
            <a:extLst>
              <a:ext uri="{FF2B5EF4-FFF2-40B4-BE49-F238E27FC236}">
                <a16:creationId xmlns:a16="http://schemas.microsoft.com/office/drawing/2014/main" id="{7191291D-0DFC-4522-99A4-409AB100CC39}"/>
              </a:ext>
            </a:extLst>
          </p:cNvPr>
          <p:cNvSpPr>
            <a:spLocks noGrp="1"/>
          </p:cNvSpPr>
          <p:nvPr/>
        </p:nvSpPr>
        <p:spPr>
          <a:xfrm>
            <a:off x="6953250" y="2381250"/>
            <a:ext cx="1905000" cy="209550"/>
          </a:xfrm>
          <a:prstGeom prst="rect">
            <a:avLst/>
          </a:prstGeom>
          <a:noFill/>
          <a:ln w="0">
            <a:noFill/>
            <a:prstDash val="solid"/>
          </a:ln>
        </p:spPr>
        <p:txBody>
          <a:bodyPr/>
          <a:lstStyle/>
          <a:p>
            <a:pPr algn="l">
              <a:buNone/>
              <a:defRPr sz="1125" b="1" i="0">
                <a:solidFill>
                  <a:srgbClr val="0E7C66"/>
                </a:solidFill>
              </a:defRPr>
            </a:pPr>
            <a:r>
              <a:rPr sz="1125" b="1" i="0">
                <a:solidFill>
                  <a:srgbClr val="0E7C66"/>
                </a:solidFill>
              </a:rPr>
              <a:t>RECALL AT STEP n</a:t>
            </a:r>
          </a:p>
        </p:txBody>
      </p:sp>
      <p:sp>
        <p:nvSpPr>
          <p:cNvPr id="12" name="Rectangle 11">
            <a:extLst>
              <a:ext uri="{FF2B5EF4-FFF2-40B4-BE49-F238E27FC236}">
                <a16:creationId xmlns:a16="http://schemas.microsoft.com/office/drawing/2014/main" id="{50FE065F-E5D4-4B06-9096-C51A2E9B583C}"/>
              </a:ext>
            </a:extLst>
          </p:cNvPr>
          <p:cNvSpPr>
            <a:spLocks noGrp="1"/>
          </p:cNvSpPr>
          <p:nvPr/>
        </p:nvSpPr>
        <p:spPr>
          <a:xfrm>
            <a:off x="6953250" y="2857500"/>
            <a:ext cx="3905250" cy="742950"/>
          </a:xfrm>
          <a:prstGeom prst="rect">
            <a:avLst/>
          </a:prstGeom>
          <a:noFill/>
          <a:ln w="0">
            <a:noFill/>
            <a:prstDash val="solid"/>
          </a:ln>
        </p:spPr>
        <p:txBody>
          <a:bodyPr/>
          <a:lstStyle/>
          <a:p>
            <a:pPr algn="l">
              <a:buNone/>
              <a:defRPr sz="2250" b="1" i="0">
                <a:solidFill>
                  <a:srgbClr val="11253D"/>
                </a:solidFill>
                <a:latin typeface="Calibri"/>
                <a:ea typeface="Calibri"/>
                <a:cs typeface="Calibri"/>
              </a:defRPr>
            </a:pPr>
            <a:r>
              <a:rPr sz="2250" b="1" i="0">
                <a:solidFill>
                  <a:srgbClr val="11253D"/>
                </a:solidFill>
                <a:latin typeface="Calibri"/>
                <a:ea typeface="Calibri"/>
                <a:cs typeface="Calibri"/>
              </a:rPr>
              <a:t>R_n: recall after</a:t>
            </a:r>
          </a:p>
          <a:p>
            <a:pPr algn="l">
              <a:buNone/>
              <a:defRPr sz="2250" b="1" i="0">
                <a:solidFill>
                  <a:srgbClr val="11253D"/>
                </a:solidFill>
                <a:latin typeface="Calibri"/>
                <a:ea typeface="Calibri"/>
                <a:cs typeface="Calibri"/>
              </a:defRPr>
            </a:pPr>
            <a:r>
              <a:rPr sz="2250" b="1" i="0">
                <a:solidFill>
                  <a:srgbClr val="11253D"/>
                </a:solidFill>
                <a:latin typeface="Calibri"/>
                <a:ea typeface="Calibri"/>
                <a:cs typeface="Calibri"/>
              </a:rPr>
              <a:t>threshold step n</a:t>
            </a:r>
          </a:p>
        </p:txBody>
      </p:sp>
      <p:pic>
        <p:nvPicPr>
          <p:cNvPr id="30" name="Picture 27"/>
          <p:cNvPicPr>
            <a:picLocks noChangeAspect="1"/>
          </p:cNvPicPr>
          <p:nvPr/>
        </p:nvPicPr>
        <p:blipFill>
          <a:blip r:embed="rId4"/>
          <a:stretch/>
        </p:blipFill>
        <p:spPr>
          <a:xfrm>
            <a:off x="7994965" y="3790950"/>
            <a:ext cx="1821820" cy="514350"/>
          </a:xfrm>
          <a:prstGeom prst="rect">
            <a:avLst/>
          </a:prstGeom>
        </p:spPr>
      </p:pic>
      <p:sp>
        <p:nvSpPr>
          <p:cNvPr id="14" name="Rounded Rectangle 13">
            <a:extLst>
              <a:ext uri="{FF2B5EF4-FFF2-40B4-BE49-F238E27FC236}">
                <a16:creationId xmlns:a16="http://schemas.microsoft.com/office/drawing/2014/main" id="{E34EA426-2F9D-4888-8E7A-26E972BC08C2}"/>
              </a:ext>
            </a:extLst>
          </p:cNvPr>
          <p:cNvSpPr>
            <a:spLocks noGrp="1"/>
          </p:cNvSpPr>
          <p:nvPr/>
        </p:nvSpPr>
        <p:spPr>
          <a:xfrm>
            <a:off x="2895600" y="5048250"/>
            <a:ext cx="6338047" cy="1619250"/>
          </a:xfrm>
          <a:prstGeom prst="roundRect">
            <a:avLst>
              <a:gd name="adj" fmla="val 17647"/>
            </a:avLst>
          </a:prstGeom>
          <a:solidFill>
            <a:srgbClr val="FFFFFF"/>
          </a:solidFill>
          <a:ln w="0">
            <a:noFill/>
            <a:prstDash val="solid"/>
          </a:ln>
        </p:spPr>
        <p:txBody>
          <a:bodyPr/>
          <a:lstStyle/>
          <a:p>
            <a:endParaRPr/>
          </a:p>
        </p:txBody>
      </p:sp>
      <p:sp>
        <p:nvSpPr>
          <p:cNvPr id="15" name="Rectangle 14">
            <a:extLst>
              <a:ext uri="{FF2B5EF4-FFF2-40B4-BE49-F238E27FC236}">
                <a16:creationId xmlns:a16="http://schemas.microsoft.com/office/drawing/2014/main" id="{D1B9D8A8-68A8-443C-A75E-59B7F65E8915}"/>
              </a:ext>
            </a:extLst>
          </p:cNvPr>
          <p:cNvSpPr>
            <a:spLocks noGrp="1"/>
          </p:cNvSpPr>
          <p:nvPr/>
        </p:nvSpPr>
        <p:spPr>
          <a:xfrm>
            <a:off x="3086100" y="5219700"/>
            <a:ext cx="6019800" cy="361950"/>
          </a:xfrm>
          <a:prstGeom prst="rect">
            <a:avLst/>
          </a:prstGeom>
          <a:noFill/>
          <a:ln w="0">
            <a:noFill/>
            <a:prstDash val="solid"/>
          </a:ln>
        </p:spPr>
        <p:txBody>
          <a:bodyPr/>
          <a:lstStyle/>
          <a:p>
            <a:pPr algn="ctr">
              <a:buNone/>
              <a:defRPr sz="1800" b="1" i="0">
                <a:solidFill>
                  <a:srgbClr val="11253D"/>
                </a:solidFill>
              </a:defRPr>
            </a:pPr>
            <a:r>
              <a:rPr b="1"/>
              <a:t>AP is computed by traversing the examples in descending score order and adding</a:t>
            </a:r>
          </a:p>
          <a:p>
            <a:pPr algn="ctr">
              <a:buNone/>
              <a:defRPr sz="1800" b="1" i="0">
                <a:solidFill>
                  <a:srgbClr val="11253D"/>
                </a:solidFill>
              </a:defRPr>
            </a:pPr>
            <a:endParaRPr b="1"/>
          </a:p>
          <a:p>
            <a:pPr algn="ctr">
              <a:buNone/>
              <a:defRPr sz="1800" b="1" i="0">
                <a:solidFill>
                  <a:srgbClr val="11253D"/>
                </a:solidFill>
              </a:defRPr>
            </a:pPr>
            <a:endParaRPr b="1"/>
          </a:p>
          <a:p>
            <a:pPr algn="ctr">
              <a:buNone/>
              <a:defRPr sz="1800" b="1" i="0">
                <a:solidFill>
                  <a:srgbClr val="11253D"/>
                </a:solidFill>
              </a:defRPr>
            </a:pPr>
            <a:r>
              <a:rPr b="1"/>
              <a:t> each time a positive example is encountered.</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1BBB91F-47F0-F14C-AE58-0BF556570046}"/>
                  </a:ext>
                </a:extLst>
              </p:cNvPr>
              <p:cNvSpPr>
                <a:spLocks noGrp="1"/>
              </p:cNvSpPr>
              <p:nvPr/>
            </p:nvSpPr>
            <p:spPr>
              <a:xfrm>
                <a:off x="4948149" y="5956673"/>
                <a:ext cx="2005101" cy="316753"/>
              </a:xfrm>
              <a:prstGeom prst="rect">
                <a:avLst/>
              </a:prstGeom>
              <a:noFill/>
            </p:spPr>
            <p:txBody>
              <a:bodyPr wrap="none" lIns="0" tIns="0" rIns="0" bIns="0">
                <a:spAutoFit/>
              </a:bodyPr>
              <a:lstStyle/>
              <a:p>
                <a:pPr>
                  <a:buNone/>
                </a:pPr>
                <a14:m>
                  <m:oMathPara xmlns:m="http://schemas.openxmlformats.org/officeDocument/2006/math">
                    <m:oMathParaPr>
                      <m:jc m:val="centerGroup"/>
                    </m:oMathParaPr>
                    <m:oMath xmlns:m="http://schemas.openxmlformats.org/officeDocument/2006/math">
                      <m:d>
                        <m:dPr>
                          <m:ctrlPr>
                            <a:rPr lang="en-US" b="0">
                              <a:latin typeface="Cambria Math" panose="02040503050406030204" pitchFamily="18" charset="0"/>
                              <a:ea typeface="Cambria Math"/>
                              <a:cs typeface="Cambria Math"/>
                            </a:rPr>
                          </m:ctrlPr>
                        </m:dPr>
                        <m:e>
                          <m:sSub>
                            <m:sSubPr>
                              <m:ctrlPr>
                                <a:rPr lang="en-US" b="0">
                                  <a:latin typeface="Cambria Math" panose="02040503050406030204" pitchFamily="18" charset="0"/>
                                  <a:ea typeface="Cambria Math"/>
                                  <a:cs typeface="Cambria Math"/>
                                </a:rPr>
                              </m:ctrlPr>
                            </m:sSubPr>
                            <m:e>
                              <m:r>
                                <a:rPr lang="en-US" b="0" i="1">
                                  <a:latin typeface="Cambria Math"/>
                                  <a:ea typeface="Cambria Math"/>
                                  <a:cs typeface="Cambria Math"/>
                                </a:rPr>
                                <m:t>𝑅</m:t>
                              </m:r>
                            </m:e>
                            <m:sub>
                              <m:r>
                                <a:rPr lang="en-US" b="0" i="1">
                                  <a:latin typeface="Cambria Math"/>
                                  <a:ea typeface="Cambria Math"/>
                                  <a:cs typeface="Cambria Math"/>
                                </a:rPr>
                                <m:t>𝑛</m:t>
                              </m:r>
                            </m:sub>
                          </m:sSub>
                          <m:r>
                            <a:rPr lang="en-US" b="0" i="1">
                              <a:latin typeface="Cambria Math"/>
                              <a:ea typeface="Cambria Math"/>
                              <a:cs typeface="Cambria Math"/>
                            </a:rPr>
                            <m:t>−</m:t>
                          </m:r>
                          <m:sSub>
                            <m:sSubPr>
                              <m:ctrlPr>
                                <a:rPr lang="en-US" b="0" i="1">
                                  <a:latin typeface="Cambria Math" panose="02040503050406030204" pitchFamily="18" charset="0"/>
                                  <a:ea typeface="Cambria Math"/>
                                  <a:cs typeface="Cambria Math"/>
                                </a:rPr>
                              </m:ctrlPr>
                            </m:sSubPr>
                            <m:e>
                              <m:r>
                                <a:rPr lang="en-US" b="0" i="1">
                                  <a:latin typeface="Cambria Math"/>
                                  <a:ea typeface="Cambria Math"/>
                                  <a:cs typeface="Cambria Math"/>
                                </a:rPr>
                                <m:t>𝑅</m:t>
                              </m:r>
                            </m:e>
                            <m:sub>
                              <m:d>
                                <m:dPr>
                                  <m:begChr m:val="{"/>
                                  <m:endChr m:val="}"/>
                                  <m:ctrlPr>
                                    <a:rPr lang="en-US" b="0" i="1">
                                      <a:latin typeface="Cambria Math" panose="02040503050406030204" pitchFamily="18" charset="0"/>
                                      <a:ea typeface="Cambria Math"/>
                                      <a:cs typeface="Cambria Math"/>
                                    </a:rPr>
                                  </m:ctrlPr>
                                </m:dPr>
                                <m:e>
                                  <m:r>
                                    <a:rPr lang="en-US" b="0" i="1">
                                      <a:latin typeface="Cambria Math"/>
                                      <a:ea typeface="Cambria Math"/>
                                      <a:cs typeface="Cambria Math"/>
                                    </a:rPr>
                                    <m:t>𝑛</m:t>
                                  </m:r>
                                  <m:r>
                                    <a:rPr lang="en-US" b="0" i="1">
                                      <a:latin typeface="Cambria Math"/>
                                      <a:ea typeface="Cambria Math"/>
                                      <a:cs typeface="Cambria Math"/>
                                    </a:rPr>
                                    <m:t>−1</m:t>
                                  </m:r>
                                </m:e>
                              </m:d>
                            </m:sub>
                          </m:sSub>
                        </m:e>
                      </m:d>
                      <m:r>
                        <a:rPr lang="en-US" b="0" i="1">
                          <a:latin typeface="Cambria Math"/>
                          <a:ea typeface="Cambria Math"/>
                          <a:cs typeface="Cambria Math"/>
                        </a:rPr>
                        <m:t>∗</m:t>
                      </m:r>
                      <m:r>
                        <a:rPr lang="en-US" b="0" i="1">
                          <a:latin typeface="Cambria Math"/>
                          <a:ea typeface="Cambria Math"/>
                          <a:cs typeface="Cambria Math"/>
                        </a:rPr>
                        <m:t>𝑃</m:t>
                      </m:r>
                      <m:r>
                        <a:rPr lang="en-US" b="0" i="1">
                          <a:latin typeface="Cambria Math"/>
                          <a:ea typeface="Cambria Math"/>
                          <a:cs typeface="Cambria Math"/>
                        </a:rPr>
                        <m:t>_</m:t>
                      </m:r>
                      <m:r>
                        <a:rPr lang="en-US" b="0" i="1">
                          <a:latin typeface="Cambria Math"/>
                          <a:ea typeface="Cambria Math"/>
                          <a:cs typeface="Cambria Math"/>
                        </a:rPr>
                        <m:t>𝑛</m:t>
                      </m:r>
                    </m:oMath>
                  </m:oMathPara>
                </a14:m>
                <a:endParaRPr/>
              </a:p>
            </p:txBody>
          </p:sp>
        </mc:Choice>
        <mc:Fallback>
          <p:sp>
            <p:nvSpPr>
              <p:cNvPr id="9" name="TextBox 8">
                <a:extLst>
                  <a:ext uri="{FF2B5EF4-FFF2-40B4-BE49-F238E27FC236}">
                    <a16:creationId xmlns:a16="http://schemas.microsoft.com/office/drawing/2014/main" id="{91BBB91F-47F0-F14C-AE58-0BF556570046}"/>
                  </a:ext>
                </a:extLst>
              </p:cNvPr>
              <p:cNvSpPr>
                <a:spLocks noGrp="1" noRot="1" noChangeAspect="1" noMove="1" noResize="1" noEditPoints="1" noAdjustHandles="1" noChangeArrowheads="1" noChangeShapeType="1" noTextEdit="1"/>
              </p:cNvSpPr>
              <p:nvPr/>
            </p:nvSpPr>
            <p:spPr>
              <a:xfrm>
                <a:off x="4948149" y="5956673"/>
                <a:ext cx="2005101" cy="316753"/>
              </a:xfrm>
              <a:prstGeom prst="rect">
                <a:avLst/>
              </a:prstGeom>
              <a:blipFill>
                <a:blip r:embed="rId5"/>
                <a:stretch>
                  <a:fillRect r="-629"/>
                </a:stretch>
              </a:blipFill>
            </p:spPr>
            <p:txBody>
              <a:bodyPr/>
              <a:lstStyle/>
              <a:p>
                <a:r>
                  <a:rPr lang="en-US">
                    <a:noFill/>
                  </a:rPr>
                  <a:t> </a:t>
                </a:r>
              </a:p>
            </p:txBody>
          </p:sp>
        </mc:Fallback>
      </mc:AlternateContent>
    </p:spTree>
    <p:extLst>
      <p:ext uri="{BB962C8B-B14F-4D97-AF65-F5344CB8AC3E}">
        <p14:creationId xmlns:p14="http://schemas.microsoft.com/office/powerpoint/2010/main" val="1683577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1420E2D-7C50-4C12-888E-88BBA65A7469}"/>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WHY AP?</a:t>
            </a:r>
          </a:p>
        </p:txBody>
      </p:sp>
      <p:sp>
        <p:nvSpPr>
          <p:cNvPr id="2" name="Rectangle 1">
            <a:extLst>
              <a:ext uri="{FF2B5EF4-FFF2-40B4-BE49-F238E27FC236}">
                <a16:creationId xmlns:a16="http://schemas.microsoft.com/office/drawing/2014/main" id="{72A9B20F-841D-4E73-B53C-FB1229266698}"/>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How to compute AP</a:t>
            </a:r>
          </a:p>
        </p:txBody>
      </p:sp>
      <p:sp>
        <p:nvSpPr>
          <p:cNvPr id="3" name="Rectangle 2">
            <a:extLst>
              <a:ext uri="{FF2B5EF4-FFF2-40B4-BE49-F238E27FC236}">
                <a16:creationId xmlns:a16="http://schemas.microsoft.com/office/drawing/2014/main" id="{85997E2E-EA9F-4DB1-8286-2B5D9A28CBE6}"/>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5" name="Rectangle 4">
            <a:extLst>
              <a:ext uri="{FF2B5EF4-FFF2-40B4-BE49-F238E27FC236}">
                <a16:creationId xmlns:a16="http://schemas.microsoft.com/office/drawing/2014/main" id="{7161C0B7-20CA-47A3-8B2D-6C410FDE5ADE}"/>
              </a:ext>
            </a:extLst>
          </p:cNvPr>
          <p:cNvSpPr>
            <a:spLocks noGrp="1"/>
          </p:cNvSpPr>
          <p:nvPr/>
        </p:nvSpPr>
        <p:spPr>
          <a:xfrm>
            <a:off x="11049000" y="7713006"/>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05</a:t>
            </a:r>
          </a:p>
        </p:txBody>
      </p:sp>
      <p:sp>
        <p:nvSpPr>
          <p:cNvPr id="6" name="Rectangle 5">
            <a:extLst>
              <a:ext uri="{FF2B5EF4-FFF2-40B4-BE49-F238E27FC236}">
                <a16:creationId xmlns:a16="http://schemas.microsoft.com/office/drawing/2014/main" id="{04438CF8-986A-4146-BEB7-3570EDCF72DF}"/>
              </a:ext>
            </a:extLst>
          </p:cNvPr>
          <p:cNvSpPr>
            <a:spLocks noGrp="1"/>
          </p:cNvSpPr>
          <p:nvPr/>
        </p:nvSpPr>
        <p:spPr>
          <a:xfrm>
            <a:off x="851647" y="2569507"/>
            <a:ext cx="2476500" cy="20955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Ranked score list</a:t>
            </a:r>
          </a:p>
        </p:txBody>
      </p:sp>
      <p:sp>
        <p:nvSpPr>
          <p:cNvPr id="7" name="Rounded Rectangle 6">
            <a:extLst>
              <a:ext uri="{FF2B5EF4-FFF2-40B4-BE49-F238E27FC236}">
                <a16:creationId xmlns:a16="http://schemas.microsoft.com/office/drawing/2014/main" id="{BFC75DB0-2204-4CFE-A2F7-08F37D33DB99}"/>
              </a:ext>
            </a:extLst>
          </p:cNvPr>
          <p:cNvSpPr>
            <a:spLocks noGrp="1"/>
          </p:cNvSpPr>
          <p:nvPr/>
        </p:nvSpPr>
        <p:spPr>
          <a:xfrm>
            <a:off x="851647" y="3045757"/>
            <a:ext cx="514350" cy="685800"/>
          </a:xfrm>
          <a:prstGeom prst="roundRect">
            <a:avLst>
              <a:gd name="adj" fmla="val 22222"/>
            </a:avLst>
          </a:prstGeom>
          <a:solidFill>
            <a:srgbClr val="2B6CB0"/>
          </a:solidFill>
          <a:ln w="19050">
            <a:solidFill>
              <a:srgbClr val="2B6CB0"/>
            </a:solidFill>
            <a:prstDash val="solid"/>
          </a:ln>
        </p:spPr>
        <p:txBody>
          <a:bodyPr/>
          <a:lstStyle/>
          <a:p>
            <a:endParaRPr/>
          </a:p>
        </p:txBody>
      </p:sp>
      <p:sp>
        <p:nvSpPr>
          <p:cNvPr id="8" name="Rectangle 7">
            <a:extLst>
              <a:ext uri="{FF2B5EF4-FFF2-40B4-BE49-F238E27FC236}">
                <a16:creationId xmlns:a16="http://schemas.microsoft.com/office/drawing/2014/main" id="{40B560BF-C061-4E33-91B0-880D2FA12D91}"/>
              </a:ext>
            </a:extLst>
          </p:cNvPr>
          <p:cNvSpPr>
            <a:spLocks noGrp="1"/>
          </p:cNvSpPr>
          <p:nvPr/>
        </p:nvSpPr>
        <p:spPr>
          <a:xfrm>
            <a:off x="851647"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chemeClr val="bg1"/>
                </a:solidFill>
              </a:rPr>
              <a:t>1</a:t>
            </a:r>
          </a:p>
        </p:txBody>
      </p:sp>
      <p:sp>
        <p:nvSpPr>
          <p:cNvPr id="9" name="Rectangle 8">
            <a:extLst>
              <a:ext uri="{FF2B5EF4-FFF2-40B4-BE49-F238E27FC236}">
                <a16:creationId xmlns:a16="http://schemas.microsoft.com/office/drawing/2014/main" id="{6A9D867E-ADD9-4C8C-ABBE-4D89CAA15DE8}"/>
              </a:ext>
            </a:extLst>
          </p:cNvPr>
          <p:cNvSpPr>
            <a:spLocks noGrp="1"/>
          </p:cNvSpPr>
          <p:nvPr/>
        </p:nvSpPr>
        <p:spPr>
          <a:xfrm>
            <a:off x="851647" y="3388657"/>
            <a:ext cx="514350" cy="266700"/>
          </a:xfrm>
          <a:prstGeom prst="rect">
            <a:avLst/>
          </a:prstGeom>
          <a:noFill/>
          <a:ln w="0">
            <a:noFill/>
            <a:prstDash val="solid"/>
          </a:ln>
        </p:spPr>
        <p:txBody>
          <a:bodyPr/>
          <a:lstStyle/>
          <a:p>
            <a:pPr algn="ctr">
              <a:buNone/>
              <a:defRPr sz="1875" b="1" i="0">
                <a:solidFill>
                  <a:srgbClr val="FFFFFF"/>
                </a:solidFill>
              </a:defRPr>
            </a:pPr>
            <a:r>
              <a:rPr sz="1875" b="1" i="0">
                <a:solidFill>
                  <a:srgbClr val="FFFFFF"/>
                </a:solidFill>
              </a:rPr>
              <a:t>+</a:t>
            </a:r>
          </a:p>
        </p:txBody>
      </p:sp>
      <p:sp>
        <p:nvSpPr>
          <p:cNvPr id="10" name="Rounded Rectangle 9">
            <a:extLst>
              <a:ext uri="{FF2B5EF4-FFF2-40B4-BE49-F238E27FC236}">
                <a16:creationId xmlns:a16="http://schemas.microsoft.com/office/drawing/2014/main" id="{176CFB81-29AF-40FB-A1EE-CBCE341D30A2}"/>
              </a:ext>
            </a:extLst>
          </p:cNvPr>
          <p:cNvSpPr>
            <a:spLocks noGrp="1"/>
          </p:cNvSpPr>
          <p:nvPr/>
        </p:nvSpPr>
        <p:spPr>
          <a:xfrm>
            <a:off x="1470772" y="3045757"/>
            <a:ext cx="514350" cy="685800"/>
          </a:xfrm>
          <a:prstGeom prst="roundRect">
            <a:avLst>
              <a:gd name="adj" fmla="val 22222"/>
            </a:avLst>
          </a:prstGeom>
          <a:solidFill>
            <a:srgbClr val="F7E7CF"/>
          </a:solidFill>
          <a:ln w="19050">
            <a:solidFill>
              <a:srgbClr val="D97706"/>
            </a:solidFill>
            <a:prstDash val="solid"/>
          </a:ln>
        </p:spPr>
        <p:txBody>
          <a:bodyPr/>
          <a:lstStyle/>
          <a:p>
            <a:endParaRPr/>
          </a:p>
        </p:txBody>
      </p:sp>
      <p:sp>
        <p:nvSpPr>
          <p:cNvPr id="11" name="Rectangle 10">
            <a:extLst>
              <a:ext uri="{FF2B5EF4-FFF2-40B4-BE49-F238E27FC236}">
                <a16:creationId xmlns:a16="http://schemas.microsoft.com/office/drawing/2014/main" id="{B7930D97-DBFC-4167-B2D2-8CD46CBE328E}"/>
              </a:ext>
            </a:extLst>
          </p:cNvPr>
          <p:cNvSpPr>
            <a:spLocks noGrp="1"/>
          </p:cNvSpPr>
          <p:nvPr/>
        </p:nvSpPr>
        <p:spPr>
          <a:xfrm>
            <a:off x="1470772"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rgbClr val="5F6B78"/>
                </a:solidFill>
              </a:rPr>
              <a:t>2</a:t>
            </a:r>
          </a:p>
        </p:txBody>
      </p:sp>
      <p:sp>
        <p:nvSpPr>
          <p:cNvPr id="12" name="Rectangle 11">
            <a:extLst>
              <a:ext uri="{FF2B5EF4-FFF2-40B4-BE49-F238E27FC236}">
                <a16:creationId xmlns:a16="http://schemas.microsoft.com/office/drawing/2014/main" id="{6CE29DEC-7DDB-48C9-91DA-34725AB68F9F}"/>
              </a:ext>
            </a:extLst>
          </p:cNvPr>
          <p:cNvSpPr>
            <a:spLocks noGrp="1"/>
          </p:cNvSpPr>
          <p:nvPr/>
        </p:nvSpPr>
        <p:spPr>
          <a:xfrm>
            <a:off x="1470772" y="3388657"/>
            <a:ext cx="514350" cy="266700"/>
          </a:xfrm>
          <a:prstGeom prst="rect">
            <a:avLst/>
          </a:prstGeom>
          <a:noFill/>
          <a:ln w="0">
            <a:noFill/>
            <a:prstDash val="solid"/>
          </a:ln>
        </p:spPr>
        <p:txBody>
          <a:bodyPr/>
          <a:lstStyle/>
          <a:p>
            <a:pPr algn="ctr">
              <a:buNone/>
              <a:defRPr sz="1875" b="1" i="0">
                <a:solidFill>
                  <a:srgbClr val="D97706"/>
                </a:solidFill>
              </a:defRPr>
            </a:pPr>
            <a:r>
              <a:rPr sz="1875" b="1" i="0">
                <a:solidFill>
                  <a:srgbClr val="D97706"/>
                </a:solidFill>
              </a:rPr>
              <a:t>−</a:t>
            </a:r>
          </a:p>
        </p:txBody>
      </p:sp>
      <p:sp>
        <p:nvSpPr>
          <p:cNvPr id="13" name="Rounded Rectangle 12">
            <a:extLst>
              <a:ext uri="{FF2B5EF4-FFF2-40B4-BE49-F238E27FC236}">
                <a16:creationId xmlns:a16="http://schemas.microsoft.com/office/drawing/2014/main" id="{28867649-E891-436C-926E-761246938FDD}"/>
              </a:ext>
            </a:extLst>
          </p:cNvPr>
          <p:cNvSpPr>
            <a:spLocks noGrp="1"/>
          </p:cNvSpPr>
          <p:nvPr/>
        </p:nvSpPr>
        <p:spPr>
          <a:xfrm>
            <a:off x="2089897" y="3045757"/>
            <a:ext cx="514350" cy="685800"/>
          </a:xfrm>
          <a:prstGeom prst="roundRect">
            <a:avLst>
              <a:gd name="adj" fmla="val 22222"/>
            </a:avLst>
          </a:prstGeom>
          <a:solidFill>
            <a:srgbClr val="2B6CB0"/>
          </a:solidFill>
          <a:ln w="19050">
            <a:solidFill>
              <a:srgbClr val="2B6CB0"/>
            </a:solidFill>
            <a:prstDash val="solid"/>
          </a:ln>
        </p:spPr>
        <p:txBody>
          <a:bodyPr/>
          <a:lstStyle/>
          <a:p>
            <a:endParaRPr/>
          </a:p>
        </p:txBody>
      </p:sp>
      <p:sp>
        <p:nvSpPr>
          <p:cNvPr id="14" name="Rectangle 13">
            <a:extLst>
              <a:ext uri="{FF2B5EF4-FFF2-40B4-BE49-F238E27FC236}">
                <a16:creationId xmlns:a16="http://schemas.microsoft.com/office/drawing/2014/main" id="{F90FCD39-896E-4276-947C-0A03AFC98666}"/>
              </a:ext>
            </a:extLst>
          </p:cNvPr>
          <p:cNvSpPr>
            <a:spLocks noGrp="1"/>
          </p:cNvSpPr>
          <p:nvPr/>
        </p:nvSpPr>
        <p:spPr>
          <a:xfrm>
            <a:off x="2089897"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chemeClr val="bg1"/>
                </a:solidFill>
              </a:rPr>
              <a:t>3</a:t>
            </a:r>
          </a:p>
        </p:txBody>
      </p:sp>
      <p:sp>
        <p:nvSpPr>
          <p:cNvPr id="15" name="Rectangle 14">
            <a:extLst>
              <a:ext uri="{FF2B5EF4-FFF2-40B4-BE49-F238E27FC236}">
                <a16:creationId xmlns:a16="http://schemas.microsoft.com/office/drawing/2014/main" id="{14A63D7D-EEC8-481D-8574-F00529E7D560}"/>
              </a:ext>
            </a:extLst>
          </p:cNvPr>
          <p:cNvSpPr>
            <a:spLocks noGrp="1"/>
          </p:cNvSpPr>
          <p:nvPr/>
        </p:nvSpPr>
        <p:spPr>
          <a:xfrm>
            <a:off x="2089897" y="3388657"/>
            <a:ext cx="514350" cy="266700"/>
          </a:xfrm>
          <a:prstGeom prst="rect">
            <a:avLst/>
          </a:prstGeom>
          <a:noFill/>
          <a:ln w="0">
            <a:noFill/>
            <a:prstDash val="solid"/>
          </a:ln>
        </p:spPr>
        <p:txBody>
          <a:bodyPr/>
          <a:lstStyle/>
          <a:p>
            <a:pPr algn="ctr">
              <a:buNone/>
              <a:defRPr sz="1875" b="1" i="0">
                <a:solidFill>
                  <a:srgbClr val="FFFFFF"/>
                </a:solidFill>
              </a:defRPr>
            </a:pPr>
            <a:r>
              <a:rPr sz="1875" b="1" i="0">
                <a:solidFill>
                  <a:srgbClr val="FFFFFF"/>
                </a:solidFill>
              </a:rPr>
              <a:t>+</a:t>
            </a:r>
          </a:p>
        </p:txBody>
      </p:sp>
      <p:sp>
        <p:nvSpPr>
          <p:cNvPr id="16" name="Rounded Rectangle 15">
            <a:extLst>
              <a:ext uri="{FF2B5EF4-FFF2-40B4-BE49-F238E27FC236}">
                <a16:creationId xmlns:a16="http://schemas.microsoft.com/office/drawing/2014/main" id="{B313B64E-C59C-4BB0-9742-BB17BADD7452}"/>
              </a:ext>
            </a:extLst>
          </p:cNvPr>
          <p:cNvSpPr>
            <a:spLocks noGrp="1"/>
          </p:cNvSpPr>
          <p:nvPr/>
        </p:nvSpPr>
        <p:spPr>
          <a:xfrm>
            <a:off x="2709022" y="3045757"/>
            <a:ext cx="514350" cy="685800"/>
          </a:xfrm>
          <a:prstGeom prst="roundRect">
            <a:avLst>
              <a:gd name="adj" fmla="val 22222"/>
            </a:avLst>
          </a:prstGeom>
          <a:solidFill>
            <a:srgbClr val="F7E7CF"/>
          </a:solidFill>
          <a:ln w="19050">
            <a:solidFill>
              <a:srgbClr val="D97706"/>
            </a:solidFill>
            <a:prstDash val="solid"/>
          </a:ln>
        </p:spPr>
        <p:txBody>
          <a:bodyPr/>
          <a:lstStyle/>
          <a:p>
            <a:endParaRPr/>
          </a:p>
        </p:txBody>
      </p:sp>
      <p:sp>
        <p:nvSpPr>
          <p:cNvPr id="17" name="Rectangle 16">
            <a:extLst>
              <a:ext uri="{FF2B5EF4-FFF2-40B4-BE49-F238E27FC236}">
                <a16:creationId xmlns:a16="http://schemas.microsoft.com/office/drawing/2014/main" id="{C5D540F2-395F-4D93-A62D-52A39F0EFF82}"/>
              </a:ext>
            </a:extLst>
          </p:cNvPr>
          <p:cNvSpPr>
            <a:spLocks noGrp="1"/>
          </p:cNvSpPr>
          <p:nvPr/>
        </p:nvSpPr>
        <p:spPr>
          <a:xfrm>
            <a:off x="2709022"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rgbClr val="5F6B78"/>
                </a:solidFill>
              </a:rPr>
              <a:t>4</a:t>
            </a:r>
          </a:p>
        </p:txBody>
      </p:sp>
      <p:sp>
        <p:nvSpPr>
          <p:cNvPr id="18" name="Rectangle 17">
            <a:extLst>
              <a:ext uri="{FF2B5EF4-FFF2-40B4-BE49-F238E27FC236}">
                <a16:creationId xmlns:a16="http://schemas.microsoft.com/office/drawing/2014/main" id="{A2801F7C-74E9-4F62-BF14-13B96E506847}"/>
              </a:ext>
            </a:extLst>
          </p:cNvPr>
          <p:cNvSpPr>
            <a:spLocks noGrp="1"/>
          </p:cNvSpPr>
          <p:nvPr/>
        </p:nvSpPr>
        <p:spPr>
          <a:xfrm>
            <a:off x="2709022" y="3388657"/>
            <a:ext cx="514350" cy="266700"/>
          </a:xfrm>
          <a:prstGeom prst="rect">
            <a:avLst/>
          </a:prstGeom>
          <a:noFill/>
          <a:ln w="0">
            <a:noFill/>
            <a:prstDash val="solid"/>
          </a:ln>
        </p:spPr>
        <p:txBody>
          <a:bodyPr/>
          <a:lstStyle/>
          <a:p>
            <a:pPr algn="ctr">
              <a:buNone/>
              <a:defRPr sz="1875" b="1" i="0">
                <a:solidFill>
                  <a:srgbClr val="D97706"/>
                </a:solidFill>
              </a:defRPr>
            </a:pPr>
            <a:r>
              <a:rPr sz="1875" b="1" i="0">
                <a:solidFill>
                  <a:srgbClr val="D97706"/>
                </a:solidFill>
              </a:rPr>
              <a:t>−</a:t>
            </a:r>
          </a:p>
        </p:txBody>
      </p:sp>
      <p:sp>
        <p:nvSpPr>
          <p:cNvPr id="19" name="Rounded Rectangle 18">
            <a:extLst>
              <a:ext uri="{FF2B5EF4-FFF2-40B4-BE49-F238E27FC236}">
                <a16:creationId xmlns:a16="http://schemas.microsoft.com/office/drawing/2014/main" id="{64D862CE-9626-48C5-90DD-B38396FAB2ED}"/>
              </a:ext>
            </a:extLst>
          </p:cNvPr>
          <p:cNvSpPr>
            <a:spLocks noGrp="1"/>
          </p:cNvSpPr>
          <p:nvPr/>
        </p:nvSpPr>
        <p:spPr>
          <a:xfrm>
            <a:off x="3328147" y="3045757"/>
            <a:ext cx="514350" cy="685800"/>
          </a:xfrm>
          <a:prstGeom prst="roundRect">
            <a:avLst>
              <a:gd name="adj" fmla="val 22222"/>
            </a:avLst>
          </a:prstGeom>
          <a:solidFill>
            <a:srgbClr val="F7E7CF"/>
          </a:solidFill>
          <a:ln w="19050">
            <a:solidFill>
              <a:srgbClr val="D97706"/>
            </a:solidFill>
            <a:prstDash val="solid"/>
          </a:ln>
        </p:spPr>
        <p:txBody>
          <a:bodyPr/>
          <a:lstStyle/>
          <a:p>
            <a:endParaRPr/>
          </a:p>
        </p:txBody>
      </p:sp>
      <p:sp>
        <p:nvSpPr>
          <p:cNvPr id="20" name="Rectangle 19">
            <a:extLst>
              <a:ext uri="{FF2B5EF4-FFF2-40B4-BE49-F238E27FC236}">
                <a16:creationId xmlns:a16="http://schemas.microsoft.com/office/drawing/2014/main" id="{55932848-BADA-464D-B68E-D6F5AB014A07}"/>
              </a:ext>
            </a:extLst>
          </p:cNvPr>
          <p:cNvSpPr>
            <a:spLocks noGrp="1"/>
          </p:cNvSpPr>
          <p:nvPr/>
        </p:nvSpPr>
        <p:spPr>
          <a:xfrm>
            <a:off x="3328147"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rgbClr val="5F6B78"/>
                </a:solidFill>
              </a:rPr>
              <a:t>5</a:t>
            </a:r>
          </a:p>
        </p:txBody>
      </p:sp>
      <p:sp>
        <p:nvSpPr>
          <p:cNvPr id="21" name="Rectangle 20">
            <a:extLst>
              <a:ext uri="{FF2B5EF4-FFF2-40B4-BE49-F238E27FC236}">
                <a16:creationId xmlns:a16="http://schemas.microsoft.com/office/drawing/2014/main" id="{26BE8FB5-3C16-477C-AFEC-A23DA586D2FF}"/>
              </a:ext>
            </a:extLst>
          </p:cNvPr>
          <p:cNvSpPr>
            <a:spLocks noGrp="1"/>
          </p:cNvSpPr>
          <p:nvPr/>
        </p:nvSpPr>
        <p:spPr>
          <a:xfrm>
            <a:off x="3328147" y="3388657"/>
            <a:ext cx="514350" cy="266700"/>
          </a:xfrm>
          <a:prstGeom prst="rect">
            <a:avLst/>
          </a:prstGeom>
          <a:noFill/>
          <a:ln w="0">
            <a:noFill/>
            <a:prstDash val="solid"/>
          </a:ln>
        </p:spPr>
        <p:txBody>
          <a:bodyPr/>
          <a:lstStyle/>
          <a:p>
            <a:pPr algn="ctr">
              <a:buNone/>
              <a:defRPr sz="1875" b="1" i="0">
                <a:solidFill>
                  <a:srgbClr val="D97706"/>
                </a:solidFill>
              </a:defRPr>
            </a:pPr>
            <a:r>
              <a:rPr sz="1875" b="1" i="0">
                <a:solidFill>
                  <a:srgbClr val="D97706"/>
                </a:solidFill>
              </a:rPr>
              <a:t>−</a:t>
            </a:r>
          </a:p>
        </p:txBody>
      </p:sp>
      <p:sp>
        <p:nvSpPr>
          <p:cNvPr id="22" name="Rounded Rectangle 21">
            <a:extLst>
              <a:ext uri="{FF2B5EF4-FFF2-40B4-BE49-F238E27FC236}">
                <a16:creationId xmlns:a16="http://schemas.microsoft.com/office/drawing/2014/main" id="{85830FA7-9146-427D-8C06-E9AE134C1A38}"/>
              </a:ext>
            </a:extLst>
          </p:cNvPr>
          <p:cNvSpPr>
            <a:spLocks noGrp="1"/>
          </p:cNvSpPr>
          <p:nvPr/>
        </p:nvSpPr>
        <p:spPr>
          <a:xfrm>
            <a:off x="3947272" y="3045757"/>
            <a:ext cx="514350" cy="685800"/>
          </a:xfrm>
          <a:prstGeom prst="roundRect">
            <a:avLst>
              <a:gd name="adj" fmla="val 22222"/>
            </a:avLst>
          </a:prstGeom>
          <a:solidFill>
            <a:srgbClr val="2B6CB0"/>
          </a:solidFill>
          <a:ln w="19050">
            <a:solidFill>
              <a:srgbClr val="2B6CB0"/>
            </a:solidFill>
            <a:prstDash val="solid"/>
          </a:ln>
        </p:spPr>
        <p:txBody>
          <a:bodyPr/>
          <a:lstStyle/>
          <a:p>
            <a:endParaRPr/>
          </a:p>
        </p:txBody>
      </p:sp>
      <p:sp>
        <p:nvSpPr>
          <p:cNvPr id="23" name="Rectangle 22">
            <a:extLst>
              <a:ext uri="{FF2B5EF4-FFF2-40B4-BE49-F238E27FC236}">
                <a16:creationId xmlns:a16="http://schemas.microsoft.com/office/drawing/2014/main" id="{D1ECE6CB-EB62-439A-820A-124B121A6E89}"/>
              </a:ext>
            </a:extLst>
          </p:cNvPr>
          <p:cNvSpPr>
            <a:spLocks noGrp="1"/>
          </p:cNvSpPr>
          <p:nvPr/>
        </p:nvSpPr>
        <p:spPr>
          <a:xfrm>
            <a:off x="3947272"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chemeClr val="bg1"/>
                </a:solidFill>
              </a:rPr>
              <a:t>6</a:t>
            </a:r>
          </a:p>
        </p:txBody>
      </p:sp>
      <p:sp>
        <p:nvSpPr>
          <p:cNvPr id="24" name="Rectangle 23">
            <a:extLst>
              <a:ext uri="{FF2B5EF4-FFF2-40B4-BE49-F238E27FC236}">
                <a16:creationId xmlns:a16="http://schemas.microsoft.com/office/drawing/2014/main" id="{BB6EFC19-2B15-4F3C-AA78-31A7CB638F3D}"/>
              </a:ext>
            </a:extLst>
          </p:cNvPr>
          <p:cNvSpPr>
            <a:spLocks noGrp="1"/>
          </p:cNvSpPr>
          <p:nvPr/>
        </p:nvSpPr>
        <p:spPr>
          <a:xfrm>
            <a:off x="3947272" y="3388657"/>
            <a:ext cx="514350" cy="266700"/>
          </a:xfrm>
          <a:prstGeom prst="rect">
            <a:avLst/>
          </a:prstGeom>
          <a:noFill/>
          <a:ln w="0">
            <a:noFill/>
            <a:prstDash val="solid"/>
          </a:ln>
        </p:spPr>
        <p:txBody>
          <a:bodyPr/>
          <a:lstStyle/>
          <a:p>
            <a:pPr algn="ctr">
              <a:buNone/>
              <a:defRPr sz="1875" b="1" i="0">
                <a:solidFill>
                  <a:srgbClr val="FFFFFF"/>
                </a:solidFill>
              </a:defRPr>
            </a:pPr>
            <a:r>
              <a:rPr sz="1875" b="1" i="0">
                <a:solidFill>
                  <a:srgbClr val="FFFFFF"/>
                </a:solidFill>
              </a:rPr>
              <a:t>+</a:t>
            </a:r>
          </a:p>
        </p:txBody>
      </p:sp>
      <p:sp>
        <p:nvSpPr>
          <p:cNvPr id="25" name="Rounded Rectangle 24">
            <a:extLst>
              <a:ext uri="{FF2B5EF4-FFF2-40B4-BE49-F238E27FC236}">
                <a16:creationId xmlns:a16="http://schemas.microsoft.com/office/drawing/2014/main" id="{EBDE649C-5C3D-4D3F-B6FC-E757137EC768}"/>
              </a:ext>
            </a:extLst>
          </p:cNvPr>
          <p:cNvSpPr>
            <a:spLocks noGrp="1"/>
          </p:cNvSpPr>
          <p:nvPr/>
        </p:nvSpPr>
        <p:spPr>
          <a:xfrm>
            <a:off x="4566397" y="3045757"/>
            <a:ext cx="514350" cy="685800"/>
          </a:xfrm>
          <a:prstGeom prst="roundRect">
            <a:avLst>
              <a:gd name="adj" fmla="val 22222"/>
            </a:avLst>
          </a:prstGeom>
          <a:solidFill>
            <a:srgbClr val="F7E7CF"/>
          </a:solidFill>
          <a:ln w="19050">
            <a:solidFill>
              <a:srgbClr val="D97706"/>
            </a:solidFill>
            <a:prstDash val="solid"/>
          </a:ln>
        </p:spPr>
        <p:txBody>
          <a:bodyPr/>
          <a:lstStyle/>
          <a:p>
            <a:endParaRPr/>
          </a:p>
        </p:txBody>
      </p:sp>
      <p:sp>
        <p:nvSpPr>
          <p:cNvPr id="26" name="Rectangle 25">
            <a:extLst>
              <a:ext uri="{FF2B5EF4-FFF2-40B4-BE49-F238E27FC236}">
                <a16:creationId xmlns:a16="http://schemas.microsoft.com/office/drawing/2014/main" id="{68AA58FF-D248-40E7-A72F-83D46228D916}"/>
              </a:ext>
            </a:extLst>
          </p:cNvPr>
          <p:cNvSpPr>
            <a:spLocks noGrp="1"/>
          </p:cNvSpPr>
          <p:nvPr/>
        </p:nvSpPr>
        <p:spPr>
          <a:xfrm>
            <a:off x="4566397"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rgbClr val="5F6B78"/>
                </a:solidFill>
              </a:rPr>
              <a:t>7</a:t>
            </a:r>
          </a:p>
        </p:txBody>
      </p:sp>
      <p:sp>
        <p:nvSpPr>
          <p:cNvPr id="27" name="Rectangle 26">
            <a:extLst>
              <a:ext uri="{FF2B5EF4-FFF2-40B4-BE49-F238E27FC236}">
                <a16:creationId xmlns:a16="http://schemas.microsoft.com/office/drawing/2014/main" id="{061DEB06-0499-461D-8A89-99AB4C05DDA0}"/>
              </a:ext>
            </a:extLst>
          </p:cNvPr>
          <p:cNvSpPr>
            <a:spLocks noGrp="1"/>
          </p:cNvSpPr>
          <p:nvPr/>
        </p:nvSpPr>
        <p:spPr>
          <a:xfrm>
            <a:off x="4566397" y="3388657"/>
            <a:ext cx="514350" cy="266700"/>
          </a:xfrm>
          <a:prstGeom prst="rect">
            <a:avLst/>
          </a:prstGeom>
          <a:noFill/>
          <a:ln w="0">
            <a:noFill/>
            <a:prstDash val="solid"/>
          </a:ln>
        </p:spPr>
        <p:txBody>
          <a:bodyPr/>
          <a:lstStyle/>
          <a:p>
            <a:pPr algn="ctr">
              <a:buNone/>
              <a:defRPr sz="1875" b="1" i="0">
                <a:solidFill>
                  <a:srgbClr val="D97706"/>
                </a:solidFill>
              </a:defRPr>
            </a:pPr>
            <a:r>
              <a:rPr sz="1875" b="1" i="0">
                <a:solidFill>
                  <a:srgbClr val="D97706"/>
                </a:solidFill>
              </a:rPr>
              <a:t>−</a:t>
            </a:r>
          </a:p>
        </p:txBody>
      </p:sp>
      <p:sp>
        <p:nvSpPr>
          <p:cNvPr id="28" name="Rounded Rectangle 27">
            <a:extLst>
              <a:ext uri="{FF2B5EF4-FFF2-40B4-BE49-F238E27FC236}">
                <a16:creationId xmlns:a16="http://schemas.microsoft.com/office/drawing/2014/main" id="{2C49DE65-EAE2-4180-8840-8D93413A0CB0}"/>
              </a:ext>
            </a:extLst>
          </p:cNvPr>
          <p:cNvSpPr>
            <a:spLocks noGrp="1"/>
          </p:cNvSpPr>
          <p:nvPr/>
        </p:nvSpPr>
        <p:spPr>
          <a:xfrm>
            <a:off x="5185522" y="3045757"/>
            <a:ext cx="514350" cy="685800"/>
          </a:xfrm>
          <a:prstGeom prst="roundRect">
            <a:avLst>
              <a:gd name="adj" fmla="val 22222"/>
            </a:avLst>
          </a:prstGeom>
          <a:solidFill>
            <a:srgbClr val="F7E7CF"/>
          </a:solidFill>
          <a:ln w="19050">
            <a:solidFill>
              <a:srgbClr val="D97706"/>
            </a:solidFill>
            <a:prstDash val="solid"/>
          </a:ln>
        </p:spPr>
        <p:txBody>
          <a:bodyPr/>
          <a:lstStyle/>
          <a:p>
            <a:endParaRPr/>
          </a:p>
        </p:txBody>
      </p:sp>
      <p:sp>
        <p:nvSpPr>
          <p:cNvPr id="29" name="Rectangle 28">
            <a:extLst>
              <a:ext uri="{FF2B5EF4-FFF2-40B4-BE49-F238E27FC236}">
                <a16:creationId xmlns:a16="http://schemas.microsoft.com/office/drawing/2014/main" id="{F6BCE866-1926-432A-9FBE-D4AD899E1C7B}"/>
              </a:ext>
            </a:extLst>
          </p:cNvPr>
          <p:cNvSpPr>
            <a:spLocks noGrp="1"/>
          </p:cNvSpPr>
          <p:nvPr/>
        </p:nvSpPr>
        <p:spPr>
          <a:xfrm>
            <a:off x="5185522" y="3160057"/>
            <a:ext cx="514350" cy="190500"/>
          </a:xfrm>
          <a:prstGeom prst="rect">
            <a:avLst/>
          </a:prstGeom>
          <a:noFill/>
          <a:ln w="0">
            <a:noFill/>
            <a:prstDash val="solid"/>
          </a:ln>
        </p:spPr>
        <p:txBody>
          <a:bodyPr/>
          <a:lstStyle/>
          <a:p>
            <a:pPr algn="ctr">
              <a:buNone/>
              <a:defRPr sz="1125" b="1" i="0">
                <a:solidFill>
                  <a:srgbClr val="5F6B78"/>
                </a:solidFill>
              </a:defRPr>
            </a:pPr>
            <a:r>
              <a:rPr sz="1125" b="1" i="0">
                <a:solidFill>
                  <a:srgbClr val="5F6B78"/>
                </a:solidFill>
              </a:rPr>
              <a:t>8</a:t>
            </a:r>
          </a:p>
        </p:txBody>
      </p:sp>
      <p:sp>
        <p:nvSpPr>
          <p:cNvPr id="30" name="Rectangle 29">
            <a:extLst>
              <a:ext uri="{FF2B5EF4-FFF2-40B4-BE49-F238E27FC236}">
                <a16:creationId xmlns:a16="http://schemas.microsoft.com/office/drawing/2014/main" id="{F9347328-E499-43DB-812F-B53694AD8688}"/>
              </a:ext>
            </a:extLst>
          </p:cNvPr>
          <p:cNvSpPr>
            <a:spLocks noGrp="1"/>
          </p:cNvSpPr>
          <p:nvPr/>
        </p:nvSpPr>
        <p:spPr>
          <a:xfrm>
            <a:off x="5185522" y="3388657"/>
            <a:ext cx="514350" cy="266700"/>
          </a:xfrm>
          <a:prstGeom prst="rect">
            <a:avLst/>
          </a:prstGeom>
          <a:noFill/>
          <a:ln w="0">
            <a:noFill/>
            <a:prstDash val="solid"/>
          </a:ln>
        </p:spPr>
        <p:txBody>
          <a:bodyPr/>
          <a:lstStyle/>
          <a:p>
            <a:pPr algn="ctr">
              <a:buNone/>
              <a:defRPr sz="1875" b="1" i="0">
                <a:solidFill>
                  <a:srgbClr val="D97706"/>
                </a:solidFill>
              </a:defRPr>
            </a:pPr>
            <a:r>
              <a:rPr sz="1875" b="1" i="0">
                <a:solidFill>
                  <a:srgbClr val="D97706"/>
                </a:solidFill>
              </a:rPr>
              <a:t>−</a:t>
            </a:r>
          </a:p>
        </p:txBody>
      </p:sp>
      <p:sp>
        <p:nvSpPr>
          <p:cNvPr id="31" name="Rectangle 30">
            <a:extLst>
              <a:ext uri="{FF2B5EF4-FFF2-40B4-BE49-F238E27FC236}">
                <a16:creationId xmlns:a16="http://schemas.microsoft.com/office/drawing/2014/main" id="{A7C468F7-A216-450D-9490-8488F4AC498C}"/>
              </a:ext>
            </a:extLst>
          </p:cNvPr>
          <p:cNvSpPr>
            <a:spLocks noGrp="1"/>
          </p:cNvSpPr>
          <p:nvPr/>
        </p:nvSpPr>
        <p:spPr>
          <a:xfrm>
            <a:off x="5899897" y="3141007"/>
            <a:ext cx="476250" cy="400050"/>
          </a:xfrm>
          <a:prstGeom prst="rect">
            <a:avLst/>
          </a:prstGeom>
          <a:noFill/>
          <a:ln w="0">
            <a:noFill/>
            <a:prstDash val="solid"/>
          </a:ln>
        </p:spPr>
        <p:txBody>
          <a:bodyPr/>
          <a:lstStyle/>
          <a:p>
            <a:pPr algn="ctr">
              <a:buNone/>
              <a:defRPr sz="3750" b="1" i="0">
                <a:solidFill>
                  <a:srgbClr val="5F6B78"/>
                </a:solidFill>
              </a:defRPr>
            </a:pPr>
            <a:endParaRPr/>
          </a:p>
        </p:txBody>
      </p:sp>
      <p:sp>
        <p:nvSpPr>
          <p:cNvPr id="34" name="Rectangle 33">
            <a:extLst>
              <a:ext uri="{FF2B5EF4-FFF2-40B4-BE49-F238E27FC236}">
                <a16:creationId xmlns:a16="http://schemas.microsoft.com/office/drawing/2014/main" id="{76E2A69E-0090-4AFC-982F-513C04461C99}"/>
              </a:ext>
            </a:extLst>
          </p:cNvPr>
          <p:cNvSpPr>
            <a:spLocks noGrp="1"/>
          </p:cNvSpPr>
          <p:nvPr/>
        </p:nvSpPr>
        <p:spPr>
          <a:xfrm>
            <a:off x="957543" y="4562476"/>
            <a:ext cx="4267200" cy="552450"/>
          </a:xfrm>
          <a:prstGeom prst="rect">
            <a:avLst/>
          </a:prstGeom>
          <a:noFill/>
          <a:ln w="0">
            <a:noFill/>
            <a:prstDash val="solid"/>
          </a:ln>
        </p:spPr>
        <p:txBody>
          <a:bodyPr/>
          <a:lstStyle/>
          <a:p>
            <a:pPr algn="l">
              <a:buNone/>
              <a:defRPr sz="1875" b="1" i="0">
                <a:solidFill>
                  <a:srgbClr val="11253D"/>
                </a:solidFill>
              </a:defRPr>
            </a:pPr>
            <a:r>
              <a:rPr sz="1875" b="1" i="0">
                <a:solidFill>
                  <a:srgbClr val="11253D"/>
                </a:solidFill>
              </a:rPr>
              <a:t>Every positive expands recall; every false positive can dilute precision.</a:t>
            </a:r>
          </a:p>
        </p:txBody>
      </p:sp>
      <p:sp>
        <p:nvSpPr>
          <p:cNvPr id="4" name="Oval 3">
            <a:extLst>
              <a:ext uri="{FF2B5EF4-FFF2-40B4-BE49-F238E27FC236}">
                <a16:creationId xmlns:a16="http://schemas.microsoft.com/office/drawing/2014/main" id="{625D722E-C87C-5C1D-BAE9-1FD2F8BC720D}"/>
              </a:ext>
            </a:extLst>
          </p:cNvPr>
          <p:cNvSpPr>
            <a:spLocks noGrp="1"/>
          </p:cNvSpPr>
          <p:nvPr/>
        </p:nvSpPr>
        <p:spPr>
          <a:xfrm>
            <a:off x="7616874" y="3046318"/>
            <a:ext cx="361950" cy="361950"/>
          </a:xfrm>
          <a:prstGeom prst="ellipse">
            <a:avLst/>
          </a:prstGeom>
          <a:solidFill>
            <a:srgbClr val="2B6CB0"/>
          </a:solidFill>
          <a:ln w="0">
            <a:noFill/>
            <a:prstDash val="solid"/>
          </a:ln>
        </p:spPr>
        <p:txBody>
          <a:bodyPr/>
          <a:lstStyle/>
          <a:p>
            <a:endParaRPr/>
          </a:p>
        </p:txBody>
      </p:sp>
      <p:sp>
        <p:nvSpPr>
          <p:cNvPr id="32" name="Rectangle 31">
            <a:extLst>
              <a:ext uri="{FF2B5EF4-FFF2-40B4-BE49-F238E27FC236}">
                <a16:creationId xmlns:a16="http://schemas.microsoft.com/office/drawing/2014/main" id="{0BD5B929-148E-6ECC-1178-994848320B31}"/>
              </a:ext>
            </a:extLst>
          </p:cNvPr>
          <p:cNvSpPr>
            <a:spLocks noGrp="1"/>
          </p:cNvSpPr>
          <p:nvPr/>
        </p:nvSpPr>
        <p:spPr>
          <a:xfrm>
            <a:off x="7616874" y="3093943"/>
            <a:ext cx="361950" cy="228600"/>
          </a:xfrm>
          <a:prstGeom prst="rect">
            <a:avLst/>
          </a:prstGeom>
          <a:noFill/>
          <a:ln w="0">
            <a:noFill/>
            <a:prstDash val="solid"/>
          </a:ln>
        </p:spPr>
        <p:txBody>
          <a:bodyPr/>
          <a:lstStyle/>
          <a:p>
            <a:pPr algn="ctr">
              <a:buNone/>
              <a:defRPr sz="1575" b="1" i="0">
                <a:solidFill>
                  <a:srgbClr val="FFFFFF"/>
                </a:solidFill>
              </a:defRPr>
            </a:pPr>
            <a:r>
              <a:rPr sz="1575" b="1" i="0">
                <a:solidFill>
                  <a:srgbClr val="FFFFFF"/>
                </a:solidFill>
              </a:rPr>
              <a:t>+</a:t>
            </a:r>
          </a:p>
        </p:txBody>
      </p:sp>
      <p:sp>
        <p:nvSpPr>
          <p:cNvPr id="37" name="Rectangle 36">
            <a:extLst>
              <a:ext uri="{FF2B5EF4-FFF2-40B4-BE49-F238E27FC236}">
                <a16:creationId xmlns:a16="http://schemas.microsoft.com/office/drawing/2014/main" id="{32C17DB3-12EC-5FB0-269C-539C5BEAC3D7}"/>
              </a:ext>
            </a:extLst>
          </p:cNvPr>
          <p:cNvSpPr>
            <a:spLocks noGrp="1"/>
          </p:cNvSpPr>
          <p:nvPr/>
        </p:nvSpPr>
        <p:spPr>
          <a:xfrm>
            <a:off x="8226474" y="3074893"/>
            <a:ext cx="1238250" cy="285750"/>
          </a:xfrm>
          <a:prstGeom prst="rect">
            <a:avLst/>
          </a:prstGeom>
          <a:noFill/>
          <a:ln w="0">
            <a:noFill/>
            <a:prstDash val="solid"/>
          </a:ln>
        </p:spPr>
        <p:txBody>
          <a:bodyPr/>
          <a:lstStyle/>
          <a:p>
            <a:pPr algn="l">
              <a:buNone/>
              <a:defRPr sz="1800" b="1" i="0">
                <a:solidFill>
                  <a:srgbClr val="11253D"/>
                </a:solidFill>
              </a:defRPr>
            </a:pPr>
            <a:r>
              <a:rPr sz="1800" b="1" i="0">
                <a:solidFill>
                  <a:srgbClr val="11253D"/>
                </a:solidFill>
              </a:rPr>
              <a:t>rank 1</a:t>
            </a:r>
          </a:p>
        </p:txBody>
      </p:sp>
      <p:pic>
        <p:nvPicPr>
          <p:cNvPr id="92" name="Picture 32"/>
          <p:cNvPicPr>
            <a:picLocks noChangeAspect="1"/>
          </p:cNvPicPr>
          <p:nvPr/>
        </p:nvPicPr>
        <p:blipFill>
          <a:blip r:embed="rId3"/>
          <a:stretch/>
        </p:blipFill>
        <p:spPr>
          <a:xfrm>
            <a:off x="10261699" y="3008218"/>
            <a:ext cx="787301" cy="438150"/>
          </a:xfrm>
          <a:prstGeom prst="rect">
            <a:avLst/>
          </a:prstGeom>
        </p:spPr>
      </p:pic>
      <p:sp>
        <p:nvSpPr>
          <p:cNvPr id="39" name="Oval 38">
            <a:extLst>
              <a:ext uri="{FF2B5EF4-FFF2-40B4-BE49-F238E27FC236}">
                <a16:creationId xmlns:a16="http://schemas.microsoft.com/office/drawing/2014/main" id="{44BAC67D-D4D9-0386-8807-EA6ABD0874DF}"/>
              </a:ext>
            </a:extLst>
          </p:cNvPr>
          <p:cNvSpPr>
            <a:spLocks noGrp="1"/>
          </p:cNvSpPr>
          <p:nvPr/>
        </p:nvSpPr>
        <p:spPr>
          <a:xfrm>
            <a:off x="7616874" y="3865468"/>
            <a:ext cx="361950" cy="361950"/>
          </a:xfrm>
          <a:prstGeom prst="ellipse">
            <a:avLst/>
          </a:prstGeom>
          <a:solidFill>
            <a:srgbClr val="2B6CB0"/>
          </a:solidFill>
          <a:ln w="0">
            <a:noFill/>
            <a:prstDash val="solid"/>
          </a:ln>
        </p:spPr>
        <p:txBody>
          <a:bodyPr/>
          <a:lstStyle/>
          <a:p>
            <a:endParaRPr/>
          </a:p>
        </p:txBody>
      </p:sp>
      <p:sp>
        <p:nvSpPr>
          <p:cNvPr id="40" name="Rectangle 39">
            <a:extLst>
              <a:ext uri="{FF2B5EF4-FFF2-40B4-BE49-F238E27FC236}">
                <a16:creationId xmlns:a16="http://schemas.microsoft.com/office/drawing/2014/main" id="{1D9BC171-CC04-7AA5-65AF-A72DFFB94604}"/>
              </a:ext>
            </a:extLst>
          </p:cNvPr>
          <p:cNvSpPr>
            <a:spLocks noGrp="1"/>
          </p:cNvSpPr>
          <p:nvPr/>
        </p:nvSpPr>
        <p:spPr>
          <a:xfrm>
            <a:off x="7616874" y="3913093"/>
            <a:ext cx="361950" cy="228600"/>
          </a:xfrm>
          <a:prstGeom prst="rect">
            <a:avLst/>
          </a:prstGeom>
          <a:noFill/>
          <a:ln w="0">
            <a:noFill/>
            <a:prstDash val="solid"/>
          </a:ln>
        </p:spPr>
        <p:txBody>
          <a:bodyPr/>
          <a:lstStyle/>
          <a:p>
            <a:pPr algn="ctr">
              <a:buNone/>
              <a:defRPr sz="1575" b="1" i="0">
                <a:solidFill>
                  <a:srgbClr val="FFFFFF"/>
                </a:solidFill>
              </a:defRPr>
            </a:pPr>
            <a:r>
              <a:rPr sz="1575" b="1" i="0">
                <a:solidFill>
                  <a:srgbClr val="FFFFFF"/>
                </a:solidFill>
              </a:rPr>
              <a:t>+</a:t>
            </a:r>
          </a:p>
        </p:txBody>
      </p:sp>
      <p:sp>
        <p:nvSpPr>
          <p:cNvPr id="41" name="Rectangle 40">
            <a:extLst>
              <a:ext uri="{FF2B5EF4-FFF2-40B4-BE49-F238E27FC236}">
                <a16:creationId xmlns:a16="http://schemas.microsoft.com/office/drawing/2014/main" id="{3340156E-C54D-52FC-7559-94D339DB369A}"/>
              </a:ext>
            </a:extLst>
          </p:cNvPr>
          <p:cNvSpPr>
            <a:spLocks noGrp="1"/>
          </p:cNvSpPr>
          <p:nvPr/>
        </p:nvSpPr>
        <p:spPr>
          <a:xfrm>
            <a:off x="8226474" y="3894043"/>
            <a:ext cx="1238250" cy="285750"/>
          </a:xfrm>
          <a:prstGeom prst="rect">
            <a:avLst/>
          </a:prstGeom>
          <a:noFill/>
          <a:ln w="0">
            <a:noFill/>
            <a:prstDash val="solid"/>
          </a:ln>
        </p:spPr>
        <p:txBody>
          <a:bodyPr/>
          <a:lstStyle/>
          <a:p>
            <a:pPr algn="l">
              <a:buNone/>
              <a:defRPr sz="1800" b="1" i="0">
                <a:solidFill>
                  <a:srgbClr val="11253D"/>
                </a:solidFill>
              </a:defRPr>
            </a:pPr>
            <a:r>
              <a:rPr sz="1800" b="1" i="0">
                <a:solidFill>
                  <a:srgbClr val="11253D"/>
                </a:solidFill>
              </a:rPr>
              <a:t>rank 3</a:t>
            </a:r>
          </a:p>
        </p:txBody>
      </p:sp>
      <p:pic>
        <p:nvPicPr>
          <p:cNvPr id="96" name="Picture 36"/>
          <p:cNvPicPr>
            <a:picLocks noChangeAspect="1"/>
          </p:cNvPicPr>
          <p:nvPr/>
        </p:nvPicPr>
        <p:blipFill>
          <a:blip r:embed="rId4"/>
          <a:stretch/>
        </p:blipFill>
        <p:spPr>
          <a:xfrm>
            <a:off x="10264750" y="3827368"/>
            <a:ext cx="781198" cy="438150"/>
          </a:xfrm>
          <a:prstGeom prst="rect">
            <a:avLst/>
          </a:prstGeom>
        </p:spPr>
      </p:pic>
      <p:sp>
        <p:nvSpPr>
          <p:cNvPr id="43" name="Oval 42">
            <a:extLst>
              <a:ext uri="{FF2B5EF4-FFF2-40B4-BE49-F238E27FC236}">
                <a16:creationId xmlns:a16="http://schemas.microsoft.com/office/drawing/2014/main" id="{15D5163D-EE0D-70AF-AE56-2DA4CDB059CD}"/>
              </a:ext>
            </a:extLst>
          </p:cNvPr>
          <p:cNvSpPr>
            <a:spLocks noGrp="1"/>
          </p:cNvSpPr>
          <p:nvPr/>
        </p:nvSpPr>
        <p:spPr>
          <a:xfrm>
            <a:off x="7616874" y="4684618"/>
            <a:ext cx="361950" cy="361950"/>
          </a:xfrm>
          <a:prstGeom prst="ellipse">
            <a:avLst/>
          </a:prstGeom>
          <a:solidFill>
            <a:srgbClr val="2B6CB0"/>
          </a:solidFill>
          <a:ln w="0">
            <a:noFill/>
            <a:prstDash val="solid"/>
          </a:ln>
        </p:spPr>
        <p:txBody>
          <a:bodyPr/>
          <a:lstStyle/>
          <a:p>
            <a:endParaRPr/>
          </a:p>
        </p:txBody>
      </p:sp>
      <p:sp>
        <p:nvSpPr>
          <p:cNvPr id="44" name="Rectangle 43">
            <a:extLst>
              <a:ext uri="{FF2B5EF4-FFF2-40B4-BE49-F238E27FC236}">
                <a16:creationId xmlns:a16="http://schemas.microsoft.com/office/drawing/2014/main" id="{00D7A1E0-6FAC-E488-F8F4-EB43A6D25326}"/>
              </a:ext>
            </a:extLst>
          </p:cNvPr>
          <p:cNvSpPr>
            <a:spLocks noGrp="1"/>
          </p:cNvSpPr>
          <p:nvPr/>
        </p:nvSpPr>
        <p:spPr>
          <a:xfrm>
            <a:off x="7616874" y="4732243"/>
            <a:ext cx="361950" cy="228600"/>
          </a:xfrm>
          <a:prstGeom prst="rect">
            <a:avLst/>
          </a:prstGeom>
          <a:noFill/>
          <a:ln w="0">
            <a:noFill/>
            <a:prstDash val="solid"/>
          </a:ln>
        </p:spPr>
        <p:txBody>
          <a:bodyPr/>
          <a:lstStyle/>
          <a:p>
            <a:pPr algn="ctr">
              <a:buNone/>
              <a:defRPr sz="1575" b="1" i="0">
                <a:solidFill>
                  <a:srgbClr val="FFFFFF"/>
                </a:solidFill>
              </a:defRPr>
            </a:pPr>
            <a:r>
              <a:rPr sz="1575" b="1" i="0">
                <a:solidFill>
                  <a:srgbClr val="FFFFFF"/>
                </a:solidFill>
              </a:rPr>
              <a:t>+</a:t>
            </a:r>
          </a:p>
        </p:txBody>
      </p:sp>
      <p:sp>
        <p:nvSpPr>
          <p:cNvPr id="45" name="Rectangle 44">
            <a:extLst>
              <a:ext uri="{FF2B5EF4-FFF2-40B4-BE49-F238E27FC236}">
                <a16:creationId xmlns:a16="http://schemas.microsoft.com/office/drawing/2014/main" id="{587CE353-3A41-F6AF-E909-47ECC07AEF9D}"/>
              </a:ext>
            </a:extLst>
          </p:cNvPr>
          <p:cNvSpPr>
            <a:spLocks noGrp="1"/>
          </p:cNvSpPr>
          <p:nvPr/>
        </p:nvSpPr>
        <p:spPr>
          <a:xfrm>
            <a:off x="8226474" y="4713193"/>
            <a:ext cx="1238250" cy="285750"/>
          </a:xfrm>
          <a:prstGeom prst="rect">
            <a:avLst/>
          </a:prstGeom>
          <a:noFill/>
          <a:ln w="0">
            <a:noFill/>
            <a:prstDash val="solid"/>
          </a:ln>
        </p:spPr>
        <p:txBody>
          <a:bodyPr/>
          <a:lstStyle/>
          <a:p>
            <a:pPr algn="l">
              <a:buNone/>
              <a:defRPr sz="1800" b="1" i="0">
                <a:solidFill>
                  <a:srgbClr val="11253D"/>
                </a:solidFill>
              </a:defRPr>
            </a:pPr>
            <a:r>
              <a:rPr sz="1800" b="1" i="0">
                <a:solidFill>
                  <a:srgbClr val="11253D"/>
                </a:solidFill>
              </a:rPr>
              <a:t>rank 6</a:t>
            </a:r>
          </a:p>
        </p:txBody>
      </p:sp>
      <p:pic>
        <p:nvPicPr>
          <p:cNvPr id="100" name="Picture 40"/>
          <p:cNvPicPr>
            <a:picLocks noChangeAspect="1"/>
          </p:cNvPicPr>
          <p:nvPr/>
        </p:nvPicPr>
        <p:blipFill>
          <a:blip r:embed="rId5"/>
          <a:stretch/>
        </p:blipFill>
        <p:spPr>
          <a:xfrm>
            <a:off x="10264750" y="4646518"/>
            <a:ext cx="781198" cy="438150"/>
          </a:xfrm>
          <a:prstGeom prst="rect">
            <a:avLst/>
          </a:prstGeom>
        </p:spPr>
      </p:pic>
      <p:sp>
        <p:nvSpPr>
          <p:cNvPr id="48" name="Rounded Rectangle 47">
            <a:extLst>
              <a:ext uri="{FF2B5EF4-FFF2-40B4-BE49-F238E27FC236}">
                <a16:creationId xmlns:a16="http://schemas.microsoft.com/office/drawing/2014/main" id="{C802D40E-BEFF-B93A-C30F-3229F81857F4}"/>
              </a:ext>
            </a:extLst>
          </p:cNvPr>
          <p:cNvSpPr>
            <a:spLocks noGrp="1"/>
          </p:cNvSpPr>
          <p:nvPr/>
        </p:nvSpPr>
        <p:spPr>
          <a:xfrm>
            <a:off x="4805082" y="5878607"/>
            <a:ext cx="5074024" cy="723901"/>
          </a:xfrm>
          <a:prstGeom prst="roundRect">
            <a:avLst>
              <a:gd name="adj" fmla="val 5042"/>
            </a:avLst>
          </a:prstGeom>
          <a:solidFill>
            <a:srgbClr val="FFFFFF"/>
          </a:solidFill>
          <a:ln w="19050">
            <a:solidFill>
              <a:srgbClr val="D9DEE5"/>
            </a:solidFill>
            <a:prstDash val="solid"/>
          </a:ln>
        </p:spPr>
        <p:txBody>
          <a:bodyPr/>
          <a:lstStyle/>
          <a:p>
            <a:endParaRPr/>
          </a:p>
        </p:txBody>
      </p:sp>
      <p:pic>
        <p:nvPicPr>
          <p:cNvPr id="102" name="Picture 42"/>
          <p:cNvPicPr>
            <a:picLocks noChangeAspect="1"/>
          </p:cNvPicPr>
          <p:nvPr/>
        </p:nvPicPr>
        <p:blipFill>
          <a:blip r:embed="rId6"/>
          <a:stretch/>
        </p:blipFill>
        <p:spPr>
          <a:xfrm>
            <a:off x="5067300" y="5821458"/>
            <a:ext cx="3699392" cy="781050"/>
          </a:xfrm>
          <a:prstGeom prst="rect">
            <a:avLst/>
          </a:prstGeom>
        </p:spPr>
      </p:pic>
      <p:sp>
        <p:nvSpPr>
          <p:cNvPr id="53" name="TextBox 52">
            <a:extLst>
              <a:ext uri="{FF2B5EF4-FFF2-40B4-BE49-F238E27FC236}">
                <a16:creationId xmlns:a16="http://schemas.microsoft.com/office/drawing/2014/main" id="{BCEDA9CE-F7DF-4073-E60A-704EB2BE492C}"/>
              </a:ext>
            </a:extLst>
          </p:cNvPr>
          <p:cNvSpPr>
            <a:spLocks noGrp="1"/>
          </p:cNvSpPr>
          <p:nvPr/>
        </p:nvSpPr>
        <p:spPr>
          <a:xfrm>
            <a:off x="8931649" y="6027317"/>
            <a:ext cx="899272" cy="369332"/>
          </a:xfrm>
          <a:prstGeom prst="rect">
            <a:avLst/>
          </a:prstGeom>
          <a:noFill/>
        </p:spPr>
        <p:txBody>
          <a:bodyPr wrap="square">
            <a:spAutoFit/>
          </a:bodyPr>
          <a:lstStyle/>
          <a:p>
            <a:r>
              <a:t>= 0.72</a:t>
            </a:r>
          </a:p>
        </p:txBody>
      </p:sp>
    </p:spTree>
    <p:extLst>
      <p:ext uri="{BB962C8B-B14F-4D97-AF65-F5344CB8AC3E}">
        <p14:creationId xmlns:p14="http://schemas.microsoft.com/office/powerpoint/2010/main" val="837768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173A2B9-ED99-4156-923C-5AA661C24A43}"/>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WHY AP?</a:t>
            </a:r>
          </a:p>
        </p:txBody>
      </p:sp>
      <p:sp>
        <p:nvSpPr>
          <p:cNvPr id="2" name="Rectangle 1">
            <a:extLst>
              <a:ext uri="{FF2B5EF4-FFF2-40B4-BE49-F238E27FC236}">
                <a16:creationId xmlns:a16="http://schemas.microsoft.com/office/drawing/2014/main" id="{F9BB5C15-907C-4AD6-B0DF-DC2E9F9778B7}"/>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450" b="1" i="0">
                <a:solidFill>
                  <a:srgbClr val="11253D"/>
                </a:solidFill>
              </a:defRPr>
            </a:pPr>
            <a:r>
              <a:rPr sz="3450" b="1" i="0">
                <a:solidFill>
                  <a:srgbClr val="11253D"/>
                </a:solidFill>
              </a:rPr>
              <a:t>AP rises when positives</a:t>
            </a:r>
          </a:p>
          <a:p>
            <a:pPr algn="l">
              <a:buNone/>
              <a:defRPr sz="3450" b="1" i="0">
                <a:solidFill>
                  <a:srgbClr val="11253D"/>
                </a:solidFill>
              </a:defRPr>
            </a:pPr>
            <a:r>
              <a:rPr sz="3450" b="1" i="0">
                <a:solidFill>
                  <a:srgbClr val="11253D"/>
                </a:solidFill>
              </a:rPr>
              <a:t>appear early</a:t>
            </a:r>
          </a:p>
        </p:txBody>
      </p:sp>
      <p:sp>
        <p:nvSpPr>
          <p:cNvPr id="3" name="Rectangle 2">
            <a:extLst>
              <a:ext uri="{FF2B5EF4-FFF2-40B4-BE49-F238E27FC236}">
                <a16:creationId xmlns:a16="http://schemas.microsoft.com/office/drawing/2014/main" id="{A9D75171-CD3C-4C11-AE17-78FD623E4057}"/>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0A5EE2DE-A404-4B16-9384-FF5371570355}"/>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WHY AP?</a:t>
            </a:r>
          </a:p>
        </p:txBody>
      </p:sp>
      <p:sp>
        <p:nvSpPr>
          <p:cNvPr id="5" name="Rectangle 4">
            <a:extLst>
              <a:ext uri="{FF2B5EF4-FFF2-40B4-BE49-F238E27FC236}">
                <a16:creationId xmlns:a16="http://schemas.microsoft.com/office/drawing/2014/main" id="{D0086903-2739-4BA7-B6D3-15AF93C1E96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06</a:t>
            </a:r>
          </a:p>
        </p:txBody>
      </p:sp>
      <p:sp>
        <p:nvSpPr>
          <p:cNvPr id="6" name="Rectangle 5">
            <a:extLst>
              <a:ext uri="{FF2B5EF4-FFF2-40B4-BE49-F238E27FC236}">
                <a16:creationId xmlns:a16="http://schemas.microsoft.com/office/drawing/2014/main" id="{02F3EDD8-3712-4505-9EBC-3679B8F36D51}"/>
              </a:ext>
            </a:extLst>
          </p:cNvPr>
          <p:cNvSpPr>
            <a:spLocks noGrp="1"/>
          </p:cNvSpPr>
          <p:nvPr/>
        </p:nvSpPr>
        <p:spPr>
          <a:xfrm>
            <a:off x="876300" y="2133600"/>
            <a:ext cx="2286000" cy="20955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POSITIVE RANKS</a:t>
            </a:r>
          </a:p>
        </p:txBody>
      </p:sp>
      <p:sp>
        <p:nvSpPr>
          <p:cNvPr id="7" name="Oval 6">
            <a:extLst>
              <a:ext uri="{FF2B5EF4-FFF2-40B4-BE49-F238E27FC236}">
                <a16:creationId xmlns:a16="http://schemas.microsoft.com/office/drawing/2014/main" id="{676EEB00-A176-4FD9-9179-650CE760773E}"/>
              </a:ext>
            </a:extLst>
          </p:cNvPr>
          <p:cNvSpPr>
            <a:spLocks noGrp="1"/>
          </p:cNvSpPr>
          <p:nvPr/>
        </p:nvSpPr>
        <p:spPr>
          <a:xfrm>
            <a:off x="952500" y="2647950"/>
            <a:ext cx="361950" cy="361950"/>
          </a:xfrm>
          <a:prstGeom prst="ellipse">
            <a:avLst/>
          </a:prstGeom>
          <a:solidFill>
            <a:srgbClr val="2B6CB0"/>
          </a:solidFill>
          <a:ln w="0">
            <a:noFill/>
            <a:prstDash val="solid"/>
          </a:ln>
        </p:spPr>
        <p:txBody>
          <a:bodyPr/>
          <a:lstStyle/>
          <a:p>
            <a:endParaRPr/>
          </a:p>
        </p:txBody>
      </p:sp>
      <p:sp>
        <p:nvSpPr>
          <p:cNvPr id="8" name="Rectangle 7">
            <a:extLst>
              <a:ext uri="{FF2B5EF4-FFF2-40B4-BE49-F238E27FC236}">
                <a16:creationId xmlns:a16="http://schemas.microsoft.com/office/drawing/2014/main" id="{1887885F-1D7F-446C-BDFA-13472D10280A}"/>
              </a:ext>
            </a:extLst>
          </p:cNvPr>
          <p:cNvSpPr>
            <a:spLocks noGrp="1"/>
          </p:cNvSpPr>
          <p:nvPr/>
        </p:nvSpPr>
        <p:spPr>
          <a:xfrm>
            <a:off x="952500" y="2695575"/>
            <a:ext cx="361950" cy="228600"/>
          </a:xfrm>
          <a:prstGeom prst="rect">
            <a:avLst/>
          </a:prstGeom>
          <a:noFill/>
          <a:ln w="0">
            <a:noFill/>
            <a:prstDash val="solid"/>
          </a:ln>
        </p:spPr>
        <p:txBody>
          <a:bodyPr/>
          <a:lstStyle/>
          <a:p>
            <a:pPr algn="ctr">
              <a:buNone/>
              <a:defRPr sz="1575" b="1" i="0">
                <a:solidFill>
                  <a:srgbClr val="FFFFFF"/>
                </a:solidFill>
              </a:defRPr>
            </a:pPr>
            <a:r>
              <a:rPr sz="1575" b="1" i="0">
                <a:solidFill>
                  <a:srgbClr val="FFFFFF"/>
                </a:solidFill>
              </a:rPr>
              <a:t>+</a:t>
            </a:r>
          </a:p>
        </p:txBody>
      </p:sp>
      <p:sp>
        <p:nvSpPr>
          <p:cNvPr id="9" name="Rectangle 8">
            <a:extLst>
              <a:ext uri="{FF2B5EF4-FFF2-40B4-BE49-F238E27FC236}">
                <a16:creationId xmlns:a16="http://schemas.microsoft.com/office/drawing/2014/main" id="{1630AF30-19AA-490C-AD28-8EC3954B531C}"/>
              </a:ext>
            </a:extLst>
          </p:cNvPr>
          <p:cNvSpPr>
            <a:spLocks noGrp="1"/>
          </p:cNvSpPr>
          <p:nvPr/>
        </p:nvSpPr>
        <p:spPr>
          <a:xfrm>
            <a:off x="1562100" y="2676525"/>
            <a:ext cx="1238250" cy="285750"/>
          </a:xfrm>
          <a:prstGeom prst="rect">
            <a:avLst/>
          </a:prstGeom>
          <a:noFill/>
          <a:ln w="0">
            <a:noFill/>
            <a:prstDash val="solid"/>
          </a:ln>
        </p:spPr>
        <p:txBody>
          <a:bodyPr/>
          <a:lstStyle/>
          <a:p>
            <a:pPr algn="l">
              <a:buNone/>
              <a:defRPr sz="1800" b="1" i="0">
                <a:solidFill>
                  <a:srgbClr val="11253D"/>
                </a:solidFill>
              </a:defRPr>
            </a:pPr>
            <a:r>
              <a:rPr sz="1800" b="1" i="0">
                <a:solidFill>
                  <a:srgbClr val="11253D"/>
                </a:solidFill>
              </a:rPr>
              <a:t>rank 1</a:t>
            </a:r>
          </a:p>
        </p:txBody>
      </p:sp>
      <p:pic>
        <p:nvPicPr>
          <p:cNvPr id="39" name="Picture 32"/>
          <p:cNvPicPr>
            <a:picLocks noChangeAspect="1"/>
          </p:cNvPicPr>
          <p:nvPr/>
        </p:nvPicPr>
        <p:blipFill>
          <a:blip r:embed="rId3"/>
          <a:stretch/>
        </p:blipFill>
        <p:spPr>
          <a:xfrm>
            <a:off x="3597325" y="2609850"/>
            <a:ext cx="787301" cy="438150"/>
          </a:xfrm>
          <a:prstGeom prst="rect">
            <a:avLst/>
          </a:prstGeom>
        </p:spPr>
      </p:pic>
      <p:sp>
        <p:nvSpPr>
          <p:cNvPr id="11" name="Oval 10">
            <a:extLst>
              <a:ext uri="{FF2B5EF4-FFF2-40B4-BE49-F238E27FC236}">
                <a16:creationId xmlns:a16="http://schemas.microsoft.com/office/drawing/2014/main" id="{95B6DF55-97D6-4617-82BB-230559365EB2}"/>
              </a:ext>
            </a:extLst>
          </p:cNvPr>
          <p:cNvSpPr>
            <a:spLocks noGrp="1"/>
          </p:cNvSpPr>
          <p:nvPr/>
        </p:nvSpPr>
        <p:spPr>
          <a:xfrm>
            <a:off x="952500" y="3467100"/>
            <a:ext cx="361950" cy="361950"/>
          </a:xfrm>
          <a:prstGeom prst="ellipse">
            <a:avLst/>
          </a:prstGeom>
          <a:solidFill>
            <a:srgbClr val="2B6CB0"/>
          </a:solidFill>
          <a:ln w="0">
            <a:noFill/>
            <a:prstDash val="solid"/>
          </a:ln>
        </p:spPr>
        <p:txBody>
          <a:bodyPr/>
          <a:lstStyle/>
          <a:p>
            <a:endParaRPr/>
          </a:p>
        </p:txBody>
      </p:sp>
      <p:sp>
        <p:nvSpPr>
          <p:cNvPr id="12" name="Rectangle 11">
            <a:extLst>
              <a:ext uri="{FF2B5EF4-FFF2-40B4-BE49-F238E27FC236}">
                <a16:creationId xmlns:a16="http://schemas.microsoft.com/office/drawing/2014/main" id="{58052235-777F-4967-BDA4-A133B9DB3CF5}"/>
              </a:ext>
            </a:extLst>
          </p:cNvPr>
          <p:cNvSpPr>
            <a:spLocks noGrp="1"/>
          </p:cNvSpPr>
          <p:nvPr/>
        </p:nvSpPr>
        <p:spPr>
          <a:xfrm>
            <a:off x="952500" y="3514725"/>
            <a:ext cx="361950" cy="228600"/>
          </a:xfrm>
          <a:prstGeom prst="rect">
            <a:avLst/>
          </a:prstGeom>
          <a:noFill/>
          <a:ln w="0">
            <a:noFill/>
            <a:prstDash val="solid"/>
          </a:ln>
        </p:spPr>
        <p:txBody>
          <a:bodyPr/>
          <a:lstStyle/>
          <a:p>
            <a:pPr algn="ctr">
              <a:buNone/>
              <a:defRPr sz="1575" b="1" i="0">
                <a:solidFill>
                  <a:srgbClr val="FFFFFF"/>
                </a:solidFill>
              </a:defRPr>
            </a:pPr>
            <a:r>
              <a:rPr sz="1575" b="1" i="0">
                <a:solidFill>
                  <a:srgbClr val="FFFFFF"/>
                </a:solidFill>
              </a:rPr>
              <a:t>+</a:t>
            </a:r>
          </a:p>
        </p:txBody>
      </p:sp>
      <p:sp>
        <p:nvSpPr>
          <p:cNvPr id="13" name="Rectangle 12">
            <a:extLst>
              <a:ext uri="{FF2B5EF4-FFF2-40B4-BE49-F238E27FC236}">
                <a16:creationId xmlns:a16="http://schemas.microsoft.com/office/drawing/2014/main" id="{7132E1C6-9B00-4788-A204-E116789757E5}"/>
              </a:ext>
            </a:extLst>
          </p:cNvPr>
          <p:cNvSpPr>
            <a:spLocks noGrp="1"/>
          </p:cNvSpPr>
          <p:nvPr/>
        </p:nvSpPr>
        <p:spPr>
          <a:xfrm>
            <a:off x="1562100" y="3495675"/>
            <a:ext cx="1238250" cy="285750"/>
          </a:xfrm>
          <a:prstGeom prst="rect">
            <a:avLst/>
          </a:prstGeom>
          <a:noFill/>
          <a:ln w="0">
            <a:noFill/>
            <a:prstDash val="solid"/>
          </a:ln>
        </p:spPr>
        <p:txBody>
          <a:bodyPr/>
          <a:lstStyle/>
          <a:p>
            <a:pPr algn="l">
              <a:buNone/>
              <a:defRPr sz="1800" b="1" i="0">
                <a:solidFill>
                  <a:srgbClr val="11253D"/>
                </a:solidFill>
              </a:defRPr>
            </a:pPr>
            <a:r>
              <a:rPr sz="1800" b="1" i="0">
                <a:solidFill>
                  <a:srgbClr val="11253D"/>
                </a:solidFill>
              </a:rPr>
              <a:t>rank 3</a:t>
            </a:r>
          </a:p>
        </p:txBody>
      </p:sp>
      <p:pic>
        <p:nvPicPr>
          <p:cNvPr id="43" name="Picture 36"/>
          <p:cNvPicPr>
            <a:picLocks noChangeAspect="1"/>
          </p:cNvPicPr>
          <p:nvPr/>
        </p:nvPicPr>
        <p:blipFill>
          <a:blip r:embed="rId4"/>
          <a:stretch/>
        </p:blipFill>
        <p:spPr>
          <a:xfrm>
            <a:off x="3600376" y="3429000"/>
            <a:ext cx="781198" cy="438150"/>
          </a:xfrm>
          <a:prstGeom prst="rect">
            <a:avLst/>
          </a:prstGeom>
        </p:spPr>
      </p:pic>
      <p:sp>
        <p:nvSpPr>
          <p:cNvPr id="15" name="Oval 14">
            <a:extLst>
              <a:ext uri="{FF2B5EF4-FFF2-40B4-BE49-F238E27FC236}">
                <a16:creationId xmlns:a16="http://schemas.microsoft.com/office/drawing/2014/main" id="{BC94BCF2-C031-4455-9151-EA174E303DB6}"/>
              </a:ext>
            </a:extLst>
          </p:cNvPr>
          <p:cNvSpPr>
            <a:spLocks noGrp="1"/>
          </p:cNvSpPr>
          <p:nvPr/>
        </p:nvSpPr>
        <p:spPr>
          <a:xfrm>
            <a:off x="952500" y="4286250"/>
            <a:ext cx="361950" cy="361950"/>
          </a:xfrm>
          <a:prstGeom prst="ellipse">
            <a:avLst/>
          </a:prstGeom>
          <a:solidFill>
            <a:srgbClr val="2B6CB0"/>
          </a:solidFill>
          <a:ln w="0">
            <a:noFill/>
            <a:prstDash val="solid"/>
          </a:ln>
        </p:spPr>
        <p:txBody>
          <a:bodyPr/>
          <a:lstStyle/>
          <a:p>
            <a:endParaRPr/>
          </a:p>
        </p:txBody>
      </p:sp>
      <p:sp>
        <p:nvSpPr>
          <p:cNvPr id="16" name="Rectangle 15">
            <a:extLst>
              <a:ext uri="{FF2B5EF4-FFF2-40B4-BE49-F238E27FC236}">
                <a16:creationId xmlns:a16="http://schemas.microsoft.com/office/drawing/2014/main" id="{3751CA3D-A3C3-4240-8ACE-46C0CAF82F41}"/>
              </a:ext>
            </a:extLst>
          </p:cNvPr>
          <p:cNvSpPr>
            <a:spLocks noGrp="1"/>
          </p:cNvSpPr>
          <p:nvPr/>
        </p:nvSpPr>
        <p:spPr>
          <a:xfrm>
            <a:off x="952500" y="4333875"/>
            <a:ext cx="361950" cy="228600"/>
          </a:xfrm>
          <a:prstGeom prst="rect">
            <a:avLst/>
          </a:prstGeom>
          <a:noFill/>
          <a:ln w="0">
            <a:noFill/>
            <a:prstDash val="solid"/>
          </a:ln>
        </p:spPr>
        <p:txBody>
          <a:bodyPr/>
          <a:lstStyle/>
          <a:p>
            <a:pPr algn="ctr">
              <a:buNone/>
              <a:defRPr sz="1575" b="1" i="0">
                <a:solidFill>
                  <a:srgbClr val="FFFFFF"/>
                </a:solidFill>
              </a:defRPr>
            </a:pPr>
            <a:r>
              <a:rPr sz="1575" b="1" i="0">
                <a:solidFill>
                  <a:srgbClr val="FFFFFF"/>
                </a:solidFill>
              </a:rPr>
              <a:t>+</a:t>
            </a:r>
          </a:p>
        </p:txBody>
      </p:sp>
      <p:sp>
        <p:nvSpPr>
          <p:cNvPr id="17" name="Rectangle 16">
            <a:extLst>
              <a:ext uri="{FF2B5EF4-FFF2-40B4-BE49-F238E27FC236}">
                <a16:creationId xmlns:a16="http://schemas.microsoft.com/office/drawing/2014/main" id="{B33E6560-269E-425D-9858-89E86197B290}"/>
              </a:ext>
            </a:extLst>
          </p:cNvPr>
          <p:cNvSpPr>
            <a:spLocks noGrp="1"/>
          </p:cNvSpPr>
          <p:nvPr/>
        </p:nvSpPr>
        <p:spPr>
          <a:xfrm>
            <a:off x="1562100" y="4314825"/>
            <a:ext cx="1238250" cy="285750"/>
          </a:xfrm>
          <a:prstGeom prst="rect">
            <a:avLst/>
          </a:prstGeom>
          <a:noFill/>
          <a:ln w="0">
            <a:noFill/>
            <a:prstDash val="solid"/>
          </a:ln>
        </p:spPr>
        <p:txBody>
          <a:bodyPr/>
          <a:lstStyle/>
          <a:p>
            <a:pPr algn="l">
              <a:buNone/>
              <a:defRPr sz="1800" b="1" i="0">
                <a:solidFill>
                  <a:srgbClr val="11253D"/>
                </a:solidFill>
              </a:defRPr>
            </a:pPr>
            <a:r>
              <a:rPr sz="1800" b="1" i="0">
                <a:solidFill>
                  <a:srgbClr val="11253D"/>
                </a:solidFill>
              </a:rPr>
              <a:t>rank 6</a:t>
            </a:r>
          </a:p>
        </p:txBody>
      </p:sp>
      <p:pic>
        <p:nvPicPr>
          <p:cNvPr id="47" name="Picture 40"/>
          <p:cNvPicPr>
            <a:picLocks noChangeAspect="1"/>
          </p:cNvPicPr>
          <p:nvPr/>
        </p:nvPicPr>
        <p:blipFill>
          <a:blip r:embed="rId5"/>
          <a:stretch/>
        </p:blipFill>
        <p:spPr>
          <a:xfrm>
            <a:off x="3600376" y="4248150"/>
            <a:ext cx="781198" cy="438150"/>
          </a:xfrm>
          <a:prstGeom prst="rect">
            <a:avLst/>
          </a:prstGeom>
        </p:spPr>
      </p:pic>
      <p:sp>
        <p:nvSpPr>
          <p:cNvPr id="19" name="Rounded Rectangle 18">
            <a:extLst>
              <a:ext uri="{FF2B5EF4-FFF2-40B4-BE49-F238E27FC236}">
                <a16:creationId xmlns:a16="http://schemas.microsoft.com/office/drawing/2014/main" id="{63CDA66E-5333-418F-BD8B-4278FECA5642}"/>
              </a:ext>
            </a:extLst>
          </p:cNvPr>
          <p:cNvSpPr>
            <a:spLocks noGrp="1"/>
          </p:cNvSpPr>
          <p:nvPr/>
        </p:nvSpPr>
        <p:spPr>
          <a:xfrm>
            <a:off x="6191250" y="2381250"/>
            <a:ext cx="4762500" cy="2266950"/>
          </a:xfrm>
          <a:prstGeom prst="roundRect">
            <a:avLst>
              <a:gd name="adj" fmla="val 5042"/>
            </a:avLst>
          </a:prstGeom>
          <a:solidFill>
            <a:srgbClr val="FFFFFF"/>
          </a:solidFill>
          <a:ln w="19050">
            <a:solidFill>
              <a:srgbClr val="D9DEE5"/>
            </a:solidFill>
            <a:prstDash val="solid"/>
          </a:ln>
        </p:spPr>
        <p:txBody>
          <a:bodyPr/>
          <a:lstStyle/>
          <a:p>
            <a:endParaRPr/>
          </a:p>
        </p:txBody>
      </p:sp>
      <p:pic>
        <p:nvPicPr>
          <p:cNvPr id="49" name="Picture 42"/>
          <p:cNvPicPr>
            <a:picLocks noChangeAspect="1"/>
          </p:cNvPicPr>
          <p:nvPr/>
        </p:nvPicPr>
        <p:blipFill>
          <a:blip r:embed="rId6"/>
          <a:stretch/>
        </p:blipFill>
        <p:spPr>
          <a:xfrm>
            <a:off x="6722804" y="2724150"/>
            <a:ext cx="3699392" cy="781050"/>
          </a:xfrm>
          <a:prstGeom prst="rect">
            <a:avLst/>
          </a:prstGeom>
        </p:spPr>
      </p:pic>
      <p:pic>
        <p:nvPicPr>
          <p:cNvPr id="50" name="Picture 43"/>
          <p:cNvPicPr>
            <a:picLocks noChangeAspect="1"/>
          </p:cNvPicPr>
          <p:nvPr/>
        </p:nvPicPr>
        <p:blipFill>
          <a:blip r:embed="rId7"/>
          <a:stretch/>
        </p:blipFill>
        <p:spPr>
          <a:xfrm>
            <a:off x="7133034" y="3619500"/>
            <a:ext cx="2878931" cy="590550"/>
          </a:xfrm>
          <a:prstGeom prst="rect">
            <a:avLst/>
          </a:prstGeom>
        </p:spPr>
      </p:pic>
      <p:sp>
        <p:nvSpPr>
          <p:cNvPr id="22" name="Rounded Rectangle 21">
            <a:extLst>
              <a:ext uri="{FF2B5EF4-FFF2-40B4-BE49-F238E27FC236}">
                <a16:creationId xmlns:a16="http://schemas.microsoft.com/office/drawing/2014/main" id="{74ECD5B1-C0F7-4688-B0BD-FDDF19B6952C}"/>
              </a:ext>
            </a:extLst>
          </p:cNvPr>
          <p:cNvSpPr>
            <a:spLocks noGrp="1"/>
          </p:cNvSpPr>
          <p:nvPr/>
        </p:nvSpPr>
        <p:spPr>
          <a:xfrm>
            <a:off x="1714500" y="5219700"/>
            <a:ext cx="8763000" cy="866774"/>
          </a:xfrm>
          <a:prstGeom prst="roundRect">
            <a:avLst>
              <a:gd name="adj" fmla="val 16667"/>
            </a:avLst>
          </a:prstGeom>
          <a:solidFill>
            <a:srgbClr val="DCEAF7"/>
          </a:solidFill>
          <a:ln w="0">
            <a:noFill/>
            <a:prstDash val="solid"/>
          </a:ln>
        </p:spPr>
        <p:txBody>
          <a:bodyPr/>
          <a:lstStyle/>
          <a:p>
            <a:endParaRPr/>
          </a:p>
        </p:txBody>
      </p:sp>
      <p:sp>
        <p:nvSpPr>
          <p:cNvPr id="23" name="Rectangle 22">
            <a:extLst>
              <a:ext uri="{FF2B5EF4-FFF2-40B4-BE49-F238E27FC236}">
                <a16:creationId xmlns:a16="http://schemas.microsoft.com/office/drawing/2014/main" id="{44843555-68BB-4C40-9B82-0AA787183528}"/>
              </a:ext>
            </a:extLst>
          </p:cNvPr>
          <p:cNvSpPr>
            <a:spLocks noGrp="1"/>
          </p:cNvSpPr>
          <p:nvPr/>
        </p:nvSpPr>
        <p:spPr>
          <a:xfrm>
            <a:off x="1905000" y="5391150"/>
            <a:ext cx="8382000" cy="400050"/>
          </a:xfrm>
          <a:prstGeom prst="rect">
            <a:avLst/>
          </a:prstGeom>
          <a:noFill/>
          <a:ln w="0">
            <a:noFill/>
            <a:prstDash val="solid"/>
          </a:ln>
        </p:spPr>
        <p:txBody>
          <a:bodyPr/>
          <a:lstStyle/>
          <a:p>
            <a:pPr algn="ctr">
              <a:buNone/>
              <a:defRPr sz="1800" b="1" i="0">
                <a:solidFill>
                  <a:srgbClr val="11253D"/>
                </a:solidFill>
              </a:defRPr>
            </a:pPr>
            <a:r>
              <a:rPr sz="1800" b="1" i="0">
                <a:solidFill>
                  <a:srgbClr val="11253D"/>
                </a:solidFill>
              </a:rPr>
              <a:t>AP is a weighted summary of precision over recall—not the area of a smooth geometric shape.</a:t>
            </a:r>
          </a:p>
        </p:txBody>
      </p:sp>
    </p:spTree>
    <p:extLst>
      <p:ext uri="{BB962C8B-B14F-4D97-AF65-F5344CB8AC3E}">
        <p14:creationId xmlns:p14="http://schemas.microsoft.com/office/powerpoint/2010/main" val="748429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I · THE TARGET POPULATION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AP is a recall-weighted sum of precisions</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05 / 56</a:t>
            </a:r>
            <a:endParaRPr lang="en-US" sz="1100" dirty="0"/>
          </a:p>
        </p:txBody>
      </p:sp>
      <p:sp>
        <p:nvSpPr>
          <p:cNvPr id="5" name="Text 3"/>
          <p:cNvSpPr/>
          <p:nvPr/>
        </p:nvSpPr>
        <p:spPr>
          <a:xfrm>
            <a:off x="868680" y="1874520"/>
            <a:ext cx="10058400" cy="41148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Each distinct score value defines a threshold, and the ranking is traversed from the top.</a:t>
            </a:r>
            <a:endParaRPr lang="en-US" sz="1550" dirty="0"/>
          </a:p>
        </p:txBody>
      </p:sp>
      <p:pic>
        <p:nvPicPr>
          <p:cNvPr id="6" name="Image 0" descr="/sessions/wizardly-upbeat-edison/mnt/outputs/math/ap_sum_plain.png"/>
          <p:cNvPicPr>
            <a:picLocks noChangeAspect="1"/>
          </p:cNvPicPr>
          <p:nvPr/>
        </p:nvPicPr>
        <p:blipFill>
          <a:blip r:embed="rId3"/>
          <a:stretch>
            <a:fillRect/>
          </a:stretch>
        </p:blipFill>
        <p:spPr>
          <a:xfrm>
            <a:off x="3286362" y="2697480"/>
            <a:ext cx="5618971" cy="1325880"/>
          </a:xfrm>
          <a:prstGeom prst="rect">
            <a:avLst/>
          </a:prstGeom>
        </p:spPr>
      </p:pic>
      <p:sp>
        <p:nvSpPr>
          <p:cNvPr id="7" name="Text 4"/>
          <p:cNvSpPr/>
          <p:nvPr/>
        </p:nvSpPr>
        <p:spPr>
          <a:xfrm>
            <a:off x="868680" y="4572000"/>
            <a:ext cx="10058400" cy="731520"/>
          </a:xfrm>
          <a:prstGeom prst="rect">
            <a:avLst/>
          </a:prstGeom>
          <a:noFill/>
          <a:ln/>
        </p:spPr>
        <p:txBody>
          <a:bodyPr wrap="square" lIns="0" tIns="0" rIns="0" bIns="0" rtlCol="0" anchor="t"/>
          <a:lstStyle/>
          <a:p>
            <a:pPr marL="0" indent="0" algn="l">
              <a:lnSpc>
                <a:spcPct val="130000"/>
              </a:lnSpc>
              <a:buNone/>
            </a:pPr>
            <a:r>
              <a:rPr lang="en-US" sz="1900" dirty="0">
                <a:solidFill>
                  <a:srgbClr val="1C2536"/>
                </a:solidFill>
                <a:latin typeface="Calibri" pitchFamily="34" charset="0"/>
                <a:ea typeface="Calibri" pitchFamily="34" charset="-122"/>
                <a:cs typeface="Calibri" pitchFamily="34" charset="-120"/>
              </a:rPr>
              <a:t>A block of negative cases alone gains no recall, although its false positives lower the precision of every block below it.</a:t>
            </a:r>
            <a:endParaRPr lang="en-US" sz="1900" dirty="0"/>
          </a:p>
        </p:txBody>
      </p:sp>
      <p:sp>
        <p:nvSpPr>
          <p:cNvPr id="8" name="Text 5"/>
          <p:cNvSpPr/>
          <p:nvPr/>
        </p:nvSpPr>
        <p:spPr>
          <a:xfrm>
            <a:off x="868680" y="5440680"/>
            <a:ext cx="10058400" cy="41148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No prevalence appears anywhere in the expression.</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I · THE TARGET POPULATION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Ordinary AP already carries a prevalence</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06 / 56</a:t>
            </a:r>
            <a:endParaRPr lang="en-US" sz="1100" dirty="0"/>
          </a:p>
        </p:txBody>
      </p:sp>
      <p:pic>
        <p:nvPicPr>
          <p:cNvPr id="5" name="Image 0" descr="/sessions/wizardly-upbeat-edison/mnt/outputs/math/prec_reveal.png"/>
          <p:cNvPicPr>
            <a:picLocks noChangeAspect="1"/>
          </p:cNvPicPr>
          <p:nvPr/>
        </p:nvPicPr>
        <p:blipFill>
          <a:blip r:embed="rId3"/>
          <a:stretch>
            <a:fillRect/>
          </a:stretch>
        </p:blipFill>
        <p:spPr>
          <a:xfrm>
            <a:off x="1386688" y="2148840"/>
            <a:ext cx="9418320" cy="1278201"/>
          </a:xfrm>
          <a:prstGeom prst="rect">
            <a:avLst/>
          </a:prstGeom>
        </p:spPr>
      </p:pic>
      <p:sp>
        <p:nvSpPr>
          <p:cNvPr id="6" name="Text 3"/>
          <p:cNvSpPr/>
          <p:nvPr/>
        </p:nvSpPr>
        <p:spPr>
          <a:xfrm>
            <a:off x="868680" y="3794760"/>
            <a:ext cx="10058400" cy="914400"/>
          </a:xfrm>
          <a:prstGeom prst="rect">
            <a:avLst/>
          </a:prstGeom>
          <a:noFill/>
          <a:ln/>
        </p:spPr>
        <p:txBody>
          <a:bodyPr wrap="square" lIns="0" tIns="0" rIns="0" bIns="0" rtlCol="0" anchor="t"/>
          <a:lstStyle/>
          <a:p>
            <a:pPr marL="0" indent="0" algn="l">
              <a:lnSpc>
                <a:spcPct val="130000"/>
              </a:lnSpc>
              <a:buNone/>
            </a:pPr>
            <a:r>
              <a:rPr lang="en-US" sz="1900" dirty="0">
                <a:solidFill>
                  <a:srgbClr val="1C2536"/>
                </a:solidFill>
                <a:latin typeface="Calibri" pitchFamily="34" charset="0"/>
                <a:ea typeface="Calibri" pitchFamily="34" charset="-122"/>
                <a:cs typeface="Calibri" pitchFamily="34" charset="-120"/>
              </a:rPr>
              <a:t>Divide numerator and denominator by n. The share of positives in the evaluation sample enters as the observed prevalence, and the class-conditional rates enter as r and f.</a:t>
            </a:r>
            <a:endParaRPr lang="en-US" sz="1900" dirty="0"/>
          </a:p>
        </p:txBody>
      </p:sp>
      <p:sp>
        <p:nvSpPr>
          <p:cNvPr id="7" name="Text 4"/>
          <p:cNvSpPr/>
          <p:nvPr/>
        </p:nvSpPr>
        <p:spPr>
          <a:xfrm>
            <a:off x="868680" y="4937760"/>
            <a:ext cx="10058400" cy="73152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An average precision value is therefore already indexed to a population: the one the evaluation sample happened to have. Nothing about it was declared, and nothing about it was chosen.</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I · THE TARGET POPULATION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Precision odds factor into prior and ranking</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07 / 56</a:t>
            </a:r>
            <a:endParaRPr lang="en-US" sz="1100" dirty="0"/>
          </a:p>
        </p:txBody>
      </p:sp>
      <p:sp>
        <p:nvSpPr>
          <p:cNvPr id="5" name="Text 3"/>
          <p:cNvSpPr/>
          <p:nvPr/>
        </p:nvSpPr>
        <p:spPr>
          <a:xfrm>
            <a:off x="868680" y="1847088"/>
            <a:ext cx="10058400" cy="41148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Written as odds, replacing the observed prevalence with a declared target π touches one factor.</a:t>
            </a:r>
            <a:endParaRPr lang="en-US" sz="1550" dirty="0"/>
          </a:p>
        </p:txBody>
      </p:sp>
      <p:pic>
        <p:nvPicPr>
          <p:cNvPr id="6" name="Image 0" descr="/sessions/wizardly-upbeat-edison/mnt/outputs/math/odds_factor.png"/>
          <p:cNvPicPr>
            <a:picLocks noChangeAspect="1"/>
          </p:cNvPicPr>
          <p:nvPr/>
        </p:nvPicPr>
        <p:blipFill>
          <a:blip r:embed="rId3"/>
          <a:stretch>
            <a:fillRect/>
          </a:stretch>
        </p:blipFill>
        <p:spPr>
          <a:xfrm>
            <a:off x="3101745" y="2450592"/>
            <a:ext cx="5988205" cy="1828800"/>
          </a:xfrm>
          <a:prstGeom prst="rect">
            <a:avLst/>
          </a:prstGeom>
        </p:spPr>
      </p:pic>
      <mc:AlternateContent xmlns:mc="http://schemas.openxmlformats.org/markup-compatibility/2006">
        <mc:Choice xmlns:a14="http://schemas.microsoft.com/office/drawing/2010/main" Requires="a14">
          <p:sp>
            <p:nvSpPr>
              <p:cNvPr id="7" name="Text 4"/>
              <p:cNvSpPr/>
              <p:nvPr/>
            </p:nvSpPr>
            <p:spPr>
              <a:xfrm>
                <a:off x="868680" y="4754880"/>
                <a:ext cx="10058400" cy="914400"/>
              </a:xfrm>
              <a:prstGeom prst="rect">
                <a:avLst/>
              </a:prstGeom>
              <a:noFill/>
              <a:ln/>
            </p:spPr>
            <p:txBody>
              <a:bodyPr wrap="square" lIns="0" tIns="0" rIns="0" bIns="0" rtlCol="0" anchor="t"/>
              <a:lstStyle/>
              <a:p>
                <a:pPr marL="0" indent="0">
                  <a:lnSpc>
                    <a:spcPct val="128000"/>
                  </a:lnSpc>
                  <a:buNone/>
                </a:pPr>
                <a:r>
                  <a:rPr lang="en-US" sz="1650" b="1" dirty="0">
                    <a:solidFill>
                      <a:srgbClr val="C00000"/>
                    </a:solidFill>
                    <a:latin typeface="Calibri" pitchFamily="34" charset="0"/>
                    <a:ea typeface="Calibri" pitchFamily="34" charset="-122"/>
                    <a:cs typeface="Calibri" pitchFamily="34" charset="-120"/>
                  </a:rPr>
                  <a:t>Prior standardization replaces the first factor </a:t>
                </a:r>
                <a:r>
                  <a:rPr lang="en-US" sz="1650" dirty="0">
                    <a:solidFill>
                      <a:srgbClr val="6E7A8C"/>
                    </a:solidFill>
                    <a:latin typeface="Calibri" pitchFamily="34" charset="0"/>
                    <a:ea typeface="Calibri" pitchFamily="34" charset="-122"/>
                    <a:cs typeface="Calibri" pitchFamily="34" charset="-120"/>
                  </a:rPr>
                  <a:t>and retains the second. Applying it at every distinct threshold gives the prior-standardized value, </a:t>
                </a:r>
                <a14:m>
                  <m:oMath xmlns:m="http://schemas.openxmlformats.org/officeDocument/2006/math">
                    <m:r>
                      <a:rPr lang="en-US" sz="1650" b="1" i="1" smtClean="0">
                        <a:solidFill>
                          <a:srgbClr val="6E7A8C"/>
                        </a:solidFill>
                        <a:latin typeface="Cambria Math" panose="02040503050406030204" pitchFamily="18" charset="0"/>
                        <a:ea typeface="Calibri" pitchFamily="34" charset="-122"/>
                        <a:cs typeface="Calibri" pitchFamily="34" charset="-120"/>
                      </a:rPr>
                      <m:t>𝑨</m:t>
                    </m:r>
                    <m:sSub>
                      <m:sSubPr>
                        <m:ctrlPr>
                          <a:rPr lang="en-US" sz="1650" b="1" i="1" smtClean="0">
                            <a:solidFill>
                              <a:srgbClr val="6E7A8C"/>
                            </a:solidFill>
                            <a:latin typeface="Cambria Math" panose="02040503050406030204" pitchFamily="18" charset="0"/>
                            <a:ea typeface="Calibri" pitchFamily="34" charset="-122"/>
                            <a:cs typeface="Calibri" pitchFamily="34" charset="-120"/>
                          </a:rPr>
                        </m:ctrlPr>
                      </m:sSubPr>
                      <m:e>
                        <m:r>
                          <a:rPr lang="en-US" sz="1650" b="1" i="1" smtClean="0">
                            <a:solidFill>
                              <a:srgbClr val="6E7A8C"/>
                            </a:solidFill>
                            <a:latin typeface="Cambria Math" panose="02040503050406030204" pitchFamily="18" charset="0"/>
                            <a:ea typeface="Calibri" pitchFamily="34" charset="-122"/>
                            <a:cs typeface="Calibri" pitchFamily="34" charset="-120"/>
                          </a:rPr>
                          <m:t>𝑷</m:t>
                        </m:r>
                      </m:e>
                      <m:sub>
                        <m:r>
                          <a:rPr lang="en-US" sz="1650" b="1" i="1" smtClean="0">
                            <a:solidFill>
                              <a:srgbClr val="6E7A8C"/>
                            </a:solidFill>
                            <a:latin typeface="Cambria Math" panose="02040503050406030204" pitchFamily="18" charset="0"/>
                            <a:ea typeface="Calibri" pitchFamily="34" charset="-122"/>
                            <a:cs typeface="Calibri" pitchFamily="34" charset="-120"/>
                          </a:rPr>
                          <m:t>𝝅</m:t>
                        </m:r>
                      </m:sub>
                    </m:sSub>
                  </m:oMath>
                </a14:m>
                <a:r>
                  <a:rPr lang="en-US" sz="1650" dirty="0">
                    <a:solidFill>
                      <a:srgbClr val="6E7A8C"/>
                    </a:solidFill>
                    <a:latin typeface="Calibri" pitchFamily="34" charset="0"/>
                    <a:ea typeface="Calibri" pitchFamily="34" charset="-122"/>
                    <a:cs typeface="Calibri" pitchFamily="34" charset="-120"/>
                  </a:rPr>
                  <a:t>.</a:t>
                </a:r>
                <a:endParaRPr lang="en-US" sz="1650" dirty="0"/>
              </a:p>
            </p:txBody>
          </p:sp>
        </mc:Choice>
        <mc:Fallback>
          <p:sp>
            <p:nvSpPr>
              <p:cNvPr id="7" name="Text 4"/>
              <p:cNvSpPr>
                <a:spLocks noRot="1" noChangeAspect="1" noMove="1" noResize="1" noEditPoints="1" noAdjustHandles="1" noChangeArrowheads="1" noChangeShapeType="1" noTextEdit="1"/>
              </p:cNvSpPr>
              <p:nvPr/>
            </p:nvSpPr>
            <p:spPr>
              <a:xfrm>
                <a:off x="868680" y="4754880"/>
                <a:ext cx="10058400" cy="914400"/>
              </a:xfrm>
              <a:prstGeom prst="rect">
                <a:avLst/>
              </a:prstGeom>
              <a:blipFill>
                <a:blip r:embed="rId4"/>
                <a:stretch>
                  <a:fillRect l="-1261" t="-2740" r="-504"/>
                </a:stretch>
              </a:blipFill>
              <a:ln/>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4AF5E08-78E7-4E6C-8A08-0020DE1615F1}"/>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6B4E8E"/>
                </a:solidFill>
              </a:defRPr>
            </a:pPr>
            <a:r>
              <a:rPr sz="1125" b="1" i="0">
                <a:solidFill>
                  <a:srgbClr val="6B4E8E"/>
                </a:solidFill>
              </a:rPr>
              <a:t>POPULATION</a:t>
            </a:r>
          </a:p>
        </p:txBody>
      </p:sp>
      <p:sp>
        <p:nvSpPr>
          <p:cNvPr id="2" name="Rectangle 1">
            <a:extLst>
              <a:ext uri="{FF2B5EF4-FFF2-40B4-BE49-F238E27FC236}">
                <a16:creationId xmlns:a16="http://schemas.microsoft.com/office/drawing/2014/main" id="{D6C4A3AA-3E2F-4549-B15A-AAE39F0B91CE}"/>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What problems do we need to solve to improve AP?</a:t>
            </a:r>
          </a:p>
        </p:txBody>
      </p:sp>
      <p:sp>
        <p:nvSpPr>
          <p:cNvPr id="3" name="Rectangle 2">
            <a:extLst>
              <a:ext uri="{FF2B5EF4-FFF2-40B4-BE49-F238E27FC236}">
                <a16:creationId xmlns:a16="http://schemas.microsoft.com/office/drawing/2014/main" id="{B3750627-A415-4C69-9D33-102B9272F330}"/>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5" name="Rectangle 4">
            <a:extLst>
              <a:ext uri="{FF2B5EF4-FFF2-40B4-BE49-F238E27FC236}">
                <a16:creationId xmlns:a16="http://schemas.microsoft.com/office/drawing/2014/main" id="{7AFCB92C-B3DF-4330-99F6-18AE27184B71}"/>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08</a:t>
            </a:r>
          </a:p>
        </p:txBody>
      </p:sp>
      <p:sp>
        <p:nvSpPr>
          <p:cNvPr id="13" name="Rounded Rectangle 12">
            <a:extLst>
              <a:ext uri="{FF2B5EF4-FFF2-40B4-BE49-F238E27FC236}">
                <a16:creationId xmlns:a16="http://schemas.microsoft.com/office/drawing/2014/main" id="{312CE1D1-7828-4E92-BB0A-75C99779EB85}"/>
              </a:ext>
            </a:extLst>
          </p:cNvPr>
          <p:cNvSpPr>
            <a:spLocks noGrp="1"/>
          </p:cNvSpPr>
          <p:nvPr/>
        </p:nvSpPr>
        <p:spPr>
          <a:xfrm>
            <a:off x="365760" y="2514599"/>
            <a:ext cx="11379200" cy="1819275"/>
          </a:xfrm>
          <a:prstGeom prst="roundRect">
            <a:avLst>
              <a:gd name="adj" fmla="val 4839"/>
            </a:avLst>
          </a:prstGeom>
          <a:solidFill>
            <a:srgbClr val="F7E7CF"/>
          </a:solidFill>
          <a:ln w="0">
            <a:noFill/>
            <a:prstDash val="solid"/>
          </a:ln>
        </p:spPr>
        <p:txBody>
          <a:bodyPr/>
          <a:lstStyle/>
          <a:p>
            <a:pPr marL="342900" indent="-342900">
              <a:buFontTx/>
              <a:buAutoNum type="arabicPeriod"/>
            </a:pPr>
            <a:r>
              <a:rPr sz="2400"/>
              <a:t>Prevalence Standardization –&gt; AP should be standardized to explicitly declared target prevalence(s) relevant to where the model will be deployed.</a:t>
            </a:r>
          </a:p>
          <a:p>
            <a:pPr marL="342900" indent="-342900">
              <a:buAutoNum type="arabicPeriod"/>
            </a:pPr>
            <a:r>
              <a:rPr sz="2400"/>
              <a:t>Random ranking should produce AP=0</a:t>
            </a:r>
          </a:p>
          <a:p>
            <a:pPr marL="342900" indent="-342900">
              <a:buAutoNum type="arabicPeriod"/>
            </a:pPr>
            <a:r>
              <a:rPr sz="2400"/>
              <a:t>Perfect ranking should produce AP=1</a:t>
            </a:r>
          </a:p>
        </p:txBody>
      </p:sp>
    </p:spTree>
    <p:extLst>
      <p:ext uri="{BB962C8B-B14F-4D97-AF65-F5344CB8AC3E}">
        <p14:creationId xmlns:p14="http://schemas.microsoft.com/office/powerpoint/2010/main" val="1952789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7BAD08D-45D9-4C62-9BCB-0B2C5CFBF16F}"/>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0E7C66"/>
                </a:solidFill>
              </a:defRPr>
            </a:pPr>
            <a:r>
              <a:rPr sz="1125" b="1" i="0">
                <a:solidFill>
                  <a:srgbClr val="0E7C66"/>
                </a:solidFill>
              </a:rPr>
              <a:t>POPULATION</a:t>
            </a:r>
          </a:p>
        </p:txBody>
      </p:sp>
      <p:sp>
        <p:nvSpPr>
          <p:cNvPr id="2" name="Rectangle 1">
            <a:extLst>
              <a:ext uri="{FF2B5EF4-FFF2-40B4-BE49-F238E27FC236}">
                <a16:creationId xmlns:a16="http://schemas.microsoft.com/office/drawing/2014/main" id="{B0D562FC-62FB-4A02-B84E-7A74223B5CDE}"/>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Problem 1 – How to prevalence standardize</a:t>
            </a:r>
          </a:p>
        </p:txBody>
      </p:sp>
      <p:sp>
        <p:nvSpPr>
          <p:cNvPr id="3" name="Rectangle 2">
            <a:extLst>
              <a:ext uri="{FF2B5EF4-FFF2-40B4-BE49-F238E27FC236}">
                <a16:creationId xmlns:a16="http://schemas.microsoft.com/office/drawing/2014/main" id="{742A4865-7891-4828-B983-D4E1A919690B}"/>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5" name="Rectangle 4">
            <a:extLst>
              <a:ext uri="{FF2B5EF4-FFF2-40B4-BE49-F238E27FC236}">
                <a16:creationId xmlns:a16="http://schemas.microsoft.com/office/drawing/2014/main" id="{CB5525A5-48A2-4754-B668-18B292A16FF9}"/>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09</a:t>
            </a:r>
          </a:p>
        </p:txBody>
      </p:sp>
      <mc:AlternateContent xmlns:mc="http://schemas.openxmlformats.org/markup-compatibility/2006">
        <mc:Choice xmlns:a14="http://schemas.microsoft.com/office/drawing/2010/main" Requires="a14">
          <p:sp>
            <p:nvSpPr>
              <p:cNvPr id="6" name="Rounded Rectangle 5">
                <a:extLst>
                  <a:ext uri="{FF2B5EF4-FFF2-40B4-BE49-F238E27FC236}">
                    <a16:creationId xmlns:a16="http://schemas.microsoft.com/office/drawing/2014/main" id="{55B6E66E-03B3-4602-9B5B-EDDDF96C56E0}"/>
                  </a:ext>
                </a:extLst>
              </p:cNvPr>
              <p:cNvSpPr>
                <a:spLocks noGrp="1"/>
              </p:cNvSpPr>
              <p:nvPr/>
            </p:nvSpPr>
            <p:spPr>
              <a:xfrm>
                <a:off x="685800" y="4700588"/>
                <a:ext cx="10820400" cy="1147761"/>
              </a:xfrm>
              <a:prstGeom prst="roundRect">
                <a:avLst>
                  <a:gd name="adj" fmla="val 10345"/>
                </a:avLst>
              </a:prstGeom>
              <a:solidFill>
                <a:srgbClr val="FFFFFF"/>
              </a:solidFill>
              <a:ln w="19050">
                <a:solidFill>
                  <a:srgbClr val="D9DEE5"/>
                </a:solidFill>
                <a:prstDash val="solid"/>
              </a:ln>
            </p:spPr>
            <p:txBody>
              <a:bodyPr/>
              <a:lstStyle/>
              <a:p>
                <a:pPr>
                  <a:buNone/>
                </a:pPr>
                <a14:m>
                  <m:oMathPara xmlns:m="http://schemas.openxmlformats.org/officeDocument/2006/math">
                    <m:oMathParaPr>
                      <m:jc m:val="centerGroup"/>
                    </m:oMathParaPr>
                    <m:oMath xmlns:m="http://schemas.openxmlformats.org/officeDocument/2006/math">
                      <m:sSub>
                        <m:sSubPr>
                          <m:ctrlPr>
                            <a:rPr lang="en-US" sz="2800" b="0">
                              <a:latin typeface="Cambria Math" panose="02040503050406030204" pitchFamily="18" charset="0"/>
                              <a:ea typeface="Cambria Math"/>
                              <a:cs typeface="Cambria Math"/>
                            </a:rPr>
                          </m:ctrlPr>
                        </m:sSubPr>
                        <m:e>
                          <m:r>
                            <a:rPr lang="en-US" sz="2800" b="0" i="1">
                              <a:latin typeface="Cambria Math"/>
                              <a:ea typeface="Cambria Math"/>
                              <a:cs typeface="Cambria Math"/>
                            </a:rPr>
                            <m:t>𝑝</m:t>
                          </m:r>
                        </m:e>
                        <m:sub>
                          <m:r>
                            <a:rPr lang="en-US" sz="2800" b="0" i="1">
                              <a:latin typeface="Cambria Math"/>
                              <a:ea typeface="Cambria Math"/>
                              <a:cs typeface="Cambria Math"/>
                            </a:rPr>
                            <m:t>𝜋</m:t>
                          </m:r>
                          <m:r>
                            <a:rPr lang="en-US" sz="2800" b="0" i="1">
                              <a:latin typeface="Cambria Math"/>
                              <a:ea typeface="Cambria Math"/>
                              <a:cs typeface="Cambria Math"/>
                            </a:rPr>
                            <m:t> </m:t>
                          </m:r>
                        </m:sub>
                      </m:sSub>
                      <m:r>
                        <a:rPr lang="en-US" sz="2800" b="0" i="1">
                          <a:latin typeface="Cambria Math"/>
                          <a:ea typeface="Cambria Math"/>
                          <a:cs typeface="Cambria Math"/>
                        </a:rPr>
                        <m:t>(</m:t>
                      </m:r>
                      <m:r>
                        <a:rPr lang="en-US" sz="2800" b="0" i="1">
                          <a:latin typeface="Cambria Math"/>
                          <a:ea typeface="Cambria Math"/>
                          <a:cs typeface="Cambria Math"/>
                        </a:rPr>
                        <m:t>𝑡h𝑟𝑒𝑠h𝑜𝑙𝑑</m:t>
                      </m:r>
                      <m:r>
                        <a:rPr lang="en-US" sz="2800" b="0" i="1">
                          <a:latin typeface="Cambria Math"/>
                          <a:ea typeface="Cambria Math"/>
                          <a:cs typeface="Cambria Math"/>
                        </a:rPr>
                        <m:t>)=</m:t>
                      </m:r>
                      <m:f>
                        <m:fPr>
                          <m:ctrlPr>
                            <a:rPr lang="en-US" sz="2800" b="0" i="1">
                              <a:latin typeface="Cambria Math" panose="02040503050406030204" pitchFamily="18" charset="0"/>
                              <a:ea typeface="Cambria Math"/>
                              <a:cs typeface="Cambria Math"/>
                            </a:rPr>
                          </m:ctrlPr>
                        </m:fPr>
                        <m:num>
                          <m:r>
                            <a:rPr lang="en-US" sz="2800" b="0" i="1">
                              <a:latin typeface="Cambria Math"/>
                              <a:ea typeface="Cambria Math"/>
                              <a:cs typeface="Cambria Math"/>
                            </a:rPr>
                            <m:t>𝜋</m:t>
                          </m:r>
                          <m:r>
                            <a:rPr lang="en-US" sz="2800" b="0" i="1">
                              <a:latin typeface="Cambria Math"/>
                              <a:ea typeface="Cambria Math"/>
                              <a:cs typeface="Cambria Math"/>
                            </a:rPr>
                            <m:t>⋅</m:t>
                          </m:r>
                          <m:r>
                            <a:rPr lang="en-US" sz="2800" b="0" i="1">
                              <a:latin typeface="Cambria Math"/>
                              <a:ea typeface="Cambria Math"/>
                              <a:cs typeface="Cambria Math"/>
                            </a:rPr>
                            <m:t>𝑇𝑃</m:t>
                          </m:r>
                          <m:r>
                            <a:rPr lang="en-US" sz="2800" b="0" i="1">
                              <a:latin typeface="Cambria Math"/>
                              <a:ea typeface="Cambria Math"/>
                              <a:cs typeface="Cambria Math"/>
                            </a:rPr>
                            <m:t>(</m:t>
                          </m:r>
                          <m:r>
                            <a:rPr lang="en-US" sz="2800" b="0" i="1">
                              <a:latin typeface="Cambria Math"/>
                              <a:ea typeface="Cambria Math"/>
                              <a:cs typeface="Cambria Math"/>
                            </a:rPr>
                            <m:t>𝑡h𝑟𝑒𝑠h𝑜𝑙𝑑</m:t>
                          </m:r>
                          <m:r>
                            <a:rPr lang="en-US" sz="2800" b="0" i="1">
                              <a:latin typeface="Cambria Math"/>
                              <a:ea typeface="Cambria Math"/>
                              <a:cs typeface="Cambria Math"/>
                            </a:rPr>
                            <m:t>)</m:t>
                          </m:r>
                        </m:num>
                        <m:den>
                          <m:r>
                            <a:rPr lang="en-US" sz="2800" b="0" i="1">
                              <a:latin typeface="Cambria Math"/>
                              <a:ea typeface="Cambria Math"/>
                              <a:cs typeface="Cambria Math"/>
                            </a:rPr>
                            <m:t>𝜋</m:t>
                          </m:r>
                          <m:r>
                            <a:rPr lang="en-US" sz="2800" b="0" i="1">
                              <a:latin typeface="Cambria Math"/>
                              <a:ea typeface="Cambria Math"/>
                              <a:cs typeface="Cambria Math"/>
                            </a:rPr>
                            <m:t>⋅</m:t>
                          </m:r>
                          <m:r>
                            <a:rPr lang="en-US" sz="2800" b="0" i="1">
                              <a:latin typeface="Cambria Math"/>
                              <a:ea typeface="Cambria Math"/>
                              <a:cs typeface="Cambria Math"/>
                            </a:rPr>
                            <m:t>𝑇𝑃</m:t>
                          </m:r>
                          <m:d>
                            <m:dPr>
                              <m:ctrlPr>
                                <a:rPr lang="en-US" sz="2800" b="0" i="1">
                                  <a:latin typeface="Cambria Math" panose="02040503050406030204" pitchFamily="18" charset="0"/>
                                  <a:ea typeface="Cambria Math"/>
                                  <a:cs typeface="Cambria Math"/>
                                </a:rPr>
                              </m:ctrlPr>
                            </m:dPr>
                            <m:e>
                              <m:r>
                                <a:rPr lang="en-US" sz="2800" b="0" i="1">
                                  <a:latin typeface="Cambria Math"/>
                                  <a:ea typeface="Cambria Math"/>
                                  <a:cs typeface="Cambria Math"/>
                                </a:rPr>
                                <m:t>𝑡h𝑟𝑒𝑠h𝑜𝑙𝑑</m:t>
                              </m:r>
                            </m:e>
                          </m:d>
                          <m:r>
                            <a:rPr lang="en-US" sz="2800" b="0" i="1">
                              <a:latin typeface="Cambria Math"/>
                              <a:ea typeface="Cambria Math"/>
                              <a:cs typeface="Cambria Math"/>
                            </a:rPr>
                            <m:t>+</m:t>
                          </m:r>
                          <m:d>
                            <m:dPr>
                              <m:ctrlPr>
                                <a:rPr lang="en-US" sz="2800" b="0" i="1">
                                  <a:latin typeface="Cambria Math" panose="02040503050406030204" pitchFamily="18" charset="0"/>
                                  <a:ea typeface="Cambria Math"/>
                                  <a:cs typeface="Cambria Math"/>
                                </a:rPr>
                              </m:ctrlPr>
                            </m:dPr>
                            <m:e>
                              <m:r>
                                <a:rPr lang="en-US" sz="2800" b="0" i="1">
                                  <a:latin typeface="Cambria Math"/>
                                  <a:ea typeface="Cambria Math"/>
                                  <a:cs typeface="Cambria Math"/>
                                </a:rPr>
                                <m:t>1−</m:t>
                              </m:r>
                              <m:r>
                                <a:rPr lang="en-US" sz="2800" b="0" i="1">
                                  <a:latin typeface="Cambria Math"/>
                                  <a:ea typeface="Cambria Math"/>
                                  <a:cs typeface="Cambria Math"/>
                                </a:rPr>
                                <m:t>𝜋</m:t>
                              </m:r>
                            </m:e>
                          </m:d>
                          <m:r>
                            <a:rPr lang="en-US" sz="2800" b="0" i="1">
                              <a:latin typeface="Cambria Math"/>
                              <a:ea typeface="Cambria Math"/>
                              <a:cs typeface="Cambria Math"/>
                            </a:rPr>
                            <m:t>⋅</m:t>
                          </m:r>
                          <m:r>
                            <a:rPr lang="en-US" sz="2800" b="0" i="1">
                              <a:latin typeface="Cambria Math"/>
                              <a:ea typeface="Cambria Math"/>
                              <a:cs typeface="Cambria Math"/>
                            </a:rPr>
                            <m:t>𝐹𝑃</m:t>
                          </m:r>
                          <m:r>
                            <a:rPr lang="en-US" sz="2800" b="0" i="1">
                              <a:latin typeface="Cambria Math"/>
                              <a:ea typeface="Cambria Math"/>
                              <a:cs typeface="Cambria Math"/>
                            </a:rPr>
                            <m:t>(</m:t>
                          </m:r>
                          <m:r>
                            <a:rPr lang="en-US" sz="2800" b="0" i="1">
                              <a:latin typeface="Cambria Math"/>
                              <a:ea typeface="Cambria Math"/>
                              <a:cs typeface="Cambria Math"/>
                            </a:rPr>
                            <m:t>𝑡h𝑟𝑒𝑠h𝑜𝑙𝑑</m:t>
                          </m:r>
                          <m:r>
                            <a:rPr lang="en-US" sz="2800" b="0" i="1">
                              <a:latin typeface="Cambria Math"/>
                              <a:ea typeface="Cambria Math"/>
                              <a:cs typeface="Cambria Math"/>
                            </a:rPr>
                            <m:t>)</m:t>
                          </m:r>
                        </m:den>
                      </m:f>
                    </m:oMath>
                  </m:oMathPara>
                </a14:m>
                <a:endParaRPr/>
              </a:p>
            </p:txBody>
          </p:sp>
        </mc:Choice>
        <mc:Fallback>
          <p:sp>
            <p:nvSpPr>
              <p:cNvPr id="6" name="Rounded Rectangle 5">
                <a:extLst>
                  <a:ext uri="{FF2B5EF4-FFF2-40B4-BE49-F238E27FC236}">
                    <a16:creationId xmlns:a16="http://schemas.microsoft.com/office/drawing/2014/main" id="{55B6E66E-03B3-4602-9B5B-EDDDF96C56E0}"/>
                  </a:ext>
                </a:extLst>
              </p:cNvPr>
              <p:cNvSpPr>
                <a:spLocks noGrp="1" noRot="1" noChangeAspect="1" noMove="1" noResize="1" noEditPoints="1" noAdjustHandles="1" noChangeArrowheads="1" noChangeShapeType="1" noTextEdit="1"/>
              </p:cNvSpPr>
              <p:nvPr/>
            </p:nvSpPr>
            <p:spPr>
              <a:xfrm>
                <a:off x="685800" y="4700588"/>
                <a:ext cx="10820400" cy="1147761"/>
              </a:xfrm>
              <a:prstGeom prst="roundRect">
                <a:avLst>
                  <a:gd name="adj" fmla="val 10345"/>
                </a:avLst>
              </a:prstGeom>
              <a:blipFill>
                <a:blip r:embed="rId3"/>
                <a:stretch>
                  <a:fillRect/>
                </a:stretch>
              </a:blipFill>
              <a:ln w="19050">
                <a:solidFill>
                  <a:srgbClr val="D9DEE5"/>
                </a:solidFill>
                <a:prstDash val="soli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F04F18A-94FB-8E57-B53C-9BC3C302CA63}"/>
                  </a:ext>
                </a:extLst>
              </p:cNvPr>
              <p:cNvSpPr>
                <a:spLocks noGrp="1"/>
              </p:cNvSpPr>
              <p:nvPr/>
            </p:nvSpPr>
            <p:spPr>
              <a:xfrm>
                <a:off x="1219200" y="1771650"/>
                <a:ext cx="10287000" cy="2400657"/>
              </a:xfrm>
              <a:prstGeom prst="rect">
                <a:avLst/>
              </a:prstGeom>
              <a:noFill/>
            </p:spPr>
            <p:txBody>
              <a:bodyPr wrap="square">
                <a:spAutoFit/>
              </a:bodyPr>
              <a:lstStyle/>
              <a:p>
                <a:r>
                  <a:rPr sz="3000"/>
                  <a:t>Solution:</a:t>
                </a:r>
              </a:p>
              <a:p>
                <a:r>
                  <a:rPr sz="3000"/>
                  <a:t> </a:t>
                </a:r>
              </a:p>
              <a:p>
                <a:pPr>
                  <a:buNone/>
                </a:pPr>
                <a:r>
                  <a:rPr sz="3000"/>
                  <a:t>Add prevalence of the test time population, </a:t>
                </a:r>
                <a14:m>
                  <m:oMath xmlns:m="http://schemas.openxmlformats.org/officeDocument/2006/math">
                    <m:r>
                      <a:rPr lang="en-US" sz="3000" b="0" i="1">
                        <a:latin typeface="Cambria Math"/>
                        <a:ea typeface="Cambria Math"/>
                        <a:cs typeface="Cambria Math"/>
                      </a:rPr>
                      <m:t>𝜋</m:t>
                    </m:r>
                  </m:oMath>
                </a14:m>
                <a:r>
                  <a:rPr sz="3000"/>
                  <a:t>, directly to the definition of precision.  Different researchers can then standardize to a common test set prevalence</a:t>
                </a:r>
              </a:p>
            </p:txBody>
          </p:sp>
        </mc:Choice>
        <mc:Fallback>
          <p:sp>
            <p:nvSpPr>
              <p:cNvPr id="7" name="TextBox 6">
                <a:extLst>
                  <a:ext uri="{FF2B5EF4-FFF2-40B4-BE49-F238E27FC236}">
                    <a16:creationId xmlns:a16="http://schemas.microsoft.com/office/drawing/2014/main" id="{0F04F18A-94FB-8E57-B53C-9BC3C302CA63}"/>
                  </a:ext>
                </a:extLst>
              </p:cNvPr>
              <p:cNvSpPr>
                <a:spLocks noGrp="1" noRot="1" noChangeAspect="1" noMove="1" noResize="1" noEditPoints="1" noAdjustHandles="1" noChangeArrowheads="1" noChangeShapeType="1" noTextEdit="1"/>
              </p:cNvSpPr>
              <p:nvPr/>
            </p:nvSpPr>
            <p:spPr>
              <a:xfrm>
                <a:off x="1219200" y="1771650"/>
                <a:ext cx="10287000" cy="2400657"/>
              </a:xfrm>
              <a:prstGeom prst="rect">
                <a:avLst/>
              </a:prstGeom>
              <a:blipFill>
                <a:blip r:embed="rId4"/>
                <a:stretch>
                  <a:fillRect l="-1480" t="-3158" b="-6842"/>
                </a:stretch>
              </a:blipFill>
            </p:spPr>
            <p:txBody>
              <a:bodyPr/>
              <a:lstStyle/>
              <a:p>
                <a:r>
                  <a:rPr lang="en-US">
                    <a:noFill/>
                  </a:rPr>
                  <a:t> </a:t>
                </a:r>
              </a:p>
            </p:txBody>
          </p:sp>
        </mc:Fallback>
      </mc:AlternateContent>
    </p:spTree>
    <p:extLst>
      <p:ext uri="{BB962C8B-B14F-4D97-AF65-F5344CB8AC3E}">
        <p14:creationId xmlns:p14="http://schemas.microsoft.com/office/powerpoint/2010/main" val="2003227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2EBC8ED-8248-4384-AB1B-232E701D805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6B4E8E"/>
                </a:solidFill>
              </a:defRPr>
            </a:pPr>
            <a:r>
              <a:rPr sz="1125" b="1" i="0">
                <a:solidFill>
                  <a:srgbClr val="6B4E8E"/>
                </a:solidFill>
              </a:rPr>
              <a:t>POPULATION</a:t>
            </a:r>
          </a:p>
        </p:txBody>
      </p:sp>
      <p:sp>
        <p:nvSpPr>
          <p:cNvPr id="2" name="Rectangle 1">
            <a:extLst>
              <a:ext uri="{FF2B5EF4-FFF2-40B4-BE49-F238E27FC236}">
                <a16:creationId xmlns:a16="http://schemas.microsoft.com/office/drawing/2014/main" id="{68ADCE26-6883-472E-96E2-C2FDFC9F4B1D}"/>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Problems 2 and 3 - How </a:t>
            </a:r>
            <a:r>
              <a:rPr sz="3600" b="1">
                <a:solidFill>
                  <a:srgbClr val="11253D"/>
                </a:solidFill>
              </a:rPr>
              <a:t>to ensure random classifier produces </a:t>
            </a:r>
            <a:r>
              <a:rPr sz="3600" b="1" i="0">
                <a:solidFill>
                  <a:srgbClr val="11253D"/>
                </a:solidFill>
              </a:rPr>
              <a:t>AP=0 and perfect classifier produced AP=1?</a:t>
            </a:r>
          </a:p>
        </p:txBody>
      </p:sp>
      <p:sp>
        <p:nvSpPr>
          <p:cNvPr id="3" name="Rectangle 2">
            <a:extLst>
              <a:ext uri="{FF2B5EF4-FFF2-40B4-BE49-F238E27FC236}">
                <a16:creationId xmlns:a16="http://schemas.microsoft.com/office/drawing/2014/main" id="{1F6EA129-8A02-46B4-8EEE-42630D8AE556}"/>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A2C15606-7BCB-4112-83F8-5A4BDDEBE4E7}"/>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POPULATION</a:t>
            </a:r>
          </a:p>
        </p:txBody>
      </p:sp>
      <p:sp>
        <p:nvSpPr>
          <p:cNvPr id="5" name="Rectangle 4">
            <a:extLst>
              <a:ext uri="{FF2B5EF4-FFF2-40B4-BE49-F238E27FC236}">
                <a16:creationId xmlns:a16="http://schemas.microsoft.com/office/drawing/2014/main" id="{F9547945-53F4-4CEE-B7D6-1C44422B1D7C}"/>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11</a:t>
            </a:r>
          </a:p>
        </p:txBody>
      </p:sp>
      <p:sp>
        <p:nvSpPr>
          <p:cNvPr id="6" name="Rectangle 5">
            <a:extLst>
              <a:ext uri="{FF2B5EF4-FFF2-40B4-BE49-F238E27FC236}">
                <a16:creationId xmlns:a16="http://schemas.microsoft.com/office/drawing/2014/main" id="{B0E20049-CA1C-4C93-9ED1-48AC7AC3BB69}"/>
              </a:ext>
            </a:extLst>
          </p:cNvPr>
          <p:cNvSpPr>
            <a:spLocks noGrp="1"/>
          </p:cNvSpPr>
          <p:nvPr/>
        </p:nvSpPr>
        <p:spPr>
          <a:xfrm>
            <a:off x="1009650" y="2910840"/>
            <a:ext cx="3143250" cy="361950"/>
          </a:xfrm>
          <a:prstGeom prst="rect">
            <a:avLst/>
          </a:prstGeom>
          <a:noFill/>
          <a:ln w="0">
            <a:noFill/>
            <a:prstDash val="solid"/>
          </a:ln>
        </p:spPr>
        <p:txBody>
          <a:bodyPr/>
          <a:lstStyle/>
          <a:p>
            <a:pPr algn="l">
              <a:buNone/>
              <a:defRPr sz="2100" b="0" i="0">
                <a:solidFill>
                  <a:srgbClr val="5F6B78"/>
                </a:solidFill>
              </a:defRPr>
            </a:pPr>
            <a:r>
              <a:rPr sz="2100" b="0" i="0">
                <a:solidFill>
                  <a:srgbClr val="5F6B78"/>
                </a:solidFill>
              </a:rPr>
              <a:t>Random ranking still has</a:t>
            </a:r>
          </a:p>
        </p:txBody>
      </p:sp>
      <p:pic>
        <p:nvPicPr>
          <p:cNvPr id="25" name="Picture 21"/>
          <p:cNvPicPr>
            <a:picLocks noChangeAspect="1"/>
          </p:cNvPicPr>
          <p:nvPr/>
        </p:nvPicPr>
        <p:blipFill>
          <a:blip r:embed="rId3"/>
          <a:stretch/>
        </p:blipFill>
        <p:spPr>
          <a:xfrm>
            <a:off x="1426618" y="3348990"/>
            <a:ext cx="2233115" cy="628650"/>
          </a:xfrm>
          <a:prstGeom prst="rect">
            <a:avLst/>
          </a:prstGeom>
        </p:spPr>
      </p:pic>
      <p:sp>
        <p:nvSpPr>
          <p:cNvPr id="8" name="Rectangle 7">
            <a:extLst>
              <a:ext uri="{FF2B5EF4-FFF2-40B4-BE49-F238E27FC236}">
                <a16:creationId xmlns:a16="http://schemas.microsoft.com/office/drawing/2014/main" id="{C3B311B7-6B03-495B-9B4B-7B6E269EA7C4}"/>
              </a:ext>
            </a:extLst>
          </p:cNvPr>
          <p:cNvSpPr>
            <a:spLocks noGrp="1"/>
          </p:cNvSpPr>
          <p:nvPr/>
        </p:nvSpPr>
        <p:spPr>
          <a:xfrm>
            <a:off x="1009650" y="4263390"/>
            <a:ext cx="4095750" cy="1047750"/>
          </a:xfrm>
          <a:prstGeom prst="rect">
            <a:avLst/>
          </a:prstGeom>
          <a:noFill/>
          <a:ln w="0">
            <a:noFill/>
            <a:prstDash val="solid"/>
          </a:ln>
        </p:spPr>
        <p:txBody>
          <a:bodyPr/>
          <a:lstStyle/>
          <a:p>
            <a:pPr algn="l">
              <a:buNone/>
              <a:defRPr sz="1950" b="1" i="0">
                <a:solidFill>
                  <a:srgbClr val="11253D"/>
                </a:solidFill>
              </a:defRPr>
            </a:pPr>
            <a:r>
              <a:rPr sz="1950" b="1" i="0">
                <a:solidFill>
                  <a:srgbClr val="11253D"/>
                </a:solidFill>
              </a:rPr>
              <a:t>So a raw AP of 0.30 means</a:t>
            </a:r>
          </a:p>
          <a:p>
            <a:pPr algn="l">
              <a:buNone/>
              <a:defRPr sz="1950" b="1" i="0">
                <a:solidFill>
                  <a:srgbClr val="11253D"/>
                </a:solidFill>
              </a:defRPr>
            </a:pPr>
            <a:r>
              <a:rPr sz="1950" b="1" i="0">
                <a:solidFill>
                  <a:srgbClr val="11253D"/>
                </a:solidFill>
              </a:rPr>
              <a:t>something different at 1%</a:t>
            </a:r>
          </a:p>
          <a:p>
            <a:pPr algn="l">
              <a:buNone/>
              <a:defRPr sz="1950" b="1" i="0">
                <a:solidFill>
                  <a:srgbClr val="11253D"/>
                </a:solidFill>
              </a:defRPr>
            </a:pPr>
            <a:r>
              <a:rPr sz="1950" b="1" i="0">
                <a:solidFill>
                  <a:srgbClr val="11253D"/>
                </a:solidFill>
              </a:rPr>
              <a:t>than at 20% prevalence.</a:t>
            </a:r>
          </a:p>
        </p:txBody>
      </p:sp>
      <p:sp>
        <p:nvSpPr>
          <p:cNvPr id="9" name="Rectangle 8">
            <a:extLst>
              <a:ext uri="{FF2B5EF4-FFF2-40B4-BE49-F238E27FC236}">
                <a16:creationId xmlns:a16="http://schemas.microsoft.com/office/drawing/2014/main" id="{95928A93-0ADF-4349-9AAA-AC09EAF7DF24}"/>
              </a:ext>
            </a:extLst>
          </p:cNvPr>
          <p:cNvSpPr>
            <a:spLocks noGrp="1"/>
          </p:cNvSpPr>
          <p:nvPr/>
        </p:nvSpPr>
        <p:spPr>
          <a:xfrm>
            <a:off x="5391150" y="3882390"/>
            <a:ext cx="476250" cy="400050"/>
          </a:xfrm>
          <a:prstGeom prst="rect">
            <a:avLst/>
          </a:prstGeom>
          <a:noFill/>
          <a:ln w="0">
            <a:noFill/>
            <a:prstDash val="solid"/>
          </a:ln>
        </p:spPr>
        <p:txBody>
          <a:bodyPr/>
          <a:lstStyle/>
          <a:p>
            <a:pPr algn="ctr">
              <a:buNone/>
              <a:defRPr sz="3750" b="1" i="0">
                <a:solidFill>
                  <a:srgbClr val="5F6B78"/>
                </a:solidFill>
              </a:defRPr>
            </a:pPr>
            <a:r>
              <a:rPr sz="3750" b="1" i="0">
                <a:solidFill>
                  <a:srgbClr val="5F6B78"/>
                </a:solidFill>
              </a:rPr>
              <a:t>→</a:t>
            </a:r>
          </a:p>
        </p:txBody>
      </p:sp>
      <p:sp>
        <p:nvSpPr>
          <p:cNvPr id="10" name="Rounded Rectangle 9">
            <a:extLst>
              <a:ext uri="{FF2B5EF4-FFF2-40B4-BE49-F238E27FC236}">
                <a16:creationId xmlns:a16="http://schemas.microsoft.com/office/drawing/2014/main" id="{9AE3BD14-2CB8-4A0B-B466-0F3C652B85F8}"/>
              </a:ext>
            </a:extLst>
          </p:cNvPr>
          <p:cNvSpPr>
            <a:spLocks noGrp="1"/>
          </p:cNvSpPr>
          <p:nvPr/>
        </p:nvSpPr>
        <p:spPr>
          <a:xfrm>
            <a:off x="6438900" y="2834640"/>
            <a:ext cx="4552950" cy="2286000"/>
          </a:xfrm>
          <a:prstGeom prst="roundRect">
            <a:avLst>
              <a:gd name="adj" fmla="val 5000"/>
            </a:avLst>
          </a:prstGeom>
          <a:solidFill>
            <a:srgbClr val="FFFFFF"/>
          </a:solidFill>
          <a:ln w="19050">
            <a:solidFill>
              <a:srgbClr val="D9DEE5"/>
            </a:solidFill>
            <a:prstDash val="solid"/>
          </a:ln>
        </p:spPr>
        <p:txBody>
          <a:bodyPr/>
          <a:lstStyle/>
          <a:p>
            <a:endParaRPr/>
          </a:p>
        </p:txBody>
      </p:sp>
      <p:pic>
        <p:nvPicPr>
          <p:cNvPr id="29" name="Picture 25"/>
          <p:cNvPicPr>
            <a:picLocks noChangeAspect="1"/>
          </p:cNvPicPr>
          <p:nvPr/>
        </p:nvPicPr>
        <p:blipFill>
          <a:blip r:embed="rId4"/>
          <a:stretch/>
        </p:blipFill>
        <p:spPr>
          <a:xfrm>
            <a:off x="7251652" y="3196590"/>
            <a:ext cx="2927447" cy="781050"/>
          </a:xfrm>
          <a:prstGeom prst="rect">
            <a:avLst/>
          </a:prstGeom>
        </p:spPr>
      </p:pic>
      <p:sp>
        <p:nvSpPr>
          <p:cNvPr id="12" name="Rectangle 11">
            <a:extLst>
              <a:ext uri="{FF2B5EF4-FFF2-40B4-BE49-F238E27FC236}">
                <a16:creationId xmlns:a16="http://schemas.microsoft.com/office/drawing/2014/main" id="{71D27EED-C08C-4964-82CB-8A392E9AFB15}"/>
              </a:ext>
            </a:extLst>
          </p:cNvPr>
          <p:cNvSpPr>
            <a:spLocks noGrp="1"/>
          </p:cNvSpPr>
          <p:nvPr/>
        </p:nvSpPr>
        <p:spPr>
          <a:xfrm>
            <a:off x="6762750" y="4149090"/>
            <a:ext cx="3905250" cy="285750"/>
          </a:xfrm>
          <a:prstGeom prst="rect">
            <a:avLst/>
          </a:prstGeom>
          <a:noFill/>
          <a:ln w="0">
            <a:noFill/>
            <a:prstDash val="solid"/>
          </a:ln>
        </p:spPr>
        <p:txBody>
          <a:bodyPr/>
          <a:lstStyle/>
          <a:p>
            <a:pPr algn="ctr">
              <a:buNone/>
              <a:defRPr sz="1650" b="0" i="0">
                <a:solidFill>
                  <a:srgbClr val="5F6B78"/>
                </a:solidFill>
              </a:defRPr>
            </a:pPr>
            <a:r>
              <a:rPr sz="1650" b="0" i="0">
                <a:solidFill>
                  <a:srgbClr val="5F6B78"/>
                </a:solidFill>
              </a:rPr>
              <a:t>0 marks population random ranking</a:t>
            </a:r>
          </a:p>
        </p:txBody>
      </p:sp>
      <p:sp>
        <p:nvSpPr>
          <p:cNvPr id="13" name="Rectangle 12">
            <a:extLst>
              <a:ext uri="{FF2B5EF4-FFF2-40B4-BE49-F238E27FC236}">
                <a16:creationId xmlns:a16="http://schemas.microsoft.com/office/drawing/2014/main" id="{3488085B-A2FA-4EB7-B037-4E3649D87BA5}"/>
              </a:ext>
            </a:extLst>
          </p:cNvPr>
          <p:cNvSpPr>
            <a:spLocks noGrp="1"/>
          </p:cNvSpPr>
          <p:nvPr/>
        </p:nvSpPr>
        <p:spPr>
          <a:xfrm>
            <a:off x="6762750" y="4549140"/>
            <a:ext cx="3905250" cy="285750"/>
          </a:xfrm>
          <a:prstGeom prst="rect">
            <a:avLst/>
          </a:prstGeom>
          <a:noFill/>
          <a:ln w="0">
            <a:noFill/>
            <a:prstDash val="solid"/>
          </a:ln>
        </p:spPr>
        <p:txBody>
          <a:bodyPr/>
          <a:lstStyle/>
          <a:p>
            <a:pPr algn="ctr">
              <a:buNone/>
              <a:defRPr sz="1650" b="0" i="0">
                <a:solidFill>
                  <a:srgbClr val="5F6B78"/>
                </a:solidFill>
              </a:defRPr>
            </a:pPr>
            <a:r>
              <a:rPr sz="1650" b="0" i="0">
                <a:solidFill>
                  <a:srgbClr val="5F6B78"/>
                </a:solidFill>
              </a:rPr>
              <a:t>1 marks perfect ranking</a:t>
            </a:r>
          </a:p>
        </p:txBody>
      </p:sp>
    </p:spTree>
    <p:extLst>
      <p:ext uri="{BB962C8B-B14F-4D97-AF65-F5344CB8AC3E}">
        <p14:creationId xmlns:p14="http://schemas.microsoft.com/office/powerpoint/2010/main" val="974933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419C6-B94B-8F44-F300-95E0905CA8DB}"/>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1D59DDAD-344A-F050-5BC2-17BC8414A198}"/>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POPULATION</a:t>
            </a:r>
          </a:p>
        </p:txBody>
      </p:sp>
      <p:sp>
        <p:nvSpPr>
          <p:cNvPr id="2" name="Rectangle 1">
            <a:extLst>
              <a:ext uri="{FF2B5EF4-FFF2-40B4-BE49-F238E27FC236}">
                <a16:creationId xmlns:a16="http://schemas.microsoft.com/office/drawing/2014/main" id="{76C0ACA5-AE6C-B74A-F678-28278009EFF3}"/>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AP needs a target prevalence</a:t>
            </a:r>
          </a:p>
        </p:txBody>
      </p:sp>
      <p:sp>
        <p:nvSpPr>
          <p:cNvPr id="3" name="Rectangle 2">
            <a:extLst>
              <a:ext uri="{FF2B5EF4-FFF2-40B4-BE49-F238E27FC236}">
                <a16:creationId xmlns:a16="http://schemas.microsoft.com/office/drawing/2014/main" id="{EAAA0DE5-E070-6330-0AF9-845E83E566D9}"/>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C6E5FF9A-085C-5C14-4C94-D622BB467067}"/>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POPULATION</a:t>
            </a:r>
          </a:p>
        </p:txBody>
      </p:sp>
      <p:sp>
        <p:nvSpPr>
          <p:cNvPr id="5" name="Rectangle 4">
            <a:extLst>
              <a:ext uri="{FF2B5EF4-FFF2-40B4-BE49-F238E27FC236}">
                <a16:creationId xmlns:a16="http://schemas.microsoft.com/office/drawing/2014/main" id="{6A86DA1C-DCCA-04B3-99DD-6F2A299C21BC}"/>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21</a:t>
            </a:r>
          </a:p>
        </p:txBody>
      </p:sp>
      <p:pic>
        <p:nvPicPr>
          <p:cNvPr id="25" name="Picture 24">
            <a:extLst>
              <a:ext uri="{FF2B5EF4-FFF2-40B4-BE49-F238E27FC236}">
                <a16:creationId xmlns:a16="http://schemas.microsoft.com/office/drawing/2014/main" id="{3C552549-6E6C-F850-8D6C-73B14F0C608A}"/>
              </a:ext>
            </a:extLst>
          </p:cNvPr>
          <p:cNvPicPr>
            <a:picLocks noChangeAspect="1"/>
          </p:cNvPicPr>
          <p:nvPr/>
        </p:nvPicPr>
        <p:blipFill>
          <a:blip r:embed="rId3"/>
          <a:stretch/>
        </p:blipFill>
        <p:spPr>
          <a:xfrm>
            <a:off x="713491" y="1847850"/>
            <a:ext cx="10765017" cy="4400550"/>
          </a:xfrm>
          <a:prstGeom prst="rect">
            <a:avLst/>
          </a:prstGeom>
        </p:spPr>
      </p:pic>
    </p:spTree>
    <p:extLst>
      <p:ext uri="{BB962C8B-B14F-4D97-AF65-F5344CB8AC3E}">
        <p14:creationId xmlns:p14="http://schemas.microsoft.com/office/powerpoint/2010/main" val="3638909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CE2587A-6B92-488F-9F62-72F1D60DE6EF}"/>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POPULATION</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148FDD88-6A23-47F6-A739-591BD39FFCD3}"/>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My idea:  </a:t>
                </a:r>
                <a:r>
                  <a:rPr sz="3600" i="0">
                    <a:solidFill>
                      <a:srgbClr val="11253D"/>
                    </a:solidFill>
                  </a:rPr>
                  <a:t>Evaluate </a:t>
                </a:r>
                <a14:m>
                  <m:oMath xmlns:m="http://schemas.openxmlformats.org/officeDocument/2006/math">
                    <m:r>
                      <a:rPr lang="en-US" sz="3600" b="0" i="1">
                        <a:solidFill>
                          <a:srgbClr val="11253D"/>
                        </a:solidFill>
                        <a:latin typeface="Cambria Math"/>
                        <a:ea typeface="Cambria Math"/>
                        <a:cs typeface="Cambria Math"/>
                      </a:rPr>
                      <m:t>𝐶𝑁𝐴</m:t>
                    </m:r>
                    <m:sSub>
                      <m:sSubPr>
                        <m:ctrlPr>
                          <a:rPr lang="en-US" sz="3600" b="0" i="1">
                            <a:solidFill>
                              <a:srgbClr val="11253D"/>
                            </a:solidFill>
                            <a:latin typeface="Cambria Math" panose="02040503050406030204" pitchFamily="18" charset="0"/>
                            <a:ea typeface="Cambria Math"/>
                            <a:cs typeface="Cambria Math"/>
                          </a:rPr>
                        </m:ctrlPr>
                      </m:sSubPr>
                      <m:e>
                        <m:r>
                          <a:rPr lang="en-US" sz="3600" b="0" i="1">
                            <a:solidFill>
                              <a:srgbClr val="11253D"/>
                            </a:solidFill>
                            <a:latin typeface="Cambria Math"/>
                            <a:ea typeface="Cambria Math"/>
                            <a:cs typeface="Cambria Math"/>
                          </a:rPr>
                          <m:t>𝑃</m:t>
                        </m:r>
                      </m:e>
                      <m:sub>
                        <m:r>
                          <a:rPr lang="en-US" sz="3600" b="0" i="1">
                            <a:solidFill>
                              <a:srgbClr val="11253D"/>
                            </a:solidFill>
                            <a:latin typeface="Cambria Math"/>
                            <a:ea typeface="Cambria Math"/>
                            <a:cs typeface="Cambria Math"/>
                          </a:rPr>
                          <m:t>𝜋</m:t>
                        </m:r>
                      </m:sub>
                    </m:sSub>
                  </m:oMath>
                </a14:m>
                <a:r>
                  <a:rPr sz="3600" i="0">
                    <a:solidFill>
                      <a:srgbClr val="11253D"/>
                    </a:solidFill>
                  </a:rPr>
                  <a:t> across a scientifically relevant prevalence set, </a:t>
                </a:r>
                <a14:m>
                  <m:oMath xmlns:m="http://schemas.openxmlformats.org/officeDocument/2006/math">
                    <m:r>
                      <a:rPr lang="en-US" sz="3600" b="0" i="0">
                        <a:solidFill>
                          <a:srgbClr val="11253D"/>
                        </a:solidFill>
                        <a:latin typeface="Cambria Math"/>
                        <a:ea typeface="Cambria Math"/>
                        <a:cs typeface="Cambria Math"/>
                      </a:rPr>
                      <m:t>𝛱</m:t>
                    </m:r>
                    <m:r>
                      <a:rPr lang="en-US" sz="3600" b="0" i="0">
                        <a:solidFill>
                          <a:srgbClr val="11253D"/>
                        </a:solidFill>
                        <a:latin typeface="Cambria Math"/>
                        <a:ea typeface="Cambria Math"/>
                        <a:cs typeface="Cambria Math"/>
                      </a:rPr>
                      <m:t>={}</m:t>
                    </m:r>
                  </m:oMath>
                </a14:m>
                <a:r>
                  <a:rPr sz="3600" i="0">
                    <a:solidFill>
                      <a:srgbClr val="11253D"/>
                    </a:solidFill>
                  </a:rPr>
                  <a:t>, and take the minimum</a:t>
                </a:r>
                <a:r>
                  <a:rPr sz="3600" b="1" i="0">
                    <a:solidFill>
                      <a:srgbClr val="11253D"/>
                    </a:solidFill>
                  </a:rPr>
                  <a:t>.</a:t>
                </a:r>
              </a:p>
            </p:txBody>
          </p:sp>
        </mc:Choice>
        <mc:Fallback>
          <p:sp>
            <p:nvSpPr>
              <p:cNvPr id="2" name="Rectangle 1">
                <a:extLst>
                  <a:ext uri="{FF2B5EF4-FFF2-40B4-BE49-F238E27FC236}">
                    <a16:creationId xmlns:a16="http://schemas.microsoft.com/office/drawing/2014/main" id="{148FDD88-6A23-47F6-A739-591BD39FFCD3}"/>
                  </a:ext>
                </a:extLst>
              </p:cNvPr>
              <p:cNvSpPr>
                <a:spLocks noGrp="1" noRot="1" noChangeAspect="1" noMove="1" noResize="1" noEditPoints="1" noAdjustHandles="1" noChangeArrowheads="1" noChangeShapeType="1" noTextEdit="1"/>
              </p:cNvSpPr>
              <p:nvPr/>
            </p:nvSpPr>
            <p:spPr>
              <a:xfrm>
                <a:off x="685800" y="666750"/>
                <a:ext cx="10820400" cy="1028700"/>
              </a:xfrm>
              <a:prstGeom prst="rect">
                <a:avLst/>
              </a:prstGeom>
              <a:blipFill>
                <a:blip r:embed="rId3"/>
                <a:stretch>
                  <a:fillRect l="-1758" t="-8537" r="-1055" b="-37805"/>
                </a:stretch>
              </a:blipFill>
              <a:ln w="0">
                <a:noFill/>
                <a:prstDash val="solid"/>
              </a:ln>
            </p:spPr>
            <p:txBody>
              <a:bodyPr/>
              <a:lstStyle/>
              <a:p>
                <a:r>
                  <a:rPr lang="en-US">
                    <a:noFill/>
                  </a:rPr>
                  <a:t> </a:t>
                </a:r>
              </a:p>
            </p:txBody>
          </p:sp>
        </mc:Fallback>
      </mc:AlternateContent>
      <p:sp>
        <p:nvSpPr>
          <p:cNvPr id="3" name="Rectangle 2">
            <a:extLst>
              <a:ext uri="{FF2B5EF4-FFF2-40B4-BE49-F238E27FC236}">
                <a16:creationId xmlns:a16="http://schemas.microsoft.com/office/drawing/2014/main" id="{923F7DA9-66D7-47A8-9B27-38B310B2BA55}"/>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0292E91F-E565-4158-A435-9FC51DB8CB93}"/>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POPULATION</a:t>
            </a:r>
          </a:p>
        </p:txBody>
      </p:sp>
      <p:sp>
        <p:nvSpPr>
          <p:cNvPr id="5" name="Rectangle 4">
            <a:extLst>
              <a:ext uri="{FF2B5EF4-FFF2-40B4-BE49-F238E27FC236}">
                <a16:creationId xmlns:a16="http://schemas.microsoft.com/office/drawing/2014/main" id="{3BBC64AF-FD16-4D60-8B84-C9F5D400EBB7}"/>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13</a:t>
            </a:r>
          </a:p>
        </p:txBody>
      </p:sp>
      <p:sp>
        <p:nvSpPr>
          <p:cNvPr id="6" name="Rounded Rectangle 5">
            <a:extLst>
              <a:ext uri="{FF2B5EF4-FFF2-40B4-BE49-F238E27FC236}">
                <a16:creationId xmlns:a16="http://schemas.microsoft.com/office/drawing/2014/main" id="{284E5B52-AF89-4F4B-B10A-9712CA8619CF}"/>
              </a:ext>
            </a:extLst>
          </p:cNvPr>
          <p:cNvSpPr>
            <a:spLocks noGrp="1"/>
          </p:cNvSpPr>
          <p:nvPr/>
        </p:nvSpPr>
        <p:spPr>
          <a:xfrm>
            <a:off x="895350" y="2552700"/>
            <a:ext cx="1524000" cy="1200150"/>
          </a:xfrm>
          <a:prstGeom prst="roundRect">
            <a:avLst>
              <a:gd name="adj" fmla="val 9524"/>
            </a:avLst>
          </a:prstGeom>
          <a:solidFill>
            <a:srgbClr val="DCEAF7"/>
          </a:solidFill>
          <a:ln w="0">
            <a:noFill/>
            <a:prstDash val="solid"/>
          </a:ln>
        </p:spPr>
        <p:txBody>
          <a:bodyPr/>
          <a:lstStyle/>
          <a:p>
            <a:endParaRPr/>
          </a:p>
        </p:txBody>
      </p:sp>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CCB6A3E4-3D5F-4F43-A754-B13876146FF3}"/>
                  </a:ext>
                </a:extLst>
              </p:cNvPr>
              <p:cNvSpPr>
                <a:spLocks noGrp="1"/>
              </p:cNvSpPr>
              <p:nvPr/>
            </p:nvSpPr>
            <p:spPr>
              <a:xfrm>
                <a:off x="895350" y="2705100"/>
                <a:ext cx="1524000" cy="247650"/>
              </a:xfrm>
              <a:prstGeom prst="rect">
                <a:avLst/>
              </a:prstGeom>
              <a:noFill/>
              <a:ln w="0">
                <a:noFill/>
                <a:prstDash val="solid"/>
              </a:ln>
            </p:spPr>
            <p:txBody>
              <a:bodyPr/>
              <a:lstStyle/>
              <a:p>
                <a:pPr algn="ctr">
                  <a:buNone/>
                  <a:defRPr sz="1425" b="1" i="0">
                    <a:solidFill>
                      <a:srgbClr val="5F6B78"/>
                    </a:solidFill>
                  </a:defRPr>
                </a:pPr>
                <a:r>
                  <a:rPr sz="1425" b="1" i="0">
                    <a:solidFill>
                      <a:srgbClr val="5F6B78"/>
                    </a:solidFill>
                  </a:rPr>
                  <a:t>.01 target </a:t>
                </a:r>
                <a14:m>
                  <m:oMath xmlns:m="http://schemas.openxmlformats.org/officeDocument/2006/math">
                    <m:r>
                      <a:rPr lang="en-US" sz="1425" b="1" i="1">
                        <a:solidFill>
                          <a:srgbClr val="5F6B78"/>
                        </a:solidFill>
                        <a:latin typeface="Cambria Math"/>
                        <a:ea typeface="Cambria Math"/>
                        <a:cs typeface="Cambria Math"/>
                      </a:rPr>
                      <m:t>𝝅</m:t>
                    </m:r>
                  </m:oMath>
                </a14:m>
                <a:endParaRPr sz="1425" b="1" i="0">
                  <a:solidFill>
                    <a:srgbClr val="5F6B78"/>
                  </a:solidFill>
                </a:endParaRPr>
              </a:p>
            </p:txBody>
          </p:sp>
        </mc:Choice>
        <mc:Fallback>
          <p:sp>
            <p:nvSpPr>
              <p:cNvPr id="7" name="Rectangle 6">
                <a:extLst>
                  <a:ext uri="{FF2B5EF4-FFF2-40B4-BE49-F238E27FC236}">
                    <a16:creationId xmlns:a16="http://schemas.microsoft.com/office/drawing/2014/main" id="{CCB6A3E4-3D5F-4F43-A754-B13876146FF3}"/>
                  </a:ext>
                </a:extLst>
              </p:cNvPr>
              <p:cNvSpPr>
                <a:spLocks noGrp="1" noRot="1" noChangeAspect="1" noMove="1" noResize="1" noEditPoints="1" noAdjustHandles="1" noChangeArrowheads="1" noChangeShapeType="1" noTextEdit="1"/>
              </p:cNvSpPr>
              <p:nvPr/>
            </p:nvSpPr>
            <p:spPr>
              <a:xfrm>
                <a:off x="895350" y="2705100"/>
                <a:ext cx="1524000" cy="247650"/>
              </a:xfrm>
              <a:prstGeom prst="rect">
                <a:avLst/>
              </a:prstGeom>
              <a:blipFill>
                <a:blip r:embed="rId4"/>
                <a:stretch>
                  <a:fillRect t="-5000" b="-50000"/>
                </a:stretch>
              </a:blipFill>
              <a:ln w="0">
                <a:noFill/>
                <a:prstDash val="solid"/>
              </a:ln>
            </p:spPr>
            <p:txBody>
              <a:bodyPr/>
              <a:lstStyle/>
              <a:p>
                <a:r>
                  <a:rPr lang="en-US">
                    <a:noFill/>
                  </a:rPr>
                  <a:t> </a:t>
                </a:r>
              </a:p>
            </p:txBody>
          </p:sp>
        </mc:Fallback>
      </mc:AlternateContent>
      <p:sp>
        <p:nvSpPr>
          <p:cNvPr id="8" name="Rectangle 7">
            <a:extLst>
              <a:ext uri="{FF2B5EF4-FFF2-40B4-BE49-F238E27FC236}">
                <a16:creationId xmlns:a16="http://schemas.microsoft.com/office/drawing/2014/main" id="{D1C27BB8-1908-4BD7-8C4F-23E08AEA4AFE}"/>
              </a:ext>
            </a:extLst>
          </p:cNvPr>
          <p:cNvSpPr>
            <a:spLocks noGrp="1"/>
          </p:cNvSpPr>
          <p:nvPr/>
        </p:nvSpPr>
        <p:spPr>
          <a:xfrm>
            <a:off x="895350" y="3105150"/>
            <a:ext cx="1524000" cy="419100"/>
          </a:xfrm>
          <a:prstGeom prst="rect">
            <a:avLst/>
          </a:prstGeom>
          <a:noFill/>
          <a:ln w="0">
            <a:noFill/>
            <a:prstDash val="solid"/>
          </a:ln>
        </p:spPr>
        <p:txBody>
          <a:bodyPr/>
          <a:lstStyle/>
          <a:p>
            <a:pPr algn="ctr">
              <a:buNone/>
              <a:defRPr sz="2550" b="1" i="0">
                <a:solidFill>
                  <a:srgbClr val="2B6CB0"/>
                </a:solidFill>
              </a:defRPr>
            </a:pPr>
            <a:r>
              <a:rPr sz="2550" b="1" i="0">
                <a:solidFill>
                  <a:srgbClr val="2B6CB0"/>
                </a:solidFill>
              </a:rPr>
              <a:t>0.55</a:t>
            </a:r>
          </a:p>
        </p:txBody>
      </p:sp>
      <p:sp>
        <p:nvSpPr>
          <p:cNvPr id="9" name="Rounded Rectangle 8">
            <a:extLst>
              <a:ext uri="{FF2B5EF4-FFF2-40B4-BE49-F238E27FC236}">
                <a16:creationId xmlns:a16="http://schemas.microsoft.com/office/drawing/2014/main" id="{3748C616-0D01-47AE-907D-04FC2F5C952F}"/>
              </a:ext>
            </a:extLst>
          </p:cNvPr>
          <p:cNvSpPr>
            <a:spLocks noGrp="1"/>
          </p:cNvSpPr>
          <p:nvPr/>
        </p:nvSpPr>
        <p:spPr>
          <a:xfrm>
            <a:off x="2895600" y="2552700"/>
            <a:ext cx="1524000" cy="1200150"/>
          </a:xfrm>
          <a:prstGeom prst="roundRect">
            <a:avLst>
              <a:gd name="adj" fmla="val 9524"/>
            </a:avLst>
          </a:prstGeom>
          <a:solidFill>
            <a:srgbClr val="DCEAF7"/>
          </a:solidFill>
          <a:ln w="0">
            <a:noFill/>
            <a:prstDash val="solid"/>
          </a:ln>
        </p:spPr>
        <p:txBody>
          <a:bodyPr/>
          <a:lstStyle/>
          <a:p>
            <a:endParaRPr/>
          </a:p>
        </p:txBody>
      </p:sp>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C977D3A8-7F1C-4682-B00F-05A6075425DC}"/>
                  </a:ext>
                </a:extLst>
              </p:cNvPr>
              <p:cNvSpPr>
                <a:spLocks noGrp="1"/>
              </p:cNvSpPr>
              <p:nvPr/>
            </p:nvSpPr>
            <p:spPr>
              <a:xfrm>
                <a:off x="2895600" y="2705100"/>
                <a:ext cx="1524000" cy="247650"/>
              </a:xfrm>
              <a:prstGeom prst="rect">
                <a:avLst/>
              </a:prstGeom>
              <a:noFill/>
              <a:ln w="0">
                <a:noFill/>
                <a:prstDash val="solid"/>
              </a:ln>
            </p:spPr>
            <p:txBody>
              <a:bodyPr/>
              <a:lstStyle/>
              <a:p>
                <a:pPr algn="ctr">
                  <a:buNone/>
                  <a:defRPr sz="1425" b="1" i="0">
                    <a:solidFill>
                      <a:srgbClr val="5F6B78"/>
                    </a:solidFill>
                  </a:defRPr>
                </a:pPr>
                <a:r>
                  <a:rPr sz="1425" b="1" i="0">
                    <a:solidFill>
                      <a:srgbClr val="5F6B78"/>
                    </a:solidFill>
                  </a:rPr>
                  <a:t>.05 target </a:t>
                </a:r>
                <a14:m>
                  <m:oMath xmlns:m="http://schemas.openxmlformats.org/officeDocument/2006/math">
                    <m:r>
                      <a:rPr lang="en-US" sz="1425" b="1" i="1">
                        <a:solidFill>
                          <a:srgbClr val="5F6B78"/>
                        </a:solidFill>
                        <a:latin typeface="Cambria Math"/>
                        <a:ea typeface="Cambria Math"/>
                        <a:cs typeface="Cambria Math"/>
                      </a:rPr>
                      <m:t>𝝅</m:t>
                    </m:r>
                  </m:oMath>
                </a14:m>
                <a:endParaRPr sz="1425" b="1" i="0">
                  <a:solidFill>
                    <a:srgbClr val="5F6B78"/>
                  </a:solidFill>
                </a:endParaRPr>
              </a:p>
            </p:txBody>
          </p:sp>
        </mc:Choice>
        <mc:Fallback>
          <p:sp>
            <p:nvSpPr>
              <p:cNvPr id="10" name="Rectangle 9">
                <a:extLst>
                  <a:ext uri="{FF2B5EF4-FFF2-40B4-BE49-F238E27FC236}">
                    <a16:creationId xmlns:a16="http://schemas.microsoft.com/office/drawing/2014/main" id="{C977D3A8-7F1C-4682-B00F-05A6075425DC}"/>
                  </a:ext>
                </a:extLst>
              </p:cNvPr>
              <p:cNvSpPr>
                <a:spLocks noGrp="1" noRot="1" noChangeAspect="1" noMove="1" noResize="1" noEditPoints="1" noAdjustHandles="1" noChangeArrowheads="1" noChangeShapeType="1" noTextEdit="1"/>
              </p:cNvSpPr>
              <p:nvPr/>
            </p:nvSpPr>
            <p:spPr>
              <a:xfrm>
                <a:off x="2895600" y="2705100"/>
                <a:ext cx="1524000" cy="247650"/>
              </a:xfrm>
              <a:prstGeom prst="rect">
                <a:avLst/>
              </a:prstGeom>
              <a:blipFill>
                <a:blip r:embed="rId5"/>
                <a:stretch>
                  <a:fillRect t="-5000" b="-50000"/>
                </a:stretch>
              </a:blipFill>
              <a:ln w="0">
                <a:noFill/>
                <a:prstDash val="solid"/>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EF7253F-2794-4450-86C6-E3E5EFCCD764}"/>
              </a:ext>
            </a:extLst>
          </p:cNvPr>
          <p:cNvSpPr>
            <a:spLocks noGrp="1"/>
          </p:cNvSpPr>
          <p:nvPr/>
        </p:nvSpPr>
        <p:spPr>
          <a:xfrm>
            <a:off x="2895600" y="3105150"/>
            <a:ext cx="1524000" cy="419100"/>
          </a:xfrm>
          <a:prstGeom prst="rect">
            <a:avLst/>
          </a:prstGeom>
          <a:noFill/>
          <a:ln w="0">
            <a:noFill/>
            <a:prstDash val="solid"/>
          </a:ln>
        </p:spPr>
        <p:txBody>
          <a:bodyPr/>
          <a:lstStyle/>
          <a:p>
            <a:pPr algn="ctr">
              <a:buNone/>
              <a:defRPr sz="2550" b="1" i="0">
                <a:solidFill>
                  <a:srgbClr val="2B6CB0"/>
                </a:solidFill>
              </a:defRPr>
            </a:pPr>
            <a:r>
              <a:rPr sz="2550" b="1" i="0">
                <a:solidFill>
                  <a:srgbClr val="2B6CB0"/>
                </a:solidFill>
              </a:rPr>
              <a:t>0.48</a:t>
            </a:r>
          </a:p>
        </p:txBody>
      </p:sp>
      <p:sp>
        <p:nvSpPr>
          <p:cNvPr id="12" name="Rounded Rectangle 11">
            <a:extLst>
              <a:ext uri="{FF2B5EF4-FFF2-40B4-BE49-F238E27FC236}">
                <a16:creationId xmlns:a16="http://schemas.microsoft.com/office/drawing/2014/main" id="{AF006F67-022E-4CBE-A771-7923D2883D42}"/>
              </a:ext>
            </a:extLst>
          </p:cNvPr>
          <p:cNvSpPr>
            <a:spLocks noGrp="1"/>
          </p:cNvSpPr>
          <p:nvPr/>
        </p:nvSpPr>
        <p:spPr>
          <a:xfrm>
            <a:off x="4895850" y="2552700"/>
            <a:ext cx="1524000" cy="1200150"/>
          </a:xfrm>
          <a:prstGeom prst="roundRect">
            <a:avLst>
              <a:gd name="adj" fmla="val 9524"/>
            </a:avLst>
          </a:prstGeom>
          <a:solidFill>
            <a:srgbClr val="F7E7CF"/>
          </a:solidFill>
          <a:ln w="0">
            <a:noFill/>
            <a:prstDash val="solid"/>
          </a:ln>
        </p:spPr>
        <p:txBody>
          <a:bodyPr/>
          <a:lstStyle/>
          <a:p>
            <a:endParaRPr/>
          </a:p>
        </p:txBody>
      </p:sp>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B7D499BF-DBE8-4485-A159-5DBB4CF64140}"/>
                  </a:ext>
                </a:extLst>
              </p:cNvPr>
              <p:cNvSpPr>
                <a:spLocks noGrp="1"/>
              </p:cNvSpPr>
              <p:nvPr/>
            </p:nvSpPr>
            <p:spPr>
              <a:xfrm>
                <a:off x="4895850" y="2705100"/>
                <a:ext cx="1524000" cy="247650"/>
              </a:xfrm>
              <a:prstGeom prst="rect">
                <a:avLst/>
              </a:prstGeom>
              <a:noFill/>
              <a:ln w="0">
                <a:noFill/>
                <a:prstDash val="solid"/>
              </a:ln>
            </p:spPr>
            <p:txBody>
              <a:bodyPr/>
              <a:lstStyle/>
              <a:p>
                <a:pPr algn="ctr">
                  <a:buNone/>
                  <a:defRPr sz="1425" b="1" i="0">
                    <a:solidFill>
                      <a:srgbClr val="5F6B78"/>
                    </a:solidFill>
                  </a:defRPr>
                </a:pPr>
                <a:r>
                  <a:rPr sz="1425" b="1" i="0">
                    <a:solidFill>
                      <a:srgbClr val="5F6B78"/>
                    </a:solidFill>
                  </a:rPr>
                  <a:t>.20 target </a:t>
                </a:r>
                <a14:m>
                  <m:oMath xmlns:m="http://schemas.openxmlformats.org/officeDocument/2006/math">
                    <m:r>
                      <a:rPr lang="en-US" sz="1425" b="1" i="1">
                        <a:solidFill>
                          <a:srgbClr val="5F6B78"/>
                        </a:solidFill>
                        <a:latin typeface="Cambria Math"/>
                        <a:ea typeface="Cambria Math"/>
                        <a:cs typeface="Cambria Math"/>
                      </a:rPr>
                      <m:t>𝝅</m:t>
                    </m:r>
                  </m:oMath>
                </a14:m>
                <a:endParaRPr sz="1425" b="1" i="0">
                  <a:solidFill>
                    <a:srgbClr val="5F6B78"/>
                  </a:solidFill>
                </a:endParaRPr>
              </a:p>
            </p:txBody>
          </p:sp>
        </mc:Choice>
        <mc:Fallback>
          <p:sp>
            <p:nvSpPr>
              <p:cNvPr id="13" name="Rectangle 12">
                <a:extLst>
                  <a:ext uri="{FF2B5EF4-FFF2-40B4-BE49-F238E27FC236}">
                    <a16:creationId xmlns:a16="http://schemas.microsoft.com/office/drawing/2014/main" id="{B7D499BF-DBE8-4485-A159-5DBB4CF64140}"/>
                  </a:ext>
                </a:extLst>
              </p:cNvPr>
              <p:cNvSpPr>
                <a:spLocks noGrp="1" noRot="1" noChangeAspect="1" noMove="1" noResize="1" noEditPoints="1" noAdjustHandles="1" noChangeArrowheads="1" noChangeShapeType="1" noTextEdit="1"/>
              </p:cNvSpPr>
              <p:nvPr/>
            </p:nvSpPr>
            <p:spPr>
              <a:xfrm>
                <a:off x="4895850" y="2705100"/>
                <a:ext cx="1524000" cy="247650"/>
              </a:xfrm>
              <a:prstGeom prst="rect">
                <a:avLst/>
              </a:prstGeom>
              <a:blipFill>
                <a:blip r:embed="rId6"/>
                <a:stretch>
                  <a:fillRect t="-5000" b="-50000"/>
                </a:stretch>
              </a:blipFill>
              <a:ln w="0">
                <a:noFill/>
                <a:prstDash val="solid"/>
              </a:ln>
            </p:spPr>
            <p:txBody>
              <a:bodyPr/>
              <a:lstStyle/>
              <a:p>
                <a:r>
                  <a:rPr lang="en-US">
                    <a:noFill/>
                  </a:rPr>
                  <a:t> </a:t>
                </a:r>
              </a:p>
            </p:txBody>
          </p:sp>
        </mc:Fallback>
      </mc:AlternateContent>
      <p:sp>
        <p:nvSpPr>
          <p:cNvPr id="14" name="Rectangle 13">
            <a:extLst>
              <a:ext uri="{FF2B5EF4-FFF2-40B4-BE49-F238E27FC236}">
                <a16:creationId xmlns:a16="http://schemas.microsoft.com/office/drawing/2014/main" id="{3FF4DCBA-3DA3-462B-88DA-C8950E73E3D3}"/>
              </a:ext>
            </a:extLst>
          </p:cNvPr>
          <p:cNvSpPr>
            <a:spLocks noGrp="1"/>
          </p:cNvSpPr>
          <p:nvPr/>
        </p:nvSpPr>
        <p:spPr>
          <a:xfrm>
            <a:off x="4895850" y="3105150"/>
            <a:ext cx="1524000" cy="419100"/>
          </a:xfrm>
          <a:prstGeom prst="rect">
            <a:avLst/>
          </a:prstGeom>
          <a:noFill/>
          <a:ln w="0">
            <a:noFill/>
            <a:prstDash val="solid"/>
          </a:ln>
        </p:spPr>
        <p:txBody>
          <a:bodyPr/>
          <a:lstStyle/>
          <a:p>
            <a:pPr algn="ctr">
              <a:buNone/>
              <a:defRPr sz="2550" b="1" i="0">
                <a:solidFill>
                  <a:srgbClr val="D97706"/>
                </a:solidFill>
              </a:defRPr>
            </a:pPr>
            <a:r>
              <a:rPr sz="2550" b="1" i="0">
                <a:solidFill>
                  <a:srgbClr val="D97706"/>
                </a:solidFill>
              </a:rPr>
              <a:t>0.31</a:t>
            </a:r>
          </a:p>
        </p:txBody>
      </p:sp>
      <p:sp>
        <p:nvSpPr>
          <p:cNvPr id="15" name="Rounded Rectangle 14">
            <a:extLst>
              <a:ext uri="{FF2B5EF4-FFF2-40B4-BE49-F238E27FC236}">
                <a16:creationId xmlns:a16="http://schemas.microsoft.com/office/drawing/2014/main" id="{7684882D-0343-4777-BC37-2264940E46F5}"/>
              </a:ext>
            </a:extLst>
          </p:cNvPr>
          <p:cNvSpPr>
            <a:spLocks noGrp="1"/>
          </p:cNvSpPr>
          <p:nvPr/>
        </p:nvSpPr>
        <p:spPr>
          <a:xfrm>
            <a:off x="6896100" y="2552700"/>
            <a:ext cx="1524000" cy="1200150"/>
          </a:xfrm>
          <a:prstGeom prst="roundRect">
            <a:avLst>
              <a:gd name="adj" fmla="val 9524"/>
            </a:avLst>
          </a:prstGeom>
          <a:solidFill>
            <a:srgbClr val="DCEAF7"/>
          </a:solidFill>
          <a:ln w="0">
            <a:noFill/>
            <a:prstDash val="solid"/>
          </a:ln>
        </p:spPr>
        <p:txBody>
          <a:bodyPr/>
          <a:lstStyle/>
          <a:p>
            <a:endParaRPr/>
          </a:p>
        </p:txBody>
      </p:sp>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18EF87B4-FB49-4BDE-8FA4-27F1F4DCB83E}"/>
                  </a:ext>
                </a:extLst>
              </p:cNvPr>
              <p:cNvSpPr>
                <a:spLocks noGrp="1"/>
              </p:cNvSpPr>
              <p:nvPr/>
            </p:nvSpPr>
            <p:spPr>
              <a:xfrm>
                <a:off x="6896100" y="2705100"/>
                <a:ext cx="1524000" cy="247650"/>
              </a:xfrm>
              <a:prstGeom prst="rect">
                <a:avLst/>
              </a:prstGeom>
              <a:noFill/>
              <a:ln w="0">
                <a:noFill/>
                <a:prstDash val="solid"/>
              </a:ln>
            </p:spPr>
            <p:txBody>
              <a:bodyPr/>
              <a:lstStyle/>
              <a:p>
                <a:pPr algn="ctr">
                  <a:buNone/>
                  <a:defRPr sz="1425" b="1" i="0">
                    <a:solidFill>
                      <a:srgbClr val="5F6B78"/>
                    </a:solidFill>
                  </a:defRPr>
                </a:pPr>
                <a:r>
                  <a:rPr sz="1425" b="1" i="0">
                    <a:solidFill>
                      <a:srgbClr val="5F6B78"/>
                    </a:solidFill>
                  </a:rPr>
                  <a:t>.40 target </a:t>
                </a:r>
                <a14:m>
                  <m:oMath xmlns:m="http://schemas.openxmlformats.org/officeDocument/2006/math">
                    <m:r>
                      <a:rPr lang="en-US" sz="1425" b="1" i="1">
                        <a:solidFill>
                          <a:srgbClr val="5F6B78"/>
                        </a:solidFill>
                        <a:latin typeface="Cambria Math"/>
                        <a:ea typeface="Cambria Math"/>
                        <a:cs typeface="Cambria Math"/>
                      </a:rPr>
                      <m:t>𝝅</m:t>
                    </m:r>
                  </m:oMath>
                </a14:m>
                <a:endParaRPr sz="1425" b="1" i="0">
                  <a:solidFill>
                    <a:srgbClr val="5F6B78"/>
                  </a:solidFill>
                </a:endParaRPr>
              </a:p>
            </p:txBody>
          </p:sp>
        </mc:Choice>
        <mc:Fallback>
          <p:sp>
            <p:nvSpPr>
              <p:cNvPr id="16" name="Rectangle 15">
                <a:extLst>
                  <a:ext uri="{FF2B5EF4-FFF2-40B4-BE49-F238E27FC236}">
                    <a16:creationId xmlns:a16="http://schemas.microsoft.com/office/drawing/2014/main" id="{18EF87B4-FB49-4BDE-8FA4-27F1F4DCB83E}"/>
                  </a:ext>
                </a:extLst>
              </p:cNvPr>
              <p:cNvSpPr>
                <a:spLocks noGrp="1" noRot="1" noChangeAspect="1" noMove="1" noResize="1" noEditPoints="1" noAdjustHandles="1" noChangeArrowheads="1" noChangeShapeType="1" noTextEdit="1"/>
              </p:cNvSpPr>
              <p:nvPr/>
            </p:nvSpPr>
            <p:spPr>
              <a:xfrm>
                <a:off x="6896100" y="2705100"/>
                <a:ext cx="1524000" cy="247650"/>
              </a:xfrm>
              <a:prstGeom prst="rect">
                <a:avLst/>
              </a:prstGeom>
              <a:blipFill>
                <a:blip r:embed="rId7"/>
                <a:stretch>
                  <a:fillRect t="-5000" b="-50000"/>
                </a:stretch>
              </a:blipFill>
              <a:ln w="0">
                <a:noFill/>
                <a:prstDash val="solid"/>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559F4148-1C70-40C8-9C1C-4FC89FFF34BC}"/>
              </a:ext>
            </a:extLst>
          </p:cNvPr>
          <p:cNvSpPr>
            <a:spLocks noGrp="1"/>
          </p:cNvSpPr>
          <p:nvPr/>
        </p:nvSpPr>
        <p:spPr>
          <a:xfrm>
            <a:off x="6896100" y="3105150"/>
            <a:ext cx="1524000" cy="419100"/>
          </a:xfrm>
          <a:prstGeom prst="rect">
            <a:avLst/>
          </a:prstGeom>
          <a:noFill/>
          <a:ln w="0">
            <a:noFill/>
            <a:prstDash val="solid"/>
          </a:ln>
        </p:spPr>
        <p:txBody>
          <a:bodyPr/>
          <a:lstStyle/>
          <a:p>
            <a:pPr algn="ctr">
              <a:buNone/>
              <a:defRPr sz="2550" b="1" i="0">
                <a:solidFill>
                  <a:srgbClr val="2B6CB0"/>
                </a:solidFill>
              </a:defRPr>
            </a:pPr>
            <a:r>
              <a:rPr sz="2550" b="1" i="0">
                <a:solidFill>
                  <a:srgbClr val="2B6CB0"/>
                </a:solidFill>
              </a:rPr>
              <a:t>0.52</a:t>
            </a:r>
          </a:p>
        </p:txBody>
      </p:sp>
      <p:sp>
        <p:nvSpPr>
          <p:cNvPr id="18" name="Rectangle 17">
            <a:extLst>
              <a:ext uri="{FF2B5EF4-FFF2-40B4-BE49-F238E27FC236}">
                <a16:creationId xmlns:a16="http://schemas.microsoft.com/office/drawing/2014/main" id="{9C3D5136-7AB0-4C9D-8A6D-74A14F47EE70}"/>
              </a:ext>
            </a:extLst>
          </p:cNvPr>
          <p:cNvSpPr>
            <a:spLocks noGrp="1"/>
          </p:cNvSpPr>
          <p:nvPr/>
        </p:nvSpPr>
        <p:spPr>
          <a:xfrm>
            <a:off x="9048750" y="2990850"/>
            <a:ext cx="476250" cy="400050"/>
          </a:xfrm>
          <a:prstGeom prst="rect">
            <a:avLst/>
          </a:prstGeom>
          <a:noFill/>
          <a:ln w="0">
            <a:noFill/>
            <a:prstDash val="solid"/>
          </a:ln>
        </p:spPr>
        <p:txBody>
          <a:bodyPr/>
          <a:lstStyle/>
          <a:p>
            <a:pPr algn="ctr">
              <a:buNone/>
              <a:defRPr sz="3150" b="1" i="0">
                <a:solidFill>
                  <a:srgbClr val="5F6B78"/>
                </a:solidFill>
              </a:defRPr>
            </a:pPr>
            <a:r>
              <a:rPr sz="3150" b="1" i="0">
                <a:solidFill>
                  <a:srgbClr val="5F6B78"/>
                </a:solidFill>
              </a:rPr>
              <a:t>→</a:t>
            </a:r>
          </a:p>
        </p:txBody>
      </p:sp>
      <p:sp>
        <p:nvSpPr>
          <p:cNvPr id="19" name="Rounded Rectangle 18">
            <a:extLst>
              <a:ext uri="{FF2B5EF4-FFF2-40B4-BE49-F238E27FC236}">
                <a16:creationId xmlns:a16="http://schemas.microsoft.com/office/drawing/2014/main" id="{AF9E4518-0DFB-44DC-9227-0CD43BF0D249}"/>
              </a:ext>
            </a:extLst>
          </p:cNvPr>
          <p:cNvSpPr>
            <a:spLocks noGrp="1"/>
          </p:cNvSpPr>
          <p:nvPr/>
        </p:nvSpPr>
        <p:spPr>
          <a:xfrm>
            <a:off x="9715500" y="2552700"/>
            <a:ext cx="1619250" cy="1200150"/>
          </a:xfrm>
          <a:prstGeom prst="roundRect">
            <a:avLst>
              <a:gd name="adj" fmla="val 9524"/>
            </a:avLst>
          </a:prstGeom>
          <a:solidFill>
            <a:srgbClr val="D9EEE8"/>
          </a:solidFill>
          <a:ln w="0">
            <a:noFill/>
            <a:prstDash val="solid"/>
          </a:ln>
        </p:spPr>
        <p:txBody>
          <a:bodyPr/>
          <a:lstStyle/>
          <a:p>
            <a:endParaRPr/>
          </a:p>
        </p:txBody>
      </p:sp>
      <p:sp>
        <p:nvSpPr>
          <p:cNvPr id="20" name="Rectangle 19">
            <a:extLst>
              <a:ext uri="{FF2B5EF4-FFF2-40B4-BE49-F238E27FC236}">
                <a16:creationId xmlns:a16="http://schemas.microsoft.com/office/drawing/2014/main" id="{92DFC071-E6F5-42D0-87FF-8BCDA54E677B}"/>
              </a:ext>
            </a:extLst>
          </p:cNvPr>
          <p:cNvSpPr>
            <a:spLocks noGrp="1"/>
          </p:cNvSpPr>
          <p:nvPr/>
        </p:nvSpPr>
        <p:spPr>
          <a:xfrm>
            <a:off x="9715500" y="2724150"/>
            <a:ext cx="1619250" cy="247650"/>
          </a:xfrm>
          <a:prstGeom prst="rect">
            <a:avLst/>
          </a:prstGeom>
          <a:noFill/>
          <a:ln w="0">
            <a:noFill/>
            <a:prstDash val="solid"/>
          </a:ln>
        </p:spPr>
        <p:txBody>
          <a:bodyPr/>
          <a:lstStyle/>
          <a:p>
            <a:pPr algn="ctr">
              <a:buNone/>
              <a:defRPr sz="1500" b="1" i="0">
                <a:solidFill>
                  <a:srgbClr val="5F6B78"/>
                </a:solidFill>
              </a:defRPr>
            </a:pPr>
            <a:r>
              <a:rPr sz="1500" b="1" i="0">
                <a:solidFill>
                  <a:srgbClr val="5F6B78"/>
                </a:solidFill>
              </a:rPr>
              <a:t>minimum</a:t>
            </a:r>
          </a:p>
        </p:txBody>
      </p:sp>
      <p:sp>
        <p:nvSpPr>
          <p:cNvPr id="21" name="Rectangle 20">
            <a:extLst>
              <a:ext uri="{FF2B5EF4-FFF2-40B4-BE49-F238E27FC236}">
                <a16:creationId xmlns:a16="http://schemas.microsoft.com/office/drawing/2014/main" id="{006BDFD1-BDF9-40D4-A6B0-827D3368C59D}"/>
              </a:ext>
            </a:extLst>
          </p:cNvPr>
          <p:cNvSpPr>
            <a:spLocks noGrp="1"/>
          </p:cNvSpPr>
          <p:nvPr/>
        </p:nvSpPr>
        <p:spPr>
          <a:xfrm>
            <a:off x="9715500" y="3105150"/>
            <a:ext cx="1619250" cy="419100"/>
          </a:xfrm>
          <a:prstGeom prst="rect">
            <a:avLst/>
          </a:prstGeom>
          <a:noFill/>
          <a:ln w="0">
            <a:noFill/>
            <a:prstDash val="solid"/>
          </a:ln>
        </p:spPr>
        <p:txBody>
          <a:bodyPr/>
          <a:lstStyle/>
          <a:p>
            <a:pPr algn="ctr">
              <a:buNone/>
              <a:defRPr sz="2550" b="1" i="0">
                <a:solidFill>
                  <a:srgbClr val="0E7C66"/>
                </a:solidFill>
              </a:defRPr>
            </a:pPr>
            <a:r>
              <a:rPr sz="2550" b="1" i="0">
                <a:solidFill>
                  <a:srgbClr val="0E7C66"/>
                </a:solidFill>
              </a:rPr>
              <a:t>0.31</a:t>
            </a:r>
          </a:p>
        </p:txBody>
      </p:sp>
      <p:sp>
        <p:nvSpPr>
          <p:cNvPr id="24" name="Rounded Rectangle 23">
            <a:extLst>
              <a:ext uri="{FF2B5EF4-FFF2-40B4-BE49-F238E27FC236}">
                <a16:creationId xmlns:a16="http://schemas.microsoft.com/office/drawing/2014/main" id="{567AAF16-0456-4EB8-99B7-E17527B465A5}"/>
              </a:ext>
            </a:extLst>
          </p:cNvPr>
          <p:cNvSpPr>
            <a:spLocks noGrp="1"/>
          </p:cNvSpPr>
          <p:nvPr/>
        </p:nvSpPr>
        <p:spPr>
          <a:xfrm>
            <a:off x="2152650" y="5238750"/>
            <a:ext cx="8896350" cy="742950"/>
          </a:xfrm>
          <a:prstGeom prst="roundRect">
            <a:avLst>
              <a:gd name="adj" fmla="val 17647"/>
            </a:avLst>
          </a:prstGeom>
          <a:solidFill>
            <a:srgbClr val="D9EEE8"/>
          </a:solidFill>
          <a:ln w="0">
            <a:noFill/>
            <a:prstDash val="solid"/>
          </a:ln>
        </p:spPr>
        <p:txBody>
          <a:bodyPr/>
          <a:lstStyle/>
          <a:p>
            <a:endParaRPr/>
          </a:p>
        </p:txBody>
      </p:sp>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7A8F9DCA-375C-40ED-B99E-075C6F3924C8}"/>
                  </a:ext>
                </a:extLst>
              </p:cNvPr>
              <p:cNvSpPr>
                <a:spLocks noGrp="1"/>
              </p:cNvSpPr>
              <p:nvPr/>
            </p:nvSpPr>
            <p:spPr>
              <a:xfrm>
                <a:off x="2343150" y="5410200"/>
                <a:ext cx="8705850" cy="838200"/>
              </a:xfrm>
              <a:prstGeom prst="rect">
                <a:avLst/>
              </a:prstGeom>
              <a:noFill/>
              <a:ln w="0">
                <a:noFill/>
                <a:prstDash val="solid"/>
              </a:ln>
            </p:spPr>
            <p:txBody>
              <a:bodyPr/>
              <a:lstStyle/>
              <a:p>
                <a:pPr algn="ctr">
                  <a:buNone/>
                  <a:defRPr sz="1800" b="1" i="0">
                    <a:solidFill>
                      <a:srgbClr val="11253D"/>
                    </a:solidFill>
                  </a:defRPr>
                </a:pPr>
                <a14:m>
                  <m:oMath xmlns:m="http://schemas.openxmlformats.org/officeDocument/2006/math">
                    <m:r>
                      <a:rPr lang="en-US" sz="1800" b="1" i="1" smtClean="0">
                        <a:solidFill>
                          <a:srgbClr val="11253D"/>
                        </a:solidFill>
                        <a:latin typeface="Cambria Math" panose="02040503050406030204" pitchFamily="18" charset="0"/>
                      </a:rPr>
                      <m:t>𝑪𝑵𝑨</m:t>
                    </m:r>
                    <m:sSub>
                      <m:sSubPr>
                        <m:ctrlPr>
                          <a:rPr lang="en-US" sz="1800" b="1" i="1" smtClean="0">
                            <a:solidFill>
                              <a:srgbClr val="11253D"/>
                            </a:solidFill>
                            <a:latin typeface="Cambria Math" panose="02040503050406030204" pitchFamily="18" charset="0"/>
                          </a:rPr>
                        </m:ctrlPr>
                      </m:sSubPr>
                      <m:e>
                        <m:r>
                          <a:rPr lang="en-US" sz="1800" b="1" i="1" smtClean="0">
                            <a:solidFill>
                              <a:srgbClr val="11253D"/>
                            </a:solidFill>
                            <a:latin typeface="Cambria Math" panose="02040503050406030204" pitchFamily="18" charset="0"/>
                          </a:rPr>
                          <m:t>𝑷</m:t>
                        </m:r>
                      </m:e>
                      <m:sub>
                        <m:r>
                          <a:rPr lang="en-US" sz="1800" b="1" i="0" smtClean="0">
                            <a:solidFill>
                              <a:srgbClr val="11253D"/>
                            </a:solidFill>
                            <a:latin typeface="Cambria Math" panose="02040503050406030204" pitchFamily="18" charset="0"/>
                          </a:rPr>
                          <m:t>𝚷</m:t>
                        </m:r>
                      </m:sub>
                    </m:sSub>
                    <m:r>
                      <a:rPr lang="en-US" sz="1800" b="1" i="1" smtClean="0">
                        <a:solidFill>
                          <a:srgbClr val="11253D"/>
                        </a:solidFill>
                        <a:latin typeface="Cambria Math" panose="02040503050406030204" pitchFamily="18" charset="0"/>
                      </a:rPr>
                      <m:t>=</m:t>
                    </m:r>
                    <m:r>
                      <a:rPr lang="en-US" sz="1800" b="1" i="1" smtClean="0">
                        <a:solidFill>
                          <a:srgbClr val="11253D"/>
                        </a:solidFill>
                        <a:latin typeface="Cambria Math" panose="02040503050406030204" pitchFamily="18" charset="0"/>
                      </a:rPr>
                      <m:t>𝒎𝒊</m:t>
                    </m:r>
                    <m:sSub>
                      <m:sSubPr>
                        <m:ctrlPr>
                          <a:rPr lang="en-US" sz="1800" b="1" i="1" smtClean="0">
                            <a:solidFill>
                              <a:srgbClr val="11253D"/>
                            </a:solidFill>
                            <a:latin typeface="Cambria Math" panose="02040503050406030204" pitchFamily="18" charset="0"/>
                          </a:rPr>
                        </m:ctrlPr>
                      </m:sSubPr>
                      <m:e>
                        <m:r>
                          <a:rPr lang="en-US" sz="1800" b="1" i="1" smtClean="0">
                            <a:solidFill>
                              <a:srgbClr val="11253D"/>
                            </a:solidFill>
                            <a:latin typeface="Cambria Math" panose="02040503050406030204" pitchFamily="18" charset="0"/>
                          </a:rPr>
                          <m:t>𝒏</m:t>
                        </m:r>
                      </m:e>
                      <m:sub>
                        <m:d>
                          <m:dPr>
                            <m:begChr m:val="{"/>
                            <m:endChr m:val="}"/>
                            <m:ctrlPr>
                              <a:rPr lang="en-US" sz="1800" b="1" i="1" smtClean="0">
                                <a:solidFill>
                                  <a:srgbClr val="11253D"/>
                                </a:solidFill>
                                <a:latin typeface="Cambria Math" panose="02040503050406030204" pitchFamily="18" charset="0"/>
                              </a:rPr>
                            </m:ctrlPr>
                          </m:dPr>
                          <m:e>
                            <m:r>
                              <a:rPr lang="en-US" sz="1800" b="1" i="1" smtClean="0">
                                <a:solidFill>
                                  <a:srgbClr val="11253D"/>
                                </a:solidFill>
                                <a:latin typeface="Cambria Math" panose="02040503050406030204" pitchFamily="18" charset="0"/>
                              </a:rPr>
                              <m:t>𝝅</m:t>
                            </m:r>
                            <m:r>
                              <a:rPr lang="en-US" sz="1800" b="1" i="1" smtClean="0">
                                <a:solidFill>
                                  <a:srgbClr val="11253D"/>
                                </a:solidFill>
                                <a:latin typeface="Cambria Math" panose="02040503050406030204" pitchFamily="18" charset="0"/>
                              </a:rPr>
                              <m:t>∈</m:t>
                            </m:r>
                            <m:r>
                              <a:rPr lang="en-US" sz="1800" b="1" i="0" smtClean="0">
                                <a:solidFill>
                                  <a:srgbClr val="11253D"/>
                                </a:solidFill>
                                <a:latin typeface="Cambria Math" panose="02040503050406030204" pitchFamily="18" charset="0"/>
                              </a:rPr>
                              <m:t>𝚷</m:t>
                            </m:r>
                          </m:e>
                        </m:d>
                      </m:sub>
                    </m:sSub>
                    <m:r>
                      <a:rPr lang="en-US" sz="1800" b="1" i="1" smtClean="0">
                        <a:solidFill>
                          <a:srgbClr val="11253D"/>
                        </a:solidFill>
                        <a:latin typeface="Cambria Math" panose="02040503050406030204" pitchFamily="18" charset="0"/>
                      </a:rPr>
                      <m:t>𝑪𝑵𝑨</m:t>
                    </m:r>
                    <m:sSub>
                      <m:sSubPr>
                        <m:ctrlPr>
                          <a:rPr lang="en-US" sz="1800" b="1" i="1" smtClean="0">
                            <a:solidFill>
                              <a:srgbClr val="11253D"/>
                            </a:solidFill>
                            <a:latin typeface="Cambria Math" panose="02040503050406030204" pitchFamily="18" charset="0"/>
                          </a:rPr>
                        </m:ctrlPr>
                      </m:sSubPr>
                      <m:e>
                        <m:r>
                          <a:rPr lang="en-US" sz="1800" b="1" i="1" smtClean="0">
                            <a:solidFill>
                              <a:srgbClr val="11253D"/>
                            </a:solidFill>
                            <a:latin typeface="Cambria Math" panose="02040503050406030204" pitchFamily="18" charset="0"/>
                          </a:rPr>
                          <m:t>𝑷</m:t>
                        </m:r>
                      </m:e>
                      <m:sub>
                        <m:r>
                          <a:rPr lang="en-US" sz="1800" b="1" i="1" smtClean="0">
                            <a:solidFill>
                              <a:srgbClr val="11253D"/>
                            </a:solidFill>
                            <a:latin typeface="Cambria Math" panose="02040503050406030204" pitchFamily="18" charset="0"/>
                          </a:rPr>
                          <m:t>𝝅</m:t>
                        </m:r>
                      </m:sub>
                    </m:sSub>
                    <m:r>
                      <a:rPr lang="en-US" sz="1800" b="1" i="1" smtClean="0">
                        <a:solidFill>
                          <a:srgbClr val="11253D"/>
                        </a:solidFill>
                        <a:latin typeface="Cambria Math" panose="02040503050406030204" pitchFamily="18" charset="0"/>
                      </a:rPr>
                      <m:t> </m:t>
                    </m:r>
                  </m:oMath>
                </a14:m>
                <a:r>
                  <a:rPr lang="en-US" sz="1800" b="1" i="0" dirty="0">
                    <a:solidFill>
                      <a:srgbClr val="11253D"/>
                    </a:solidFill>
                  </a:rPr>
                  <a:t>(the largest level attained at every declared prevalence.)</a:t>
                </a:r>
                <a:endParaRPr sz="1800" b="1" i="0" dirty="0">
                  <a:solidFill>
                    <a:srgbClr val="11253D"/>
                  </a:solidFill>
                </a:endParaRPr>
              </a:p>
            </p:txBody>
          </p:sp>
        </mc:Choice>
        <mc:Fallback>
          <p:sp>
            <p:nvSpPr>
              <p:cNvPr id="25" name="Rectangle 24">
                <a:extLst>
                  <a:ext uri="{FF2B5EF4-FFF2-40B4-BE49-F238E27FC236}">
                    <a16:creationId xmlns:a16="http://schemas.microsoft.com/office/drawing/2014/main" id="{7A8F9DCA-375C-40ED-B99E-075C6F3924C8}"/>
                  </a:ext>
                </a:extLst>
              </p:cNvPr>
              <p:cNvSpPr>
                <a:spLocks noGrp="1" noRot="1" noChangeAspect="1" noMove="1" noResize="1" noEditPoints="1" noAdjustHandles="1" noChangeArrowheads="1" noChangeShapeType="1" noTextEdit="1"/>
              </p:cNvSpPr>
              <p:nvPr/>
            </p:nvSpPr>
            <p:spPr>
              <a:xfrm>
                <a:off x="2343150" y="5410200"/>
                <a:ext cx="8705850" cy="838200"/>
              </a:xfrm>
              <a:prstGeom prst="rect">
                <a:avLst/>
              </a:prstGeom>
              <a:blipFill>
                <a:blip r:embed="rId8"/>
                <a:stretch>
                  <a:fillRect t="-4478"/>
                </a:stretch>
              </a:blipFill>
              <a:ln w="0">
                <a:noFill/>
                <a:prstDash val="solid"/>
              </a:ln>
            </p:spPr>
            <p:txBody>
              <a:bodyPr/>
              <a:lstStyle/>
              <a:p>
                <a:r>
                  <a:rPr lang="en-US">
                    <a:noFill/>
                  </a:rPr>
                  <a:t> </a:t>
                </a:r>
              </a:p>
            </p:txBody>
          </p:sp>
        </mc:Fallback>
      </mc:AlternateContent>
    </p:spTree>
    <p:extLst>
      <p:ext uri="{BB962C8B-B14F-4D97-AF65-F5344CB8AC3E}">
        <p14:creationId xmlns:p14="http://schemas.microsoft.com/office/powerpoint/2010/main" val="2066061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076DC4A-8B53-41D6-BB0E-A15BB016B6CF}"/>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6B4E8E"/>
                </a:solidFill>
              </a:defRPr>
            </a:pPr>
            <a:r>
              <a:rPr sz="1125" b="1" i="0">
                <a:solidFill>
                  <a:srgbClr val="6B4E8E"/>
                </a:solidFill>
              </a:rPr>
              <a:t>ASSESSMENT</a:t>
            </a:r>
          </a:p>
        </p:txBody>
      </p:sp>
      <p:sp>
        <p:nvSpPr>
          <p:cNvPr id="2" name="Rectangle 1">
            <a:extLst>
              <a:ext uri="{FF2B5EF4-FFF2-40B4-BE49-F238E27FC236}">
                <a16:creationId xmlns:a16="http://schemas.microsoft.com/office/drawing/2014/main" id="{1CD21AB4-CD2A-4949-9617-13B1CB870B67}"/>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dirty="0">
                <a:solidFill>
                  <a:srgbClr val="11253D"/>
                </a:solidFill>
              </a:rPr>
              <a:t>There can be more ways to </a:t>
            </a:r>
            <a:r>
              <a:rPr sz="3600" i="1" dirty="0">
                <a:solidFill>
                  <a:srgbClr val="11253D"/>
                </a:solidFill>
              </a:rPr>
              <a:t>challenge</a:t>
            </a:r>
            <a:r>
              <a:rPr sz="3600" b="1" i="0" dirty="0">
                <a:solidFill>
                  <a:srgbClr val="11253D"/>
                </a:solidFill>
              </a:rPr>
              <a:t> a performance claim</a:t>
            </a:r>
            <a:r>
              <a:rPr lang="en-US" sz="3600" b="1" i="0" dirty="0">
                <a:solidFill>
                  <a:srgbClr val="11253D"/>
                </a:solidFill>
              </a:rPr>
              <a:t> than prevalence</a:t>
            </a:r>
            <a:r>
              <a:rPr sz="3600" b="1" i="0" dirty="0">
                <a:solidFill>
                  <a:srgbClr val="11253D"/>
                </a:solidFill>
              </a:rPr>
              <a:t>.</a:t>
            </a:r>
          </a:p>
        </p:txBody>
      </p:sp>
      <p:sp>
        <p:nvSpPr>
          <p:cNvPr id="3" name="Rectangle 2">
            <a:extLst>
              <a:ext uri="{FF2B5EF4-FFF2-40B4-BE49-F238E27FC236}">
                <a16:creationId xmlns:a16="http://schemas.microsoft.com/office/drawing/2014/main" id="{BEFC552A-DADC-451F-975C-00707AAE6D3E}"/>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E0025A3B-048A-4B0A-AEF7-8564494672FB}"/>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ASSESSMENT</a:t>
            </a:r>
          </a:p>
        </p:txBody>
      </p:sp>
      <p:sp>
        <p:nvSpPr>
          <p:cNvPr id="5" name="Rectangle 4">
            <a:extLst>
              <a:ext uri="{FF2B5EF4-FFF2-40B4-BE49-F238E27FC236}">
                <a16:creationId xmlns:a16="http://schemas.microsoft.com/office/drawing/2014/main" id="{FD71B037-9D80-456D-8004-C331FB9BE8D7}"/>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14</a:t>
            </a:r>
          </a:p>
        </p:txBody>
      </p:sp>
      <p:pic>
        <p:nvPicPr>
          <p:cNvPr id="23" name="Picture 20"/>
          <p:cNvPicPr>
            <a:picLocks noChangeAspect="1"/>
          </p:cNvPicPr>
          <p:nvPr/>
        </p:nvPicPr>
        <p:blipFill>
          <a:blip r:embed="rId3"/>
          <a:stretch/>
        </p:blipFill>
        <p:spPr>
          <a:xfrm>
            <a:off x="4045039" y="2190750"/>
            <a:ext cx="4101921" cy="742950"/>
          </a:xfrm>
          <a:prstGeom prst="rect">
            <a:avLst/>
          </a:prstGeom>
        </p:spPr>
      </p:pic>
      <p:sp>
        <p:nvSpPr>
          <p:cNvPr id="7" name="Rounded Rectangle 6">
            <a:extLst>
              <a:ext uri="{FF2B5EF4-FFF2-40B4-BE49-F238E27FC236}">
                <a16:creationId xmlns:a16="http://schemas.microsoft.com/office/drawing/2014/main" id="{2D5CDF42-F3A2-4E8D-B529-AE0C49241F11}"/>
              </a:ext>
            </a:extLst>
          </p:cNvPr>
          <p:cNvSpPr>
            <a:spLocks noGrp="1"/>
          </p:cNvSpPr>
          <p:nvPr/>
        </p:nvSpPr>
        <p:spPr>
          <a:xfrm>
            <a:off x="952500" y="3333750"/>
            <a:ext cx="3143250" cy="1924050"/>
          </a:xfrm>
          <a:prstGeom prst="roundRect">
            <a:avLst>
              <a:gd name="adj" fmla="val 5941"/>
            </a:avLst>
          </a:prstGeom>
          <a:solidFill>
            <a:srgbClr val="DCEAF7"/>
          </a:solidFill>
          <a:ln w="0">
            <a:noFill/>
            <a:prstDash val="solid"/>
          </a:ln>
        </p:spPr>
        <p:txBody>
          <a:bodyPr/>
          <a:lstStyle/>
          <a:p>
            <a:endParaRPr/>
          </a:p>
        </p:txBody>
      </p:sp>
      <p:sp>
        <p:nvSpPr>
          <p:cNvPr id="8" name="Rectangle 7">
            <a:extLst>
              <a:ext uri="{FF2B5EF4-FFF2-40B4-BE49-F238E27FC236}">
                <a16:creationId xmlns:a16="http://schemas.microsoft.com/office/drawing/2014/main" id="{9A0958A2-916B-4CF3-A9DC-710392EB8880}"/>
              </a:ext>
            </a:extLst>
          </p:cNvPr>
          <p:cNvSpPr>
            <a:spLocks noGrp="1"/>
          </p:cNvSpPr>
          <p:nvPr/>
        </p:nvSpPr>
        <p:spPr>
          <a:xfrm>
            <a:off x="952500" y="3581400"/>
            <a:ext cx="3143250" cy="514350"/>
          </a:xfrm>
          <a:prstGeom prst="rect">
            <a:avLst/>
          </a:prstGeom>
          <a:noFill/>
          <a:ln w="0">
            <a:noFill/>
            <a:prstDash val="solid"/>
          </a:ln>
        </p:spPr>
        <p:txBody>
          <a:bodyPr/>
          <a:lstStyle/>
          <a:p>
            <a:pPr algn="ctr">
              <a:buNone/>
              <a:defRPr sz="3150" b="1" i="0">
                <a:solidFill>
                  <a:srgbClr val="2B6CB0"/>
                </a:solidFill>
              </a:defRPr>
            </a:pPr>
            <a:r>
              <a:rPr sz="3150" b="1" i="0">
                <a:solidFill>
                  <a:srgbClr val="2B6CB0"/>
                </a:solidFill>
              </a:rPr>
              <a:t>Π</a:t>
            </a:r>
          </a:p>
        </p:txBody>
      </p:sp>
      <p:sp>
        <p:nvSpPr>
          <p:cNvPr id="9" name="Rectangle 8">
            <a:extLst>
              <a:ext uri="{FF2B5EF4-FFF2-40B4-BE49-F238E27FC236}">
                <a16:creationId xmlns:a16="http://schemas.microsoft.com/office/drawing/2014/main" id="{9EE3F8DD-F144-4DE7-A1F6-2F21331E745F}"/>
              </a:ext>
            </a:extLst>
          </p:cNvPr>
          <p:cNvSpPr>
            <a:spLocks noGrp="1"/>
          </p:cNvSpPr>
          <p:nvPr/>
        </p:nvSpPr>
        <p:spPr>
          <a:xfrm>
            <a:off x="1219200" y="4248150"/>
            <a:ext cx="2609850" cy="628650"/>
          </a:xfrm>
          <a:prstGeom prst="rect">
            <a:avLst/>
          </a:prstGeom>
          <a:noFill/>
          <a:ln w="0">
            <a:noFill/>
            <a:prstDash val="solid"/>
          </a:ln>
        </p:spPr>
        <p:txBody>
          <a:bodyPr/>
          <a:lstStyle/>
          <a:p>
            <a:pPr algn="ctr">
              <a:buNone/>
              <a:defRPr sz="1800" b="1" i="0">
                <a:solidFill>
                  <a:srgbClr val="11253D"/>
                </a:solidFill>
              </a:defRPr>
            </a:pPr>
            <a:r>
              <a:rPr sz="1800" b="1" i="0">
                <a:solidFill>
                  <a:srgbClr val="11253D"/>
                </a:solidFill>
              </a:rPr>
              <a:t>Does the performance claim survive multiple prevalences?</a:t>
            </a:r>
          </a:p>
        </p:txBody>
      </p:sp>
      <p:sp>
        <p:nvSpPr>
          <p:cNvPr id="10" name="Rounded Rectangle 9">
            <a:extLst>
              <a:ext uri="{FF2B5EF4-FFF2-40B4-BE49-F238E27FC236}">
                <a16:creationId xmlns:a16="http://schemas.microsoft.com/office/drawing/2014/main" id="{A7C43A7D-DD7F-4617-836F-196CABAC3DC2}"/>
              </a:ext>
            </a:extLst>
          </p:cNvPr>
          <p:cNvSpPr>
            <a:spLocks noGrp="1"/>
          </p:cNvSpPr>
          <p:nvPr/>
        </p:nvSpPr>
        <p:spPr>
          <a:xfrm>
            <a:off x="4476750" y="3333750"/>
            <a:ext cx="3143250" cy="2660650"/>
          </a:xfrm>
          <a:prstGeom prst="roundRect">
            <a:avLst>
              <a:gd name="adj" fmla="val 5941"/>
            </a:avLst>
          </a:prstGeom>
          <a:solidFill>
            <a:srgbClr val="E8E0F0"/>
          </a:solidFill>
          <a:ln w="0">
            <a:noFill/>
            <a:prstDash val="solid"/>
          </a:ln>
        </p:spPr>
        <p:txBody>
          <a:bodyPr/>
          <a:lstStyle/>
          <a:p>
            <a:endParaRPr/>
          </a:p>
        </p:txBody>
      </p:sp>
      <p:sp>
        <p:nvSpPr>
          <p:cNvPr id="11" name="Rectangle 10">
            <a:extLst>
              <a:ext uri="{FF2B5EF4-FFF2-40B4-BE49-F238E27FC236}">
                <a16:creationId xmlns:a16="http://schemas.microsoft.com/office/drawing/2014/main" id="{6F55A7CA-4288-4A70-AF96-26103911115E}"/>
              </a:ext>
            </a:extLst>
          </p:cNvPr>
          <p:cNvSpPr>
            <a:spLocks noGrp="1"/>
          </p:cNvSpPr>
          <p:nvPr/>
        </p:nvSpPr>
        <p:spPr>
          <a:xfrm>
            <a:off x="4476750" y="3581400"/>
            <a:ext cx="3143250" cy="514350"/>
          </a:xfrm>
          <a:prstGeom prst="rect">
            <a:avLst/>
          </a:prstGeom>
          <a:noFill/>
          <a:ln w="0">
            <a:noFill/>
            <a:prstDash val="solid"/>
          </a:ln>
        </p:spPr>
        <p:txBody>
          <a:bodyPr/>
          <a:lstStyle/>
          <a:p>
            <a:pPr algn="ctr">
              <a:buNone/>
              <a:defRPr sz="3150" b="1" i="0">
                <a:solidFill>
                  <a:srgbClr val="6B4E8E"/>
                </a:solidFill>
              </a:defRPr>
            </a:pPr>
            <a:r>
              <a:rPr sz="3150" b="1" i="0">
                <a:solidFill>
                  <a:srgbClr val="6B4E8E"/>
                </a:solidFill>
              </a:rPr>
              <a:t>ℛ</a:t>
            </a:r>
          </a:p>
        </p:txBody>
      </p:sp>
      <p:sp>
        <p:nvSpPr>
          <p:cNvPr id="12" name="Rectangle 11">
            <a:extLst>
              <a:ext uri="{FF2B5EF4-FFF2-40B4-BE49-F238E27FC236}">
                <a16:creationId xmlns:a16="http://schemas.microsoft.com/office/drawing/2014/main" id="{1094EA91-7D06-42EE-8181-3648FFBF7578}"/>
              </a:ext>
            </a:extLst>
          </p:cNvPr>
          <p:cNvSpPr>
            <a:spLocks noGrp="1"/>
          </p:cNvSpPr>
          <p:nvPr/>
        </p:nvSpPr>
        <p:spPr>
          <a:xfrm>
            <a:off x="4743450" y="4248150"/>
            <a:ext cx="2609850" cy="990600"/>
          </a:xfrm>
          <a:prstGeom prst="rect">
            <a:avLst/>
          </a:prstGeom>
          <a:noFill/>
          <a:ln w="0">
            <a:noFill/>
            <a:prstDash val="solid"/>
          </a:ln>
        </p:spPr>
        <p:txBody>
          <a:bodyPr/>
          <a:lstStyle/>
          <a:p>
            <a:pPr algn="ctr">
              <a:buNone/>
              <a:defRPr sz="1800" b="1" i="0">
                <a:solidFill>
                  <a:srgbClr val="11253D"/>
                </a:solidFill>
              </a:defRPr>
            </a:pPr>
            <a:r>
              <a:rPr b="1">
                <a:solidFill>
                  <a:srgbClr val="11253D"/>
                </a:solidFill>
              </a:rPr>
              <a:t>Does the performance claim survive replication in the data-generating regime when other factors vary? </a:t>
            </a:r>
          </a:p>
        </p:txBody>
      </p:sp>
      <p:sp>
        <p:nvSpPr>
          <p:cNvPr id="13" name="Rounded Rectangle 12">
            <a:extLst>
              <a:ext uri="{FF2B5EF4-FFF2-40B4-BE49-F238E27FC236}">
                <a16:creationId xmlns:a16="http://schemas.microsoft.com/office/drawing/2014/main" id="{AC1EDAE2-9379-4BF2-AE11-99A4C3EC6A84}"/>
              </a:ext>
            </a:extLst>
          </p:cNvPr>
          <p:cNvSpPr>
            <a:spLocks noGrp="1"/>
          </p:cNvSpPr>
          <p:nvPr/>
        </p:nvSpPr>
        <p:spPr>
          <a:xfrm>
            <a:off x="8001000" y="3333750"/>
            <a:ext cx="3143250" cy="1924050"/>
          </a:xfrm>
          <a:prstGeom prst="roundRect">
            <a:avLst>
              <a:gd name="adj" fmla="val 5941"/>
            </a:avLst>
          </a:prstGeom>
          <a:solidFill>
            <a:srgbClr val="F7E7CF"/>
          </a:solidFill>
          <a:ln w="0">
            <a:noFill/>
            <a:prstDash val="solid"/>
          </a:ln>
        </p:spPr>
        <p:txBody>
          <a:bodyPr/>
          <a:lstStyle/>
          <a:p>
            <a:endParaRPr/>
          </a:p>
        </p:txBody>
      </p:sp>
      <p:sp>
        <p:nvSpPr>
          <p:cNvPr id="14" name="Rectangle 13">
            <a:extLst>
              <a:ext uri="{FF2B5EF4-FFF2-40B4-BE49-F238E27FC236}">
                <a16:creationId xmlns:a16="http://schemas.microsoft.com/office/drawing/2014/main" id="{9BA13B9D-5C26-43AF-9D8E-7CC3CB6D0FED}"/>
              </a:ext>
            </a:extLst>
          </p:cNvPr>
          <p:cNvSpPr>
            <a:spLocks noGrp="1"/>
          </p:cNvSpPr>
          <p:nvPr/>
        </p:nvSpPr>
        <p:spPr>
          <a:xfrm>
            <a:off x="8001000" y="3581400"/>
            <a:ext cx="3143250" cy="514350"/>
          </a:xfrm>
          <a:prstGeom prst="rect">
            <a:avLst/>
          </a:prstGeom>
          <a:noFill/>
          <a:ln w="0">
            <a:noFill/>
            <a:prstDash val="solid"/>
          </a:ln>
        </p:spPr>
        <p:txBody>
          <a:bodyPr/>
          <a:lstStyle/>
          <a:p>
            <a:pPr algn="ctr">
              <a:buNone/>
              <a:defRPr sz="3150" b="1" i="0">
                <a:solidFill>
                  <a:srgbClr val="D97706"/>
                </a:solidFill>
              </a:defRPr>
            </a:pPr>
            <a:r>
              <a:rPr sz="3150" b="1" i="0">
                <a:solidFill>
                  <a:srgbClr val="D97706"/>
                </a:solidFill>
              </a:rPr>
              <a:t>K</a:t>
            </a:r>
          </a:p>
        </p:txBody>
      </p:sp>
      <p:sp>
        <p:nvSpPr>
          <p:cNvPr id="15" name="Rectangle 14">
            <a:extLst>
              <a:ext uri="{FF2B5EF4-FFF2-40B4-BE49-F238E27FC236}">
                <a16:creationId xmlns:a16="http://schemas.microsoft.com/office/drawing/2014/main" id="{EBB6AAE9-0315-44D5-9614-94CB356E7F71}"/>
              </a:ext>
            </a:extLst>
          </p:cNvPr>
          <p:cNvSpPr>
            <a:spLocks noGrp="1"/>
          </p:cNvSpPr>
          <p:nvPr/>
        </p:nvSpPr>
        <p:spPr>
          <a:xfrm>
            <a:off x="8267700" y="4248150"/>
            <a:ext cx="2609850" cy="628650"/>
          </a:xfrm>
          <a:prstGeom prst="rect">
            <a:avLst/>
          </a:prstGeom>
          <a:noFill/>
          <a:ln w="0">
            <a:noFill/>
            <a:prstDash val="solid"/>
          </a:ln>
        </p:spPr>
        <p:txBody>
          <a:bodyPr/>
          <a:lstStyle/>
          <a:p>
            <a:pPr algn="ctr">
              <a:buNone/>
              <a:defRPr sz="1800" b="1" i="0">
                <a:solidFill>
                  <a:srgbClr val="11253D"/>
                </a:solidFill>
              </a:defRPr>
            </a:pPr>
            <a:r>
              <a:rPr sz="1800" b="1" i="0">
                <a:solidFill>
                  <a:srgbClr val="11253D"/>
                </a:solidFill>
              </a:rPr>
              <a:t>Does the performance claim survive more severe tests?</a:t>
            </a:r>
          </a:p>
        </p:txBody>
      </p:sp>
    </p:spTree>
    <p:extLst>
      <p:ext uri="{BB962C8B-B14F-4D97-AF65-F5344CB8AC3E}">
        <p14:creationId xmlns:p14="http://schemas.microsoft.com/office/powerpoint/2010/main" val="1131220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II · REPEATING THE EVALUATION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The regime declares which mechanisms are redrawn</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16 / 56</a:t>
            </a:r>
            <a:endParaRPr lang="en-US" sz="1100" dirty="0"/>
          </a:p>
        </p:txBody>
      </p:sp>
      <p:sp>
        <p:nvSpPr>
          <p:cNvPr id="5" name="Text 3"/>
          <p:cNvSpPr/>
          <p:nvPr/>
        </p:nvSpPr>
        <p:spPr>
          <a:xfrm>
            <a:off x="868680" y="1828800"/>
            <a:ext cx="10058400" cy="36576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ℛ is a probability law for one complete replication of the claim under study.</a:t>
            </a:r>
            <a:endParaRPr lang="en-US" sz="1550" dirty="0"/>
          </a:p>
        </p:txBody>
      </p:sp>
      <p:graphicFrame>
        <p:nvGraphicFramePr>
          <p:cNvPr id="18" name="Table 0"/>
          <p:cNvGraphicFramePr>
            <a:graphicFrameLocks noGrp="1"/>
          </p:cNvGraphicFramePr>
          <p:nvPr>
            <p:extLst>
              <p:ext uri="{D42A27DB-BD31-4B8C-83A1-F6EECF244321}">
                <p14:modId xmlns:p14="http://schemas.microsoft.com/office/powerpoint/2010/main" val="2983537205"/>
              </p:ext>
            </p:extLst>
          </p:nvPr>
        </p:nvGraphicFramePr>
        <p:xfrm>
          <a:off x="868680" y="2377440"/>
          <a:ext cx="9528048" cy="2523744"/>
        </p:xfrm>
        <a:graphic>
          <a:graphicData uri="http://schemas.openxmlformats.org/drawingml/2006/table">
            <a:tbl>
              <a:tblPr/>
              <a:tblGrid>
                <a:gridCol w="2084832">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505456">
                  <a:extLst>
                    <a:ext uri="{9D8B030D-6E8A-4147-A177-3AD203B41FA5}">
                      <a16:colId xmlns:a16="http://schemas.microsoft.com/office/drawing/2014/main" val="20003"/>
                    </a:ext>
                  </a:extLst>
                </a:gridCol>
              </a:tblGrid>
              <a:tr h="420624">
                <a:tc>
                  <a:txBody>
                    <a:bodyPr/>
                    <a:lstStyle/>
                    <a:p>
                      <a:pPr marL="0" indent="0">
                        <a:buNone/>
                      </a:pPr>
                      <a:r>
                        <a:rPr lang="en-US" sz="1550" b="1" dirty="0">
                          <a:solidFill>
                            <a:srgbClr val="1C2536"/>
                          </a:solidFill>
                          <a:latin typeface="Calibri" pitchFamily="34" charset="0"/>
                          <a:ea typeface="Calibri" pitchFamily="34" charset="-122"/>
                          <a:cs typeface="Calibri" pitchFamily="34" charset="-120"/>
                        </a:rPr>
                        <a:t>Mechanism</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b="1" dirty="0">
                          <a:solidFill>
                            <a:srgbClr val="1C2536"/>
                          </a:solidFill>
                          <a:latin typeface="Calibri" pitchFamily="34" charset="0"/>
                          <a:ea typeface="Calibri" pitchFamily="34" charset="-122"/>
                          <a:cs typeface="Calibri" pitchFamily="34" charset="-120"/>
                        </a:rPr>
                        <a:t>Fixed model</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b="1" dirty="0">
                          <a:solidFill>
                            <a:srgbClr val="1C2536"/>
                          </a:solidFill>
                          <a:latin typeface="Calibri" pitchFamily="34" charset="0"/>
                          <a:ea typeface="Calibri" pitchFamily="34" charset="-122"/>
                          <a:cs typeface="Calibri" pitchFamily="34" charset="-120"/>
                        </a:rPr>
                        <a:t>New environment</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b="1" dirty="0">
                          <a:solidFill>
                            <a:srgbClr val="1C2536"/>
                          </a:solidFill>
                          <a:latin typeface="Calibri" pitchFamily="34" charset="0"/>
                          <a:ea typeface="Calibri" pitchFamily="34" charset="-122"/>
                          <a:cs typeface="Calibri" pitchFamily="34" charset="-120"/>
                        </a:rPr>
                        <a:t>Repeated development</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Evaluation units</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redrawn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redrawn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redrawn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Environment</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held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redrawn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redrawn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Measurement process</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held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declared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declared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Fitted model</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held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held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redrawn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Training and selection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held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held</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tc>
                  <a:txBody>
                    <a:bodyPr/>
                    <a:lstStyle/>
                    <a:p>
                      <a:pPr marL="0" indent="0">
                        <a:buNone/>
                      </a:pPr>
                      <a:r>
                        <a:rPr lang="en-US" sz="1550" dirty="0">
                          <a:solidFill>
                            <a:srgbClr val="1C2536"/>
                          </a:solidFill>
                          <a:latin typeface="Calibri" pitchFamily="34" charset="0"/>
                          <a:ea typeface="Calibri" pitchFamily="34" charset="-122"/>
                          <a:cs typeface="Calibri" pitchFamily="34" charset="-120"/>
                        </a:rPr>
                        <a:t>rerun</a:t>
                      </a:r>
                      <a:endParaRPr lang="en-US" sz="1550" dirty="0">
                        <a:latin typeface="Calibri" charset="0"/>
                        <a:ea typeface="Calibri" charset="0"/>
                        <a:cs typeface="Calibri" charset="0"/>
                      </a:endParaRPr>
                    </a:p>
                  </a:txBody>
                  <a:tcPr marL="128016" marR="128016" marT="73152" marB="73152" anchor="ctr">
                    <a:lnL w="12700" cap="flat" cmpd="sng" algn="ctr">
                      <a:solidFill>
                        <a:srgbClr val="DCE2EA"/>
                      </a:solidFill>
                      <a:prstDash val="solid"/>
                      <a:round/>
                      <a:headEnd type="none" w="med" len="med"/>
                      <a:tailEnd type="none" w="med" len="med"/>
                    </a:lnL>
                    <a:lnR w="12700" cap="flat" cmpd="sng" algn="ctr">
                      <a:solidFill>
                        <a:srgbClr val="DCE2EA"/>
                      </a:solidFill>
                      <a:prstDash val="solid"/>
                      <a:round/>
                      <a:headEnd type="none" w="med" len="med"/>
                      <a:tailEnd type="none" w="med" len="med"/>
                    </a:lnR>
                    <a:lnT w="12700" cap="flat" cmpd="sng" algn="ctr">
                      <a:solidFill>
                        <a:srgbClr val="DCE2EA"/>
                      </a:solidFill>
                      <a:prstDash val="solid"/>
                      <a:round/>
                      <a:headEnd type="none" w="med" len="med"/>
                      <a:tailEnd type="none" w="med" len="med"/>
                    </a:lnT>
                    <a:lnB w="12700" cap="flat" cmpd="sng" algn="ctr">
                      <a:solidFill>
                        <a:srgbClr val="DC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868680" y="5349240"/>
            <a:ext cx="10058400" cy="73152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Independence is required between complete replications; dependence within one is permitted, so a clustered or multisite design resamples the coarsest unit its design treats as independent.</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CORROBORATION</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defRPr sz="3600" b="1" i="0">
                <a:solidFill>
                  <a:srgbClr val="11253D"/>
                </a:solidFill>
              </a:defRPr>
            </a:pPr>
            <a:r>
              <a:rPr lang="en-US" sz="3600" b="1" i="0" dirty="0">
                <a:solidFill>
                  <a:srgbClr val="11253D"/>
                </a:solidFill>
              </a:rPr>
              <a:t>How do replicated evaluations add support for a performance claim?</a:t>
            </a:r>
            <a:endParaRPr sz="3600" b="1" i="0" dirty="0">
              <a:solidFill>
                <a:srgbClr val="11253D"/>
              </a:solidFill>
            </a:endParaRP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15</a:t>
            </a:r>
          </a:p>
        </p:txBody>
      </p:sp>
      <p:sp>
        <p:nvSpPr>
          <p:cNvPr id="21" name="content-surface">
            <a:extLst>
              <a:ext uri="{FF2B5EF4-FFF2-40B4-BE49-F238E27FC236}">
                <a16:creationId xmlns:a16="http://schemas.microsoft.com/office/drawing/2014/main" id="{700F02D2-34C6-485F-818D-ED1869C2149D}"/>
              </a:ext>
            </a:extLst>
          </p:cNvPr>
          <p:cNvSpPr>
            <a:spLocks noGrp="1"/>
          </p:cNvSpPr>
          <p:nvPr/>
        </p:nvSpPr>
        <p:spPr>
          <a:xfrm>
            <a:off x="952500" y="3848100"/>
            <a:ext cx="2286000" cy="1581150"/>
          </a:xfrm>
          <a:prstGeom prst="roundRect">
            <a:avLst>
              <a:gd name="adj" fmla="val 8434"/>
            </a:avLst>
          </a:prstGeom>
          <a:solidFill>
            <a:srgbClr val="DCEAF7"/>
          </a:solidFill>
          <a:ln w="9525">
            <a:solidFill>
              <a:srgbClr val="DCEAF7"/>
            </a:solidFill>
            <a:prstDash val="solid"/>
          </a:ln>
        </p:spPr>
        <p:txBody>
          <a:bodyPr/>
          <a:lstStyle/>
          <a:p>
            <a:endParaRPr/>
          </a:p>
        </p:txBody>
      </p:sp>
      <p:sp>
        <p:nvSpPr>
          <p:cNvPr id="22" name="body-text">
            <a:extLst>
              <a:ext uri="{FF2B5EF4-FFF2-40B4-BE49-F238E27FC236}">
                <a16:creationId xmlns:a16="http://schemas.microsoft.com/office/drawing/2014/main" id="{6B073762-71AA-4DF3-88A7-D711CB1888FF}"/>
              </a:ext>
            </a:extLst>
          </p:cNvPr>
          <p:cNvSpPr>
            <a:spLocks noGrp="1"/>
          </p:cNvSpPr>
          <p:nvPr/>
        </p:nvSpPr>
        <p:spPr>
          <a:xfrm>
            <a:off x="1143000" y="4019550"/>
            <a:ext cx="1905000" cy="228600"/>
          </a:xfrm>
          <a:prstGeom prst="rect">
            <a:avLst/>
          </a:prstGeom>
          <a:noFill/>
          <a:ln w="0">
            <a:noFill/>
            <a:prstDash val="solid"/>
          </a:ln>
        </p:spPr>
        <p:txBody>
          <a:bodyPr/>
          <a:lstStyle/>
          <a:p>
            <a:pPr algn="ctr">
              <a:buNone/>
              <a:defRPr sz="1050" b="1">
                <a:solidFill>
                  <a:srgbClr val="2B6CB0"/>
                </a:solidFill>
              </a:defRPr>
            </a:pPr>
            <a:r>
              <a:rPr sz="1050" b="1">
                <a:solidFill>
                  <a:srgbClr val="2B6CB0"/>
                </a:solidFill>
              </a:rPr>
              <a:t>Evaluation 1</a:t>
            </a:r>
          </a:p>
        </p:txBody>
      </p:sp>
      <p:sp>
        <p:nvSpPr>
          <p:cNvPr id="23" name="body-text">
            <a:extLst>
              <a:ext uri="{FF2B5EF4-FFF2-40B4-BE49-F238E27FC236}">
                <a16:creationId xmlns:a16="http://schemas.microsoft.com/office/drawing/2014/main" id="{C7C749BF-1543-4AC9-B7FE-BFD4B43BFBEF}"/>
              </a:ext>
            </a:extLst>
          </p:cNvPr>
          <p:cNvSpPr>
            <a:spLocks noGrp="1"/>
          </p:cNvSpPr>
          <p:nvPr/>
        </p:nvSpPr>
        <p:spPr>
          <a:xfrm>
            <a:off x="1143000" y="4362450"/>
            <a:ext cx="1905000" cy="438150"/>
          </a:xfrm>
          <a:prstGeom prst="rect">
            <a:avLst/>
          </a:prstGeom>
          <a:noFill/>
          <a:ln w="0">
            <a:noFill/>
            <a:prstDash val="solid"/>
          </a:ln>
        </p:spPr>
        <p:txBody>
          <a:bodyPr/>
          <a:lstStyle/>
          <a:p>
            <a:pPr algn="ctr">
              <a:buNone/>
              <a:defRPr sz="2175" b="1">
                <a:solidFill>
                  <a:srgbClr val="11253D"/>
                </a:solidFill>
              </a:defRPr>
            </a:pPr>
            <a:r>
              <a:rPr lang="en-US" sz="2175" b="1" dirty="0">
                <a:solidFill>
                  <a:srgbClr val="11253D"/>
                </a:solidFill>
              </a:rPr>
              <a:t>CNAP=</a:t>
            </a:r>
            <a:r>
              <a:rPr sz="2175" b="1" dirty="0">
                <a:solidFill>
                  <a:srgbClr val="11253D"/>
                </a:solidFill>
              </a:rPr>
              <a:t>0.70</a:t>
            </a:r>
          </a:p>
        </p:txBody>
      </p:sp>
      <p:sp>
        <p:nvSpPr>
          <p:cNvPr id="24" name="body-text">
            <a:extLst>
              <a:ext uri="{FF2B5EF4-FFF2-40B4-BE49-F238E27FC236}">
                <a16:creationId xmlns:a16="http://schemas.microsoft.com/office/drawing/2014/main" id="{AFF0ED80-FE4E-4223-BAD8-19A6D4940064}"/>
              </a:ext>
            </a:extLst>
          </p:cNvPr>
          <p:cNvSpPr>
            <a:spLocks noGrp="1"/>
          </p:cNvSpPr>
          <p:nvPr/>
        </p:nvSpPr>
        <p:spPr>
          <a:xfrm>
            <a:off x="1162050" y="4914900"/>
            <a:ext cx="1866900" cy="400050"/>
          </a:xfrm>
          <a:prstGeom prst="rect">
            <a:avLst/>
          </a:prstGeom>
          <a:noFill/>
          <a:ln w="0">
            <a:noFill/>
            <a:prstDash val="solid"/>
          </a:ln>
        </p:spPr>
        <p:txBody>
          <a:bodyPr/>
          <a:lstStyle/>
          <a:p>
            <a:pPr algn="ctr">
              <a:buNone/>
              <a:defRPr sz="1125" b="0">
                <a:solidFill>
                  <a:srgbClr val="5F6B78"/>
                </a:solidFill>
              </a:defRPr>
            </a:pPr>
            <a:r>
              <a:rPr sz="1125" b="0">
                <a:solidFill>
                  <a:srgbClr val="5F6B78"/>
                </a:solidFill>
              </a:rPr>
              <a:t>Claim retained</a:t>
            </a:r>
          </a:p>
        </p:txBody>
      </p:sp>
      <p:sp>
        <p:nvSpPr>
          <p:cNvPr id="25" name="content-surface">
            <a:extLst>
              <a:ext uri="{FF2B5EF4-FFF2-40B4-BE49-F238E27FC236}">
                <a16:creationId xmlns:a16="http://schemas.microsoft.com/office/drawing/2014/main" id="{11AC8B89-F52A-4DFB-B097-CCF7374C8A7B}"/>
              </a:ext>
            </a:extLst>
          </p:cNvPr>
          <p:cNvSpPr>
            <a:spLocks noGrp="1"/>
          </p:cNvSpPr>
          <p:nvPr/>
        </p:nvSpPr>
        <p:spPr>
          <a:xfrm>
            <a:off x="3619500" y="3848100"/>
            <a:ext cx="2286000" cy="1581150"/>
          </a:xfrm>
          <a:prstGeom prst="roundRect">
            <a:avLst>
              <a:gd name="adj" fmla="val 8434"/>
            </a:avLst>
          </a:prstGeom>
          <a:solidFill>
            <a:srgbClr val="E8E0F0"/>
          </a:solidFill>
          <a:ln w="9525">
            <a:solidFill>
              <a:srgbClr val="E8E0F0"/>
            </a:solidFill>
            <a:prstDash val="solid"/>
          </a:ln>
        </p:spPr>
        <p:txBody>
          <a:bodyPr/>
          <a:lstStyle/>
          <a:p>
            <a:endParaRPr/>
          </a:p>
        </p:txBody>
      </p:sp>
      <p:sp>
        <p:nvSpPr>
          <p:cNvPr id="26" name="body-text">
            <a:extLst>
              <a:ext uri="{FF2B5EF4-FFF2-40B4-BE49-F238E27FC236}">
                <a16:creationId xmlns:a16="http://schemas.microsoft.com/office/drawing/2014/main" id="{C54484D2-8EC9-43A1-80F2-F7842D5448B1}"/>
              </a:ext>
            </a:extLst>
          </p:cNvPr>
          <p:cNvSpPr>
            <a:spLocks noGrp="1"/>
          </p:cNvSpPr>
          <p:nvPr/>
        </p:nvSpPr>
        <p:spPr>
          <a:xfrm>
            <a:off x="3810000" y="4019550"/>
            <a:ext cx="1905000" cy="228600"/>
          </a:xfrm>
          <a:prstGeom prst="rect">
            <a:avLst/>
          </a:prstGeom>
          <a:noFill/>
          <a:ln w="0">
            <a:noFill/>
            <a:prstDash val="solid"/>
          </a:ln>
        </p:spPr>
        <p:txBody>
          <a:bodyPr/>
          <a:lstStyle/>
          <a:p>
            <a:pPr algn="ctr">
              <a:buNone/>
              <a:defRPr sz="1050" b="1">
                <a:solidFill>
                  <a:srgbClr val="6B4E8E"/>
                </a:solidFill>
              </a:defRPr>
            </a:pPr>
            <a:r>
              <a:rPr sz="1050" b="1">
                <a:solidFill>
                  <a:srgbClr val="6B4E8E"/>
                </a:solidFill>
              </a:rPr>
              <a:t>Evaluation 2</a:t>
            </a:r>
          </a:p>
        </p:txBody>
      </p:sp>
      <p:sp>
        <p:nvSpPr>
          <p:cNvPr id="27" name="body-text">
            <a:extLst>
              <a:ext uri="{FF2B5EF4-FFF2-40B4-BE49-F238E27FC236}">
                <a16:creationId xmlns:a16="http://schemas.microsoft.com/office/drawing/2014/main" id="{42B0BA17-D9C9-4F7B-8C5C-A2FC330A4829}"/>
              </a:ext>
            </a:extLst>
          </p:cNvPr>
          <p:cNvSpPr>
            <a:spLocks noGrp="1"/>
          </p:cNvSpPr>
          <p:nvPr/>
        </p:nvSpPr>
        <p:spPr>
          <a:xfrm>
            <a:off x="3810000" y="4362450"/>
            <a:ext cx="1905000" cy="438150"/>
          </a:xfrm>
          <a:prstGeom prst="rect">
            <a:avLst/>
          </a:prstGeom>
          <a:noFill/>
          <a:ln w="0">
            <a:noFill/>
            <a:prstDash val="solid"/>
          </a:ln>
        </p:spPr>
        <p:txBody>
          <a:bodyPr/>
          <a:lstStyle/>
          <a:p>
            <a:pPr algn="ctr">
              <a:buNone/>
              <a:defRPr sz="2175" b="1">
                <a:solidFill>
                  <a:srgbClr val="11253D"/>
                </a:solidFill>
              </a:defRPr>
            </a:pPr>
            <a:r>
              <a:rPr lang="en-US" sz="2175" b="1" dirty="0">
                <a:solidFill>
                  <a:srgbClr val="11253D"/>
                </a:solidFill>
              </a:rPr>
              <a:t>CNAP=</a:t>
            </a:r>
            <a:r>
              <a:rPr sz="2175" b="1" dirty="0">
                <a:solidFill>
                  <a:srgbClr val="11253D"/>
                </a:solidFill>
              </a:rPr>
              <a:t>0.05</a:t>
            </a:r>
          </a:p>
        </p:txBody>
      </p:sp>
      <p:sp>
        <p:nvSpPr>
          <p:cNvPr id="28" name="body-text">
            <a:extLst>
              <a:ext uri="{FF2B5EF4-FFF2-40B4-BE49-F238E27FC236}">
                <a16:creationId xmlns:a16="http://schemas.microsoft.com/office/drawing/2014/main" id="{78AA1725-39D4-4C15-80F6-78BA0C10C76D}"/>
              </a:ext>
            </a:extLst>
          </p:cNvPr>
          <p:cNvSpPr>
            <a:spLocks noGrp="1"/>
          </p:cNvSpPr>
          <p:nvPr/>
        </p:nvSpPr>
        <p:spPr>
          <a:xfrm>
            <a:off x="3829050" y="4914900"/>
            <a:ext cx="1866900" cy="400050"/>
          </a:xfrm>
          <a:prstGeom prst="rect">
            <a:avLst/>
          </a:prstGeom>
          <a:noFill/>
          <a:ln w="0">
            <a:noFill/>
            <a:prstDash val="solid"/>
          </a:ln>
        </p:spPr>
        <p:txBody>
          <a:bodyPr/>
          <a:lstStyle/>
          <a:p>
            <a:pPr algn="ctr">
              <a:buNone/>
              <a:defRPr sz="1125" b="0">
                <a:solidFill>
                  <a:srgbClr val="5F6B78"/>
                </a:solidFill>
              </a:defRPr>
            </a:pPr>
            <a:r>
              <a:rPr sz="1125" b="0">
                <a:solidFill>
                  <a:srgbClr val="5F6B78"/>
                </a:solidFill>
              </a:rPr>
              <a:t>Claim retained</a:t>
            </a:r>
          </a:p>
        </p:txBody>
      </p:sp>
      <p:sp>
        <p:nvSpPr>
          <p:cNvPr id="6" name="TextBox 5">
            <a:extLst>
              <a:ext uri="{FF2B5EF4-FFF2-40B4-BE49-F238E27FC236}">
                <a16:creationId xmlns:a16="http://schemas.microsoft.com/office/drawing/2014/main" id="{AD202B3F-426C-E84E-AF5B-89F8FCE3E95F}"/>
              </a:ext>
            </a:extLst>
          </p:cNvPr>
          <p:cNvSpPr txBox="1"/>
          <p:nvPr/>
        </p:nvSpPr>
        <p:spPr>
          <a:xfrm>
            <a:off x="736600" y="2357765"/>
            <a:ext cx="10337800" cy="523220"/>
          </a:xfrm>
          <a:prstGeom prst="rect">
            <a:avLst/>
          </a:prstGeom>
          <a:noFill/>
        </p:spPr>
        <p:txBody>
          <a:bodyPr wrap="square" rtlCol="0">
            <a:spAutoFit/>
          </a:bodyPr>
          <a:lstStyle/>
          <a:p>
            <a:r>
              <a:rPr lang="en-US" sz="2800" dirty="0"/>
              <a:t>Suppose we have two replications (K=2) from our regime. </a:t>
            </a:r>
          </a:p>
        </p:txBody>
      </p:sp>
      <p:sp>
        <p:nvSpPr>
          <p:cNvPr id="7" name="Right Arrow 6">
            <a:extLst>
              <a:ext uri="{FF2B5EF4-FFF2-40B4-BE49-F238E27FC236}">
                <a16:creationId xmlns:a16="http://schemas.microsoft.com/office/drawing/2014/main" id="{43AAD67A-8C39-550C-568A-A87C69E939F2}"/>
              </a:ext>
            </a:extLst>
          </p:cNvPr>
          <p:cNvSpPr/>
          <p:nvPr/>
        </p:nvSpPr>
        <p:spPr>
          <a:xfrm>
            <a:off x="6350000" y="4362450"/>
            <a:ext cx="660400" cy="4381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14DEB0A-AC4A-6DEE-9EFE-37206BBC2FFB}"/>
              </a:ext>
            </a:extLst>
          </p:cNvPr>
          <p:cNvSpPr txBox="1"/>
          <p:nvPr/>
        </p:nvSpPr>
        <p:spPr>
          <a:xfrm>
            <a:off x="7454900" y="3780576"/>
            <a:ext cx="4648200" cy="1815882"/>
          </a:xfrm>
          <a:prstGeom prst="rect">
            <a:avLst/>
          </a:prstGeom>
          <a:noFill/>
        </p:spPr>
        <p:txBody>
          <a:bodyPr wrap="square" rtlCol="0">
            <a:spAutoFit/>
          </a:bodyPr>
          <a:lstStyle/>
          <a:p>
            <a:r>
              <a:rPr lang="en-US" sz="2800" dirty="0"/>
              <a:t>The claim that the model has</a:t>
            </a:r>
          </a:p>
          <a:p>
            <a:r>
              <a:rPr lang="en-US" sz="2800" dirty="0"/>
              <a:t>Support for CNAP &gt; 0.05 is defeated. Both evaluations support a max CNAP of 0.05.</a:t>
            </a:r>
          </a:p>
        </p:txBody>
      </p:sp>
    </p:spTree>
    <p:extLst>
      <p:ext uri="{BB962C8B-B14F-4D97-AF65-F5344CB8AC3E}">
        <p14:creationId xmlns:p14="http://schemas.microsoft.com/office/powerpoint/2010/main" val="1195592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III · EXPECTED PERFORMANCE</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The support (across regime replications) operator</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22 / 56</a:t>
            </a:r>
            <a:endParaRPr lang="en-US" sz="1100" dirty="0"/>
          </a:p>
        </p:txBody>
      </p:sp>
      <p:sp>
        <p:nvSpPr>
          <p:cNvPr id="5" name="Text 3"/>
          <p:cNvSpPr/>
          <p:nvPr/>
        </p:nvSpPr>
        <p:spPr>
          <a:xfrm>
            <a:off x="9722815" y="6199632"/>
            <a:ext cx="530352" cy="292608"/>
          </a:xfrm>
          <a:prstGeom prst="rect">
            <a:avLst/>
          </a:prstGeom>
          <a:noFill/>
          <a:ln/>
        </p:spPr>
        <p:txBody>
          <a:bodyPr wrap="square" lIns="0" tIns="0" rIns="0" bIns="0" rtlCol="0" anchor="ctr"/>
          <a:lstStyle/>
          <a:p>
            <a:pPr marL="0" indent="0" algn="ctr">
              <a:buNone/>
            </a:pPr>
            <a:r>
              <a:rPr lang="en-US" sz="1300" dirty="0">
                <a:solidFill>
                  <a:srgbClr val="C3CBD6"/>
                </a:solidFill>
                <a:latin typeface="Calibri" pitchFamily="34" charset="0"/>
                <a:ea typeface="Calibri" pitchFamily="34" charset="-122"/>
                <a:cs typeface="Calibri" pitchFamily="34" charset="-120"/>
              </a:rPr>
              <a:t>Π★</a:t>
            </a:r>
            <a:endParaRPr lang="en-US" sz="1300" dirty="0"/>
          </a:p>
        </p:txBody>
      </p:sp>
      <p:sp>
        <p:nvSpPr>
          <p:cNvPr id="6" name="Text 4"/>
          <p:cNvSpPr/>
          <p:nvPr/>
        </p:nvSpPr>
        <p:spPr>
          <a:xfrm>
            <a:off x="10253167" y="6199632"/>
            <a:ext cx="530352" cy="292608"/>
          </a:xfrm>
          <a:prstGeom prst="rect">
            <a:avLst/>
          </a:prstGeom>
          <a:noFill/>
          <a:ln/>
        </p:spPr>
        <p:txBody>
          <a:bodyPr wrap="square" lIns="0" tIns="0" rIns="0" bIns="0" rtlCol="0" anchor="ctr"/>
          <a:lstStyle/>
          <a:p>
            <a:pPr marL="0" indent="0" algn="ctr">
              <a:buNone/>
            </a:pPr>
            <a:r>
              <a:rPr lang="en-US" sz="1300" dirty="0">
                <a:solidFill>
                  <a:srgbClr val="C3CBD6"/>
                </a:solidFill>
                <a:latin typeface="Calibri" pitchFamily="34" charset="0"/>
                <a:ea typeface="Calibri" pitchFamily="34" charset="-122"/>
                <a:cs typeface="Calibri" pitchFamily="34" charset="-120"/>
              </a:rPr>
              <a:t>ℛ</a:t>
            </a:r>
            <a:endParaRPr lang="en-US" sz="1300" dirty="0"/>
          </a:p>
        </p:txBody>
      </p:sp>
      <p:sp>
        <p:nvSpPr>
          <p:cNvPr id="7" name="Text 5"/>
          <p:cNvSpPr/>
          <p:nvPr/>
        </p:nvSpPr>
        <p:spPr>
          <a:xfrm>
            <a:off x="10783519" y="6199632"/>
            <a:ext cx="530352" cy="292608"/>
          </a:xfrm>
          <a:prstGeom prst="rect">
            <a:avLst/>
          </a:prstGeom>
          <a:noFill/>
          <a:ln/>
        </p:spPr>
        <p:txBody>
          <a:bodyPr wrap="square" lIns="0" tIns="0" rIns="0" bIns="0" rtlCol="0" anchor="ctr"/>
          <a:lstStyle/>
          <a:p>
            <a:pPr marL="0" indent="0" algn="ctr">
              <a:buNone/>
            </a:pPr>
            <a:r>
              <a:rPr lang="en-US" sz="1300" b="1" dirty="0">
                <a:solidFill>
                  <a:srgbClr val="A8412A"/>
                </a:solidFill>
                <a:latin typeface="Calibri" pitchFamily="34" charset="0"/>
                <a:ea typeface="Calibri" pitchFamily="34" charset="-122"/>
                <a:cs typeface="Calibri" pitchFamily="34" charset="-120"/>
              </a:rPr>
              <a:t>K</a:t>
            </a:r>
            <a:endParaRPr lang="en-US" sz="1300" dirty="0"/>
          </a:p>
        </p:txBody>
      </p:sp>
      <p:pic>
        <p:nvPicPr>
          <p:cNvPr id="8" name="Image 0" descr="/sessions/wizardly-upbeat-edison/mnt/outputs/math/support.png"/>
          <p:cNvPicPr>
            <a:picLocks noChangeAspect="1"/>
          </p:cNvPicPr>
          <p:nvPr/>
        </p:nvPicPr>
        <p:blipFill>
          <a:blip r:embed="rId3"/>
          <a:stretch>
            <a:fillRect/>
          </a:stretch>
        </p:blipFill>
        <p:spPr>
          <a:xfrm>
            <a:off x="3723794" y="1783080"/>
            <a:ext cx="4744107" cy="1051560"/>
          </a:xfrm>
          <a:prstGeom prst="rect">
            <a:avLst/>
          </a:prstGeom>
        </p:spPr>
      </p:pic>
      <p:sp>
        <p:nvSpPr>
          <p:cNvPr id="9" name="Shape 6"/>
          <p:cNvSpPr/>
          <p:nvPr/>
        </p:nvSpPr>
        <p:spPr>
          <a:xfrm>
            <a:off x="3611880" y="3200400"/>
            <a:ext cx="4967935" cy="0"/>
          </a:xfrm>
          <a:prstGeom prst="line">
            <a:avLst/>
          </a:prstGeom>
          <a:noFill/>
          <a:ln w="12700">
            <a:solidFill>
              <a:srgbClr val="DCE2EA"/>
            </a:solidFill>
            <a:prstDash val="solid"/>
          </a:ln>
        </p:spPr>
        <p:txBody>
          <a:bodyPr/>
          <a:lstStyle/>
          <a:p>
            <a:endParaRPr lang="en-US"/>
          </a:p>
        </p:txBody>
      </p:sp>
      <p:pic>
        <p:nvPicPr>
          <p:cNvPr id="10" name="Image 1" descr="/sessions/wizardly-upbeat-edison/mnt/outputs/math/support_k2.png"/>
          <p:cNvPicPr>
            <a:picLocks noChangeAspect="1"/>
          </p:cNvPicPr>
          <p:nvPr/>
        </p:nvPicPr>
        <p:blipFill>
          <a:blip r:embed="rId4"/>
          <a:stretch>
            <a:fillRect/>
          </a:stretch>
        </p:blipFill>
        <p:spPr>
          <a:xfrm>
            <a:off x="3261208" y="3520440"/>
            <a:ext cx="5669280" cy="656738"/>
          </a:xfrm>
          <a:prstGeom prst="rect">
            <a:avLst/>
          </a:prstGeom>
        </p:spPr>
      </p:pic>
      <p:sp>
        <p:nvSpPr>
          <p:cNvPr id="11" name="Text 7"/>
          <p:cNvSpPr/>
          <p:nvPr/>
        </p:nvSpPr>
        <p:spPr>
          <a:xfrm>
            <a:off x="868680" y="4754880"/>
            <a:ext cx="10058400" cy="1097280"/>
          </a:xfrm>
          <a:prstGeom prst="rect">
            <a:avLst/>
          </a:prstGeom>
          <a:noFill/>
          <a:ln/>
        </p:spPr>
        <p:txBody>
          <a:bodyPr wrap="square" lIns="0" tIns="0" rIns="0" bIns="0" rtlCol="0" anchor="t"/>
          <a:lstStyle/>
          <a:p>
            <a:pPr marL="0" indent="0">
              <a:lnSpc>
                <a:spcPct val="128000"/>
              </a:lnSpc>
              <a:buNone/>
            </a:pPr>
            <a:r>
              <a:rPr lang="en-US" sz="1600" dirty="0">
                <a:solidFill>
                  <a:srgbClr val="6E7A8C"/>
                </a:solidFill>
                <a:latin typeface="Calibri" pitchFamily="34" charset="0"/>
                <a:ea typeface="Calibri" pitchFamily="34" charset="-122"/>
                <a:cs typeface="Calibri" pitchFamily="34" charset="-120"/>
              </a:rPr>
              <a:t>Writing T for that effect, the realized minimum is the greatest level one set of K challenges retained; the expectation averages it over executions of the regime. At K = 2, support is expected performance less half the expected disagreement between two replications — a cost made visible rather than converted into a standard error.</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IV · CHANCE IN A FINITE DESIGN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Anchor the support operator to [0,1]</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37 / 56</a:t>
            </a:r>
            <a:endParaRPr lang="en-US" sz="1100" dirty="0"/>
          </a:p>
        </p:txBody>
      </p:sp>
      <p:sp>
        <p:nvSpPr>
          <p:cNvPr id="5" name="Text 3"/>
          <p:cNvSpPr/>
          <p:nvPr/>
        </p:nvSpPr>
        <p:spPr>
          <a:xfrm>
            <a:off x="868680" y="1874520"/>
            <a:ext cx="10058400" cy="1051560"/>
          </a:xfrm>
          <a:prstGeom prst="rect">
            <a:avLst/>
          </a:prstGeom>
          <a:noFill/>
          <a:ln/>
        </p:spPr>
        <p:txBody>
          <a:bodyPr wrap="square" lIns="0" tIns="0" rIns="0" bIns="0" rtlCol="0" anchor="t"/>
          <a:lstStyle/>
          <a:p>
            <a:pPr marL="0" indent="0" algn="l">
              <a:lnSpc>
                <a:spcPct val="130000"/>
              </a:lnSpc>
              <a:buNone/>
            </a:pPr>
            <a:r>
              <a:rPr lang="en-US" sz="1900" dirty="0">
                <a:solidFill>
                  <a:srgbClr val="1C2536"/>
                </a:solidFill>
                <a:latin typeface="Calibri" pitchFamily="34" charset="0"/>
                <a:ea typeface="Calibri" pitchFamily="34" charset="-122"/>
                <a:cs typeface="Calibri" pitchFamily="34" charset="-120"/>
              </a:rPr>
              <a:t>Condition on the scores, their tie structure, the evaluation units and the class counts, then assign outcomes uniformly over the label vectors preserving those counts and rerun the entire robust procedure.</a:t>
            </a:r>
            <a:endParaRPr lang="en-US" sz="1900" dirty="0"/>
          </a:p>
        </p:txBody>
      </p:sp>
      <p:pic>
        <p:nvPicPr>
          <p:cNvPr id="6" name="Image 0" descr="/sessions/wizardly-upbeat-edison/mnt/outputs/math/null_anchor.png"/>
          <p:cNvPicPr>
            <a:picLocks noChangeAspect="1"/>
          </p:cNvPicPr>
          <p:nvPr/>
        </p:nvPicPr>
        <p:blipFill>
          <a:blip r:embed="rId3"/>
          <a:stretch>
            <a:fillRect/>
          </a:stretch>
        </p:blipFill>
        <p:spPr>
          <a:xfrm>
            <a:off x="2163928" y="3108960"/>
            <a:ext cx="7863840" cy="1098984"/>
          </a:xfrm>
          <a:prstGeom prst="rect">
            <a:avLst/>
          </a:prstGeom>
        </p:spPr>
      </p:pic>
      <p:sp>
        <p:nvSpPr>
          <p:cNvPr id="7" name="Text 4"/>
          <p:cNvSpPr/>
          <p:nvPr/>
        </p:nvSpPr>
        <p:spPr>
          <a:xfrm>
            <a:off x="868680" y="4480560"/>
            <a:ext cx="10058400" cy="45720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The regime is not replaced: every permutation is bootstrapped under the same declared ℛ, and only the label law changes.</a:t>
            </a:r>
            <a:endParaRPr lang="en-US" sz="1550" dirty="0"/>
          </a:p>
        </p:txBody>
      </p:sp>
      <p:sp>
        <p:nvSpPr>
          <p:cNvPr id="8" name="Text 5"/>
          <p:cNvSpPr/>
          <p:nvPr/>
        </p:nvSpPr>
        <p:spPr>
          <a:xfrm>
            <a:off x="868680" y="5166360"/>
            <a:ext cx="10058400" cy="68580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Perfect separation is a fixed point at one under the stratified bootstrap, which makes the calibrated ratio interpretable. Raw value, anchor and calibrated ratio travel together.</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IV · CHANCE IN A FINITE DESIGN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Calibrated values cannot be compared across models</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38 / 56</a:t>
            </a:r>
            <a:endParaRPr lang="en-US" sz="1100" dirty="0"/>
          </a:p>
        </p:txBody>
      </p:sp>
      <p:sp>
        <p:nvSpPr>
          <p:cNvPr id="5" name="Text 3"/>
          <p:cNvSpPr/>
          <p:nvPr/>
        </p:nvSpPr>
        <p:spPr>
          <a:xfrm>
            <a:off x="868680" y="1965960"/>
            <a:ext cx="10058400" cy="960120"/>
          </a:xfrm>
          <a:prstGeom prst="rect">
            <a:avLst/>
          </a:prstGeom>
          <a:noFill/>
          <a:ln/>
        </p:spPr>
        <p:txBody>
          <a:bodyPr wrap="square" lIns="0" tIns="0" rIns="0" bIns="0" rtlCol="0" anchor="t"/>
          <a:lstStyle/>
          <a:p>
            <a:pPr marL="0" indent="0" algn="l">
              <a:lnSpc>
                <a:spcPct val="130000"/>
              </a:lnSpc>
              <a:buNone/>
            </a:pPr>
            <a:r>
              <a:rPr lang="en-US" sz="1900" dirty="0">
                <a:solidFill>
                  <a:srgbClr val="1C2536"/>
                </a:solidFill>
                <a:latin typeface="Calibri" pitchFamily="34" charset="0"/>
                <a:ea typeface="Calibri" pitchFamily="34" charset="-122"/>
                <a:cs typeface="Calibri" pitchFamily="34" charset="-120"/>
              </a:rPr>
              <a:t>Two models with different score vectors have different conditional anchors and therefore different affine scales, so their calibrated values can be neither subtracted nor ranked.</a:t>
            </a:r>
            <a:endParaRPr lang="en-US" sz="1900" dirty="0"/>
          </a:p>
        </p:txBody>
      </p:sp>
      <p:sp>
        <p:nvSpPr>
          <p:cNvPr id="6" name="Shape 4"/>
          <p:cNvSpPr/>
          <p:nvPr/>
        </p:nvSpPr>
        <p:spPr>
          <a:xfrm>
            <a:off x="868680" y="3200400"/>
            <a:ext cx="4983480" cy="1920240"/>
          </a:xfrm>
          <a:prstGeom prst="roundRect">
            <a:avLst>
              <a:gd name="adj" fmla="val 2857"/>
            </a:avLst>
          </a:prstGeom>
          <a:solidFill>
            <a:srgbClr val="EFF2F6"/>
          </a:solidFill>
          <a:ln/>
        </p:spPr>
        <p:txBody>
          <a:bodyPr/>
          <a:lstStyle/>
          <a:p>
            <a:endParaRPr lang="en-US"/>
          </a:p>
        </p:txBody>
      </p:sp>
      <p:sp>
        <p:nvSpPr>
          <p:cNvPr id="7" name="Text 5"/>
          <p:cNvSpPr/>
          <p:nvPr/>
        </p:nvSpPr>
        <p:spPr>
          <a:xfrm>
            <a:off x="1216152" y="3474720"/>
            <a:ext cx="4288536" cy="566928"/>
          </a:xfrm>
          <a:prstGeom prst="rect">
            <a:avLst/>
          </a:prstGeom>
          <a:noFill/>
          <a:ln/>
        </p:spPr>
        <p:txBody>
          <a:bodyPr wrap="square" lIns="0" tIns="0" rIns="0" bIns="0" rtlCol="0" anchor="t"/>
          <a:lstStyle/>
          <a:p>
            <a:pPr marL="0" indent="0">
              <a:lnSpc>
                <a:spcPct val="105000"/>
              </a:lnSpc>
              <a:buNone/>
            </a:pPr>
            <a:r>
              <a:rPr lang="en-US" sz="1900" b="1" dirty="0">
                <a:solidFill>
                  <a:srgbClr val="1C2536"/>
                </a:solidFill>
                <a:latin typeface="Cambria" pitchFamily="34" charset="0"/>
                <a:ea typeface="Cambria" pitchFamily="34" charset="-122"/>
                <a:cs typeface="Cambria" pitchFamily="34" charset="-120"/>
              </a:rPr>
              <a:t>Within one model</a:t>
            </a:r>
            <a:endParaRPr lang="en-US" sz="1900" dirty="0"/>
          </a:p>
        </p:txBody>
      </p:sp>
      <p:sp>
        <p:nvSpPr>
          <p:cNvPr id="8" name="Text 6"/>
          <p:cNvSpPr/>
          <p:nvPr/>
        </p:nvSpPr>
        <p:spPr>
          <a:xfrm>
            <a:off x="1216152" y="4096512"/>
            <a:ext cx="4288536" cy="768096"/>
          </a:xfrm>
          <a:prstGeom prst="rect">
            <a:avLst/>
          </a:prstGeom>
          <a:noFill/>
          <a:ln/>
        </p:spPr>
        <p:txBody>
          <a:bodyPr wrap="square" lIns="0" tIns="0" rIns="0" bIns="0" rtlCol="0" anchor="t"/>
          <a:lstStyle/>
          <a:p>
            <a:pPr marL="0" indent="0">
              <a:lnSpc>
                <a:spcPct val="128000"/>
              </a:lnSpc>
              <a:buNone/>
            </a:pPr>
            <a:r>
              <a:rPr lang="en-US" sz="1550" dirty="0">
                <a:solidFill>
                  <a:srgbClr val="1C2536"/>
                </a:solidFill>
                <a:latin typeface="Calibri" pitchFamily="34" charset="0"/>
                <a:ea typeface="Calibri" pitchFamily="34" charset="-122"/>
                <a:cs typeface="Calibri" pitchFamily="34" charset="-120"/>
              </a:rPr>
              <a:t>Raw value, anchor and ratio travel together, and the ratio is interpretable against the design that produced it.</a:t>
            </a:r>
            <a:endParaRPr lang="en-US" sz="1550" dirty="0"/>
          </a:p>
        </p:txBody>
      </p:sp>
      <p:sp>
        <p:nvSpPr>
          <p:cNvPr id="9" name="Shape 7"/>
          <p:cNvSpPr/>
          <p:nvPr/>
        </p:nvSpPr>
        <p:spPr>
          <a:xfrm>
            <a:off x="6355080" y="3200400"/>
            <a:ext cx="4983480" cy="1920240"/>
          </a:xfrm>
          <a:prstGeom prst="roundRect">
            <a:avLst>
              <a:gd name="adj" fmla="val 2857"/>
            </a:avLst>
          </a:prstGeom>
          <a:solidFill>
            <a:srgbClr val="EFF2F6"/>
          </a:solidFill>
          <a:ln/>
        </p:spPr>
        <p:txBody>
          <a:bodyPr/>
          <a:lstStyle/>
          <a:p>
            <a:endParaRPr lang="en-US"/>
          </a:p>
        </p:txBody>
      </p:sp>
      <p:sp>
        <p:nvSpPr>
          <p:cNvPr id="10" name="Text 8"/>
          <p:cNvSpPr/>
          <p:nvPr/>
        </p:nvSpPr>
        <p:spPr>
          <a:xfrm>
            <a:off x="6702552" y="3474720"/>
            <a:ext cx="4288536" cy="566928"/>
          </a:xfrm>
          <a:prstGeom prst="rect">
            <a:avLst/>
          </a:prstGeom>
          <a:noFill/>
          <a:ln/>
        </p:spPr>
        <p:txBody>
          <a:bodyPr wrap="square" lIns="0" tIns="0" rIns="0" bIns="0" rtlCol="0" anchor="t"/>
          <a:lstStyle/>
          <a:p>
            <a:pPr marL="0" indent="0">
              <a:lnSpc>
                <a:spcPct val="105000"/>
              </a:lnSpc>
              <a:buNone/>
            </a:pPr>
            <a:r>
              <a:rPr lang="en-US" sz="1900" b="1" dirty="0">
                <a:solidFill>
                  <a:srgbClr val="A8412A"/>
                </a:solidFill>
                <a:latin typeface="Cambria" pitchFamily="34" charset="0"/>
                <a:ea typeface="Cambria" pitchFamily="34" charset="-122"/>
                <a:cs typeface="Cambria" pitchFamily="34" charset="-120"/>
              </a:rPr>
              <a:t>Across two models</a:t>
            </a:r>
            <a:endParaRPr lang="en-US" sz="1900" dirty="0"/>
          </a:p>
        </p:txBody>
      </p:sp>
      <p:sp>
        <p:nvSpPr>
          <p:cNvPr id="11" name="Text 9"/>
          <p:cNvSpPr/>
          <p:nvPr/>
        </p:nvSpPr>
        <p:spPr>
          <a:xfrm>
            <a:off x="6702552" y="4096512"/>
            <a:ext cx="4288536" cy="768096"/>
          </a:xfrm>
          <a:prstGeom prst="rect">
            <a:avLst/>
          </a:prstGeom>
          <a:noFill/>
          <a:ln/>
        </p:spPr>
        <p:txBody>
          <a:bodyPr wrap="square" lIns="0" tIns="0" rIns="0" bIns="0" rtlCol="0" anchor="t"/>
          <a:lstStyle/>
          <a:p>
            <a:pPr marL="0" indent="0">
              <a:lnSpc>
                <a:spcPct val="128000"/>
              </a:lnSpc>
              <a:buNone/>
            </a:pPr>
            <a:r>
              <a:rPr lang="en-US" sz="1550" dirty="0">
                <a:solidFill>
                  <a:srgbClr val="1C2536"/>
                </a:solidFill>
                <a:latin typeface="Calibri" pitchFamily="34" charset="0"/>
                <a:ea typeface="Calibri" pitchFamily="34" charset="-122"/>
                <a:cs typeface="Calibri" pitchFamily="34" charset="-120"/>
              </a:rPr>
              <a:t>Each ratio is affine on its own anchor, so a difference or a ranking of calibrated values rests on no common scale.</a:t>
            </a:r>
            <a:endParaRPr lang="en-US" sz="1550" dirty="0"/>
          </a:p>
        </p:txBody>
      </p:sp>
      <p:sp>
        <p:nvSpPr>
          <p:cNvPr id="12" name="Text 10"/>
          <p:cNvSpPr/>
          <p:nvPr/>
        </p:nvSpPr>
        <p:spPr>
          <a:xfrm>
            <a:off x="868680" y="5349240"/>
            <a:ext cx="10058400" cy="68580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A further condition, and not a comparison problem: where the outcomes were used for selection, tuning or early stopping, permuting them around a supposedly fixed score vector reproduces nothing.</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C2536"/>
        </a:solidFill>
        <a:effectLst/>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20" normalizeH="0" baseline="0" noProof="0" dirty="0">
                <a:ln>
                  <a:noFill/>
                </a:ln>
                <a:solidFill>
                  <a:srgbClr val="9AA6B4"/>
                </a:solidFill>
                <a:effectLst/>
                <a:uLnTx/>
                <a:uFillTx/>
                <a:latin typeface="Calibri" pitchFamily="34" charset="0"/>
                <a:ea typeface="Calibri" pitchFamily="34" charset="-122"/>
                <a:cs typeface="Calibri" pitchFamily="34" charset="-120"/>
              </a:rPr>
              <a:t>PROBLEM V · MODEL REPLACEMENT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F4F7FB"/>
                </a:solidFill>
                <a:effectLst/>
                <a:uLnTx/>
                <a:uFillTx/>
                <a:latin typeface="Cambria" pitchFamily="34" charset="0"/>
                <a:ea typeface="Cambria" pitchFamily="34" charset="-122"/>
                <a:cs typeface="Cambria" pitchFamily="34" charset="-120"/>
              </a:rPr>
              <a:t>Forming the difference before both challenges</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C6878"/>
                </a:solidFill>
                <a:effectLst/>
                <a:uLnTx/>
                <a:uFillTx/>
                <a:latin typeface="Calibri" pitchFamily="34" charset="0"/>
                <a:ea typeface="Calibri" pitchFamily="34" charset="-122"/>
                <a:cs typeface="Calibri" pitchFamily="34" charset="-120"/>
              </a:rPr>
              <a:t>46 / 56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722815" y="6199632"/>
            <a:ext cx="530352"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8412A"/>
                </a:solidFill>
                <a:effectLst/>
                <a:uLnTx/>
                <a:uFillTx/>
                <a:latin typeface="Calibri" pitchFamily="34" charset="0"/>
                <a:ea typeface="Calibri" pitchFamily="34" charset="-122"/>
                <a:cs typeface="Calibri" pitchFamily="34" charset="-120"/>
              </a:rPr>
              <a:t>Π★</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0253167" y="6199632"/>
            <a:ext cx="530352"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3CBD6"/>
                </a:solidFill>
                <a:effectLst/>
                <a:uLnTx/>
                <a:uFillTx/>
                <a:latin typeface="Calibri" pitchFamily="34" charset="0"/>
                <a:ea typeface="Calibri" pitchFamily="34" charset="-122"/>
                <a:cs typeface="Calibri" pitchFamily="34" charset="-120"/>
              </a:rPr>
              <a:t>ℛ</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783519" y="6199632"/>
            <a:ext cx="530352"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8412A"/>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Image 0" descr="/sessions/wizardly-upbeat-edison/mnt/outputs/math/paired.png"/>
          <p:cNvPicPr>
            <a:picLocks noChangeAspect="1"/>
          </p:cNvPicPr>
          <p:nvPr/>
        </p:nvPicPr>
        <p:blipFill>
          <a:blip r:embed="rId3"/>
          <a:stretch>
            <a:fillRect/>
          </a:stretch>
        </p:blipFill>
        <p:spPr>
          <a:xfrm>
            <a:off x="1249528" y="2514600"/>
            <a:ext cx="9692640" cy="1017815"/>
          </a:xfrm>
          <a:prstGeom prst="rect">
            <a:avLst/>
          </a:prstGeom>
        </p:spPr>
      </p:pic>
      <p:sp>
        <p:nvSpPr>
          <p:cNvPr id="9" name="Text 6"/>
          <p:cNvSpPr/>
          <p:nvPr/>
        </p:nvSpPr>
        <p:spPr>
          <a:xfrm>
            <a:off x="1600200" y="4663440"/>
            <a:ext cx="8991295" cy="822960"/>
          </a:xfrm>
          <a:prstGeom prst="rect">
            <a:avLst/>
          </a:prstGeom>
          <a:noFill/>
          <a:ln/>
        </p:spPr>
        <p:txBody>
          <a:bodyPr wrap="square" lIns="0" tIns="0" rIns="0" bIns="0"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9AA6B4"/>
                </a:solidFill>
                <a:effectLst/>
                <a:uLnTx/>
                <a:uFillTx/>
                <a:latin typeface="Calibri" pitchFamily="34" charset="0"/>
                <a:ea typeface="Calibri" pitchFamily="34" charset="-122"/>
                <a:cs typeface="Calibri" pitchFamily="34" charset="-120"/>
              </a:rPr>
              <a:t>The tie-averaged value is chance-normalized exactly as before, and within each replication the same sampled units and outcomes serve both models, so the marginal score of either is never an intermediate input.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marL="0" indent="0">
              <a:buNone/>
            </a:pPr>
            <a:r>
              <a:rPr lang="en-US" sz="1200" b="1" kern="0" spc="220" dirty="0">
                <a:solidFill>
                  <a:srgbClr val="6E7A8C"/>
                </a:solidFill>
                <a:latin typeface="Calibri" pitchFamily="34" charset="0"/>
                <a:ea typeface="Calibri" pitchFamily="34" charset="-122"/>
                <a:cs typeface="Calibri" pitchFamily="34" charset="-120"/>
              </a:rPr>
              <a:t>PROBLEM V · MODEL REPLACEMENT</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marL="0" indent="0">
              <a:lnSpc>
                <a:spcPct val="105000"/>
              </a:lnSpc>
              <a:buNone/>
            </a:pPr>
            <a:r>
              <a:rPr lang="en-US" sz="3300" b="1" dirty="0">
                <a:solidFill>
                  <a:srgbClr val="1C2536"/>
                </a:solidFill>
                <a:latin typeface="Cambria" pitchFamily="34" charset="0"/>
                <a:ea typeface="Cambria" pitchFamily="34" charset="-122"/>
                <a:cs typeface="Cambria" pitchFamily="34" charset="-120"/>
              </a:rPr>
              <a:t>The replacement margin</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marL="0" indent="0" algn="l">
              <a:buNone/>
            </a:pPr>
            <a:r>
              <a:rPr lang="en-US" sz="1100" dirty="0">
                <a:solidFill>
                  <a:srgbClr val="B6BFCB"/>
                </a:solidFill>
                <a:latin typeface="Calibri" pitchFamily="34" charset="0"/>
                <a:ea typeface="Calibri" pitchFamily="34" charset="-122"/>
                <a:cs typeface="Calibri" pitchFamily="34" charset="-120"/>
              </a:rPr>
              <a:t>52 / 56</a:t>
            </a:r>
            <a:endParaRPr lang="en-US" sz="1100" dirty="0"/>
          </a:p>
        </p:txBody>
      </p:sp>
      <p:sp>
        <p:nvSpPr>
          <p:cNvPr id="5" name="Text 3"/>
          <p:cNvSpPr/>
          <p:nvPr/>
        </p:nvSpPr>
        <p:spPr>
          <a:xfrm>
            <a:off x="9722815" y="6199632"/>
            <a:ext cx="530352" cy="292608"/>
          </a:xfrm>
          <a:prstGeom prst="rect">
            <a:avLst/>
          </a:prstGeom>
          <a:noFill/>
          <a:ln/>
        </p:spPr>
        <p:txBody>
          <a:bodyPr wrap="square" lIns="0" tIns="0" rIns="0" bIns="0" rtlCol="0" anchor="ctr"/>
          <a:lstStyle/>
          <a:p>
            <a:pPr marL="0" indent="0" algn="ctr">
              <a:buNone/>
            </a:pPr>
            <a:r>
              <a:rPr lang="en-US" sz="1300" dirty="0">
                <a:solidFill>
                  <a:srgbClr val="C3CBD6"/>
                </a:solidFill>
                <a:latin typeface="Calibri" pitchFamily="34" charset="0"/>
                <a:ea typeface="Calibri" pitchFamily="34" charset="-122"/>
                <a:cs typeface="Calibri" pitchFamily="34" charset="-120"/>
              </a:rPr>
              <a:t>Π★</a:t>
            </a:r>
            <a:endParaRPr lang="en-US" sz="1300" dirty="0"/>
          </a:p>
        </p:txBody>
      </p:sp>
      <p:sp>
        <p:nvSpPr>
          <p:cNvPr id="6" name="Text 4"/>
          <p:cNvSpPr/>
          <p:nvPr/>
        </p:nvSpPr>
        <p:spPr>
          <a:xfrm>
            <a:off x="10253167" y="6199632"/>
            <a:ext cx="530352" cy="292608"/>
          </a:xfrm>
          <a:prstGeom prst="rect">
            <a:avLst/>
          </a:prstGeom>
          <a:noFill/>
          <a:ln/>
        </p:spPr>
        <p:txBody>
          <a:bodyPr wrap="square" lIns="0" tIns="0" rIns="0" bIns="0" rtlCol="0" anchor="ctr"/>
          <a:lstStyle/>
          <a:p>
            <a:pPr marL="0" indent="0" algn="ctr">
              <a:buNone/>
            </a:pPr>
            <a:r>
              <a:rPr lang="en-US" sz="1300" dirty="0">
                <a:solidFill>
                  <a:srgbClr val="C3CBD6"/>
                </a:solidFill>
                <a:latin typeface="Calibri" pitchFamily="34" charset="0"/>
                <a:ea typeface="Calibri" pitchFamily="34" charset="-122"/>
                <a:cs typeface="Calibri" pitchFamily="34" charset="-120"/>
              </a:rPr>
              <a:t>ℛ</a:t>
            </a:r>
            <a:endParaRPr lang="en-US" sz="1300" dirty="0"/>
          </a:p>
        </p:txBody>
      </p:sp>
      <p:sp>
        <p:nvSpPr>
          <p:cNvPr id="7" name="Text 5"/>
          <p:cNvSpPr/>
          <p:nvPr/>
        </p:nvSpPr>
        <p:spPr>
          <a:xfrm>
            <a:off x="10783519" y="6199632"/>
            <a:ext cx="530352" cy="292608"/>
          </a:xfrm>
          <a:prstGeom prst="rect">
            <a:avLst/>
          </a:prstGeom>
          <a:noFill/>
          <a:ln/>
        </p:spPr>
        <p:txBody>
          <a:bodyPr wrap="square" lIns="0" tIns="0" rIns="0" bIns="0" rtlCol="0" anchor="ctr"/>
          <a:lstStyle/>
          <a:p>
            <a:pPr marL="0" indent="0" algn="ctr">
              <a:buNone/>
            </a:pPr>
            <a:r>
              <a:rPr lang="en-US" sz="1300" b="1" dirty="0">
                <a:solidFill>
                  <a:srgbClr val="A8412A"/>
                </a:solidFill>
                <a:latin typeface="Calibri" pitchFamily="34" charset="0"/>
                <a:ea typeface="Calibri" pitchFamily="34" charset="-122"/>
                <a:cs typeface="Calibri" pitchFamily="34" charset="-120"/>
              </a:rPr>
              <a:t>K</a:t>
            </a:r>
            <a:endParaRPr lang="en-US" sz="1300" dirty="0"/>
          </a:p>
        </p:txBody>
      </p:sp>
      <p:pic>
        <p:nvPicPr>
          <p:cNvPr id="8" name="Image 0" descr="/sessions/wizardly-upbeat-edison/mnt/outputs/math/margin.png"/>
          <p:cNvPicPr>
            <a:picLocks noChangeAspect="1"/>
          </p:cNvPicPr>
          <p:nvPr/>
        </p:nvPicPr>
        <p:blipFill>
          <a:blip r:embed="rId3"/>
          <a:stretch>
            <a:fillRect/>
          </a:stretch>
        </p:blipFill>
        <p:spPr>
          <a:xfrm>
            <a:off x="5183448" y="1965960"/>
            <a:ext cx="1824800" cy="566928"/>
          </a:xfrm>
          <a:prstGeom prst="rect">
            <a:avLst/>
          </a:prstGeom>
        </p:spPr>
      </p:pic>
      <p:sp>
        <p:nvSpPr>
          <p:cNvPr id="9" name="Text 6"/>
          <p:cNvSpPr/>
          <p:nvPr/>
        </p:nvSpPr>
        <p:spPr>
          <a:xfrm>
            <a:off x="868680" y="2926080"/>
            <a:ext cx="10058400" cy="1188720"/>
          </a:xfrm>
          <a:prstGeom prst="rect">
            <a:avLst/>
          </a:prstGeom>
          <a:noFill/>
          <a:ln/>
        </p:spPr>
        <p:txBody>
          <a:bodyPr wrap="square" lIns="0" tIns="0" rIns="0" bIns="0" rtlCol="0" anchor="t"/>
          <a:lstStyle/>
          <a:p>
            <a:pPr marL="0" indent="0" algn="l">
              <a:lnSpc>
                <a:spcPct val="130000"/>
              </a:lnSpc>
              <a:buNone/>
            </a:pPr>
            <a:r>
              <a:rPr lang="en-US" sz="1900" dirty="0">
                <a:solidFill>
                  <a:srgbClr val="1C2536"/>
                </a:solidFill>
                <a:latin typeface="Calibri" pitchFamily="34" charset="0"/>
                <a:ea typeface="Calibri" pitchFamily="34" charset="-122"/>
                <a:cs typeface="Calibri" pitchFamily="34" charset="-120"/>
              </a:rPr>
              <a:t>Let d be the smallest retained advantage that would justify replacing B by A. A positive point estimate does not establish the population inequality, so the rule requires an outer lower bound to exceed d, with pairing preserved through the outer and inner layers.</a:t>
            </a:r>
            <a:endParaRPr lang="en-US" sz="1900" dirty="0"/>
          </a:p>
        </p:txBody>
      </p:sp>
      <p:sp>
        <p:nvSpPr>
          <p:cNvPr id="10" name="Text 7"/>
          <p:cNvSpPr/>
          <p:nvPr/>
        </p:nvSpPr>
        <p:spPr>
          <a:xfrm>
            <a:off x="868680" y="4434840"/>
            <a:ext cx="10058400" cy="914400"/>
          </a:xfrm>
          <a:prstGeom prst="rect">
            <a:avLst/>
          </a:prstGeom>
          <a:noFill/>
          <a:ln/>
        </p:spPr>
        <p:txBody>
          <a:bodyPr wrap="square" lIns="0" tIns="0" rIns="0" bIns="0" rtlCol="0" anchor="t"/>
          <a:lstStyle/>
          <a:p>
            <a:pPr marL="0" indent="0">
              <a:lnSpc>
                <a:spcPct val="128000"/>
              </a:lnSpc>
              <a:buNone/>
            </a:pPr>
            <a:r>
              <a:rPr lang="en-US" sz="1550" dirty="0">
                <a:solidFill>
                  <a:srgbClr val="6E7A8C"/>
                </a:solidFill>
                <a:latin typeface="Calibri" pitchFamily="34" charset="0"/>
                <a:ea typeface="Calibri" pitchFamily="34" charset="-122"/>
                <a:cs typeface="Calibri" pitchFamily="34" charset="-120"/>
              </a:rPr>
              <a:t>Coverage must be established for the intended design, especially where the minimizing prevalence is nonunique or moves under perturbation. Costs, feasibility, calibration, fairness and consequences at operating thresholds remain separate inputs.</a:t>
            </a:r>
            <a:endParaRPr lang="en-US" sz="1550" dirty="0"/>
          </a:p>
        </p:txBody>
      </p:sp>
      <p:sp>
        <p:nvSpPr>
          <p:cNvPr id="11" name="Text 8"/>
          <p:cNvSpPr/>
          <p:nvPr/>
        </p:nvSpPr>
        <p:spPr>
          <a:xfrm>
            <a:off x="868680" y="5532120"/>
            <a:ext cx="10058400" cy="457200"/>
          </a:xfrm>
          <a:prstGeom prst="rect">
            <a:avLst/>
          </a:prstGeom>
          <a:noFill/>
          <a:ln/>
        </p:spPr>
        <p:txBody>
          <a:bodyPr wrap="square" lIns="0" tIns="0" rIns="0" bIns="0" rtlCol="0" anchor="t"/>
          <a:lstStyle/>
          <a:p>
            <a:pPr marL="0" indent="0" algn="l">
              <a:lnSpc>
                <a:spcPct val="130000"/>
              </a:lnSpc>
              <a:buNone/>
            </a:pPr>
            <a:r>
              <a:rPr lang="en-US" sz="1700" i="1" dirty="0">
                <a:solidFill>
                  <a:srgbClr val="1C2536"/>
                </a:solidFill>
                <a:latin typeface="Calibri" pitchFamily="34" charset="0"/>
                <a:ea typeface="Calibri" pitchFamily="34" charset="-122"/>
                <a:cs typeface="Calibri" pitchFamily="34" charset="-120"/>
              </a:rPr>
              <a:t>A positive supported ranking advantage is not by itself a command to deploy.</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447675"/>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REPLACEMENT</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1506200" cy="971550"/>
          </a:xfrm>
          <a:prstGeom prst="rect">
            <a:avLst/>
          </a:prstGeom>
          <a:noFill/>
          <a:ln w="0">
            <a:noFill/>
            <a:prstDash val="solid"/>
          </a:ln>
        </p:spPr>
        <p:txBody>
          <a:bodyPr/>
          <a:lstStyle/>
          <a:p>
            <a:pPr algn="l">
              <a:buNone/>
              <a:defRPr sz="3600" b="1" i="0">
                <a:solidFill>
                  <a:srgbClr val="11253D"/>
                </a:solidFill>
              </a:defRPr>
            </a:pPr>
            <a:r>
              <a:rPr lang="en-US" sz="2800" b="1" i="0" dirty="0">
                <a:solidFill>
                  <a:srgbClr val="11253D"/>
                </a:solidFill>
              </a:rPr>
              <a:t>How does                     ( support for random forest over full logistic regression in the Banking example) change with prevalence? </a:t>
            </a:r>
            <a:endParaRPr sz="3200" b="1" i="0" dirty="0">
              <a:solidFill>
                <a:srgbClr val="11253D"/>
              </a:solidFill>
            </a:endParaRP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24</a:t>
            </a:r>
          </a:p>
        </p:txBody>
      </p:sp>
      <p:pic>
        <p:nvPicPr>
          <p:cNvPr id="25" name="Picture 24"/>
          <p:cNvPicPr>
            <a:picLocks noChangeAspect="1"/>
          </p:cNvPicPr>
          <p:nvPr/>
        </p:nvPicPr>
        <p:blipFill>
          <a:blip r:embed="rId3"/>
          <a:stretch/>
        </p:blipFill>
        <p:spPr>
          <a:xfrm>
            <a:off x="799270" y="1900237"/>
            <a:ext cx="10593459" cy="4400550"/>
          </a:xfrm>
          <a:prstGeom prst="rect">
            <a:avLst/>
          </a:prstGeom>
        </p:spPr>
      </p:pic>
      <mc:AlternateContent xmlns:mc="http://schemas.openxmlformats.org/markup-compatibility/2006">
        <mc:Choice xmlns:a14="http://schemas.microsoft.com/office/drawing/2010/main" Requires="a14">
          <p:sp>
            <p:nvSpPr>
              <p:cNvPr id="6" name="content-surface">
                <a:extLst>
                  <a:ext uri="{FF2B5EF4-FFF2-40B4-BE49-F238E27FC236}">
                    <a16:creationId xmlns:a16="http://schemas.microsoft.com/office/drawing/2014/main" id="{02F7382E-79AC-CFF7-F3C8-BFFE5F97386D}"/>
                  </a:ext>
                </a:extLst>
              </p:cNvPr>
              <p:cNvSpPr>
                <a:spLocks noGrp="1"/>
              </p:cNvSpPr>
              <p:nvPr/>
            </p:nvSpPr>
            <p:spPr>
              <a:xfrm>
                <a:off x="2483518" y="557213"/>
                <a:ext cx="1326482" cy="647700"/>
              </a:xfrm>
              <a:prstGeom prst="roundRect">
                <a:avLst>
                  <a:gd name="adj" fmla="val 11111"/>
                </a:avLst>
              </a:prstGeom>
              <a:solidFill>
                <a:srgbClr val="FFFFFF"/>
              </a:solidFill>
              <a:ln w="9525">
                <a:solidFill>
                  <a:srgbClr val="D9DEE5"/>
                </a:solidFill>
                <a:prstDash val="solid"/>
              </a:ln>
            </p:spPr>
            <p:txBody>
              <a:bodyPr/>
              <a:lstStyle/>
              <a:p>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𝜃</m:t>
                          </m:r>
                        </m:e>
                        <m:sub>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e>
                          </m:d>
                        </m:sub>
                      </m:sSub>
                    </m:oMath>
                  </m:oMathPara>
                </a14:m>
                <a:endParaRPr sz="2800" dirty="0"/>
              </a:p>
            </p:txBody>
          </p:sp>
        </mc:Choice>
        <mc:Fallback>
          <p:sp>
            <p:nvSpPr>
              <p:cNvPr id="6" name="content-surface">
                <a:extLst>
                  <a:ext uri="{FF2B5EF4-FFF2-40B4-BE49-F238E27FC236}">
                    <a16:creationId xmlns:a16="http://schemas.microsoft.com/office/drawing/2014/main" id="{02F7382E-79AC-CFF7-F3C8-BFFE5F97386D}"/>
                  </a:ext>
                </a:extLst>
              </p:cNvPr>
              <p:cNvSpPr>
                <a:spLocks noGrp="1" noRot="1" noChangeAspect="1" noMove="1" noResize="1" noEditPoints="1" noAdjustHandles="1" noChangeArrowheads="1" noChangeShapeType="1" noTextEdit="1"/>
              </p:cNvSpPr>
              <p:nvPr/>
            </p:nvSpPr>
            <p:spPr>
              <a:xfrm>
                <a:off x="2483518" y="557213"/>
                <a:ext cx="1326482" cy="647700"/>
              </a:xfrm>
              <a:prstGeom prst="roundRect">
                <a:avLst>
                  <a:gd name="adj" fmla="val 11111"/>
                </a:avLst>
              </a:prstGeom>
              <a:blipFill>
                <a:blip r:embed="rId4"/>
                <a:stretch>
                  <a:fillRect/>
                </a:stretch>
              </a:blipFill>
              <a:ln w="9525">
                <a:solidFill>
                  <a:srgbClr val="D9DEE5"/>
                </a:solidFill>
                <a:prstDash val="solid"/>
              </a:ln>
            </p:spPr>
            <p:txBody>
              <a:bodyPr/>
              <a:lstStyle/>
              <a:p>
                <a:r>
                  <a:rPr lang="en-US">
                    <a:noFill/>
                  </a:rPr>
                  <a:t> </a:t>
                </a:r>
              </a:p>
            </p:txBody>
          </p:sp>
        </mc:Fallback>
      </mc:AlternateContent>
    </p:spTree>
    <p:extLst>
      <p:ext uri="{BB962C8B-B14F-4D97-AF65-F5344CB8AC3E}">
        <p14:creationId xmlns:p14="http://schemas.microsoft.com/office/powerpoint/2010/main" val="1195592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What survives two evaluations?</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CORROBORATION</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26</a:t>
            </a:r>
          </a:p>
        </p:txBody>
      </p:sp>
      <p:pic>
        <p:nvPicPr>
          <p:cNvPr id="25" name="Picture 24"/>
          <p:cNvPicPr>
            <a:picLocks noChangeAspect="1"/>
          </p:cNvPicPr>
          <p:nvPr/>
        </p:nvPicPr>
        <p:blipFill>
          <a:blip r:embed="rId3"/>
          <a:stretch/>
        </p:blipFill>
        <p:spPr>
          <a:xfrm>
            <a:off x="817812" y="1847850"/>
            <a:ext cx="10556376" cy="4400550"/>
          </a:xfrm>
          <a:prstGeom prst="rect">
            <a:avLst/>
          </a:prstGeom>
        </p:spPr>
      </p:pic>
    </p:spTree>
    <p:extLst>
      <p:ext uri="{BB962C8B-B14F-4D97-AF65-F5344CB8AC3E}">
        <p14:creationId xmlns:p14="http://schemas.microsoft.com/office/powerpoint/2010/main" val="1195592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REPLACEMENT</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Replacement needs a lower bound above δ</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REPLACEMENT</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27</a:t>
            </a:r>
          </a:p>
        </p:txBody>
      </p:sp>
      <p:sp>
        <p:nvSpPr>
          <p:cNvPr id="19" name="content-surface">
            <a:extLst>
              <a:ext uri="{FF2B5EF4-FFF2-40B4-BE49-F238E27FC236}">
                <a16:creationId xmlns:a16="http://schemas.microsoft.com/office/drawing/2014/main" id="{FC8B05A7-D93D-4DD0-BF80-EE1F61BFD4A9}"/>
              </a:ext>
            </a:extLst>
          </p:cNvPr>
          <p:cNvSpPr>
            <a:spLocks noGrp="1"/>
          </p:cNvSpPr>
          <p:nvPr/>
        </p:nvSpPr>
        <p:spPr>
          <a:xfrm>
            <a:off x="1428750" y="2019300"/>
            <a:ext cx="9334500" cy="1066800"/>
          </a:xfrm>
          <a:prstGeom prst="roundRect">
            <a:avLst>
              <a:gd name="adj" fmla="val 12500"/>
            </a:avLst>
          </a:prstGeom>
          <a:solidFill>
            <a:srgbClr val="FFFFFF"/>
          </a:solidFill>
          <a:ln w="9525">
            <a:solidFill>
              <a:srgbClr val="D9DEE5"/>
            </a:solidFill>
            <a:prstDash val="solid"/>
          </a:ln>
        </p:spPr>
        <p:txBody>
          <a:bodyPr/>
          <a:lstStyle/>
          <a:p>
            <a:endParaRPr/>
          </a:p>
        </p:txBody>
      </p:sp>
      <p:sp>
        <p:nvSpPr>
          <p:cNvPr id="20" name="body-text">
            <a:extLst>
              <a:ext uri="{FF2B5EF4-FFF2-40B4-BE49-F238E27FC236}">
                <a16:creationId xmlns:a16="http://schemas.microsoft.com/office/drawing/2014/main" id="{3904EA12-97C4-49BA-AF09-B88AECF63220}"/>
              </a:ext>
            </a:extLst>
          </p:cNvPr>
          <p:cNvSpPr>
            <a:spLocks noGrp="1"/>
          </p:cNvSpPr>
          <p:nvPr/>
        </p:nvSpPr>
        <p:spPr>
          <a:xfrm>
            <a:off x="1809750" y="2324100"/>
            <a:ext cx="8572500" cy="514350"/>
          </a:xfrm>
          <a:prstGeom prst="rect">
            <a:avLst/>
          </a:prstGeom>
          <a:noFill/>
          <a:ln w="0">
            <a:noFill/>
            <a:prstDash val="solid"/>
          </a:ln>
        </p:spPr>
        <p:txBody>
          <a:bodyPr/>
          <a:lstStyle/>
          <a:p>
            <a:pPr algn="ctr">
              <a:buNone/>
              <a:defRPr sz="2100" b="1">
                <a:solidFill>
                  <a:srgbClr val="11253D"/>
                </a:solidFill>
              </a:defRPr>
            </a:pPr>
            <a:r>
              <a:rPr sz="2100" b="1">
                <a:solidFill>
                  <a:srgbClr val="11253D"/>
                </a:solidFill>
              </a:rPr>
              <a:t>Replace B with A only if: outer 95% lower bound for support &gt; δ</a:t>
            </a:r>
          </a:p>
        </p:txBody>
      </p:sp>
      <p:sp>
        <p:nvSpPr>
          <p:cNvPr id="21" name="content-surface">
            <a:extLst>
              <a:ext uri="{FF2B5EF4-FFF2-40B4-BE49-F238E27FC236}">
                <a16:creationId xmlns:a16="http://schemas.microsoft.com/office/drawing/2014/main" id="{81A331F0-D757-42DF-A2FD-B4533C93494F}"/>
              </a:ext>
            </a:extLst>
          </p:cNvPr>
          <p:cNvSpPr>
            <a:spLocks noGrp="1"/>
          </p:cNvSpPr>
          <p:nvPr/>
        </p:nvSpPr>
        <p:spPr>
          <a:xfrm>
            <a:off x="914400" y="3543300"/>
            <a:ext cx="3143250" cy="1600200"/>
          </a:xfrm>
          <a:prstGeom prst="roundRect">
            <a:avLst>
              <a:gd name="adj" fmla="val 8333"/>
            </a:avLst>
          </a:prstGeom>
          <a:solidFill>
            <a:srgbClr val="DCEAF7"/>
          </a:solidFill>
          <a:ln w="9525">
            <a:solidFill>
              <a:srgbClr val="DCEAF7"/>
            </a:solidFill>
            <a:prstDash val="solid"/>
          </a:ln>
        </p:spPr>
        <p:txBody>
          <a:bodyPr/>
          <a:lstStyle/>
          <a:p>
            <a:endParaRPr/>
          </a:p>
        </p:txBody>
      </p:sp>
      <p:sp>
        <p:nvSpPr>
          <p:cNvPr id="22" name="OUTER SAMPLE-label">
            <a:extLst>
              <a:ext uri="{FF2B5EF4-FFF2-40B4-BE49-F238E27FC236}">
                <a16:creationId xmlns:a16="http://schemas.microsoft.com/office/drawing/2014/main" id="{4D66691F-F541-41D7-B35C-178819E82917}"/>
              </a:ext>
            </a:extLst>
          </p:cNvPr>
          <p:cNvSpPr>
            <a:spLocks noGrp="1"/>
          </p:cNvSpPr>
          <p:nvPr/>
        </p:nvSpPr>
        <p:spPr>
          <a:xfrm>
            <a:off x="1123950" y="3714750"/>
            <a:ext cx="2724150" cy="209550"/>
          </a:xfrm>
          <a:prstGeom prst="rect">
            <a:avLst/>
          </a:prstGeom>
          <a:noFill/>
          <a:ln w="0">
            <a:noFill/>
            <a:prstDash val="solid"/>
          </a:ln>
        </p:spPr>
        <p:txBody>
          <a:bodyPr/>
          <a:lstStyle/>
          <a:p>
            <a:pPr algn="l">
              <a:buNone/>
              <a:defRPr sz="900" b="1">
                <a:solidFill>
                  <a:srgbClr val="2B6CB0"/>
                </a:solidFill>
              </a:defRPr>
            </a:pPr>
            <a:r>
              <a:rPr sz="900" b="1">
                <a:solidFill>
                  <a:srgbClr val="2B6CB0"/>
                </a:solidFill>
              </a:rPr>
              <a:t>OUTER SAMPLE</a:t>
            </a:r>
          </a:p>
        </p:txBody>
      </p:sp>
      <p:sp>
        <p:nvSpPr>
          <p:cNvPr id="23" name="OUTER SAMPLE-heading">
            <a:extLst>
              <a:ext uri="{FF2B5EF4-FFF2-40B4-BE49-F238E27FC236}">
                <a16:creationId xmlns:a16="http://schemas.microsoft.com/office/drawing/2014/main" id="{311BCB5D-24CF-4681-8666-876B16EFA98B}"/>
              </a:ext>
            </a:extLst>
          </p:cNvPr>
          <p:cNvSpPr>
            <a:spLocks noGrp="1"/>
          </p:cNvSpPr>
          <p:nvPr/>
        </p:nvSpPr>
        <p:spPr>
          <a:xfrm>
            <a:off x="1123950" y="4038600"/>
            <a:ext cx="2724150" cy="381000"/>
          </a:xfrm>
          <a:prstGeom prst="rect">
            <a:avLst/>
          </a:prstGeom>
          <a:noFill/>
          <a:ln w="0">
            <a:noFill/>
            <a:prstDash val="solid"/>
          </a:ln>
        </p:spPr>
        <p:txBody>
          <a:bodyPr/>
          <a:lstStyle/>
          <a:p>
            <a:pPr algn="l">
              <a:buNone/>
              <a:defRPr sz="1350" b="1">
                <a:solidFill>
                  <a:srgbClr val="11253D"/>
                </a:solidFill>
              </a:defRPr>
            </a:pPr>
            <a:r>
              <a:rPr sz="1350" b="1">
                <a:solidFill>
                  <a:srgbClr val="11253D"/>
                </a:solidFill>
              </a:rPr>
              <a:t>New empirical distribution</a:t>
            </a:r>
          </a:p>
        </p:txBody>
      </p:sp>
      <p:sp>
        <p:nvSpPr>
          <p:cNvPr id="24" name="OUTER SAMPLE-body">
            <a:extLst>
              <a:ext uri="{FF2B5EF4-FFF2-40B4-BE49-F238E27FC236}">
                <a16:creationId xmlns:a16="http://schemas.microsoft.com/office/drawing/2014/main" id="{96D62355-ED84-45AD-B9D6-72D45C6EB164}"/>
              </a:ext>
            </a:extLst>
          </p:cNvPr>
          <p:cNvSpPr>
            <a:spLocks noGrp="1"/>
          </p:cNvSpPr>
          <p:nvPr/>
        </p:nvSpPr>
        <p:spPr>
          <a:xfrm>
            <a:off x="1123950" y="4533900"/>
            <a:ext cx="2724150" cy="419100"/>
          </a:xfrm>
          <a:prstGeom prst="rect">
            <a:avLst/>
          </a:prstGeom>
          <a:noFill/>
          <a:ln w="0">
            <a:noFill/>
            <a:prstDash val="solid"/>
          </a:ln>
        </p:spPr>
        <p:txBody>
          <a:bodyPr/>
          <a:lstStyle/>
          <a:p>
            <a:pPr algn="l">
              <a:buNone/>
              <a:defRPr sz="1200" b="0">
                <a:solidFill>
                  <a:srgbClr val="5F6B78"/>
                </a:solidFill>
              </a:defRPr>
            </a:pPr>
            <a:r>
              <a:rPr sz="1200" b="0">
                <a:solidFill>
                  <a:srgbClr val="5F6B78"/>
                </a:solidFill>
              </a:rPr>
              <a:t>Resample evaluation units</a:t>
            </a:r>
          </a:p>
        </p:txBody>
      </p:sp>
      <p:sp>
        <p:nvSpPr>
          <p:cNvPr id="25" name="content-surface">
            <a:extLst>
              <a:ext uri="{FF2B5EF4-FFF2-40B4-BE49-F238E27FC236}">
                <a16:creationId xmlns:a16="http://schemas.microsoft.com/office/drawing/2014/main" id="{DA81D481-E6CD-4531-813A-CFC1966673D0}"/>
              </a:ext>
            </a:extLst>
          </p:cNvPr>
          <p:cNvSpPr>
            <a:spLocks noGrp="1"/>
          </p:cNvSpPr>
          <p:nvPr/>
        </p:nvSpPr>
        <p:spPr>
          <a:xfrm>
            <a:off x="4629150" y="3543300"/>
            <a:ext cx="3143250" cy="1600200"/>
          </a:xfrm>
          <a:prstGeom prst="roundRect">
            <a:avLst>
              <a:gd name="adj" fmla="val 8333"/>
            </a:avLst>
          </a:prstGeom>
          <a:solidFill>
            <a:srgbClr val="E8E0F0"/>
          </a:solidFill>
          <a:ln w="9525">
            <a:solidFill>
              <a:srgbClr val="E8E0F0"/>
            </a:solidFill>
            <a:prstDash val="solid"/>
          </a:ln>
        </p:spPr>
        <p:txBody>
          <a:bodyPr/>
          <a:lstStyle/>
          <a:p>
            <a:endParaRPr/>
          </a:p>
        </p:txBody>
      </p:sp>
      <p:sp>
        <p:nvSpPr>
          <p:cNvPr id="26" name="FULL INNER PROCEDURE-label">
            <a:extLst>
              <a:ext uri="{FF2B5EF4-FFF2-40B4-BE49-F238E27FC236}">
                <a16:creationId xmlns:a16="http://schemas.microsoft.com/office/drawing/2014/main" id="{15F7762F-C97C-48A6-BFBF-3EF312FE1774}"/>
              </a:ext>
            </a:extLst>
          </p:cNvPr>
          <p:cNvSpPr>
            <a:spLocks noGrp="1"/>
          </p:cNvSpPr>
          <p:nvPr/>
        </p:nvSpPr>
        <p:spPr>
          <a:xfrm>
            <a:off x="4838700" y="3714750"/>
            <a:ext cx="2724150" cy="209550"/>
          </a:xfrm>
          <a:prstGeom prst="rect">
            <a:avLst/>
          </a:prstGeom>
          <a:noFill/>
          <a:ln w="0">
            <a:noFill/>
            <a:prstDash val="solid"/>
          </a:ln>
        </p:spPr>
        <p:txBody>
          <a:bodyPr/>
          <a:lstStyle/>
          <a:p>
            <a:pPr algn="l">
              <a:buNone/>
              <a:defRPr sz="900" b="1">
                <a:solidFill>
                  <a:srgbClr val="6B4E8E"/>
                </a:solidFill>
              </a:defRPr>
            </a:pPr>
            <a:r>
              <a:rPr sz="900" b="1">
                <a:solidFill>
                  <a:srgbClr val="6B4E8E"/>
                </a:solidFill>
              </a:rPr>
              <a:t>FULL INNER PROCEDURE</a:t>
            </a:r>
          </a:p>
        </p:txBody>
      </p:sp>
      <p:sp>
        <p:nvSpPr>
          <p:cNvPr id="27" name="FULL INNER PROCEDURE-heading">
            <a:extLst>
              <a:ext uri="{FF2B5EF4-FFF2-40B4-BE49-F238E27FC236}">
                <a16:creationId xmlns:a16="http://schemas.microsoft.com/office/drawing/2014/main" id="{AD3F719A-5AFC-4A27-BAD7-4E9B468E8479}"/>
              </a:ext>
            </a:extLst>
          </p:cNvPr>
          <p:cNvSpPr>
            <a:spLocks noGrp="1"/>
          </p:cNvSpPr>
          <p:nvPr/>
        </p:nvSpPr>
        <p:spPr>
          <a:xfrm>
            <a:off x="4838700" y="4038600"/>
            <a:ext cx="2724150" cy="381000"/>
          </a:xfrm>
          <a:prstGeom prst="rect">
            <a:avLst/>
          </a:prstGeom>
          <a:noFill/>
          <a:ln w="0">
            <a:noFill/>
            <a:prstDash val="solid"/>
          </a:ln>
        </p:spPr>
        <p:txBody>
          <a:bodyPr/>
          <a:lstStyle/>
          <a:p>
            <a:pPr algn="l">
              <a:buNone/>
              <a:defRPr sz="1350" b="1">
                <a:solidFill>
                  <a:srgbClr val="11253D"/>
                </a:solidFill>
              </a:defRPr>
            </a:pPr>
            <a:r>
              <a:rPr sz="1350" b="1">
                <a:solidFill>
                  <a:srgbClr val="11253D"/>
                </a:solidFill>
              </a:rPr>
              <a:t>Rerun everything</a:t>
            </a:r>
          </a:p>
        </p:txBody>
      </p:sp>
      <p:sp>
        <p:nvSpPr>
          <p:cNvPr id="28" name="FULL INNER PROCEDURE-body">
            <a:extLst>
              <a:ext uri="{FF2B5EF4-FFF2-40B4-BE49-F238E27FC236}">
                <a16:creationId xmlns:a16="http://schemas.microsoft.com/office/drawing/2014/main" id="{FF8B30DA-E342-4226-9AFF-93D82E327FD8}"/>
              </a:ext>
            </a:extLst>
          </p:cNvPr>
          <p:cNvSpPr>
            <a:spLocks noGrp="1"/>
          </p:cNvSpPr>
          <p:nvPr/>
        </p:nvSpPr>
        <p:spPr>
          <a:xfrm>
            <a:off x="4838700" y="4533900"/>
            <a:ext cx="2724150" cy="419100"/>
          </a:xfrm>
          <a:prstGeom prst="rect">
            <a:avLst/>
          </a:prstGeom>
          <a:noFill/>
          <a:ln w="0">
            <a:noFill/>
            <a:prstDash val="solid"/>
          </a:ln>
        </p:spPr>
        <p:txBody>
          <a:bodyPr/>
          <a:lstStyle/>
          <a:p>
            <a:pPr algn="l">
              <a:buNone/>
              <a:defRPr sz="1200" b="0">
                <a:solidFill>
                  <a:srgbClr val="5F6B78"/>
                </a:solidFill>
              </a:defRPr>
            </a:pPr>
            <a:r>
              <a:rPr sz="1200" b="0">
                <a:solidFill>
                  <a:srgbClr val="5F6B78"/>
                </a:solidFill>
              </a:rPr>
              <a:t>Profile → infimum → K=2 support</a:t>
            </a:r>
          </a:p>
        </p:txBody>
      </p:sp>
      <p:sp>
        <p:nvSpPr>
          <p:cNvPr id="29" name="content-surface">
            <a:extLst>
              <a:ext uri="{FF2B5EF4-FFF2-40B4-BE49-F238E27FC236}">
                <a16:creationId xmlns:a16="http://schemas.microsoft.com/office/drawing/2014/main" id="{BB1AF902-22D0-47B2-8DA3-E00A3103268C}"/>
              </a:ext>
            </a:extLst>
          </p:cNvPr>
          <p:cNvSpPr>
            <a:spLocks noGrp="1"/>
          </p:cNvSpPr>
          <p:nvPr/>
        </p:nvSpPr>
        <p:spPr>
          <a:xfrm>
            <a:off x="8343900" y="3543300"/>
            <a:ext cx="3143250" cy="1600200"/>
          </a:xfrm>
          <a:prstGeom prst="roundRect">
            <a:avLst>
              <a:gd name="adj" fmla="val 8333"/>
            </a:avLst>
          </a:prstGeom>
          <a:solidFill>
            <a:srgbClr val="F7E7CF"/>
          </a:solidFill>
          <a:ln w="9525">
            <a:solidFill>
              <a:srgbClr val="F7E7CF"/>
            </a:solidFill>
            <a:prstDash val="solid"/>
          </a:ln>
        </p:spPr>
        <p:txBody>
          <a:bodyPr/>
          <a:lstStyle/>
          <a:p>
            <a:endParaRPr/>
          </a:p>
        </p:txBody>
      </p:sp>
      <p:sp>
        <p:nvSpPr>
          <p:cNvPr id="30" name="LOWER BOUND-label">
            <a:extLst>
              <a:ext uri="{FF2B5EF4-FFF2-40B4-BE49-F238E27FC236}">
                <a16:creationId xmlns:a16="http://schemas.microsoft.com/office/drawing/2014/main" id="{83D5041D-BACF-4BFF-9FBC-E46EB4629D0A}"/>
              </a:ext>
            </a:extLst>
          </p:cNvPr>
          <p:cNvSpPr>
            <a:spLocks noGrp="1"/>
          </p:cNvSpPr>
          <p:nvPr/>
        </p:nvSpPr>
        <p:spPr>
          <a:xfrm>
            <a:off x="8553450" y="3714750"/>
            <a:ext cx="2724150" cy="209550"/>
          </a:xfrm>
          <a:prstGeom prst="rect">
            <a:avLst/>
          </a:prstGeom>
          <a:noFill/>
          <a:ln w="0">
            <a:noFill/>
            <a:prstDash val="solid"/>
          </a:ln>
        </p:spPr>
        <p:txBody>
          <a:bodyPr/>
          <a:lstStyle/>
          <a:p>
            <a:pPr algn="l">
              <a:buNone/>
              <a:defRPr sz="900" b="1">
                <a:solidFill>
                  <a:srgbClr val="D97706"/>
                </a:solidFill>
              </a:defRPr>
            </a:pPr>
            <a:r>
              <a:rPr sz="900" b="1">
                <a:solidFill>
                  <a:srgbClr val="D97706"/>
                </a:solidFill>
              </a:rPr>
              <a:t>LOWER BOUND</a:t>
            </a:r>
          </a:p>
        </p:txBody>
      </p:sp>
      <p:sp>
        <p:nvSpPr>
          <p:cNvPr id="31" name="LOWER BOUND-heading">
            <a:extLst>
              <a:ext uri="{FF2B5EF4-FFF2-40B4-BE49-F238E27FC236}">
                <a16:creationId xmlns:a16="http://schemas.microsoft.com/office/drawing/2014/main" id="{70237B1C-C19C-46AF-8823-CDE3504C9F7F}"/>
              </a:ext>
            </a:extLst>
          </p:cNvPr>
          <p:cNvSpPr>
            <a:spLocks noGrp="1"/>
          </p:cNvSpPr>
          <p:nvPr/>
        </p:nvSpPr>
        <p:spPr>
          <a:xfrm>
            <a:off x="8553450" y="4038600"/>
            <a:ext cx="2724150" cy="381000"/>
          </a:xfrm>
          <a:prstGeom prst="rect">
            <a:avLst/>
          </a:prstGeom>
          <a:noFill/>
          <a:ln w="0">
            <a:noFill/>
            <a:prstDash val="solid"/>
          </a:ln>
        </p:spPr>
        <p:txBody>
          <a:bodyPr/>
          <a:lstStyle/>
          <a:p>
            <a:pPr algn="l">
              <a:buNone/>
              <a:defRPr sz="1350" b="1">
                <a:solidFill>
                  <a:srgbClr val="11253D"/>
                </a:solidFill>
              </a:defRPr>
            </a:pPr>
            <a:r>
              <a:rPr sz="1350" b="1">
                <a:solidFill>
                  <a:srgbClr val="11253D"/>
                </a:solidFill>
              </a:rPr>
              <a:t>Decision evidence</a:t>
            </a:r>
          </a:p>
        </p:txBody>
      </p:sp>
      <p:sp>
        <p:nvSpPr>
          <p:cNvPr id="32" name="LOWER BOUND-body">
            <a:extLst>
              <a:ext uri="{FF2B5EF4-FFF2-40B4-BE49-F238E27FC236}">
                <a16:creationId xmlns:a16="http://schemas.microsoft.com/office/drawing/2014/main" id="{6714E984-92B5-46DB-ABEB-0F55C7A46421}"/>
              </a:ext>
            </a:extLst>
          </p:cNvPr>
          <p:cNvSpPr>
            <a:spLocks noGrp="1"/>
          </p:cNvSpPr>
          <p:nvPr/>
        </p:nvSpPr>
        <p:spPr>
          <a:xfrm>
            <a:off x="8553450" y="4533900"/>
            <a:ext cx="2724150" cy="419100"/>
          </a:xfrm>
          <a:prstGeom prst="rect">
            <a:avLst/>
          </a:prstGeom>
          <a:noFill/>
          <a:ln w="0">
            <a:noFill/>
            <a:prstDash val="solid"/>
          </a:ln>
        </p:spPr>
        <p:txBody>
          <a:bodyPr/>
          <a:lstStyle/>
          <a:p>
            <a:pPr algn="l">
              <a:buNone/>
              <a:defRPr sz="1200" b="0">
                <a:solidFill>
                  <a:srgbClr val="5F6B78"/>
                </a:solidFill>
              </a:defRPr>
            </a:pPr>
            <a:r>
              <a:rPr sz="1200" b="0">
                <a:solidFill>
                  <a:srgbClr val="5F6B78"/>
                </a:solidFill>
              </a:rPr>
              <a:t>Take the outer 5th percentile</a:t>
            </a:r>
          </a:p>
        </p:txBody>
      </p:sp>
      <p:sp>
        <p:nvSpPr>
          <p:cNvPr id="33" name="content-surface">
            <a:extLst>
              <a:ext uri="{FF2B5EF4-FFF2-40B4-BE49-F238E27FC236}">
                <a16:creationId xmlns:a16="http://schemas.microsoft.com/office/drawing/2014/main" id="{48660992-F13F-49DA-823D-F5EBC777E2F6}"/>
              </a:ext>
            </a:extLst>
          </p:cNvPr>
          <p:cNvSpPr>
            <a:spLocks noGrp="1"/>
          </p:cNvSpPr>
          <p:nvPr/>
        </p:nvSpPr>
        <p:spPr>
          <a:xfrm>
            <a:off x="1714500" y="5486400"/>
            <a:ext cx="8763000" cy="495300"/>
          </a:xfrm>
          <a:prstGeom prst="roundRect">
            <a:avLst>
              <a:gd name="adj" fmla="val 23077"/>
            </a:avLst>
          </a:prstGeom>
          <a:solidFill>
            <a:srgbClr val="F4DEDB"/>
          </a:solidFill>
          <a:ln w="9525">
            <a:solidFill>
              <a:srgbClr val="F4DEDB"/>
            </a:solidFill>
            <a:prstDash val="solid"/>
          </a:ln>
        </p:spPr>
        <p:txBody>
          <a:bodyPr/>
          <a:lstStyle/>
          <a:p>
            <a:endParaRPr/>
          </a:p>
        </p:txBody>
      </p:sp>
      <p:sp>
        <p:nvSpPr>
          <p:cNvPr id="34" name="takeaway-banner">
            <a:extLst>
              <a:ext uri="{FF2B5EF4-FFF2-40B4-BE49-F238E27FC236}">
                <a16:creationId xmlns:a16="http://schemas.microsoft.com/office/drawing/2014/main" id="{D955C8EE-12E0-4FFE-AB69-1E7A8760CD61}"/>
              </a:ext>
            </a:extLst>
          </p:cNvPr>
          <p:cNvSpPr>
            <a:spLocks noGrp="1"/>
          </p:cNvSpPr>
          <p:nvPr/>
        </p:nvSpPr>
        <p:spPr>
          <a:xfrm>
            <a:off x="1905000" y="5629275"/>
            <a:ext cx="8382000" cy="266700"/>
          </a:xfrm>
          <a:prstGeom prst="rect">
            <a:avLst/>
          </a:prstGeom>
          <a:noFill/>
          <a:ln w="0">
            <a:noFill/>
            <a:prstDash val="solid"/>
          </a:ln>
        </p:spPr>
        <p:txBody>
          <a:bodyPr/>
          <a:lstStyle/>
          <a:p>
            <a:pPr algn="ctr">
              <a:buNone/>
              <a:defRPr sz="1238" b="1">
                <a:solidFill>
                  <a:srgbClr val="B5473C"/>
                </a:solidFill>
              </a:defRPr>
            </a:pPr>
            <a:r>
              <a:rPr sz="1238" b="1">
                <a:solidFill>
                  <a:srgbClr val="B5473C"/>
                </a:solidFill>
              </a:rPr>
              <a:t>The nominal 95% percentile bound still requires design-specific coverage validation.</a:t>
            </a:r>
          </a:p>
        </p:txBody>
      </p:sp>
    </p:spTree>
    <p:extLst>
      <p:ext uri="{BB962C8B-B14F-4D97-AF65-F5344CB8AC3E}">
        <p14:creationId xmlns:p14="http://schemas.microsoft.com/office/powerpoint/2010/main" val="1195592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REPLACEMENT</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Only the positive control clears the margin</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REPLACEMENT</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28</a:t>
            </a:r>
          </a:p>
        </p:txBody>
      </p:sp>
      <p:pic>
        <p:nvPicPr>
          <p:cNvPr id="25" name="Picture 24"/>
          <p:cNvPicPr>
            <a:picLocks noChangeAspect="1"/>
          </p:cNvPicPr>
          <p:nvPr/>
        </p:nvPicPr>
        <p:blipFill>
          <a:blip r:embed="rId3"/>
          <a:stretch/>
        </p:blipFill>
        <p:spPr>
          <a:xfrm>
            <a:off x="793090" y="1847850"/>
            <a:ext cx="10605820" cy="4400550"/>
          </a:xfrm>
          <a:prstGeom prst="rect">
            <a:avLst/>
          </a:prstGeom>
        </p:spPr>
      </p:pic>
    </p:spTree>
    <p:extLst>
      <p:ext uri="{BB962C8B-B14F-4D97-AF65-F5344CB8AC3E}">
        <p14:creationId xmlns:p14="http://schemas.microsoft.com/office/powerpoint/2010/main" val="1195592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ORIENTATION</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“Do not replace” is not a reverse verdict</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ORIENTATION</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29</a:t>
            </a:r>
          </a:p>
        </p:txBody>
      </p:sp>
      <p:sp>
        <p:nvSpPr>
          <p:cNvPr id="19" name="content-surface">
            <a:extLst>
              <a:ext uri="{FF2B5EF4-FFF2-40B4-BE49-F238E27FC236}">
                <a16:creationId xmlns:a16="http://schemas.microsoft.com/office/drawing/2014/main" id="{66D39C66-B2A5-4468-970A-C9230ED1C8C9}"/>
              </a:ext>
            </a:extLst>
          </p:cNvPr>
          <p:cNvSpPr>
            <a:spLocks noGrp="1"/>
          </p:cNvSpPr>
          <p:nvPr/>
        </p:nvSpPr>
        <p:spPr>
          <a:xfrm>
            <a:off x="876300" y="2152650"/>
            <a:ext cx="4953000" cy="2724150"/>
          </a:xfrm>
          <a:prstGeom prst="roundRect">
            <a:avLst>
              <a:gd name="adj" fmla="val 4895"/>
            </a:avLst>
          </a:prstGeom>
          <a:solidFill>
            <a:srgbClr val="DCEAF7"/>
          </a:solidFill>
          <a:ln w="9525">
            <a:solidFill>
              <a:srgbClr val="DCEAF7"/>
            </a:solidFill>
            <a:prstDash val="solid"/>
          </a:ln>
        </p:spPr>
        <p:txBody>
          <a:bodyPr/>
          <a:lstStyle/>
          <a:p>
            <a:endParaRPr/>
          </a:p>
        </p:txBody>
      </p:sp>
      <p:sp>
        <p:nvSpPr>
          <p:cNvPr id="20" name="Candidate orientation-label">
            <a:extLst>
              <a:ext uri="{FF2B5EF4-FFF2-40B4-BE49-F238E27FC236}">
                <a16:creationId xmlns:a16="http://schemas.microsoft.com/office/drawing/2014/main" id="{C142BD98-BEA4-43FD-8E42-D4F1499A7B6D}"/>
              </a:ext>
            </a:extLst>
          </p:cNvPr>
          <p:cNvSpPr>
            <a:spLocks noGrp="1"/>
          </p:cNvSpPr>
          <p:nvPr/>
        </p:nvSpPr>
        <p:spPr>
          <a:xfrm>
            <a:off x="1085850" y="2324100"/>
            <a:ext cx="4533900" cy="209550"/>
          </a:xfrm>
          <a:prstGeom prst="rect">
            <a:avLst/>
          </a:prstGeom>
          <a:noFill/>
          <a:ln w="0">
            <a:noFill/>
            <a:prstDash val="solid"/>
          </a:ln>
        </p:spPr>
        <p:txBody>
          <a:bodyPr/>
          <a:lstStyle/>
          <a:p>
            <a:pPr algn="l">
              <a:buNone/>
              <a:defRPr sz="900" b="1">
                <a:solidFill>
                  <a:srgbClr val="2B6CB0"/>
                </a:solidFill>
              </a:defRPr>
            </a:pPr>
            <a:r>
              <a:rPr sz="900" b="1">
                <a:solidFill>
                  <a:srgbClr val="2B6CB0"/>
                </a:solidFill>
              </a:rPr>
              <a:t>CANDIDATE ORIENTATION</a:t>
            </a:r>
          </a:p>
        </p:txBody>
      </p:sp>
      <p:sp>
        <p:nvSpPr>
          <p:cNvPr id="21" name="Candidate orientation-heading">
            <a:extLst>
              <a:ext uri="{FF2B5EF4-FFF2-40B4-BE49-F238E27FC236}">
                <a16:creationId xmlns:a16="http://schemas.microsoft.com/office/drawing/2014/main" id="{105C28B9-7823-492B-B21D-1655642B3EA4}"/>
              </a:ext>
            </a:extLst>
          </p:cNvPr>
          <p:cNvSpPr>
            <a:spLocks noGrp="1"/>
          </p:cNvSpPr>
          <p:nvPr/>
        </p:nvSpPr>
        <p:spPr>
          <a:xfrm>
            <a:off x="1085850" y="2647950"/>
            <a:ext cx="4533900" cy="381000"/>
          </a:xfrm>
          <a:prstGeom prst="rect">
            <a:avLst/>
          </a:prstGeom>
          <a:noFill/>
          <a:ln w="0">
            <a:noFill/>
            <a:prstDash val="solid"/>
          </a:ln>
        </p:spPr>
        <p:txBody>
          <a:bodyPr/>
          <a:lstStyle/>
          <a:p>
            <a:pPr algn="l">
              <a:buNone/>
              <a:defRPr sz="1650" b="1">
                <a:solidFill>
                  <a:srgbClr val="11253D"/>
                </a:solidFill>
              </a:defRPr>
            </a:pPr>
            <a:r>
              <a:rPr sz="1650" b="1">
                <a:solidFill>
                  <a:srgbClr val="11253D"/>
                </a:solidFill>
              </a:rPr>
              <a:t>Random forest − logistic</a:t>
            </a:r>
          </a:p>
        </p:txBody>
      </p:sp>
      <p:sp>
        <p:nvSpPr>
          <p:cNvPr id="22" name="Candidate orientation-body">
            <a:extLst>
              <a:ext uri="{FF2B5EF4-FFF2-40B4-BE49-F238E27FC236}">
                <a16:creationId xmlns:a16="http://schemas.microsoft.com/office/drawing/2014/main" id="{F7FB0C4C-4A20-427F-92A0-D0761033F2A3}"/>
              </a:ext>
            </a:extLst>
          </p:cNvPr>
          <p:cNvSpPr>
            <a:spLocks noGrp="1"/>
          </p:cNvSpPr>
          <p:nvPr/>
        </p:nvSpPr>
        <p:spPr>
          <a:xfrm>
            <a:off x="1085850" y="3143250"/>
            <a:ext cx="4533900" cy="154305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Observed range-wide effect     −0.0061</a:t>
            </a:r>
          </a:p>
          <a:p>
            <a:pPr algn="l">
              <a:buNone/>
              <a:defRPr sz="1275" b="0">
                <a:solidFill>
                  <a:srgbClr val="5F6B78"/>
                </a:solidFill>
              </a:defRPr>
            </a:pPr>
            <a:r>
              <a:rPr sz="1275" b="0">
                <a:solidFill>
                  <a:srgbClr val="5F6B78"/>
                </a:solidFill>
              </a:rPr>
              <a:t>Supported estimate                 −0.0104</a:t>
            </a:r>
          </a:p>
          <a:p>
            <a:pPr algn="l">
              <a:buNone/>
              <a:defRPr sz="1275" b="0">
                <a:solidFill>
                  <a:srgbClr val="5F6B78"/>
                </a:solidFill>
              </a:defRPr>
            </a:pPr>
            <a:r>
              <a:rPr sz="1275" b="0">
                <a:solidFill>
                  <a:srgbClr val="5F6B78"/>
                </a:solidFill>
              </a:rPr>
              <a:t>Outer lower bound                  −0.0225</a:t>
            </a:r>
          </a:p>
          <a:p>
            <a:endParaRPr sz="1275" b="0">
              <a:solidFill>
                <a:srgbClr val="5F6B78"/>
              </a:solidFill>
            </a:endParaRPr>
          </a:p>
          <a:p>
            <a:pPr algn="l">
              <a:buNone/>
              <a:defRPr sz="1275" b="0">
                <a:solidFill>
                  <a:srgbClr val="5F6B78"/>
                </a:solidFill>
              </a:defRPr>
            </a:pPr>
            <a:r>
              <a:rPr sz="1275" b="0">
                <a:solidFill>
                  <a:srgbClr val="5F6B78"/>
                </a:solidFill>
              </a:rPr>
              <a:t>Decision: replacement not established</a:t>
            </a:r>
          </a:p>
        </p:txBody>
      </p:sp>
      <p:sp>
        <p:nvSpPr>
          <p:cNvPr id="23" name="content-surface">
            <a:extLst>
              <a:ext uri="{FF2B5EF4-FFF2-40B4-BE49-F238E27FC236}">
                <a16:creationId xmlns:a16="http://schemas.microsoft.com/office/drawing/2014/main" id="{9CD1220A-30D5-4404-9C2A-355E12CC2DDD}"/>
              </a:ext>
            </a:extLst>
          </p:cNvPr>
          <p:cNvSpPr>
            <a:spLocks noGrp="1"/>
          </p:cNvSpPr>
          <p:nvPr/>
        </p:nvSpPr>
        <p:spPr>
          <a:xfrm>
            <a:off x="6362700" y="2152650"/>
            <a:ext cx="4953000" cy="2724150"/>
          </a:xfrm>
          <a:prstGeom prst="roundRect">
            <a:avLst>
              <a:gd name="adj" fmla="val 4895"/>
            </a:avLst>
          </a:prstGeom>
          <a:solidFill>
            <a:srgbClr val="F7E7CF"/>
          </a:solidFill>
          <a:ln w="9525">
            <a:solidFill>
              <a:srgbClr val="F7E7CF"/>
            </a:solidFill>
            <a:prstDash val="solid"/>
          </a:ln>
        </p:spPr>
        <p:txBody>
          <a:bodyPr/>
          <a:lstStyle/>
          <a:p>
            <a:endParaRPr/>
          </a:p>
        </p:txBody>
      </p:sp>
      <p:sp>
        <p:nvSpPr>
          <p:cNvPr id="24" name="Reverse orientation-label">
            <a:extLst>
              <a:ext uri="{FF2B5EF4-FFF2-40B4-BE49-F238E27FC236}">
                <a16:creationId xmlns:a16="http://schemas.microsoft.com/office/drawing/2014/main" id="{B9DA408E-3E2C-4771-8C1A-6CFF001D9413}"/>
              </a:ext>
            </a:extLst>
          </p:cNvPr>
          <p:cNvSpPr>
            <a:spLocks noGrp="1"/>
          </p:cNvSpPr>
          <p:nvPr/>
        </p:nvSpPr>
        <p:spPr>
          <a:xfrm>
            <a:off x="6572250" y="2324100"/>
            <a:ext cx="4533900" cy="209550"/>
          </a:xfrm>
          <a:prstGeom prst="rect">
            <a:avLst/>
          </a:prstGeom>
          <a:noFill/>
          <a:ln w="0">
            <a:noFill/>
            <a:prstDash val="solid"/>
          </a:ln>
        </p:spPr>
        <p:txBody>
          <a:bodyPr/>
          <a:lstStyle/>
          <a:p>
            <a:pPr algn="l">
              <a:buNone/>
              <a:defRPr sz="900" b="1">
                <a:solidFill>
                  <a:srgbClr val="D97706"/>
                </a:solidFill>
              </a:defRPr>
            </a:pPr>
            <a:r>
              <a:rPr sz="900" b="1">
                <a:solidFill>
                  <a:srgbClr val="D97706"/>
                </a:solidFill>
              </a:rPr>
              <a:t>REVERSE ORIENTATION</a:t>
            </a:r>
          </a:p>
        </p:txBody>
      </p:sp>
      <p:sp>
        <p:nvSpPr>
          <p:cNvPr id="25" name="Reverse orientation-heading">
            <a:extLst>
              <a:ext uri="{FF2B5EF4-FFF2-40B4-BE49-F238E27FC236}">
                <a16:creationId xmlns:a16="http://schemas.microsoft.com/office/drawing/2014/main" id="{AFAE8BB7-7A4E-42B4-B26E-8D7C42F78529}"/>
              </a:ext>
            </a:extLst>
          </p:cNvPr>
          <p:cNvSpPr>
            <a:spLocks noGrp="1"/>
          </p:cNvSpPr>
          <p:nvPr/>
        </p:nvSpPr>
        <p:spPr>
          <a:xfrm>
            <a:off x="6572250" y="2647950"/>
            <a:ext cx="4533900" cy="381000"/>
          </a:xfrm>
          <a:prstGeom prst="rect">
            <a:avLst/>
          </a:prstGeom>
          <a:noFill/>
          <a:ln w="0">
            <a:noFill/>
            <a:prstDash val="solid"/>
          </a:ln>
        </p:spPr>
        <p:txBody>
          <a:bodyPr/>
          <a:lstStyle/>
          <a:p>
            <a:pPr algn="l">
              <a:buNone/>
              <a:defRPr sz="1650" b="1">
                <a:solidFill>
                  <a:srgbClr val="11253D"/>
                </a:solidFill>
              </a:defRPr>
            </a:pPr>
            <a:r>
              <a:rPr sz="1650" b="1">
                <a:solidFill>
                  <a:srgbClr val="11253D"/>
                </a:solidFill>
              </a:rPr>
              <a:t>Logistic − random forest</a:t>
            </a:r>
          </a:p>
        </p:txBody>
      </p:sp>
      <p:sp>
        <p:nvSpPr>
          <p:cNvPr id="26" name="Reverse orientation-body">
            <a:extLst>
              <a:ext uri="{FF2B5EF4-FFF2-40B4-BE49-F238E27FC236}">
                <a16:creationId xmlns:a16="http://schemas.microsoft.com/office/drawing/2014/main" id="{A13F4BEA-9124-454A-B189-88AD6E8EAA92}"/>
              </a:ext>
            </a:extLst>
          </p:cNvPr>
          <p:cNvSpPr>
            <a:spLocks noGrp="1"/>
          </p:cNvSpPr>
          <p:nvPr/>
        </p:nvSpPr>
        <p:spPr>
          <a:xfrm>
            <a:off x="6572250" y="3143250"/>
            <a:ext cx="4533900" cy="1543050"/>
          </a:xfrm>
          <a:prstGeom prst="rect">
            <a:avLst/>
          </a:prstGeom>
          <a:noFill/>
          <a:ln w="0">
            <a:noFill/>
            <a:prstDash val="solid"/>
          </a:ln>
        </p:spPr>
        <p:txBody>
          <a:bodyPr/>
          <a:lstStyle/>
          <a:p>
            <a:pPr algn="l">
              <a:buNone/>
              <a:defRPr sz="1275" b="0">
                <a:solidFill>
                  <a:srgbClr val="5F6B78"/>
                </a:solidFill>
              </a:defRPr>
            </a:pPr>
            <a:r>
              <a:rPr sz="1275" b="0">
                <a:solidFill>
                  <a:srgbClr val="5F6B78"/>
                </a:solidFill>
              </a:rPr>
              <a:t>Observed range-wide effect     −0.0016</a:t>
            </a:r>
          </a:p>
          <a:p>
            <a:pPr algn="l">
              <a:buNone/>
              <a:defRPr sz="1275" b="0">
                <a:solidFill>
                  <a:srgbClr val="5F6B78"/>
                </a:solidFill>
              </a:defRPr>
            </a:pPr>
            <a:r>
              <a:rPr sz="1275" b="0">
                <a:solidFill>
                  <a:srgbClr val="5F6B78"/>
                </a:solidFill>
              </a:rPr>
              <a:t>Supported estimate                 −0.0037</a:t>
            </a:r>
          </a:p>
          <a:p>
            <a:pPr algn="l">
              <a:buNone/>
              <a:defRPr sz="1275" b="0">
                <a:solidFill>
                  <a:srgbClr val="5F6B78"/>
                </a:solidFill>
              </a:defRPr>
            </a:pPr>
            <a:r>
              <a:rPr sz="1275" b="0">
                <a:solidFill>
                  <a:srgbClr val="5F6B78"/>
                </a:solidFill>
              </a:rPr>
              <a:t>Outer lower bound                  not computed</a:t>
            </a:r>
          </a:p>
          <a:p>
            <a:endParaRPr sz="1275" b="0">
              <a:solidFill>
                <a:srgbClr val="5F6B78"/>
              </a:solidFill>
            </a:endParaRPr>
          </a:p>
          <a:p>
            <a:pPr algn="l">
              <a:buNone/>
              <a:defRPr sz="1275" b="0">
                <a:solidFill>
                  <a:srgbClr val="5F6B78"/>
                </a:solidFill>
              </a:defRPr>
            </a:pPr>
            <a:r>
              <a:rPr sz="1275" b="0">
                <a:solidFill>
                  <a:srgbClr val="5F6B78"/>
                </a:solidFill>
              </a:rPr>
              <a:t>A formal reverse verdict needs its own outer run.</a:t>
            </a:r>
          </a:p>
        </p:txBody>
      </p:sp>
      <p:sp>
        <p:nvSpPr>
          <p:cNvPr id="27" name="content-surface">
            <a:extLst>
              <a:ext uri="{FF2B5EF4-FFF2-40B4-BE49-F238E27FC236}">
                <a16:creationId xmlns:a16="http://schemas.microsoft.com/office/drawing/2014/main" id="{592E8B60-054B-4D64-B727-E8D41944583C}"/>
              </a:ext>
            </a:extLst>
          </p:cNvPr>
          <p:cNvSpPr>
            <a:spLocks noGrp="1"/>
          </p:cNvSpPr>
          <p:nvPr/>
        </p:nvSpPr>
        <p:spPr>
          <a:xfrm>
            <a:off x="1714500" y="5257800"/>
            <a:ext cx="8763000" cy="628650"/>
          </a:xfrm>
          <a:prstGeom prst="roundRect">
            <a:avLst>
              <a:gd name="adj" fmla="val 18182"/>
            </a:avLst>
          </a:prstGeom>
          <a:solidFill>
            <a:srgbClr val="E8E0F0"/>
          </a:solidFill>
          <a:ln w="9525">
            <a:solidFill>
              <a:srgbClr val="E8E0F0"/>
            </a:solidFill>
            <a:prstDash val="solid"/>
          </a:ln>
        </p:spPr>
        <p:txBody>
          <a:bodyPr/>
          <a:lstStyle/>
          <a:p>
            <a:endParaRPr/>
          </a:p>
        </p:txBody>
      </p:sp>
      <p:sp>
        <p:nvSpPr>
          <p:cNvPr id="28" name="takeaway-banner">
            <a:extLst>
              <a:ext uri="{FF2B5EF4-FFF2-40B4-BE49-F238E27FC236}">
                <a16:creationId xmlns:a16="http://schemas.microsoft.com/office/drawing/2014/main" id="{753F69F3-F0B6-4CF3-B57D-9C9EBE612905}"/>
              </a:ext>
            </a:extLst>
          </p:cNvPr>
          <p:cNvSpPr>
            <a:spLocks noGrp="1"/>
          </p:cNvSpPr>
          <p:nvPr/>
        </p:nvSpPr>
        <p:spPr>
          <a:xfrm>
            <a:off x="1905000" y="5400675"/>
            <a:ext cx="8382000" cy="400050"/>
          </a:xfrm>
          <a:prstGeom prst="rect">
            <a:avLst/>
          </a:prstGeom>
          <a:noFill/>
          <a:ln w="0">
            <a:noFill/>
            <a:prstDash val="solid"/>
          </a:ln>
        </p:spPr>
        <p:txBody>
          <a:bodyPr/>
          <a:lstStyle/>
          <a:p>
            <a:pPr algn="ctr">
              <a:buNone/>
              <a:defRPr sz="1313" b="1">
                <a:solidFill>
                  <a:srgbClr val="6B4E8E"/>
                </a:solidFill>
              </a:defRPr>
            </a:pPr>
            <a:r>
              <a:rPr sz="1313" b="1">
                <a:solidFill>
                  <a:srgbClr val="6B4E8E"/>
                </a:solidFill>
              </a:rPr>
              <a:t>The profiles cross near 10.3% prevalence: over 1%–50%, neither model is uniformly better.</a:t>
            </a:r>
          </a:p>
        </p:txBody>
      </p:sp>
    </p:spTree>
    <p:extLst>
      <p:ext uri="{BB962C8B-B14F-4D97-AF65-F5344CB8AC3E}">
        <p14:creationId xmlns:p14="http://schemas.microsoft.com/office/powerpoint/2010/main" val="1195592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INTERPRETATION</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Conclusions travel with the assessment design</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INTERPRETATION</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30</a:t>
            </a:r>
          </a:p>
        </p:txBody>
      </p:sp>
      <p:sp>
        <p:nvSpPr>
          <p:cNvPr id="19" name="content-surface">
            <a:extLst>
              <a:ext uri="{FF2B5EF4-FFF2-40B4-BE49-F238E27FC236}">
                <a16:creationId xmlns:a16="http://schemas.microsoft.com/office/drawing/2014/main" id="{00D8FC49-A164-47E4-9C68-46F19C2818D9}"/>
              </a:ext>
            </a:extLst>
          </p:cNvPr>
          <p:cNvSpPr>
            <a:spLocks noGrp="1"/>
          </p:cNvSpPr>
          <p:nvPr/>
        </p:nvSpPr>
        <p:spPr>
          <a:xfrm>
            <a:off x="876300" y="2114550"/>
            <a:ext cx="5010150" cy="1390650"/>
          </a:xfrm>
          <a:prstGeom prst="roundRect">
            <a:avLst>
              <a:gd name="adj" fmla="val 9589"/>
            </a:avLst>
          </a:prstGeom>
          <a:solidFill>
            <a:srgbClr val="DCEAF7"/>
          </a:solidFill>
          <a:ln w="9525">
            <a:solidFill>
              <a:srgbClr val="DCEAF7"/>
            </a:solidFill>
            <a:prstDash val="solid"/>
          </a:ln>
        </p:spPr>
        <p:txBody>
          <a:bodyPr/>
          <a:lstStyle/>
          <a:p>
            <a:endParaRPr/>
          </a:p>
        </p:txBody>
      </p:sp>
      <p:sp>
        <p:nvSpPr>
          <p:cNvPr id="20" name="body-text">
            <a:extLst>
              <a:ext uri="{FF2B5EF4-FFF2-40B4-BE49-F238E27FC236}">
                <a16:creationId xmlns:a16="http://schemas.microsoft.com/office/drawing/2014/main" id="{4F051338-4837-45EB-8E55-A7777107AB66}"/>
              </a:ext>
            </a:extLst>
          </p:cNvPr>
          <p:cNvSpPr>
            <a:spLocks noGrp="1"/>
          </p:cNvSpPr>
          <p:nvPr/>
        </p:nvSpPr>
        <p:spPr>
          <a:xfrm>
            <a:off x="1085850" y="2343150"/>
            <a:ext cx="552450" cy="495300"/>
          </a:xfrm>
          <a:prstGeom prst="rect">
            <a:avLst/>
          </a:prstGeom>
          <a:noFill/>
          <a:ln w="0">
            <a:noFill/>
            <a:prstDash val="solid"/>
          </a:ln>
        </p:spPr>
        <p:txBody>
          <a:bodyPr/>
          <a:lstStyle/>
          <a:p>
            <a:pPr algn="ctr">
              <a:buNone/>
              <a:defRPr sz="2325" b="1">
                <a:solidFill>
                  <a:srgbClr val="2B6CB0"/>
                </a:solidFill>
              </a:defRPr>
            </a:pPr>
            <a:r>
              <a:rPr sz="2325" b="1">
                <a:solidFill>
                  <a:srgbClr val="2B6CB0"/>
                </a:solidFill>
              </a:rPr>
              <a:t>Π</a:t>
            </a:r>
          </a:p>
        </p:txBody>
      </p:sp>
      <p:sp>
        <p:nvSpPr>
          <p:cNvPr id="21" name="body-text">
            <a:extLst>
              <a:ext uri="{FF2B5EF4-FFF2-40B4-BE49-F238E27FC236}">
                <a16:creationId xmlns:a16="http://schemas.microsoft.com/office/drawing/2014/main" id="{5ABC7372-EDE1-4B6A-A1B4-F6547D4B65E0}"/>
              </a:ext>
            </a:extLst>
          </p:cNvPr>
          <p:cNvSpPr>
            <a:spLocks noGrp="1"/>
          </p:cNvSpPr>
          <p:nvPr/>
        </p:nvSpPr>
        <p:spPr>
          <a:xfrm>
            <a:off x="1809750" y="2343150"/>
            <a:ext cx="3714750" cy="323850"/>
          </a:xfrm>
          <a:prstGeom prst="rect">
            <a:avLst/>
          </a:prstGeom>
          <a:noFill/>
          <a:ln w="0">
            <a:noFill/>
            <a:prstDash val="solid"/>
          </a:ln>
        </p:spPr>
        <p:txBody>
          <a:bodyPr/>
          <a:lstStyle/>
          <a:p>
            <a:pPr algn="l">
              <a:buNone/>
              <a:defRPr sz="1500" b="1">
                <a:solidFill>
                  <a:srgbClr val="11253D"/>
                </a:solidFill>
              </a:defRPr>
            </a:pPr>
            <a:r>
              <a:rPr sz="1500" b="1">
                <a:solidFill>
                  <a:srgbClr val="11253D"/>
                </a:solidFill>
              </a:rPr>
              <a:t>Population transport</a:t>
            </a:r>
          </a:p>
        </p:txBody>
      </p:sp>
      <p:sp>
        <p:nvSpPr>
          <p:cNvPr id="22" name="body-text">
            <a:extLst>
              <a:ext uri="{FF2B5EF4-FFF2-40B4-BE49-F238E27FC236}">
                <a16:creationId xmlns:a16="http://schemas.microsoft.com/office/drawing/2014/main" id="{50BE0B42-8439-463A-ADBE-782E7F27D21D}"/>
              </a:ext>
            </a:extLst>
          </p:cNvPr>
          <p:cNvSpPr>
            <a:spLocks noGrp="1"/>
          </p:cNvSpPr>
          <p:nvPr/>
        </p:nvSpPr>
        <p:spPr>
          <a:xfrm>
            <a:off x="1809750" y="2762250"/>
            <a:ext cx="3714750" cy="571500"/>
          </a:xfrm>
          <a:prstGeom prst="rect">
            <a:avLst/>
          </a:prstGeom>
          <a:noFill/>
          <a:ln w="0">
            <a:noFill/>
            <a:prstDash val="solid"/>
          </a:ln>
        </p:spPr>
        <p:txBody>
          <a:bodyPr/>
          <a:lstStyle/>
          <a:p>
            <a:pPr algn="l">
              <a:buNone/>
              <a:defRPr sz="1200" b="0">
                <a:solidFill>
                  <a:srgbClr val="5F6B78"/>
                </a:solidFill>
              </a:defRPr>
            </a:pPr>
            <a:r>
              <a:rPr sz="1200" b="0">
                <a:solidFill>
                  <a:srgbClr val="5F6B78"/>
                </a:solidFill>
              </a:rPr>
              <a:t>Class-conditional score distributions are assumed stable as prevalence changes.</a:t>
            </a:r>
          </a:p>
        </p:txBody>
      </p:sp>
      <p:sp>
        <p:nvSpPr>
          <p:cNvPr id="23" name="content-surface">
            <a:extLst>
              <a:ext uri="{FF2B5EF4-FFF2-40B4-BE49-F238E27FC236}">
                <a16:creationId xmlns:a16="http://schemas.microsoft.com/office/drawing/2014/main" id="{C06EB3AB-84A4-46A0-AF9F-6475991400EA}"/>
              </a:ext>
            </a:extLst>
          </p:cNvPr>
          <p:cNvSpPr>
            <a:spLocks noGrp="1"/>
          </p:cNvSpPr>
          <p:nvPr/>
        </p:nvSpPr>
        <p:spPr>
          <a:xfrm>
            <a:off x="6305550" y="2114550"/>
            <a:ext cx="5010150" cy="1390650"/>
          </a:xfrm>
          <a:prstGeom prst="roundRect">
            <a:avLst>
              <a:gd name="adj" fmla="val 9589"/>
            </a:avLst>
          </a:prstGeom>
          <a:solidFill>
            <a:srgbClr val="E8E0F0"/>
          </a:solidFill>
          <a:ln w="9525">
            <a:solidFill>
              <a:srgbClr val="E8E0F0"/>
            </a:solidFill>
            <a:prstDash val="solid"/>
          </a:ln>
        </p:spPr>
        <p:txBody>
          <a:bodyPr/>
          <a:lstStyle/>
          <a:p>
            <a:endParaRPr/>
          </a:p>
        </p:txBody>
      </p:sp>
      <p:sp>
        <p:nvSpPr>
          <p:cNvPr id="24" name="body-text">
            <a:extLst>
              <a:ext uri="{FF2B5EF4-FFF2-40B4-BE49-F238E27FC236}">
                <a16:creationId xmlns:a16="http://schemas.microsoft.com/office/drawing/2014/main" id="{634BF602-B990-4AF1-9DE6-5651FE974E14}"/>
              </a:ext>
            </a:extLst>
          </p:cNvPr>
          <p:cNvSpPr>
            <a:spLocks noGrp="1"/>
          </p:cNvSpPr>
          <p:nvPr/>
        </p:nvSpPr>
        <p:spPr>
          <a:xfrm>
            <a:off x="6515100" y="2343150"/>
            <a:ext cx="552450" cy="495300"/>
          </a:xfrm>
          <a:prstGeom prst="rect">
            <a:avLst/>
          </a:prstGeom>
          <a:noFill/>
          <a:ln w="0">
            <a:noFill/>
            <a:prstDash val="solid"/>
          </a:ln>
        </p:spPr>
        <p:txBody>
          <a:bodyPr/>
          <a:lstStyle/>
          <a:p>
            <a:pPr algn="ctr">
              <a:buNone/>
              <a:defRPr sz="2325" b="1">
                <a:solidFill>
                  <a:srgbClr val="6B4E8E"/>
                </a:solidFill>
              </a:defRPr>
            </a:pPr>
            <a:r>
              <a:rPr sz="2325" b="1">
                <a:solidFill>
                  <a:srgbClr val="6B4E8E"/>
                </a:solidFill>
              </a:rPr>
              <a:t>ℛ</a:t>
            </a:r>
          </a:p>
        </p:txBody>
      </p:sp>
      <p:sp>
        <p:nvSpPr>
          <p:cNvPr id="25" name="body-text">
            <a:extLst>
              <a:ext uri="{FF2B5EF4-FFF2-40B4-BE49-F238E27FC236}">
                <a16:creationId xmlns:a16="http://schemas.microsoft.com/office/drawing/2014/main" id="{A919D419-D131-4A40-8FAC-466E5E9B4081}"/>
              </a:ext>
            </a:extLst>
          </p:cNvPr>
          <p:cNvSpPr>
            <a:spLocks noGrp="1"/>
          </p:cNvSpPr>
          <p:nvPr/>
        </p:nvSpPr>
        <p:spPr>
          <a:xfrm>
            <a:off x="7239000" y="2343150"/>
            <a:ext cx="3714750" cy="323850"/>
          </a:xfrm>
          <a:prstGeom prst="rect">
            <a:avLst/>
          </a:prstGeom>
          <a:noFill/>
          <a:ln w="0">
            <a:noFill/>
            <a:prstDash val="solid"/>
          </a:ln>
        </p:spPr>
        <p:txBody>
          <a:bodyPr/>
          <a:lstStyle/>
          <a:p>
            <a:pPr algn="l">
              <a:buNone/>
              <a:defRPr sz="1500" b="1">
                <a:solidFill>
                  <a:srgbClr val="11253D"/>
                </a:solidFill>
              </a:defRPr>
            </a:pPr>
            <a:r>
              <a:rPr sz="1500" b="1">
                <a:solidFill>
                  <a:srgbClr val="11253D"/>
                </a:solidFill>
              </a:rPr>
              <a:t>Fixed-model regime</a:t>
            </a:r>
          </a:p>
        </p:txBody>
      </p:sp>
      <p:sp>
        <p:nvSpPr>
          <p:cNvPr id="26" name="body-text">
            <a:extLst>
              <a:ext uri="{FF2B5EF4-FFF2-40B4-BE49-F238E27FC236}">
                <a16:creationId xmlns:a16="http://schemas.microsoft.com/office/drawing/2014/main" id="{2C6B059C-8D98-4830-BCBB-524E2701BF15}"/>
              </a:ext>
            </a:extLst>
          </p:cNvPr>
          <p:cNvSpPr>
            <a:spLocks noGrp="1"/>
          </p:cNvSpPr>
          <p:nvPr/>
        </p:nvSpPr>
        <p:spPr>
          <a:xfrm>
            <a:off x="7239000" y="2762250"/>
            <a:ext cx="3714750" cy="571500"/>
          </a:xfrm>
          <a:prstGeom prst="rect">
            <a:avLst/>
          </a:prstGeom>
          <a:noFill/>
          <a:ln w="0">
            <a:noFill/>
            <a:prstDash val="solid"/>
          </a:ln>
        </p:spPr>
        <p:txBody>
          <a:bodyPr/>
          <a:lstStyle/>
          <a:p>
            <a:pPr algn="l">
              <a:buNone/>
              <a:defRPr sz="1200" b="0">
                <a:solidFill>
                  <a:srgbClr val="5F6B78"/>
                </a:solidFill>
              </a:defRPr>
            </a:pPr>
            <a:r>
              <a:rPr sz="1200" b="0">
                <a:solidFill>
                  <a:srgbClr val="5F6B78"/>
                </a:solidFill>
              </a:rPr>
              <a:t>Evaluation units vary; fitting, selection, and new environments do not.</a:t>
            </a:r>
          </a:p>
        </p:txBody>
      </p:sp>
      <p:sp>
        <p:nvSpPr>
          <p:cNvPr id="27" name="content-surface">
            <a:extLst>
              <a:ext uri="{FF2B5EF4-FFF2-40B4-BE49-F238E27FC236}">
                <a16:creationId xmlns:a16="http://schemas.microsoft.com/office/drawing/2014/main" id="{DF912E64-BB96-42BC-973B-4469AA348602}"/>
              </a:ext>
            </a:extLst>
          </p:cNvPr>
          <p:cNvSpPr>
            <a:spLocks noGrp="1"/>
          </p:cNvSpPr>
          <p:nvPr/>
        </p:nvSpPr>
        <p:spPr>
          <a:xfrm>
            <a:off x="876300" y="3733800"/>
            <a:ext cx="5010150" cy="1390650"/>
          </a:xfrm>
          <a:prstGeom prst="roundRect">
            <a:avLst>
              <a:gd name="adj" fmla="val 9589"/>
            </a:avLst>
          </a:prstGeom>
          <a:solidFill>
            <a:srgbClr val="F7E7CF"/>
          </a:solidFill>
          <a:ln w="9525">
            <a:solidFill>
              <a:srgbClr val="F7E7CF"/>
            </a:solidFill>
            <a:prstDash val="solid"/>
          </a:ln>
        </p:spPr>
        <p:txBody>
          <a:bodyPr/>
          <a:lstStyle/>
          <a:p>
            <a:endParaRPr/>
          </a:p>
        </p:txBody>
      </p:sp>
      <p:sp>
        <p:nvSpPr>
          <p:cNvPr id="28" name="body-text">
            <a:extLst>
              <a:ext uri="{FF2B5EF4-FFF2-40B4-BE49-F238E27FC236}">
                <a16:creationId xmlns:a16="http://schemas.microsoft.com/office/drawing/2014/main" id="{1B72D91A-AF72-439C-BD5A-04C01434CF45}"/>
              </a:ext>
            </a:extLst>
          </p:cNvPr>
          <p:cNvSpPr>
            <a:spLocks noGrp="1"/>
          </p:cNvSpPr>
          <p:nvPr/>
        </p:nvSpPr>
        <p:spPr>
          <a:xfrm>
            <a:off x="1085850" y="3962400"/>
            <a:ext cx="552450" cy="495300"/>
          </a:xfrm>
          <a:prstGeom prst="rect">
            <a:avLst/>
          </a:prstGeom>
          <a:noFill/>
          <a:ln w="0">
            <a:noFill/>
            <a:prstDash val="solid"/>
          </a:ln>
        </p:spPr>
        <p:txBody>
          <a:bodyPr/>
          <a:lstStyle/>
          <a:p>
            <a:pPr algn="ctr">
              <a:buNone/>
              <a:defRPr sz="2325" b="1">
                <a:solidFill>
                  <a:srgbClr val="D97706"/>
                </a:solidFill>
              </a:defRPr>
            </a:pPr>
            <a:r>
              <a:rPr sz="2325" b="1">
                <a:solidFill>
                  <a:srgbClr val="D97706"/>
                </a:solidFill>
              </a:rPr>
              <a:t>≈</a:t>
            </a:r>
          </a:p>
        </p:txBody>
      </p:sp>
      <p:sp>
        <p:nvSpPr>
          <p:cNvPr id="29" name="body-text">
            <a:extLst>
              <a:ext uri="{FF2B5EF4-FFF2-40B4-BE49-F238E27FC236}">
                <a16:creationId xmlns:a16="http://schemas.microsoft.com/office/drawing/2014/main" id="{B8254FBA-B341-4738-A023-D36938373732}"/>
              </a:ext>
            </a:extLst>
          </p:cNvPr>
          <p:cNvSpPr>
            <a:spLocks noGrp="1"/>
          </p:cNvSpPr>
          <p:nvPr/>
        </p:nvSpPr>
        <p:spPr>
          <a:xfrm>
            <a:off x="1809750" y="3962400"/>
            <a:ext cx="3714750" cy="323850"/>
          </a:xfrm>
          <a:prstGeom prst="rect">
            <a:avLst/>
          </a:prstGeom>
          <a:noFill/>
          <a:ln w="0">
            <a:noFill/>
            <a:prstDash val="solid"/>
          </a:ln>
        </p:spPr>
        <p:txBody>
          <a:bodyPr/>
          <a:lstStyle/>
          <a:p>
            <a:pPr algn="l">
              <a:buNone/>
              <a:defRPr sz="1500" b="1">
                <a:solidFill>
                  <a:srgbClr val="11253D"/>
                </a:solidFill>
              </a:defRPr>
            </a:pPr>
            <a:r>
              <a:rPr sz="1500" b="1">
                <a:solidFill>
                  <a:srgbClr val="11253D"/>
                </a:solidFill>
              </a:rPr>
              <a:t>Reference behavior</a:t>
            </a:r>
          </a:p>
        </p:txBody>
      </p:sp>
      <p:sp>
        <p:nvSpPr>
          <p:cNvPr id="30" name="body-text">
            <a:extLst>
              <a:ext uri="{FF2B5EF4-FFF2-40B4-BE49-F238E27FC236}">
                <a16:creationId xmlns:a16="http://schemas.microsoft.com/office/drawing/2014/main" id="{B6C8C376-3CD3-4BC9-8B23-02C1B5419DAB}"/>
              </a:ext>
            </a:extLst>
          </p:cNvPr>
          <p:cNvSpPr>
            <a:spLocks noGrp="1"/>
          </p:cNvSpPr>
          <p:nvPr/>
        </p:nvSpPr>
        <p:spPr>
          <a:xfrm>
            <a:off x="1809750" y="4381500"/>
            <a:ext cx="3714750" cy="571500"/>
          </a:xfrm>
          <a:prstGeom prst="rect">
            <a:avLst/>
          </a:prstGeom>
          <a:noFill/>
          <a:ln w="0">
            <a:noFill/>
            <a:prstDash val="solid"/>
          </a:ln>
        </p:spPr>
        <p:txBody>
          <a:bodyPr/>
          <a:lstStyle/>
          <a:p>
            <a:pPr algn="l">
              <a:buNone/>
              <a:defRPr sz="1200" b="0">
                <a:solidFill>
                  <a:srgbClr val="5F6B78"/>
                </a:solidFill>
              </a:defRPr>
            </a:pPr>
            <a:r>
              <a:rPr sz="1200" b="0">
                <a:solidFill>
                  <a:srgbClr val="5F6B78"/>
                </a:solidFill>
              </a:rPr>
              <a:t>The no-positive-anchor result uses an exchangeable-label reference law.</a:t>
            </a:r>
          </a:p>
        </p:txBody>
      </p:sp>
      <p:sp>
        <p:nvSpPr>
          <p:cNvPr id="31" name="content-surface">
            <a:extLst>
              <a:ext uri="{FF2B5EF4-FFF2-40B4-BE49-F238E27FC236}">
                <a16:creationId xmlns:a16="http://schemas.microsoft.com/office/drawing/2014/main" id="{21BC219F-BB6E-4EC9-AEDD-FC41EBF5EE39}"/>
              </a:ext>
            </a:extLst>
          </p:cNvPr>
          <p:cNvSpPr>
            <a:spLocks noGrp="1"/>
          </p:cNvSpPr>
          <p:nvPr/>
        </p:nvSpPr>
        <p:spPr>
          <a:xfrm>
            <a:off x="6305550" y="3733800"/>
            <a:ext cx="5010150" cy="1390650"/>
          </a:xfrm>
          <a:prstGeom prst="roundRect">
            <a:avLst>
              <a:gd name="adj" fmla="val 9589"/>
            </a:avLst>
          </a:prstGeom>
          <a:solidFill>
            <a:srgbClr val="F4DEDB"/>
          </a:solidFill>
          <a:ln w="9525">
            <a:solidFill>
              <a:srgbClr val="F4DEDB"/>
            </a:solidFill>
            <a:prstDash val="solid"/>
          </a:ln>
        </p:spPr>
        <p:txBody>
          <a:bodyPr/>
          <a:lstStyle/>
          <a:p>
            <a:endParaRPr/>
          </a:p>
        </p:txBody>
      </p:sp>
      <p:sp>
        <p:nvSpPr>
          <p:cNvPr id="32" name="body-text">
            <a:extLst>
              <a:ext uri="{FF2B5EF4-FFF2-40B4-BE49-F238E27FC236}">
                <a16:creationId xmlns:a16="http://schemas.microsoft.com/office/drawing/2014/main" id="{F5EE5EC8-406D-4BF2-892F-170C7432F462}"/>
              </a:ext>
            </a:extLst>
          </p:cNvPr>
          <p:cNvSpPr>
            <a:spLocks noGrp="1"/>
          </p:cNvSpPr>
          <p:nvPr/>
        </p:nvSpPr>
        <p:spPr>
          <a:xfrm>
            <a:off x="6515100" y="3962400"/>
            <a:ext cx="552450" cy="495300"/>
          </a:xfrm>
          <a:prstGeom prst="rect">
            <a:avLst/>
          </a:prstGeom>
          <a:noFill/>
          <a:ln w="0">
            <a:noFill/>
            <a:prstDash val="solid"/>
          </a:ln>
        </p:spPr>
        <p:txBody>
          <a:bodyPr/>
          <a:lstStyle/>
          <a:p>
            <a:pPr algn="ctr">
              <a:buNone/>
              <a:defRPr sz="2325" b="1">
                <a:solidFill>
                  <a:srgbClr val="B5473C"/>
                </a:solidFill>
              </a:defRPr>
            </a:pPr>
            <a:r>
              <a:rPr sz="2325" b="1">
                <a:solidFill>
                  <a:srgbClr val="B5473C"/>
                </a:solidFill>
              </a:rPr>
              <a:t>?</a:t>
            </a:r>
          </a:p>
        </p:txBody>
      </p:sp>
      <p:sp>
        <p:nvSpPr>
          <p:cNvPr id="33" name="body-text">
            <a:extLst>
              <a:ext uri="{FF2B5EF4-FFF2-40B4-BE49-F238E27FC236}">
                <a16:creationId xmlns:a16="http://schemas.microsoft.com/office/drawing/2014/main" id="{564CFECB-7858-4FC4-B9F7-32CCD82DF7DC}"/>
              </a:ext>
            </a:extLst>
          </p:cNvPr>
          <p:cNvSpPr>
            <a:spLocks noGrp="1"/>
          </p:cNvSpPr>
          <p:nvPr/>
        </p:nvSpPr>
        <p:spPr>
          <a:xfrm>
            <a:off x="7239000" y="3962400"/>
            <a:ext cx="3714750" cy="323850"/>
          </a:xfrm>
          <a:prstGeom prst="rect">
            <a:avLst/>
          </a:prstGeom>
          <a:noFill/>
          <a:ln w="0">
            <a:noFill/>
            <a:prstDash val="solid"/>
          </a:ln>
        </p:spPr>
        <p:txBody>
          <a:bodyPr/>
          <a:lstStyle/>
          <a:p>
            <a:pPr algn="l">
              <a:buNone/>
              <a:defRPr sz="1500" b="1">
                <a:solidFill>
                  <a:srgbClr val="11253D"/>
                </a:solidFill>
              </a:defRPr>
            </a:pPr>
            <a:r>
              <a:rPr sz="1500" b="1">
                <a:solidFill>
                  <a:srgbClr val="11253D"/>
                </a:solidFill>
              </a:rPr>
              <a:t>Outer uncertainty</a:t>
            </a:r>
          </a:p>
        </p:txBody>
      </p:sp>
      <p:sp>
        <p:nvSpPr>
          <p:cNvPr id="34" name="body-text">
            <a:extLst>
              <a:ext uri="{FF2B5EF4-FFF2-40B4-BE49-F238E27FC236}">
                <a16:creationId xmlns:a16="http://schemas.microsoft.com/office/drawing/2014/main" id="{AAD2AB12-EE11-407F-9F48-0684F663B3B5}"/>
              </a:ext>
            </a:extLst>
          </p:cNvPr>
          <p:cNvSpPr>
            <a:spLocks noGrp="1"/>
          </p:cNvSpPr>
          <p:nvPr/>
        </p:nvSpPr>
        <p:spPr>
          <a:xfrm>
            <a:off x="7239000" y="4381500"/>
            <a:ext cx="3714750" cy="571500"/>
          </a:xfrm>
          <a:prstGeom prst="rect">
            <a:avLst/>
          </a:prstGeom>
          <a:noFill/>
          <a:ln w="0">
            <a:noFill/>
            <a:prstDash val="solid"/>
          </a:ln>
        </p:spPr>
        <p:txBody>
          <a:bodyPr/>
          <a:lstStyle/>
          <a:p>
            <a:pPr algn="l">
              <a:buNone/>
              <a:defRPr sz="1200" b="0">
                <a:solidFill>
                  <a:srgbClr val="5F6B78"/>
                </a:solidFill>
              </a:defRPr>
            </a:pPr>
            <a:r>
              <a:rPr sz="1200" b="0">
                <a:solidFill>
                  <a:srgbClr val="5F6B78"/>
                </a:solidFill>
              </a:rPr>
              <a:t>Nominal percentile coverage requires design-specific validation.</a:t>
            </a:r>
          </a:p>
        </p:txBody>
      </p:sp>
      <p:sp>
        <p:nvSpPr>
          <p:cNvPr id="35" name="content-surface">
            <a:extLst>
              <a:ext uri="{FF2B5EF4-FFF2-40B4-BE49-F238E27FC236}">
                <a16:creationId xmlns:a16="http://schemas.microsoft.com/office/drawing/2014/main" id="{E4FC1C43-F1C7-4122-B67E-AD3099C7AD6D}"/>
              </a:ext>
            </a:extLst>
          </p:cNvPr>
          <p:cNvSpPr>
            <a:spLocks noGrp="1"/>
          </p:cNvSpPr>
          <p:nvPr/>
        </p:nvSpPr>
        <p:spPr>
          <a:xfrm>
            <a:off x="1714500" y="5467350"/>
            <a:ext cx="8763000" cy="514350"/>
          </a:xfrm>
          <a:prstGeom prst="roundRect">
            <a:avLst>
              <a:gd name="adj" fmla="val 22222"/>
            </a:avLst>
          </a:prstGeom>
          <a:solidFill>
            <a:srgbClr val="D9EEE8"/>
          </a:solidFill>
          <a:ln w="9525">
            <a:solidFill>
              <a:srgbClr val="D9EEE8"/>
            </a:solidFill>
            <a:prstDash val="solid"/>
          </a:ln>
        </p:spPr>
        <p:txBody>
          <a:bodyPr/>
          <a:lstStyle/>
          <a:p>
            <a:endParaRPr/>
          </a:p>
        </p:txBody>
      </p:sp>
      <p:sp>
        <p:nvSpPr>
          <p:cNvPr id="36" name="takeaway-banner">
            <a:extLst>
              <a:ext uri="{FF2B5EF4-FFF2-40B4-BE49-F238E27FC236}">
                <a16:creationId xmlns:a16="http://schemas.microsoft.com/office/drawing/2014/main" id="{5F58E25F-90F8-4E4B-A0E2-9BA737D0D6DE}"/>
              </a:ext>
            </a:extLst>
          </p:cNvPr>
          <p:cNvSpPr>
            <a:spLocks noGrp="1"/>
          </p:cNvSpPr>
          <p:nvPr/>
        </p:nvSpPr>
        <p:spPr>
          <a:xfrm>
            <a:off x="1905000" y="5610225"/>
            <a:ext cx="8382000" cy="285750"/>
          </a:xfrm>
          <a:prstGeom prst="rect">
            <a:avLst/>
          </a:prstGeom>
          <a:noFill/>
          <a:ln w="0">
            <a:noFill/>
            <a:prstDash val="solid"/>
          </a:ln>
        </p:spPr>
        <p:txBody>
          <a:bodyPr/>
          <a:lstStyle/>
          <a:p>
            <a:pPr algn="ctr">
              <a:buNone/>
              <a:defRPr sz="1238" b="1">
                <a:solidFill>
                  <a:srgbClr val="0E7C66"/>
                </a:solidFill>
              </a:defRPr>
            </a:pPr>
            <a:r>
              <a:rPr sz="1238" b="1">
                <a:solidFill>
                  <a:srgbClr val="0E7C66"/>
                </a:solidFill>
              </a:rPr>
              <a:t>This is ranking evidence—not a complete deployment decision about cost, calibration, fairness, or intervention effects.</a:t>
            </a:r>
          </a:p>
        </p:txBody>
      </p:sp>
    </p:spTree>
    <p:extLst>
      <p:ext uri="{BB962C8B-B14F-4D97-AF65-F5344CB8AC3E}">
        <p14:creationId xmlns:p14="http://schemas.microsoft.com/office/powerpoint/2010/main" val="1195592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D66731A-7656-4F4E-845B-6D98D6211405}"/>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D97706"/>
                </a:solidFill>
              </a:defRPr>
            </a:pPr>
            <a:r>
              <a:rPr sz="1125" b="1" i="0">
                <a:solidFill>
                  <a:srgbClr val="D97706"/>
                </a:solidFill>
              </a:rPr>
              <a:t>SYNTHESIS</a:t>
            </a:r>
          </a:p>
        </p:txBody>
      </p:sp>
      <p:sp>
        <p:nvSpPr>
          <p:cNvPr id="2" name="Rectangle 1">
            <a:extLst>
              <a:ext uri="{FF2B5EF4-FFF2-40B4-BE49-F238E27FC236}">
                <a16:creationId xmlns:a16="http://schemas.microsoft.com/office/drawing/2014/main" id="{DBB307D7-CF1F-4922-807F-AA27E376F34F}"/>
              </a:ext>
            </a:extLst>
          </p:cNvPr>
          <p:cNvSpPr>
            <a:spLocks noGrp="1"/>
          </p:cNvSpPr>
          <p:nvPr/>
        </p:nvSpPr>
        <p:spPr>
          <a:xfrm>
            <a:off x="685800" y="666750"/>
            <a:ext cx="10820400" cy="10287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From score comparison to criticizable claim</a:t>
            </a:r>
          </a:p>
        </p:txBody>
      </p:sp>
      <p:sp>
        <p:nvSpPr>
          <p:cNvPr id="3" name="Rectangle 2">
            <a:extLst>
              <a:ext uri="{FF2B5EF4-FFF2-40B4-BE49-F238E27FC236}">
                <a16:creationId xmlns:a16="http://schemas.microsoft.com/office/drawing/2014/main" id="{5DA417AF-ECEE-4BCE-A756-AC6A12EE51B3}"/>
              </a:ext>
            </a:extLst>
          </p:cNvPr>
          <p:cNvSpPr>
            <a:spLocks noGrp="1"/>
          </p:cNvSpPr>
          <p:nvPr/>
        </p:nvSpPr>
        <p:spPr>
          <a:xfrm>
            <a:off x="685800" y="1724025"/>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F6B64570-7C5B-4A5B-B2A0-B411695A7734}"/>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SYNTHESIS</a:t>
            </a:r>
          </a:p>
        </p:txBody>
      </p:sp>
      <p:sp>
        <p:nvSpPr>
          <p:cNvPr id="5" name="Rectangle 4">
            <a:extLst>
              <a:ext uri="{FF2B5EF4-FFF2-40B4-BE49-F238E27FC236}">
                <a16:creationId xmlns:a16="http://schemas.microsoft.com/office/drawing/2014/main" id="{7C1FC880-F550-4579-B5D3-49FCF1FCDDC5}"/>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31</a:t>
            </a:r>
          </a:p>
        </p:txBody>
      </p:sp>
      <p:sp>
        <p:nvSpPr>
          <p:cNvPr id="19" name="content-surface">
            <a:extLst>
              <a:ext uri="{FF2B5EF4-FFF2-40B4-BE49-F238E27FC236}">
                <a16:creationId xmlns:a16="http://schemas.microsoft.com/office/drawing/2014/main" id="{AFB105F6-9F53-4FA5-B620-5CC9F421CDC7}"/>
              </a:ext>
            </a:extLst>
          </p:cNvPr>
          <p:cNvSpPr>
            <a:spLocks noGrp="1"/>
          </p:cNvSpPr>
          <p:nvPr/>
        </p:nvSpPr>
        <p:spPr>
          <a:xfrm>
            <a:off x="723900" y="2343150"/>
            <a:ext cx="2381250" cy="2343150"/>
          </a:xfrm>
          <a:prstGeom prst="roundRect">
            <a:avLst>
              <a:gd name="adj" fmla="val 5691"/>
            </a:avLst>
          </a:prstGeom>
          <a:solidFill>
            <a:srgbClr val="DCEAF7"/>
          </a:solidFill>
          <a:ln w="9525">
            <a:solidFill>
              <a:srgbClr val="DCEAF7"/>
            </a:solidFill>
            <a:prstDash val="solid"/>
          </a:ln>
        </p:spPr>
        <p:txBody>
          <a:bodyPr/>
          <a:lstStyle/>
          <a:p>
            <a:endParaRPr/>
          </a:p>
        </p:txBody>
      </p:sp>
      <p:sp>
        <p:nvSpPr>
          <p:cNvPr id="20" name="body-text">
            <a:extLst>
              <a:ext uri="{FF2B5EF4-FFF2-40B4-BE49-F238E27FC236}">
                <a16:creationId xmlns:a16="http://schemas.microsoft.com/office/drawing/2014/main" id="{BFBC0EAB-DAFA-49C2-A27B-56ADD79741FA}"/>
              </a:ext>
            </a:extLst>
          </p:cNvPr>
          <p:cNvSpPr>
            <a:spLocks noGrp="1"/>
          </p:cNvSpPr>
          <p:nvPr/>
        </p:nvSpPr>
        <p:spPr>
          <a:xfrm>
            <a:off x="914400" y="2533650"/>
            <a:ext cx="457200" cy="457200"/>
          </a:xfrm>
          <a:prstGeom prst="rect">
            <a:avLst/>
          </a:prstGeom>
          <a:noFill/>
          <a:ln w="0">
            <a:noFill/>
            <a:prstDash val="solid"/>
          </a:ln>
        </p:spPr>
        <p:txBody>
          <a:bodyPr/>
          <a:lstStyle/>
          <a:p>
            <a:pPr algn="ctr">
              <a:buNone/>
              <a:defRPr sz="2100" b="1">
                <a:solidFill>
                  <a:srgbClr val="2B6CB0"/>
                </a:solidFill>
              </a:defRPr>
            </a:pPr>
            <a:r>
              <a:rPr sz="2100" b="1">
                <a:solidFill>
                  <a:srgbClr val="2B6CB0"/>
                </a:solidFill>
              </a:rPr>
              <a:t>1</a:t>
            </a:r>
          </a:p>
        </p:txBody>
      </p:sp>
      <p:sp>
        <p:nvSpPr>
          <p:cNvPr id="21" name="body-text">
            <a:extLst>
              <a:ext uri="{FF2B5EF4-FFF2-40B4-BE49-F238E27FC236}">
                <a16:creationId xmlns:a16="http://schemas.microsoft.com/office/drawing/2014/main" id="{BFAD1B95-EA19-420B-A299-D7FBD0216966}"/>
              </a:ext>
            </a:extLst>
          </p:cNvPr>
          <p:cNvSpPr>
            <a:spLocks noGrp="1"/>
          </p:cNvSpPr>
          <p:nvPr/>
        </p:nvSpPr>
        <p:spPr>
          <a:xfrm>
            <a:off x="952500" y="3105150"/>
            <a:ext cx="1924050" cy="285750"/>
          </a:xfrm>
          <a:prstGeom prst="rect">
            <a:avLst/>
          </a:prstGeom>
          <a:noFill/>
          <a:ln w="0">
            <a:noFill/>
            <a:prstDash val="solid"/>
          </a:ln>
        </p:spPr>
        <p:txBody>
          <a:bodyPr/>
          <a:lstStyle/>
          <a:p>
            <a:pPr algn="ctr">
              <a:buNone/>
              <a:defRPr sz="1050" b="1">
                <a:solidFill>
                  <a:srgbClr val="2B6CB0"/>
                </a:solidFill>
              </a:defRPr>
            </a:pPr>
            <a:r>
              <a:rPr sz="1050" b="1">
                <a:solidFill>
                  <a:srgbClr val="2B6CB0"/>
                </a:solidFill>
              </a:rPr>
              <a:t>NAME CONTEXTS</a:t>
            </a:r>
          </a:p>
        </p:txBody>
      </p:sp>
      <p:sp>
        <p:nvSpPr>
          <p:cNvPr id="22" name="body-text">
            <a:extLst>
              <a:ext uri="{FF2B5EF4-FFF2-40B4-BE49-F238E27FC236}">
                <a16:creationId xmlns:a16="http://schemas.microsoft.com/office/drawing/2014/main" id="{E3887E3E-BEDC-4F30-99B8-451AACAE8396}"/>
              </a:ext>
            </a:extLst>
          </p:cNvPr>
          <p:cNvSpPr>
            <a:spLocks noGrp="1"/>
          </p:cNvSpPr>
          <p:nvPr/>
        </p:nvSpPr>
        <p:spPr>
          <a:xfrm>
            <a:off x="952500" y="3638550"/>
            <a:ext cx="1924050" cy="685800"/>
          </a:xfrm>
          <a:prstGeom prst="rect">
            <a:avLst/>
          </a:prstGeom>
          <a:noFill/>
          <a:ln w="0">
            <a:noFill/>
            <a:prstDash val="solid"/>
          </a:ln>
        </p:spPr>
        <p:txBody>
          <a:bodyPr/>
          <a:lstStyle/>
          <a:p>
            <a:pPr algn="ctr">
              <a:buNone/>
              <a:defRPr sz="1500" b="1">
                <a:solidFill>
                  <a:srgbClr val="11253D"/>
                </a:solidFill>
              </a:defRPr>
            </a:pPr>
            <a:r>
              <a:rPr sz="1500" b="1">
                <a:solidFill>
                  <a:srgbClr val="11253D"/>
                </a:solidFill>
              </a:rPr>
              <a:t>Target prevalence</a:t>
            </a:r>
          </a:p>
          <a:p>
            <a:pPr algn="ctr">
              <a:buNone/>
              <a:defRPr sz="1500" b="1">
                <a:solidFill>
                  <a:srgbClr val="11253D"/>
                </a:solidFill>
              </a:defRPr>
            </a:pPr>
            <a:r>
              <a:rPr sz="1500" b="1">
                <a:solidFill>
                  <a:srgbClr val="11253D"/>
                </a:solidFill>
              </a:rPr>
              <a:t>1%–50%</a:t>
            </a:r>
          </a:p>
        </p:txBody>
      </p:sp>
      <p:sp>
        <p:nvSpPr>
          <p:cNvPr id="23" name="content-surface">
            <a:extLst>
              <a:ext uri="{FF2B5EF4-FFF2-40B4-BE49-F238E27FC236}">
                <a16:creationId xmlns:a16="http://schemas.microsoft.com/office/drawing/2014/main" id="{55E1AAE1-CD52-4B3C-82E2-59897BE8C804}"/>
              </a:ext>
            </a:extLst>
          </p:cNvPr>
          <p:cNvSpPr>
            <a:spLocks noGrp="1"/>
          </p:cNvSpPr>
          <p:nvPr/>
        </p:nvSpPr>
        <p:spPr>
          <a:xfrm>
            <a:off x="3581400" y="2343150"/>
            <a:ext cx="2381250" cy="2343150"/>
          </a:xfrm>
          <a:prstGeom prst="roundRect">
            <a:avLst>
              <a:gd name="adj" fmla="val 5691"/>
            </a:avLst>
          </a:prstGeom>
          <a:solidFill>
            <a:srgbClr val="F7E7CF"/>
          </a:solidFill>
          <a:ln w="9525">
            <a:solidFill>
              <a:srgbClr val="F7E7CF"/>
            </a:solidFill>
            <a:prstDash val="solid"/>
          </a:ln>
        </p:spPr>
        <p:txBody>
          <a:bodyPr/>
          <a:lstStyle/>
          <a:p>
            <a:endParaRPr/>
          </a:p>
        </p:txBody>
      </p:sp>
      <p:sp>
        <p:nvSpPr>
          <p:cNvPr id="24" name="body-text">
            <a:extLst>
              <a:ext uri="{FF2B5EF4-FFF2-40B4-BE49-F238E27FC236}">
                <a16:creationId xmlns:a16="http://schemas.microsoft.com/office/drawing/2014/main" id="{BB0BB18E-4882-432A-BC93-4FF19FC859B6}"/>
              </a:ext>
            </a:extLst>
          </p:cNvPr>
          <p:cNvSpPr>
            <a:spLocks noGrp="1"/>
          </p:cNvSpPr>
          <p:nvPr/>
        </p:nvSpPr>
        <p:spPr>
          <a:xfrm>
            <a:off x="3771900" y="2533650"/>
            <a:ext cx="457200" cy="457200"/>
          </a:xfrm>
          <a:prstGeom prst="rect">
            <a:avLst/>
          </a:prstGeom>
          <a:noFill/>
          <a:ln w="0">
            <a:noFill/>
            <a:prstDash val="solid"/>
          </a:ln>
        </p:spPr>
        <p:txBody>
          <a:bodyPr/>
          <a:lstStyle/>
          <a:p>
            <a:pPr algn="ctr">
              <a:buNone/>
              <a:defRPr sz="2100" b="1">
                <a:solidFill>
                  <a:srgbClr val="D97706"/>
                </a:solidFill>
              </a:defRPr>
            </a:pPr>
            <a:r>
              <a:rPr sz="2100" b="1">
                <a:solidFill>
                  <a:srgbClr val="D97706"/>
                </a:solidFill>
              </a:rPr>
              <a:t>2</a:t>
            </a:r>
          </a:p>
        </p:txBody>
      </p:sp>
      <p:sp>
        <p:nvSpPr>
          <p:cNvPr id="25" name="body-text">
            <a:extLst>
              <a:ext uri="{FF2B5EF4-FFF2-40B4-BE49-F238E27FC236}">
                <a16:creationId xmlns:a16="http://schemas.microsoft.com/office/drawing/2014/main" id="{DEF2CF5F-9843-414E-89CF-9AA973A32522}"/>
              </a:ext>
            </a:extLst>
          </p:cNvPr>
          <p:cNvSpPr>
            <a:spLocks noGrp="1"/>
          </p:cNvSpPr>
          <p:nvPr/>
        </p:nvSpPr>
        <p:spPr>
          <a:xfrm>
            <a:off x="3810000" y="3105150"/>
            <a:ext cx="1924050" cy="285750"/>
          </a:xfrm>
          <a:prstGeom prst="rect">
            <a:avLst/>
          </a:prstGeom>
          <a:noFill/>
          <a:ln w="0">
            <a:noFill/>
            <a:prstDash val="solid"/>
          </a:ln>
        </p:spPr>
        <p:txBody>
          <a:bodyPr/>
          <a:lstStyle/>
          <a:p>
            <a:pPr algn="ctr">
              <a:buNone/>
              <a:defRPr sz="1050" b="1">
                <a:solidFill>
                  <a:srgbClr val="D97706"/>
                </a:solidFill>
              </a:defRPr>
            </a:pPr>
            <a:r>
              <a:rPr sz="1050" b="1">
                <a:solidFill>
                  <a:srgbClr val="D97706"/>
                </a:solidFill>
              </a:rPr>
              <a:t>PAIR FIRST</a:t>
            </a:r>
          </a:p>
        </p:txBody>
      </p:sp>
      <p:sp>
        <p:nvSpPr>
          <p:cNvPr id="26" name="body-text">
            <a:extLst>
              <a:ext uri="{FF2B5EF4-FFF2-40B4-BE49-F238E27FC236}">
                <a16:creationId xmlns:a16="http://schemas.microsoft.com/office/drawing/2014/main" id="{7DC3E565-ADF3-4A32-9165-67CCDA4F7B7F}"/>
              </a:ext>
            </a:extLst>
          </p:cNvPr>
          <p:cNvSpPr>
            <a:spLocks noGrp="1"/>
          </p:cNvSpPr>
          <p:nvPr/>
        </p:nvSpPr>
        <p:spPr>
          <a:xfrm>
            <a:off x="3810000" y="3638550"/>
            <a:ext cx="1924050" cy="685800"/>
          </a:xfrm>
          <a:prstGeom prst="rect">
            <a:avLst/>
          </a:prstGeom>
          <a:noFill/>
          <a:ln w="0">
            <a:noFill/>
            <a:prstDash val="solid"/>
          </a:ln>
        </p:spPr>
        <p:txBody>
          <a:bodyPr/>
          <a:lstStyle/>
          <a:p>
            <a:pPr algn="ctr">
              <a:buNone/>
              <a:defRPr sz="1500" b="1">
                <a:solidFill>
                  <a:srgbClr val="11253D"/>
                </a:solidFill>
              </a:defRPr>
            </a:pPr>
            <a:r>
              <a:rPr sz="1500" b="1">
                <a:solidFill>
                  <a:srgbClr val="11253D"/>
                </a:solidFill>
              </a:rPr>
              <a:t>Tie-neutral</a:t>
            </a:r>
          </a:p>
          <a:p>
            <a:pPr algn="ctr">
              <a:buNone/>
              <a:defRPr sz="1500" b="1">
                <a:solidFill>
                  <a:srgbClr val="11253D"/>
                </a:solidFill>
              </a:defRPr>
            </a:pPr>
            <a:r>
              <a:rPr sz="1500" b="1">
                <a:solidFill>
                  <a:srgbClr val="11253D"/>
                </a:solidFill>
              </a:rPr>
              <a:t>CNAP advantage</a:t>
            </a:r>
          </a:p>
        </p:txBody>
      </p:sp>
      <p:sp>
        <p:nvSpPr>
          <p:cNvPr id="27" name="content-surface">
            <a:extLst>
              <a:ext uri="{FF2B5EF4-FFF2-40B4-BE49-F238E27FC236}">
                <a16:creationId xmlns:a16="http://schemas.microsoft.com/office/drawing/2014/main" id="{A574D640-165A-443D-98FA-EFFCA769CDED}"/>
              </a:ext>
            </a:extLst>
          </p:cNvPr>
          <p:cNvSpPr>
            <a:spLocks noGrp="1"/>
          </p:cNvSpPr>
          <p:nvPr/>
        </p:nvSpPr>
        <p:spPr>
          <a:xfrm>
            <a:off x="6438900" y="2343150"/>
            <a:ext cx="2381250" cy="2343150"/>
          </a:xfrm>
          <a:prstGeom prst="roundRect">
            <a:avLst>
              <a:gd name="adj" fmla="val 5691"/>
            </a:avLst>
          </a:prstGeom>
          <a:solidFill>
            <a:srgbClr val="E8E0F0"/>
          </a:solidFill>
          <a:ln w="9525">
            <a:solidFill>
              <a:srgbClr val="E8E0F0"/>
            </a:solidFill>
            <a:prstDash val="solid"/>
          </a:ln>
        </p:spPr>
        <p:txBody>
          <a:bodyPr/>
          <a:lstStyle/>
          <a:p>
            <a:endParaRPr/>
          </a:p>
        </p:txBody>
      </p:sp>
      <p:sp>
        <p:nvSpPr>
          <p:cNvPr id="28" name="body-text">
            <a:extLst>
              <a:ext uri="{FF2B5EF4-FFF2-40B4-BE49-F238E27FC236}">
                <a16:creationId xmlns:a16="http://schemas.microsoft.com/office/drawing/2014/main" id="{6D33D6B1-9ABB-4632-926E-B6BB8A17FFBC}"/>
              </a:ext>
            </a:extLst>
          </p:cNvPr>
          <p:cNvSpPr>
            <a:spLocks noGrp="1"/>
          </p:cNvSpPr>
          <p:nvPr/>
        </p:nvSpPr>
        <p:spPr>
          <a:xfrm>
            <a:off x="6629400" y="2533650"/>
            <a:ext cx="457200" cy="457200"/>
          </a:xfrm>
          <a:prstGeom prst="rect">
            <a:avLst/>
          </a:prstGeom>
          <a:noFill/>
          <a:ln w="0">
            <a:noFill/>
            <a:prstDash val="solid"/>
          </a:ln>
        </p:spPr>
        <p:txBody>
          <a:bodyPr/>
          <a:lstStyle/>
          <a:p>
            <a:pPr algn="ctr">
              <a:buNone/>
              <a:defRPr sz="2100" b="1">
                <a:solidFill>
                  <a:srgbClr val="6B4E8E"/>
                </a:solidFill>
              </a:defRPr>
            </a:pPr>
            <a:r>
              <a:rPr sz="2100" b="1">
                <a:solidFill>
                  <a:srgbClr val="6B4E8E"/>
                </a:solidFill>
              </a:rPr>
              <a:t>3</a:t>
            </a:r>
          </a:p>
        </p:txBody>
      </p:sp>
      <p:sp>
        <p:nvSpPr>
          <p:cNvPr id="29" name="body-text">
            <a:extLst>
              <a:ext uri="{FF2B5EF4-FFF2-40B4-BE49-F238E27FC236}">
                <a16:creationId xmlns:a16="http://schemas.microsoft.com/office/drawing/2014/main" id="{FD60501E-3ECA-41ED-B0A6-B1E4C0065716}"/>
              </a:ext>
            </a:extLst>
          </p:cNvPr>
          <p:cNvSpPr>
            <a:spLocks noGrp="1"/>
          </p:cNvSpPr>
          <p:nvPr/>
        </p:nvSpPr>
        <p:spPr>
          <a:xfrm>
            <a:off x="6667500" y="3105150"/>
            <a:ext cx="1924050" cy="285750"/>
          </a:xfrm>
          <a:prstGeom prst="rect">
            <a:avLst/>
          </a:prstGeom>
          <a:noFill/>
          <a:ln w="0">
            <a:noFill/>
            <a:prstDash val="solid"/>
          </a:ln>
        </p:spPr>
        <p:txBody>
          <a:bodyPr/>
          <a:lstStyle/>
          <a:p>
            <a:pPr algn="ctr">
              <a:buNone/>
              <a:defRPr sz="1050" b="1">
                <a:solidFill>
                  <a:srgbClr val="6B4E8E"/>
                </a:solidFill>
              </a:defRPr>
            </a:pPr>
            <a:r>
              <a:rPr sz="1050" b="1">
                <a:solidFill>
                  <a:srgbClr val="6B4E8E"/>
                </a:solidFill>
              </a:rPr>
              <a:t>DEMAND SURVIVAL</a:t>
            </a:r>
          </a:p>
        </p:txBody>
      </p:sp>
      <p:sp>
        <p:nvSpPr>
          <p:cNvPr id="30" name="body-text">
            <a:extLst>
              <a:ext uri="{FF2B5EF4-FFF2-40B4-BE49-F238E27FC236}">
                <a16:creationId xmlns:a16="http://schemas.microsoft.com/office/drawing/2014/main" id="{A1B65933-80F8-4487-8A7A-522B26AC06C8}"/>
              </a:ext>
            </a:extLst>
          </p:cNvPr>
          <p:cNvSpPr>
            <a:spLocks noGrp="1"/>
          </p:cNvSpPr>
          <p:nvPr/>
        </p:nvSpPr>
        <p:spPr>
          <a:xfrm>
            <a:off x="6667500" y="3638550"/>
            <a:ext cx="1924050" cy="685800"/>
          </a:xfrm>
          <a:prstGeom prst="rect">
            <a:avLst/>
          </a:prstGeom>
          <a:noFill/>
          <a:ln w="0">
            <a:noFill/>
            <a:prstDash val="solid"/>
          </a:ln>
        </p:spPr>
        <p:txBody>
          <a:bodyPr/>
          <a:lstStyle/>
          <a:p>
            <a:pPr algn="ctr">
              <a:buNone/>
              <a:defRPr sz="1500" b="1">
                <a:solidFill>
                  <a:srgbClr val="11253D"/>
                </a:solidFill>
              </a:defRPr>
            </a:pPr>
            <a:r>
              <a:rPr sz="1500" b="1">
                <a:solidFill>
                  <a:srgbClr val="11253D"/>
                </a:solidFill>
              </a:rPr>
              <a:t>Range minimum</a:t>
            </a:r>
          </a:p>
          <a:p>
            <a:pPr algn="ctr">
              <a:buNone/>
              <a:defRPr sz="1500" b="1">
                <a:solidFill>
                  <a:srgbClr val="11253D"/>
                </a:solidFill>
              </a:defRPr>
            </a:pPr>
            <a:r>
              <a:rPr sz="1500" b="1">
                <a:solidFill>
                  <a:srgbClr val="11253D"/>
                </a:solidFill>
              </a:rPr>
              <a:t>and K = 2</a:t>
            </a:r>
          </a:p>
        </p:txBody>
      </p:sp>
      <p:sp>
        <p:nvSpPr>
          <p:cNvPr id="31" name="content-surface">
            <a:extLst>
              <a:ext uri="{FF2B5EF4-FFF2-40B4-BE49-F238E27FC236}">
                <a16:creationId xmlns:a16="http://schemas.microsoft.com/office/drawing/2014/main" id="{115907CE-950D-40DB-9C1F-F0CE2AE2D89C}"/>
              </a:ext>
            </a:extLst>
          </p:cNvPr>
          <p:cNvSpPr>
            <a:spLocks noGrp="1"/>
          </p:cNvSpPr>
          <p:nvPr/>
        </p:nvSpPr>
        <p:spPr>
          <a:xfrm>
            <a:off x="9296400" y="2343150"/>
            <a:ext cx="2381250" cy="2343150"/>
          </a:xfrm>
          <a:prstGeom prst="roundRect">
            <a:avLst>
              <a:gd name="adj" fmla="val 5691"/>
            </a:avLst>
          </a:prstGeom>
          <a:solidFill>
            <a:srgbClr val="D9EEE8"/>
          </a:solidFill>
          <a:ln w="9525">
            <a:solidFill>
              <a:srgbClr val="D9EEE8"/>
            </a:solidFill>
            <a:prstDash val="solid"/>
          </a:ln>
        </p:spPr>
        <p:txBody>
          <a:bodyPr/>
          <a:lstStyle/>
          <a:p>
            <a:endParaRPr/>
          </a:p>
        </p:txBody>
      </p:sp>
      <p:sp>
        <p:nvSpPr>
          <p:cNvPr id="32" name="body-text">
            <a:extLst>
              <a:ext uri="{FF2B5EF4-FFF2-40B4-BE49-F238E27FC236}">
                <a16:creationId xmlns:a16="http://schemas.microsoft.com/office/drawing/2014/main" id="{C6426AA0-2335-4C28-9E69-B2DE94ABFAC0}"/>
              </a:ext>
            </a:extLst>
          </p:cNvPr>
          <p:cNvSpPr>
            <a:spLocks noGrp="1"/>
          </p:cNvSpPr>
          <p:nvPr/>
        </p:nvSpPr>
        <p:spPr>
          <a:xfrm>
            <a:off x="9486900" y="2533650"/>
            <a:ext cx="457200" cy="457200"/>
          </a:xfrm>
          <a:prstGeom prst="rect">
            <a:avLst/>
          </a:prstGeom>
          <a:noFill/>
          <a:ln w="0">
            <a:noFill/>
            <a:prstDash val="solid"/>
          </a:ln>
        </p:spPr>
        <p:txBody>
          <a:bodyPr/>
          <a:lstStyle/>
          <a:p>
            <a:pPr algn="ctr">
              <a:buNone/>
              <a:defRPr sz="2100" b="1">
                <a:solidFill>
                  <a:srgbClr val="0E7C66"/>
                </a:solidFill>
              </a:defRPr>
            </a:pPr>
            <a:r>
              <a:rPr sz="2100" b="1">
                <a:solidFill>
                  <a:srgbClr val="0E7C66"/>
                </a:solidFill>
              </a:rPr>
              <a:t>4</a:t>
            </a:r>
          </a:p>
        </p:txBody>
      </p:sp>
      <p:sp>
        <p:nvSpPr>
          <p:cNvPr id="33" name="body-text">
            <a:extLst>
              <a:ext uri="{FF2B5EF4-FFF2-40B4-BE49-F238E27FC236}">
                <a16:creationId xmlns:a16="http://schemas.microsoft.com/office/drawing/2014/main" id="{65786628-C54D-4499-B33E-47270B871696}"/>
              </a:ext>
            </a:extLst>
          </p:cNvPr>
          <p:cNvSpPr>
            <a:spLocks noGrp="1"/>
          </p:cNvSpPr>
          <p:nvPr/>
        </p:nvSpPr>
        <p:spPr>
          <a:xfrm>
            <a:off x="9525000" y="3105150"/>
            <a:ext cx="1924050" cy="285750"/>
          </a:xfrm>
          <a:prstGeom prst="rect">
            <a:avLst/>
          </a:prstGeom>
          <a:noFill/>
          <a:ln w="0">
            <a:noFill/>
            <a:prstDash val="solid"/>
          </a:ln>
        </p:spPr>
        <p:txBody>
          <a:bodyPr/>
          <a:lstStyle/>
          <a:p>
            <a:pPr algn="ctr">
              <a:buNone/>
              <a:defRPr sz="1050" b="1">
                <a:solidFill>
                  <a:srgbClr val="0E7C66"/>
                </a:solidFill>
              </a:defRPr>
            </a:pPr>
            <a:r>
              <a:rPr sz="1050" b="1">
                <a:solidFill>
                  <a:srgbClr val="0E7C66"/>
                </a:solidFill>
              </a:rPr>
              <a:t>QUALIFY DECISION</a:t>
            </a:r>
          </a:p>
        </p:txBody>
      </p:sp>
      <p:sp>
        <p:nvSpPr>
          <p:cNvPr id="34" name="body-text">
            <a:extLst>
              <a:ext uri="{FF2B5EF4-FFF2-40B4-BE49-F238E27FC236}">
                <a16:creationId xmlns:a16="http://schemas.microsoft.com/office/drawing/2014/main" id="{B024A9D0-7E43-40F5-AAAB-E8AC2848A3D5}"/>
              </a:ext>
            </a:extLst>
          </p:cNvPr>
          <p:cNvSpPr>
            <a:spLocks noGrp="1"/>
          </p:cNvSpPr>
          <p:nvPr/>
        </p:nvSpPr>
        <p:spPr>
          <a:xfrm>
            <a:off x="9525000" y="3638550"/>
            <a:ext cx="1924050" cy="685800"/>
          </a:xfrm>
          <a:prstGeom prst="rect">
            <a:avLst/>
          </a:prstGeom>
          <a:noFill/>
          <a:ln w="0">
            <a:noFill/>
            <a:prstDash val="solid"/>
          </a:ln>
        </p:spPr>
        <p:txBody>
          <a:bodyPr/>
          <a:lstStyle/>
          <a:p>
            <a:pPr algn="ctr">
              <a:buNone/>
              <a:defRPr sz="1500" b="1">
                <a:solidFill>
                  <a:srgbClr val="11253D"/>
                </a:solidFill>
              </a:defRPr>
            </a:pPr>
            <a:r>
              <a:rPr sz="1500" b="1">
                <a:solidFill>
                  <a:srgbClr val="11253D"/>
                </a:solidFill>
              </a:rPr>
              <a:t>Outer bound</a:t>
            </a:r>
          </a:p>
          <a:p>
            <a:pPr algn="ctr">
              <a:buNone/>
              <a:defRPr sz="1500" b="1">
                <a:solidFill>
                  <a:srgbClr val="11253D"/>
                </a:solidFill>
              </a:defRPr>
            </a:pPr>
            <a:r>
              <a:rPr sz="1500" b="1">
                <a:solidFill>
                  <a:srgbClr val="11253D"/>
                </a:solidFill>
              </a:rPr>
              <a:t>above δ = 0</a:t>
            </a:r>
          </a:p>
        </p:txBody>
      </p:sp>
      <p:sp>
        <p:nvSpPr>
          <p:cNvPr id="35" name="content-surface">
            <a:extLst>
              <a:ext uri="{FF2B5EF4-FFF2-40B4-BE49-F238E27FC236}">
                <a16:creationId xmlns:a16="http://schemas.microsoft.com/office/drawing/2014/main" id="{E75325F7-2E26-4130-947F-3D59D5742298}"/>
              </a:ext>
            </a:extLst>
          </p:cNvPr>
          <p:cNvSpPr>
            <a:spLocks noGrp="1"/>
          </p:cNvSpPr>
          <p:nvPr/>
        </p:nvSpPr>
        <p:spPr>
          <a:xfrm>
            <a:off x="1714500" y="5257800"/>
            <a:ext cx="8763000" cy="647700"/>
          </a:xfrm>
          <a:prstGeom prst="roundRect">
            <a:avLst>
              <a:gd name="adj" fmla="val 17647"/>
            </a:avLst>
          </a:prstGeom>
          <a:solidFill>
            <a:srgbClr val="FFFFFF"/>
          </a:solidFill>
          <a:ln w="9525">
            <a:solidFill>
              <a:srgbClr val="FFFFFF"/>
            </a:solidFill>
            <a:prstDash val="solid"/>
          </a:ln>
        </p:spPr>
        <p:txBody>
          <a:bodyPr/>
          <a:lstStyle/>
          <a:p>
            <a:endParaRPr/>
          </a:p>
        </p:txBody>
      </p:sp>
      <p:sp>
        <p:nvSpPr>
          <p:cNvPr id="36" name="takeaway-banner">
            <a:extLst>
              <a:ext uri="{FF2B5EF4-FFF2-40B4-BE49-F238E27FC236}">
                <a16:creationId xmlns:a16="http://schemas.microsoft.com/office/drawing/2014/main" id="{02ADC135-ABC7-47C3-9C35-5B562C2BEA8B}"/>
              </a:ext>
            </a:extLst>
          </p:cNvPr>
          <p:cNvSpPr>
            <a:spLocks noGrp="1"/>
          </p:cNvSpPr>
          <p:nvPr/>
        </p:nvSpPr>
        <p:spPr>
          <a:xfrm>
            <a:off x="1905000" y="5400675"/>
            <a:ext cx="8382000" cy="419100"/>
          </a:xfrm>
          <a:prstGeom prst="rect">
            <a:avLst/>
          </a:prstGeom>
          <a:noFill/>
          <a:ln w="0">
            <a:noFill/>
            <a:prstDash val="solid"/>
          </a:ln>
        </p:spPr>
        <p:txBody>
          <a:bodyPr/>
          <a:lstStyle/>
          <a:p>
            <a:pPr algn="ctr">
              <a:buNone/>
              <a:defRPr sz="1313" b="1">
                <a:solidFill>
                  <a:srgbClr val="11253D"/>
                </a:solidFill>
              </a:defRPr>
            </a:pPr>
            <a:r>
              <a:rPr sz="1313" b="1">
                <a:solidFill>
                  <a:srgbClr val="11253D"/>
                </a:solidFill>
              </a:rPr>
              <a:t>Primary comparison: no replacement. Positive control: replace. The difference is the claim each comparison survived.</a:t>
            </a:r>
          </a:p>
        </p:txBody>
      </p:sp>
    </p:spTree>
    <p:extLst>
      <p:ext uri="{BB962C8B-B14F-4D97-AF65-F5344CB8AC3E}">
        <p14:creationId xmlns:p14="http://schemas.microsoft.com/office/powerpoint/2010/main" val="1195592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9844897-27BA-410D-AE81-6FB689EC8E4C}"/>
              </a:ext>
            </a:extLst>
          </p:cNvPr>
          <p:cNvSpPr>
            <a:spLocks noGrp="1"/>
          </p:cNvSpPr>
          <p:nvPr/>
        </p:nvSpPr>
        <p:spPr>
          <a:xfrm>
            <a:off x="685800" y="323850"/>
            <a:ext cx="4381500" cy="19050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BACKUP</a:t>
            </a:r>
          </a:p>
        </p:txBody>
      </p:sp>
      <p:sp>
        <p:nvSpPr>
          <p:cNvPr id="2" name="Rectangle 1">
            <a:extLst>
              <a:ext uri="{FF2B5EF4-FFF2-40B4-BE49-F238E27FC236}">
                <a16:creationId xmlns:a16="http://schemas.microsoft.com/office/drawing/2014/main" id="{70E46B34-1029-4F6B-9311-05B939320F6C}"/>
              </a:ext>
            </a:extLst>
          </p:cNvPr>
          <p:cNvSpPr>
            <a:spLocks noGrp="1"/>
          </p:cNvSpPr>
          <p:nvPr/>
        </p:nvSpPr>
        <p:spPr>
          <a:xfrm>
            <a:off x="685800" y="666750"/>
            <a:ext cx="10820400" cy="609600"/>
          </a:xfrm>
          <a:prstGeom prst="rect">
            <a:avLst/>
          </a:prstGeom>
          <a:noFill/>
          <a:ln w="0">
            <a:noFill/>
            <a:prstDash val="solid"/>
          </a:ln>
        </p:spPr>
        <p:txBody>
          <a:bodyPr/>
          <a:lstStyle/>
          <a:p>
            <a:pPr algn="l">
              <a:buNone/>
              <a:defRPr sz="3600" b="1" i="0">
                <a:solidFill>
                  <a:srgbClr val="11253D"/>
                </a:solidFill>
              </a:defRPr>
            </a:pPr>
            <a:r>
              <a:rPr sz="3600" b="1" i="0">
                <a:solidFill>
                  <a:srgbClr val="11253D"/>
                </a:solidFill>
              </a:rPr>
              <a:t>Key references</a:t>
            </a:r>
          </a:p>
        </p:txBody>
      </p:sp>
      <p:sp>
        <p:nvSpPr>
          <p:cNvPr id="3" name="Rectangle 2">
            <a:extLst>
              <a:ext uri="{FF2B5EF4-FFF2-40B4-BE49-F238E27FC236}">
                <a16:creationId xmlns:a16="http://schemas.microsoft.com/office/drawing/2014/main" id="{134FFE1D-6A03-4039-9DDF-B54289E3FF02}"/>
              </a:ext>
            </a:extLst>
          </p:cNvPr>
          <p:cNvSpPr>
            <a:spLocks noGrp="1"/>
          </p:cNvSpPr>
          <p:nvPr/>
        </p:nvSpPr>
        <p:spPr>
          <a:xfrm>
            <a:off x="685800" y="1352550"/>
            <a:ext cx="10820400" cy="19050"/>
          </a:xfrm>
          <a:prstGeom prst="rect">
            <a:avLst/>
          </a:prstGeom>
          <a:solidFill>
            <a:srgbClr val="D9DEE5"/>
          </a:solidFill>
          <a:ln w="0">
            <a:noFill/>
            <a:prstDash val="solid"/>
          </a:ln>
        </p:spPr>
        <p:txBody>
          <a:bodyPr/>
          <a:lstStyle/>
          <a:p>
            <a:endParaRPr/>
          </a:p>
        </p:txBody>
      </p:sp>
      <p:sp>
        <p:nvSpPr>
          <p:cNvPr id="4" name="Rectangle 3">
            <a:extLst>
              <a:ext uri="{FF2B5EF4-FFF2-40B4-BE49-F238E27FC236}">
                <a16:creationId xmlns:a16="http://schemas.microsoft.com/office/drawing/2014/main" id="{C4082C13-993E-4B2B-A560-42264539F849}"/>
              </a:ext>
            </a:extLst>
          </p:cNvPr>
          <p:cNvSpPr>
            <a:spLocks noGrp="1"/>
          </p:cNvSpPr>
          <p:nvPr/>
        </p:nvSpPr>
        <p:spPr>
          <a:xfrm>
            <a:off x="685800" y="6477000"/>
            <a:ext cx="7239000" cy="190500"/>
          </a:xfrm>
          <a:prstGeom prst="rect">
            <a:avLst/>
          </a:prstGeom>
          <a:noFill/>
          <a:ln w="0">
            <a:noFill/>
            <a:prstDash val="solid"/>
          </a:ln>
        </p:spPr>
        <p:txBody>
          <a:bodyPr/>
          <a:lstStyle/>
          <a:p>
            <a:pPr algn="l">
              <a:buNone/>
              <a:defRPr sz="1050" b="1" i="0">
                <a:solidFill>
                  <a:srgbClr val="5F6B78"/>
                </a:solidFill>
              </a:defRPr>
            </a:pPr>
            <a:r>
              <a:rPr sz="1050" b="1" i="0">
                <a:solidFill>
                  <a:srgbClr val="5F6B78"/>
                </a:solidFill>
              </a:rPr>
              <a:t>BACKUP</a:t>
            </a:r>
          </a:p>
        </p:txBody>
      </p:sp>
      <p:sp>
        <p:nvSpPr>
          <p:cNvPr id="5" name="Rectangle 4">
            <a:extLst>
              <a:ext uri="{FF2B5EF4-FFF2-40B4-BE49-F238E27FC236}">
                <a16:creationId xmlns:a16="http://schemas.microsoft.com/office/drawing/2014/main" id="{1E6F37AE-AF50-418D-BD01-9D50489D6D9A}"/>
              </a:ext>
            </a:extLst>
          </p:cNvPr>
          <p:cNvSpPr>
            <a:spLocks noGrp="1"/>
          </p:cNvSpPr>
          <p:nvPr/>
        </p:nvSpPr>
        <p:spPr>
          <a:xfrm>
            <a:off x="11049000" y="6457950"/>
            <a:ext cx="457200" cy="209550"/>
          </a:xfrm>
          <a:prstGeom prst="rect">
            <a:avLst/>
          </a:prstGeom>
          <a:noFill/>
          <a:ln w="0">
            <a:noFill/>
            <a:prstDash val="solid"/>
          </a:ln>
        </p:spPr>
        <p:txBody>
          <a:bodyPr/>
          <a:lstStyle/>
          <a:p>
            <a:pPr algn="r">
              <a:buNone/>
              <a:defRPr sz="1125" b="1" i="0">
                <a:solidFill>
                  <a:srgbClr val="5F6B78"/>
                </a:solidFill>
              </a:defRPr>
            </a:pPr>
            <a:r>
              <a:rPr sz="1125" b="1" i="0">
                <a:solidFill>
                  <a:srgbClr val="5F6B78"/>
                </a:solidFill>
              </a:rPr>
              <a:t>37</a:t>
            </a:r>
          </a:p>
        </p:txBody>
      </p:sp>
      <p:sp>
        <p:nvSpPr>
          <p:cNvPr id="6" name="Rectangle 5">
            <a:extLst>
              <a:ext uri="{FF2B5EF4-FFF2-40B4-BE49-F238E27FC236}">
                <a16:creationId xmlns:a16="http://schemas.microsoft.com/office/drawing/2014/main" id="{70317D57-3DF5-4CD1-93BB-87E965E94A70}"/>
              </a:ext>
            </a:extLst>
          </p:cNvPr>
          <p:cNvSpPr>
            <a:spLocks noGrp="1"/>
          </p:cNvSpPr>
          <p:nvPr/>
        </p:nvSpPr>
        <p:spPr>
          <a:xfrm>
            <a:off x="800100" y="2095500"/>
            <a:ext cx="3810000" cy="209550"/>
          </a:xfrm>
          <a:prstGeom prst="rect">
            <a:avLst/>
          </a:prstGeom>
          <a:noFill/>
          <a:ln w="0">
            <a:noFill/>
            <a:prstDash val="solid"/>
          </a:ln>
        </p:spPr>
        <p:txBody>
          <a:bodyPr/>
          <a:lstStyle/>
          <a:p>
            <a:pPr algn="l">
              <a:buNone/>
              <a:defRPr sz="1125" b="1" i="0">
                <a:solidFill>
                  <a:srgbClr val="2B6CB0"/>
                </a:solidFill>
              </a:defRPr>
            </a:pPr>
            <a:r>
              <a:rPr sz="1125" b="1" i="0">
                <a:solidFill>
                  <a:srgbClr val="2B6CB0"/>
                </a:solidFill>
              </a:rPr>
              <a:t>POPULATION + CORROBORATION</a:t>
            </a:r>
          </a:p>
        </p:txBody>
      </p:sp>
      <p:sp>
        <p:nvSpPr>
          <p:cNvPr id="7" name="Rectangle 6">
            <a:extLst>
              <a:ext uri="{FF2B5EF4-FFF2-40B4-BE49-F238E27FC236}">
                <a16:creationId xmlns:a16="http://schemas.microsoft.com/office/drawing/2014/main" id="{46EC0FDA-A3BE-45F2-8EA2-21D09C5950DD}"/>
              </a:ext>
            </a:extLst>
          </p:cNvPr>
          <p:cNvSpPr>
            <a:spLocks noGrp="1"/>
          </p:cNvSpPr>
          <p:nvPr/>
        </p:nvSpPr>
        <p:spPr>
          <a:xfrm>
            <a:off x="800100" y="25336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Popper, K. (1959). The Logic of Scientific Discovery.</a:t>
            </a:r>
          </a:p>
        </p:txBody>
      </p:sp>
      <p:sp>
        <p:nvSpPr>
          <p:cNvPr id="8" name="Rectangle 7">
            <a:extLst>
              <a:ext uri="{FF2B5EF4-FFF2-40B4-BE49-F238E27FC236}">
                <a16:creationId xmlns:a16="http://schemas.microsoft.com/office/drawing/2014/main" id="{6C207D05-711B-4844-B237-F3897FF4F54A}"/>
              </a:ext>
            </a:extLst>
          </p:cNvPr>
          <p:cNvSpPr>
            <a:spLocks noGrp="1"/>
          </p:cNvSpPr>
          <p:nvPr/>
        </p:nvSpPr>
        <p:spPr>
          <a:xfrm>
            <a:off x="800100" y="31813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Popper, K. (1963). Conjectures and Refutations.</a:t>
            </a:r>
          </a:p>
        </p:txBody>
      </p:sp>
      <p:sp>
        <p:nvSpPr>
          <p:cNvPr id="9" name="Rectangle 8">
            <a:extLst>
              <a:ext uri="{FF2B5EF4-FFF2-40B4-BE49-F238E27FC236}">
                <a16:creationId xmlns:a16="http://schemas.microsoft.com/office/drawing/2014/main" id="{F719F94D-2F35-4326-BC25-BBD51A6DE7BD}"/>
              </a:ext>
            </a:extLst>
          </p:cNvPr>
          <p:cNvSpPr>
            <a:spLocks noGrp="1"/>
          </p:cNvSpPr>
          <p:nvPr/>
        </p:nvSpPr>
        <p:spPr>
          <a:xfrm>
            <a:off x="800100" y="38290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Siblini et al. (2020). Master your metrics with calibration.</a:t>
            </a:r>
          </a:p>
        </p:txBody>
      </p:sp>
      <p:sp>
        <p:nvSpPr>
          <p:cNvPr id="10" name="Rectangle 9">
            <a:extLst>
              <a:ext uri="{FF2B5EF4-FFF2-40B4-BE49-F238E27FC236}">
                <a16:creationId xmlns:a16="http://schemas.microsoft.com/office/drawing/2014/main" id="{6924E187-8F9A-4EC6-8AEF-1A4C51D1F687}"/>
              </a:ext>
            </a:extLst>
          </p:cNvPr>
          <p:cNvSpPr>
            <a:spLocks noGrp="1"/>
          </p:cNvSpPr>
          <p:nvPr/>
        </p:nvSpPr>
        <p:spPr>
          <a:xfrm>
            <a:off x="800100" y="44767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Elkan, C. (2001). Foundations of cost-sensitive learning.</a:t>
            </a:r>
          </a:p>
        </p:txBody>
      </p:sp>
      <p:sp>
        <p:nvSpPr>
          <p:cNvPr id="11" name="Rectangle 10">
            <a:extLst>
              <a:ext uri="{FF2B5EF4-FFF2-40B4-BE49-F238E27FC236}">
                <a16:creationId xmlns:a16="http://schemas.microsoft.com/office/drawing/2014/main" id="{D304430D-2FBB-4AED-AE3C-ABEB3DB1F448}"/>
              </a:ext>
            </a:extLst>
          </p:cNvPr>
          <p:cNvSpPr>
            <a:spLocks noGrp="1"/>
          </p:cNvSpPr>
          <p:nvPr/>
        </p:nvSpPr>
        <p:spPr>
          <a:xfrm>
            <a:off x="800100" y="51244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Saerens et al. (2002). Adjusting outputs to new priors.</a:t>
            </a:r>
          </a:p>
        </p:txBody>
      </p:sp>
      <p:sp>
        <p:nvSpPr>
          <p:cNvPr id="12" name="Rectangle 11">
            <a:extLst>
              <a:ext uri="{FF2B5EF4-FFF2-40B4-BE49-F238E27FC236}">
                <a16:creationId xmlns:a16="http://schemas.microsoft.com/office/drawing/2014/main" id="{5F678995-EBC4-4BFB-8F23-2EFA91ECACF1}"/>
              </a:ext>
            </a:extLst>
          </p:cNvPr>
          <p:cNvSpPr>
            <a:spLocks noGrp="1"/>
          </p:cNvSpPr>
          <p:nvPr/>
        </p:nvSpPr>
        <p:spPr>
          <a:xfrm>
            <a:off x="6515100" y="2095500"/>
            <a:ext cx="3810000" cy="209550"/>
          </a:xfrm>
          <a:prstGeom prst="rect">
            <a:avLst/>
          </a:prstGeom>
          <a:noFill/>
          <a:ln w="0">
            <a:noFill/>
            <a:prstDash val="solid"/>
          </a:ln>
        </p:spPr>
        <p:txBody>
          <a:bodyPr/>
          <a:lstStyle/>
          <a:p>
            <a:pPr algn="l">
              <a:buNone/>
              <a:defRPr sz="1125" b="1" i="0">
                <a:solidFill>
                  <a:srgbClr val="0E7C66"/>
                </a:solidFill>
              </a:defRPr>
            </a:pPr>
            <a:r>
              <a:rPr sz="1125" b="1" i="0">
                <a:solidFill>
                  <a:srgbClr val="0E7C66"/>
                </a:solidFill>
              </a:rPr>
              <a:t>DESIGN + COMPUTATION</a:t>
            </a:r>
          </a:p>
        </p:txBody>
      </p:sp>
      <p:sp>
        <p:nvSpPr>
          <p:cNvPr id="13" name="Rectangle 12">
            <a:extLst>
              <a:ext uri="{FF2B5EF4-FFF2-40B4-BE49-F238E27FC236}">
                <a16:creationId xmlns:a16="http://schemas.microsoft.com/office/drawing/2014/main" id="{1FD65DB6-3214-41C7-A96A-BA0F49F915FC}"/>
              </a:ext>
            </a:extLst>
          </p:cNvPr>
          <p:cNvSpPr>
            <a:spLocks noGrp="1"/>
          </p:cNvSpPr>
          <p:nvPr/>
        </p:nvSpPr>
        <p:spPr>
          <a:xfrm>
            <a:off x="6515100" y="25336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Bestgen, Y. (2015). Exact expected AP of the random baseline.</a:t>
            </a:r>
          </a:p>
        </p:txBody>
      </p:sp>
      <p:sp>
        <p:nvSpPr>
          <p:cNvPr id="14" name="Rectangle 13">
            <a:extLst>
              <a:ext uri="{FF2B5EF4-FFF2-40B4-BE49-F238E27FC236}">
                <a16:creationId xmlns:a16="http://schemas.microsoft.com/office/drawing/2014/main" id="{9536A07A-B7DC-4651-A02D-D5F4A61DB068}"/>
              </a:ext>
            </a:extLst>
          </p:cNvPr>
          <p:cNvSpPr>
            <a:spLocks noGrp="1"/>
          </p:cNvSpPr>
          <p:nvPr/>
        </p:nvSpPr>
        <p:spPr>
          <a:xfrm>
            <a:off x="6515100" y="31813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Ojala &amp; Garriga (2010). Permutation tests for classifier performance.</a:t>
            </a:r>
          </a:p>
        </p:txBody>
      </p:sp>
      <p:sp>
        <p:nvSpPr>
          <p:cNvPr id="15" name="Rectangle 14">
            <a:extLst>
              <a:ext uri="{FF2B5EF4-FFF2-40B4-BE49-F238E27FC236}">
                <a16:creationId xmlns:a16="http://schemas.microsoft.com/office/drawing/2014/main" id="{6D4C7743-DC3D-4953-BEAE-A3DB82B5938E}"/>
              </a:ext>
            </a:extLst>
          </p:cNvPr>
          <p:cNvSpPr>
            <a:spLocks noGrp="1"/>
          </p:cNvSpPr>
          <p:nvPr/>
        </p:nvSpPr>
        <p:spPr>
          <a:xfrm>
            <a:off x="6515100" y="38290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Bareinboim &amp; Pearl (2013). Transportability of experimental results.</a:t>
            </a:r>
          </a:p>
        </p:txBody>
      </p:sp>
      <p:sp>
        <p:nvSpPr>
          <p:cNvPr id="16" name="Rectangle 15">
            <a:extLst>
              <a:ext uri="{FF2B5EF4-FFF2-40B4-BE49-F238E27FC236}">
                <a16:creationId xmlns:a16="http://schemas.microsoft.com/office/drawing/2014/main" id="{60CD4C07-4E3C-4027-893E-E14DAFD2E681}"/>
              </a:ext>
            </a:extLst>
          </p:cNvPr>
          <p:cNvSpPr>
            <a:spLocks noGrp="1"/>
          </p:cNvSpPr>
          <p:nvPr/>
        </p:nvSpPr>
        <p:spPr>
          <a:xfrm>
            <a:off x="6515100" y="44767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Hoeffding, W. (1948). U-statistics.</a:t>
            </a:r>
          </a:p>
        </p:txBody>
      </p:sp>
      <p:sp>
        <p:nvSpPr>
          <p:cNvPr id="17" name="Rectangle 16">
            <a:extLst>
              <a:ext uri="{FF2B5EF4-FFF2-40B4-BE49-F238E27FC236}">
                <a16:creationId xmlns:a16="http://schemas.microsoft.com/office/drawing/2014/main" id="{C2503DBE-5E3E-4C5D-8336-916B5AABF34C}"/>
              </a:ext>
            </a:extLst>
          </p:cNvPr>
          <p:cNvSpPr>
            <a:spLocks noGrp="1"/>
          </p:cNvSpPr>
          <p:nvPr/>
        </p:nvSpPr>
        <p:spPr>
          <a:xfrm>
            <a:off x="6515100" y="5124450"/>
            <a:ext cx="4953000" cy="457200"/>
          </a:xfrm>
          <a:prstGeom prst="rect">
            <a:avLst/>
          </a:prstGeom>
          <a:noFill/>
          <a:ln w="0">
            <a:noFill/>
            <a:prstDash val="solid"/>
          </a:ln>
        </p:spPr>
        <p:txBody>
          <a:bodyPr/>
          <a:lstStyle/>
          <a:p>
            <a:pPr algn="l">
              <a:buNone/>
              <a:defRPr sz="1500" b="0" i="0">
                <a:solidFill>
                  <a:srgbClr val="11253D"/>
                </a:solidFill>
              </a:defRPr>
            </a:pPr>
            <a:r>
              <a:rPr sz="1500" b="0" i="0">
                <a:solidFill>
                  <a:srgbClr val="11253D"/>
                </a:solidFill>
              </a:rPr>
              <a:t>Perdomo et al. (2020). Performative prediction.</a:t>
            </a:r>
          </a:p>
        </p:txBody>
      </p:sp>
      <p:sp>
        <p:nvSpPr>
          <p:cNvPr id="18" name="Rectangle 17">
            <a:extLst>
              <a:ext uri="{FF2B5EF4-FFF2-40B4-BE49-F238E27FC236}">
                <a16:creationId xmlns:a16="http://schemas.microsoft.com/office/drawing/2014/main" id="{A3D79F20-CD1F-4C48-A13F-E956807DE19D}"/>
              </a:ext>
            </a:extLst>
          </p:cNvPr>
          <p:cNvSpPr>
            <a:spLocks noGrp="1"/>
          </p:cNvSpPr>
          <p:nvPr/>
        </p:nvSpPr>
        <p:spPr>
          <a:xfrm>
            <a:off x="2343150" y="5962650"/>
            <a:ext cx="7505700" cy="266700"/>
          </a:xfrm>
          <a:prstGeom prst="rect">
            <a:avLst/>
          </a:prstGeom>
          <a:noFill/>
          <a:ln w="0">
            <a:noFill/>
            <a:prstDash val="solid"/>
          </a:ln>
        </p:spPr>
        <p:txBody>
          <a:bodyPr/>
          <a:lstStyle/>
          <a:p>
            <a:pPr algn="ctr">
              <a:buNone/>
              <a:defRPr sz="1500" b="0" i="0">
                <a:solidFill>
                  <a:srgbClr val="5F6B78"/>
                </a:solidFill>
              </a:defRPr>
            </a:pPr>
            <a:r>
              <a:rPr sz="1500" b="0" i="0">
                <a:solidFill>
                  <a:srgbClr val="5F6B78"/>
                </a:solidFill>
              </a:rPr>
              <a:t>Complete references appear in Stats_Paper_Extending_PRAUC_v12.tex.</a:t>
            </a:r>
          </a:p>
        </p:txBody>
      </p:sp>
    </p:spTree>
    <p:extLst>
      <p:ext uri="{BB962C8B-B14F-4D97-AF65-F5344CB8AC3E}">
        <p14:creationId xmlns:p14="http://schemas.microsoft.com/office/powerpoint/2010/main" val="12229690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876</TotalTime>
  <Words>4145</Words>
  <Application>Microsoft Macintosh PowerPoint</Application>
  <DocSecurity>0</DocSecurity>
  <PresentationFormat>Widescreen</PresentationFormat>
  <Paragraphs>526</Paragraphs>
  <Slides>34</Slides>
  <Notes>34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Aptos</vt:lpstr>
      <vt:lpstr>Arial</vt:lpstr>
      <vt:lpstr>Calibri</vt:lpstr>
      <vt:lpstr>Cambria</vt:lpstr>
      <vt:lpstr>Cambria Math</vt:lpstr>
      <vt:lpstr>ChatGPT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 Marcus</cp:lastModifiedBy>
  <cp:revision>14</cp:revision>
  <dcterms:created xsi:type="dcterms:W3CDTF">2026-07-29T23:19:10Z</dcterms:created>
  <dcterms:modified xsi:type="dcterms:W3CDTF">2026-07-30T14:24:11Z</dcterms:modified>
</cp:coreProperties>
</file>