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3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4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ab5ff7128d4e8e" /><Relationship Type="http://schemas.openxmlformats.org/officeDocument/2006/relationships/extended-properties" Target="/docProps/app.xml" Id="Rc117327538fe4ae0" /><Relationship Type="http://schemas.openxmlformats.org/officeDocument/2006/relationships/officeDocument" Target="/ppt/presentation.xml" Id="Rd39779446eb644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2ec6540784175"/>
  </p:sldMasterIdLst>
  <p:notesMasterIdLst>
    <p:notesMasterId xmlns:r="http://schemas.openxmlformats.org/officeDocument/2006/relationships" r:id="Rcdf6201f3cc241f4"/>
  </p:notesMasterIdLst>
  <p:sldIdLst>
    <p:sldId xmlns:r="http://schemas.openxmlformats.org/officeDocument/2006/relationships" id="256" r:id="R8bdcb22d2f6940b9"/>
    <p:sldId xmlns:r="http://schemas.openxmlformats.org/officeDocument/2006/relationships" id="257" r:id="R57b474e9b3dc4dc2"/>
    <p:sldId xmlns:r="http://schemas.openxmlformats.org/officeDocument/2006/relationships" id="258" r:id="R77a01ad1bbde410c"/>
    <p:sldId xmlns:r="http://schemas.openxmlformats.org/officeDocument/2006/relationships" id="259" r:id="Rbb4a304f576f4cd6"/>
    <p:sldId xmlns:r="http://schemas.openxmlformats.org/officeDocument/2006/relationships" id="260" r:id="R7f298edee7244700"/>
    <p:sldId xmlns:r="http://schemas.openxmlformats.org/officeDocument/2006/relationships" id="261" r:id="Rf6fb7ed4cec94cd5"/>
    <p:sldId xmlns:r="http://schemas.openxmlformats.org/officeDocument/2006/relationships" id="262" r:id="Rd9134c9fda1f45f6"/>
    <p:sldId xmlns:r="http://schemas.openxmlformats.org/officeDocument/2006/relationships" id="263" r:id="Ree065b95c7364a02"/>
    <p:sldId xmlns:r="http://schemas.openxmlformats.org/officeDocument/2006/relationships" id="264" r:id="R3b532411d5ce4657"/>
    <p:sldId xmlns:r="http://schemas.openxmlformats.org/officeDocument/2006/relationships" id="265" r:id="R345a8a94767648fa"/>
    <p:sldId xmlns:r="http://schemas.openxmlformats.org/officeDocument/2006/relationships" id="266" r:id="Rceec007b19d14fd9"/>
    <p:sldId xmlns:r="http://schemas.openxmlformats.org/officeDocument/2006/relationships" id="267" r:id="Rf74c51686c344e12"/>
    <p:sldId xmlns:r="http://schemas.openxmlformats.org/officeDocument/2006/relationships" id="268" r:id="Rce754bc10fc54652"/>
    <p:sldId xmlns:r="http://schemas.openxmlformats.org/officeDocument/2006/relationships" id="269" r:id="R7fdd7224bfd04d5b"/>
    <p:sldId xmlns:r="http://schemas.openxmlformats.org/officeDocument/2006/relationships" id="270" r:id="Rfcee359609bf4ff6"/>
    <p:sldId xmlns:r="http://schemas.openxmlformats.org/officeDocument/2006/relationships" id="271" r:id="Ra3ac5bf7e04149d0"/>
    <p:sldId xmlns:r="http://schemas.openxmlformats.org/officeDocument/2006/relationships" id="272" r:id="R00de5f0d7b0140a1"/>
    <p:sldId xmlns:r="http://schemas.openxmlformats.org/officeDocument/2006/relationships" id="273" r:id="R8de40ad651f84eea"/>
    <p:sldId xmlns:r="http://schemas.openxmlformats.org/officeDocument/2006/relationships" id="274" r:id="R774fe2d89c10457e"/>
    <p:sldId xmlns:r="http://schemas.openxmlformats.org/officeDocument/2006/relationships" id="275" r:id="Re39019ed8111499d"/>
    <p:sldId xmlns:r="http://schemas.openxmlformats.org/officeDocument/2006/relationships" id="276" r:id="R4c16a81fd0924dd3"/>
    <p:sldId xmlns:r="http://schemas.openxmlformats.org/officeDocument/2006/relationships" id="277" r:id="Rf32e91bee14842af"/>
    <p:sldId xmlns:r="http://schemas.openxmlformats.org/officeDocument/2006/relationships" id="278" r:id="R0be4ab5333b54846"/>
    <p:sldId xmlns:r="http://schemas.openxmlformats.org/officeDocument/2006/relationships" id="279" r:id="R67a3c43216564e26"/>
    <p:sldId xmlns:r="http://schemas.openxmlformats.org/officeDocument/2006/relationships" id="280" r:id="Re12a57a8834043b8"/>
    <p:sldId xmlns:r="http://schemas.openxmlformats.org/officeDocument/2006/relationships" id="281" r:id="R287b4777a115475c"/>
    <p:sldId xmlns:r="http://schemas.openxmlformats.org/officeDocument/2006/relationships" id="282" r:id="Rcee82cf4edd24941"/>
    <p:sldId xmlns:r="http://schemas.openxmlformats.org/officeDocument/2006/relationships" id="283" r:id="R6b865300235f41c7"/>
    <p:sldId xmlns:r="http://schemas.openxmlformats.org/officeDocument/2006/relationships" id="284" r:id="R6babe566aeb741b1"/>
    <p:sldId xmlns:r="http://schemas.openxmlformats.org/officeDocument/2006/relationships" id="285" r:id="R37e025f4093742ed"/>
    <p:sldId xmlns:r="http://schemas.openxmlformats.org/officeDocument/2006/relationships" id="286" r:id="R049c605a8cf54d31"/>
    <p:sldId xmlns:r="http://schemas.openxmlformats.org/officeDocument/2006/relationships" id="287" r:id="R169ee2008a8f4f74"/>
    <p:sldId xmlns:r="http://schemas.openxmlformats.org/officeDocument/2006/relationships" id="288" r:id="R8ccce8d6889b4c1d"/>
    <p:sldId xmlns:r="http://schemas.openxmlformats.org/officeDocument/2006/relationships" id="289" r:id="Ra2f5ebda968c4f68"/>
    <p:sldId xmlns:r="http://schemas.openxmlformats.org/officeDocument/2006/relationships" id="290" r:id="Rad8d52fc247d492f"/>
    <p:sldId xmlns:r="http://schemas.openxmlformats.org/officeDocument/2006/relationships" id="291" r:id="Rd82c0aedf9b8464b"/>
    <p:sldId xmlns:r="http://schemas.openxmlformats.org/officeDocument/2006/relationships" id="292" r:id="Rba01ed36fd2e474e"/>
    <p:sldId xmlns:r="http://schemas.openxmlformats.org/officeDocument/2006/relationships" id="293" r:id="R2678851fea344c99"/>
    <p:sldId xmlns:r="http://schemas.openxmlformats.org/officeDocument/2006/relationships" id="294" r:id="R0930557dd74449da"/>
    <p:sldId xmlns:r="http://schemas.openxmlformats.org/officeDocument/2006/relationships" id="295" r:id="R0ec3535a8f3449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42fb669004778" /><Relationship Type="http://schemas.openxmlformats.org/officeDocument/2006/relationships/slideMaster" Target="/ppt/slideMasters/slideMaster1.xml" Id="R9152ec6540784175" /><Relationship Type="http://schemas.openxmlformats.org/officeDocument/2006/relationships/notesMaster" Target="/ppt/notesMasters/notesMaster1.xml" Id="Rcdf6201f3cc241f4" /><Relationship Type="http://schemas.openxmlformats.org/officeDocument/2006/relationships/presProps" Target="/ppt/presProps.xml" Id="R67245d3f627a4c66" /><Relationship Type="http://schemas.openxmlformats.org/officeDocument/2006/relationships/viewProps" Target="/ppt/viewProps.xml" Id="R24fad495601d482f" /><Relationship Type="http://schemas.openxmlformats.org/officeDocument/2006/relationships/tableStyles" Target="/ppt/tableStyles.xml" Id="R7fa36e3c88624017" /><Relationship Type="http://schemas.openxmlformats.org/officeDocument/2006/relationships/slide" Target="/ppt/slides/slide1.xml" Id="R8bdcb22d2f6940b9" /><Relationship Type="http://schemas.openxmlformats.org/officeDocument/2006/relationships/slide" Target="/ppt/slides/slide2.xml" Id="R57b474e9b3dc4dc2" /><Relationship Type="http://schemas.openxmlformats.org/officeDocument/2006/relationships/slide" Target="/ppt/slides/slide3.xml" Id="R77a01ad1bbde410c" /><Relationship Type="http://schemas.openxmlformats.org/officeDocument/2006/relationships/slide" Target="/ppt/slides/slide4.xml" Id="Rbb4a304f576f4cd6" /><Relationship Type="http://schemas.openxmlformats.org/officeDocument/2006/relationships/slide" Target="/ppt/slides/slide5.xml" Id="R7f298edee7244700" /><Relationship Type="http://schemas.openxmlformats.org/officeDocument/2006/relationships/slide" Target="/ppt/slides/slide6.xml" Id="Rf6fb7ed4cec94cd5" /><Relationship Type="http://schemas.openxmlformats.org/officeDocument/2006/relationships/slide" Target="/ppt/slides/slide7.xml" Id="Rd9134c9fda1f45f6" /><Relationship Type="http://schemas.openxmlformats.org/officeDocument/2006/relationships/slide" Target="/ppt/slides/slide8.xml" Id="Ree065b95c7364a02" /><Relationship Type="http://schemas.openxmlformats.org/officeDocument/2006/relationships/slide" Target="/ppt/slides/slide9.xml" Id="R3b532411d5ce4657" /><Relationship Type="http://schemas.openxmlformats.org/officeDocument/2006/relationships/slide" Target="/ppt/slides/slide10.xml" Id="R345a8a94767648fa" /><Relationship Type="http://schemas.openxmlformats.org/officeDocument/2006/relationships/slide" Target="/ppt/slides/slide11.xml" Id="Rceec007b19d14fd9" /><Relationship Type="http://schemas.openxmlformats.org/officeDocument/2006/relationships/slide" Target="/ppt/slides/slide12.xml" Id="Rf74c51686c344e12" /><Relationship Type="http://schemas.openxmlformats.org/officeDocument/2006/relationships/slide" Target="/ppt/slides/slide13.xml" Id="Rce754bc10fc54652" /><Relationship Type="http://schemas.openxmlformats.org/officeDocument/2006/relationships/slide" Target="/ppt/slides/slide14.xml" Id="R7fdd7224bfd04d5b" /><Relationship Type="http://schemas.openxmlformats.org/officeDocument/2006/relationships/slide" Target="/ppt/slides/slide15.xml" Id="Rfcee359609bf4ff6" /><Relationship Type="http://schemas.openxmlformats.org/officeDocument/2006/relationships/slide" Target="/ppt/slides/slide16.xml" Id="Ra3ac5bf7e04149d0" /><Relationship Type="http://schemas.openxmlformats.org/officeDocument/2006/relationships/slide" Target="/ppt/slides/slide17.xml" Id="R00de5f0d7b0140a1" /><Relationship Type="http://schemas.openxmlformats.org/officeDocument/2006/relationships/slide" Target="/ppt/slides/slide18.xml" Id="R8de40ad651f84eea" /><Relationship Type="http://schemas.openxmlformats.org/officeDocument/2006/relationships/slide" Target="/ppt/slides/slide19.xml" Id="R774fe2d89c10457e" /><Relationship Type="http://schemas.openxmlformats.org/officeDocument/2006/relationships/slide" Target="/ppt/slides/slide20.xml" Id="Re39019ed8111499d" /><Relationship Type="http://schemas.openxmlformats.org/officeDocument/2006/relationships/slide" Target="/ppt/slides/slide21.xml" Id="R4c16a81fd0924dd3" /><Relationship Type="http://schemas.openxmlformats.org/officeDocument/2006/relationships/slide" Target="/ppt/slides/slide22.xml" Id="Rf32e91bee14842af" /><Relationship Type="http://schemas.openxmlformats.org/officeDocument/2006/relationships/slide" Target="/ppt/slides/slide23.xml" Id="R0be4ab5333b54846" /><Relationship Type="http://schemas.openxmlformats.org/officeDocument/2006/relationships/slide" Target="/ppt/slides/slide24.xml" Id="R67a3c43216564e26" /><Relationship Type="http://schemas.openxmlformats.org/officeDocument/2006/relationships/slide" Target="/ppt/slides/slide25.xml" Id="Re12a57a8834043b8" /><Relationship Type="http://schemas.openxmlformats.org/officeDocument/2006/relationships/slide" Target="/ppt/slides/slide26.xml" Id="R287b4777a115475c" /><Relationship Type="http://schemas.openxmlformats.org/officeDocument/2006/relationships/slide" Target="/ppt/slides/slide27.xml" Id="Rcee82cf4edd24941" /><Relationship Type="http://schemas.openxmlformats.org/officeDocument/2006/relationships/slide" Target="/ppt/slides/slide28.xml" Id="R6b865300235f41c7" /><Relationship Type="http://schemas.openxmlformats.org/officeDocument/2006/relationships/slide" Target="/ppt/slides/slide29.xml" Id="R6babe566aeb741b1" /><Relationship Type="http://schemas.openxmlformats.org/officeDocument/2006/relationships/slide" Target="/ppt/slides/slide30.xml" Id="R37e025f4093742ed" /><Relationship Type="http://schemas.openxmlformats.org/officeDocument/2006/relationships/slide" Target="/ppt/slides/slide31.xml" Id="R049c605a8cf54d31" /><Relationship Type="http://schemas.openxmlformats.org/officeDocument/2006/relationships/slide" Target="/ppt/slides/slide32.xml" Id="R169ee2008a8f4f74" /><Relationship Type="http://schemas.openxmlformats.org/officeDocument/2006/relationships/slide" Target="/ppt/slides/slide33.xml" Id="R8ccce8d6889b4c1d" /><Relationship Type="http://schemas.openxmlformats.org/officeDocument/2006/relationships/slide" Target="/ppt/slides/slide34.xml" Id="Ra2f5ebda968c4f68" /><Relationship Type="http://schemas.openxmlformats.org/officeDocument/2006/relationships/slide" Target="/ppt/slides/slide35.xml" Id="Rad8d52fc247d492f" /><Relationship Type="http://schemas.openxmlformats.org/officeDocument/2006/relationships/slide" Target="/ppt/slides/slide36.xml" Id="Rd82c0aedf9b8464b" /><Relationship Type="http://schemas.openxmlformats.org/officeDocument/2006/relationships/slide" Target="/ppt/slides/slide37.xml" Id="Rba01ed36fd2e474e" /><Relationship Type="http://schemas.openxmlformats.org/officeDocument/2006/relationships/slide" Target="/ppt/slides/slide38.xml" Id="R2678851fea344c99" /><Relationship Type="http://schemas.openxmlformats.org/officeDocument/2006/relationships/slide" Target="/ppt/slides/slide39.xml" Id="R0930557dd74449da" /><Relationship Type="http://schemas.openxmlformats.org/officeDocument/2006/relationships/slide" Target="/ppt/slides/slide40.xml" Id="R0ec3535a8f3449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9944311ab447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2607173dfb4c3e" /><Relationship Type="http://schemas.openxmlformats.org/officeDocument/2006/relationships/notesMaster" Target="/ppt/notesMasters/notesMaster1.xml" Id="R53742613350546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c349fa572c4ece" /><Relationship Type="http://schemas.openxmlformats.org/officeDocument/2006/relationships/notesMaster" Target="/ppt/notesMasters/notesMaster1.xml" Id="Rac56a6f076734d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29e8aba2a7456d" /><Relationship Type="http://schemas.openxmlformats.org/officeDocument/2006/relationships/notesMaster" Target="/ppt/notesMasters/notesMaster1.xml" Id="Re5f9ed6cea9b43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394cb13cb34547" /><Relationship Type="http://schemas.openxmlformats.org/officeDocument/2006/relationships/notesMaster" Target="/ppt/notesMasters/notesMaster1.xml" Id="R4fe4305bebf54d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3b561dffa545f1" /><Relationship Type="http://schemas.openxmlformats.org/officeDocument/2006/relationships/notesMaster" Target="/ppt/notesMasters/notesMaster1.xml" Id="Rad98474228b84e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537c7907b44be5" /><Relationship Type="http://schemas.openxmlformats.org/officeDocument/2006/relationships/notesMaster" Target="/ppt/notesMasters/notesMaster1.xml" Id="Ra1cc9f016fef43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98637aac8948e2" /><Relationship Type="http://schemas.openxmlformats.org/officeDocument/2006/relationships/notesMaster" Target="/ppt/notesMasters/notesMaster1.xml" Id="Rf4a118369afa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c5cb5f6deb4ce1" /><Relationship Type="http://schemas.openxmlformats.org/officeDocument/2006/relationships/notesMaster" Target="/ppt/notesMasters/notesMaster1.xml" Id="Rb88a46d008414a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166fa96fa4f03" /><Relationship Type="http://schemas.openxmlformats.org/officeDocument/2006/relationships/notesMaster" Target="/ppt/notesMasters/notesMaster1.xml" Id="R124b46b4769a45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42ab2741be4847" /><Relationship Type="http://schemas.openxmlformats.org/officeDocument/2006/relationships/notesMaster" Target="/ppt/notesMasters/notesMaster1.xml" Id="Reaa3d5a92d204c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8f9e1e01714654" /><Relationship Type="http://schemas.openxmlformats.org/officeDocument/2006/relationships/notesMaster" Target="/ppt/notesMasters/notesMaster1.xml" Id="R9ccd647c98d242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539365295249df" /><Relationship Type="http://schemas.openxmlformats.org/officeDocument/2006/relationships/notesMaster" Target="/ppt/notesMasters/notesMaster1.xml" Id="R18f95e186c8b4e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7ab08ebee04b18" /><Relationship Type="http://schemas.openxmlformats.org/officeDocument/2006/relationships/notesMaster" Target="/ppt/notesMasters/notesMaster1.xml" Id="R5e279d94a38246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5402a7aa064642" /><Relationship Type="http://schemas.openxmlformats.org/officeDocument/2006/relationships/notesMaster" Target="/ppt/notesMasters/notesMaster1.xml" Id="R2d617e6b4a314f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abf464f00c4a5b" /><Relationship Type="http://schemas.openxmlformats.org/officeDocument/2006/relationships/notesMaster" Target="/ppt/notesMasters/notesMaster1.xml" Id="Rfa7f639e487b41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0cfa961f314763" /><Relationship Type="http://schemas.openxmlformats.org/officeDocument/2006/relationships/notesMaster" Target="/ppt/notesMasters/notesMaster1.xml" Id="R72083fc4bbfd49b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d72cf5ca934d09" /><Relationship Type="http://schemas.openxmlformats.org/officeDocument/2006/relationships/notesMaster" Target="/ppt/notesMasters/notesMaster1.xml" Id="R62e5075226a742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3a3d43a0a34bdc" /><Relationship Type="http://schemas.openxmlformats.org/officeDocument/2006/relationships/notesMaster" Target="/ppt/notesMasters/notesMaster1.xml" Id="R20c821109776414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8e9e1ba60b42d8" /><Relationship Type="http://schemas.openxmlformats.org/officeDocument/2006/relationships/notesMaster" Target="/ppt/notesMasters/notesMaster1.xml" Id="Rc4e73dc790f145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2aa159beb64583" /><Relationship Type="http://schemas.openxmlformats.org/officeDocument/2006/relationships/notesMaster" Target="/ppt/notesMasters/notesMaster1.xml" Id="Rb2e965834fbf4e1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9bae06a8f84d97" /><Relationship Type="http://schemas.openxmlformats.org/officeDocument/2006/relationships/notesMaster" Target="/ppt/notesMasters/notesMaster1.xml" Id="R26954d8ec021409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d1278821f564777" /><Relationship Type="http://schemas.openxmlformats.org/officeDocument/2006/relationships/notesMaster" Target="/ppt/notesMasters/notesMaster1.xml" Id="Rb12856c7da7a4c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2222a62a48a4964" /><Relationship Type="http://schemas.openxmlformats.org/officeDocument/2006/relationships/notesMaster" Target="/ppt/notesMasters/notesMaster1.xml" Id="Rdc97c820dfb54cc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faceeda1a694e58" /><Relationship Type="http://schemas.openxmlformats.org/officeDocument/2006/relationships/notesMaster" Target="/ppt/notesMasters/notesMaster1.xml" Id="R353cdfa5a1334e0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e60da1c5dd74079" /><Relationship Type="http://schemas.openxmlformats.org/officeDocument/2006/relationships/notesMaster" Target="/ppt/notesMasters/notesMaster1.xml" Id="R176de8f0d0bf4f7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465ef48a40442f" /><Relationship Type="http://schemas.openxmlformats.org/officeDocument/2006/relationships/notesMaster" Target="/ppt/notesMasters/notesMaster1.xml" Id="Raf93a45155d046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4a1fd731fe42d0" /><Relationship Type="http://schemas.openxmlformats.org/officeDocument/2006/relationships/notesMaster" Target="/ppt/notesMasters/notesMaster1.xml" Id="Rc4b2d67aba7246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2760fe3a5214320" /><Relationship Type="http://schemas.openxmlformats.org/officeDocument/2006/relationships/notesMaster" Target="/ppt/notesMasters/notesMaster1.xml" Id="Ra0e7851b7cd94a5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d9a0891ab374910" /><Relationship Type="http://schemas.openxmlformats.org/officeDocument/2006/relationships/notesMaster" Target="/ppt/notesMasters/notesMaster1.xml" Id="R0d255459a6604f1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c8821355614a51" /><Relationship Type="http://schemas.openxmlformats.org/officeDocument/2006/relationships/notesMaster" Target="/ppt/notesMasters/notesMaster1.xml" Id="R9393b4466f4d4e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3f85ee56bfb4245" /><Relationship Type="http://schemas.openxmlformats.org/officeDocument/2006/relationships/notesMaster" Target="/ppt/notesMasters/notesMaster1.xml" Id="Ra6daf67de9d4488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14687ca394f487f" /><Relationship Type="http://schemas.openxmlformats.org/officeDocument/2006/relationships/notesMaster" Target="/ppt/notesMasters/notesMaster1.xml" Id="Rec18bfa6d4384b7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dc8bf1c7bbf4c0a" /><Relationship Type="http://schemas.openxmlformats.org/officeDocument/2006/relationships/notesMaster" Target="/ppt/notesMasters/notesMaster1.xml" Id="Rd74ba770ee584eb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4ac17e0a7c34f88" /><Relationship Type="http://schemas.openxmlformats.org/officeDocument/2006/relationships/notesMaster" Target="/ppt/notesMasters/notesMaster1.xml" Id="R1cd0528707f04f6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6b2ad58e07a4f5c" /><Relationship Type="http://schemas.openxmlformats.org/officeDocument/2006/relationships/notesMaster" Target="/ppt/notesMasters/notesMaster1.xml" Id="R69d023a8bbc74e7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694582937ce4b73" /><Relationship Type="http://schemas.openxmlformats.org/officeDocument/2006/relationships/notesMaster" Target="/ppt/notesMasters/notesMaster1.xml" Id="R86db7625b15740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485160d37454d0e" /><Relationship Type="http://schemas.openxmlformats.org/officeDocument/2006/relationships/notesMaster" Target="/ppt/notesMasters/notesMaster1.xml" Id="R9fe288ff37a4445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da9656434024e75" /><Relationship Type="http://schemas.openxmlformats.org/officeDocument/2006/relationships/notesMaster" Target="/ppt/notesMasters/notesMaster1.xml" Id="R3cfd935aa6d74b3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54f88e5e306428a" /><Relationship Type="http://schemas.openxmlformats.org/officeDocument/2006/relationships/notesMaster" Target="/ppt/notesMasters/notesMaster1.xml" Id="R0c27df3f033d463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4bdbbca533f4695" /><Relationship Type="http://schemas.openxmlformats.org/officeDocument/2006/relationships/notesMaster" Target="/ppt/notesMasters/notesMaster1.xml" Id="R61140fb33a9341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paper’s governing question. The talk is not about proposing another context-free score; it is about making the conditions of a performance claim explicit.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Stats_Paper_Extending_PRAUC_v12.tex, abstract and Section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ranking statistic with the object that downstream decisions actually consume: a selected set.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two axes before showing a PR curve. Emphasize that neither is a threshold-free property.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threshold down the list. The curve is generated by a sequence of selected sets.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 AP directly from the three positive ranks. This makes the later weighted formula less mysterious.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numerical contrast to create the central population tension. TPR and FPR are unchanged.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transformation criterion before presenting the formula: preserve class-conditional behavior; alter only the prior.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Substitute r=.80 and f=.05. The values reproduce the slide 6 precision contrast and fill in intermediate populations.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a firm boundary around the reweighting claim. If score behavior within class changes, prevalence must be represented through environments in the regime.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raw AP values at different prevalences do not share a random baseline.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Normalization makes zero and one common, but it does not erase how false positives matter differently as prevalence changes.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whether the scientific claim is an expectation across populations or a level that must hold in all of them. The infimum answers only the latter.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assessment only now that both population and repetition questions are visible.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bootstrap is not a scientific target. The regime names the target; resampling must then represent it.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apparent asymmetry. Prevalence is part of the same assessment, but invariance lets it be computed within a realized replication.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failed average. The number 0.375 summarizes compensation, not survival.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realized minimum is the greatest level all K challenges retain. Expectation keeps the result on the performance scale.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K=2 the operator has a transparent decomposition. This is not a standard-error penalty.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Popper carefully: the language is negative and conditional. Support records survival under stated tests; it is not confirmation.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B, K, and genuinely new evidence. This prevents computational effort from being mistaken for severity.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different profile shapes show why each replication must face the entire prevalence set before replications are combined.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numerical decomposition is illustrative. Its job is diagnostic: distinguish weak mean performance, moving limiting populations, and unstable retained levels.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same sampled units must generate the complete prevalence profile.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two-unit example proves that a population chance anchor does not automatically center a finite design.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 is useful for describing one fixed model. Stress the non-composability of different conditional anchors.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replacement effect must be realized under the same conditions. Marginal worst cases do not supply it.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models are uninformative. The finer score vector nevertheless receives positive expected advantage under ordinary AP.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averaging changes the convention rather than subtracting a null artifact. Arbitrary within-block order is averaged away.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the estimand from left to right. Pair first; challenge second.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reference guarantee has a real design assumption. Pairing and tie averaging do not create exchangeability.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is not odd, but the orientation inequality prevents contradictory positive recommendations. It still allows honest indecision.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positive estimate is insufficient. The uncertainty-qualified effect must clear a prespecified practical margin.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performance is assessment-relative. Reporting only the scalar removes the conditions that gave it meaning.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The framework’s contribution is a claim structure that can be criticized and improved.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only if the audience wants the exact empirical AP definition.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 and the regime control different aspects of severity. The values in the chart are illustrative.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sorted formula gives the complete order-two U-statistic efficiently.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closed form integrates over positions and within-block label composition; the visible slide intentionally omits the full combinatorial expression.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Outer resampling targets inferential uncertainty about the supported functional, not replication variation itself.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for questions about intellectual lineage and technical sources.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9f429a9704b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0e1935a0344b9" /><Relationship Type="http://schemas.openxmlformats.org/officeDocument/2006/relationships/slideLayout" Target="/ppt/slideLayouts/slideLayout1.xml" Id="Rf49cb6a0258d4b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9cb6a0258d4b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9009c39c447df" /><Relationship Type="http://schemas.openxmlformats.org/officeDocument/2006/relationships/notesSlide" Target="/ppt/notesSlides/notesSlide1.xml" Id="R4bd73997110247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6a414945543fc" /><Relationship Type="http://schemas.openxmlformats.org/officeDocument/2006/relationships/notesSlide" Target="/ppt/notesSlides/notesSlide2.xml" Id="Rf574baacbeb346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f921ffff24385" /><Relationship Type="http://schemas.openxmlformats.org/officeDocument/2006/relationships/image" Target="/ppt/media/image.png" Id="Ra9e9686121544c35" /><Relationship Type="http://schemas.openxmlformats.org/officeDocument/2006/relationships/image" Target="/ppt/media/image2.png" Id="R1f4c33f815cd4cf2" /><Relationship Type="http://schemas.openxmlformats.org/officeDocument/2006/relationships/notesSlide" Target="/ppt/notesSlides/notesSlide3.xml" Id="Rd1c68d496dd241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3518064774596" /><Relationship Type="http://schemas.openxmlformats.org/officeDocument/2006/relationships/chart" Target="/ppt/slides/charts/chart1.xml" Id="R8c7672c80a29453f" /><Relationship Type="http://schemas.openxmlformats.org/officeDocument/2006/relationships/notesSlide" Target="/ppt/notesSlides/notesSlide4.xml" Id="R033367a13f664e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7f905d69b4859" /><Relationship Type="http://schemas.openxmlformats.org/officeDocument/2006/relationships/image" Target="/ppt/media/image3.png" Id="R7042c60cb3624c8a" /><Relationship Type="http://schemas.openxmlformats.org/officeDocument/2006/relationships/image" Target="/ppt/media/image4.png" Id="Rf9f5ce5003f94201" /><Relationship Type="http://schemas.openxmlformats.org/officeDocument/2006/relationships/image" Target="/ppt/media/image5.png" Id="R85dd2dba4c904ede" /><Relationship Type="http://schemas.openxmlformats.org/officeDocument/2006/relationships/image" Target="/ppt/media/image6.png" Id="Rad6612d2151f4098" /><Relationship Type="http://schemas.openxmlformats.org/officeDocument/2006/relationships/image" Target="/ppt/media/image7.png" Id="R693acee2c5ca4426" /><Relationship Type="http://schemas.openxmlformats.org/officeDocument/2006/relationships/notesSlide" Target="/ppt/notesSlides/notesSlide5.xml" Id="Rd96dcfef9cbd46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c6e597e9945b1" /><Relationship Type="http://schemas.openxmlformats.org/officeDocument/2006/relationships/image" Target="/ppt/media/image8.png" Id="Rdbe6b1f092444c52" /><Relationship Type="http://schemas.openxmlformats.org/officeDocument/2006/relationships/notesSlide" Target="/ppt/notesSlides/notesSlide6.xml" Id="R8a4ead33e34c44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2d25f9f1e4423" /><Relationship Type="http://schemas.openxmlformats.org/officeDocument/2006/relationships/image" Target="/ppt/media/image9.png" Id="Rdab32c3bd0514815" /><Relationship Type="http://schemas.openxmlformats.org/officeDocument/2006/relationships/image" Target="/ppt/media/image10.png" Id="Rc169d38c9dd5435f" /><Relationship Type="http://schemas.openxmlformats.org/officeDocument/2006/relationships/image" Target="/ppt/media/image11.png" Id="R3cad814126a948e7" /><Relationship Type="http://schemas.openxmlformats.org/officeDocument/2006/relationships/notesSlide" Target="/ppt/notesSlides/notesSlide7.xml" Id="Ra2e94393c75a43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b53a03eae44c8" /><Relationship Type="http://schemas.openxmlformats.org/officeDocument/2006/relationships/image" Target="/ppt/media/image12.png" Id="R3ee86546a02743b6" /><Relationship Type="http://schemas.openxmlformats.org/officeDocument/2006/relationships/notesSlide" Target="/ppt/notesSlides/notesSlide8.xml" Id="R4ecc10b3ad494b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18a5f9ed34a8a" /><Relationship Type="http://schemas.openxmlformats.org/officeDocument/2006/relationships/image" Target="/ppt/media/image13.png" Id="Raf9dd56bbdde4046" /><Relationship Type="http://schemas.openxmlformats.org/officeDocument/2006/relationships/notesSlide" Target="/ppt/notesSlides/notesSlide9.xml" Id="R4bb7776966d540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8a1b6d55e4863" /><Relationship Type="http://schemas.openxmlformats.org/officeDocument/2006/relationships/image" Target="/ppt/media/image14.png" Id="R28dc43f82658472e" /><Relationship Type="http://schemas.openxmlformats.org/officeDocument/2006/relationships/image" Target="/ppt/media/image15.png" Id="Rbc920d9a3df547da" /><Relationship Type="http://schemas.openxmlformats.org/officeDocument/2006/relationships/notesSlide" Target="/ppt/notesSlides/notesSlide10.xml" Id="Rbe6d716a1ef543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1da7175264aad" /><Relationship Type="http://schemas.openxmlformats.org/officeDocument/2006/relationships/chart" Target="/ppt/slides/charts/chart2.xml" Id="R823abeef2ed1473e" /><Relationship Type="http://schemas.openxmlformats.org/officeDocument/2006/relationships/notesSlide" Target="/ppt/notesSlides/notesSlide11.xml" Id="Rf81b57cfd2dd4d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b3191ff5f4091" /><Relationship Type="http://schemas.openxmlformats.org/officeDocument/2006/relationships/notesSlide" Target="/ppt/notesSlides/notesSlide12.xml" Id="Rca4ac9cbbb254c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bee16d7a44f51" /><Relationship Type="http://schemas.openxmlformats.org/officeDocument/2006/relationships/image" Target="/ppt/media/image16.png" Id="R4491403215f4485c" /><Relationship Type="http://schemas.openxmlformats.org/officeDocument/2006/relationships/notesSlide" Target="/ppt/notesSlides/notesSlide13.xml" Id="R0883165ba3334c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f8d6c344540f6" /><Relationship Type="http://schemas.openxmlformats.org/officeDocument/2006/relationships/notesSlide" Target="/ppt/notesSlides/notesSlide14.xml" Id="R490cb86bd3a140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7883957c34da2" /><Relationship Type="http://schemas.openxmlformats.org/officeDocument/2006/relationships/notesSlide" Target="/ppt/notesSlides/notesSlide15.xml" Id="R52f117d4fef846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a58403efa4747" /><Relationship Type="http://schemas.openxmlformats.org/officeDocument/2006/relationships/notesSlide" Target="/ppt/notesSlides/notesSlide16.xml" Id="Rc04bfe9f98414c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c200edc4b4945" /><Relationship Type="http://schemas.openxmlformats.org/officeDocument/2006/relationships/image" Target="/ppt/media/image17.png" Id="R1594b05720c544c8" /><Relationship Type="http://schemas.openxmlformats.org/officeDocument/2006/relationships/notesSlide" Target="/ppt/notesSlides/notesSlide17.xml" Id="R8d110bd98bdb46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1a46d7d934b58" /><Relationship Type="http://schemas.openxmlformats.org/officeDocument/2006/relationships/image" Target="/ppt/media/image18.png" Id="R34e0d4f178334fd9" /><Relationship Type="http://schemas.openxmlformats.org/officeDocument/2006/relationships/notesSlide" Target="/ppt/notesSlides/notesSlide18.xml" Id="R9a58d062a8b84f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2a8cc62df4728" /><Relationship Type="http://schemas.openxmlformats.org/officeDocument/2006/relationships/notesSlide" Target="/ppt/notesSlides/notesSlide19.xml" Id="Rc30cf4565e8948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d5e837d9b43e9" /><Relationship Type="http://schemas.openxmlformats.org/officeDocument/2006/relationships/notesSlide" Target="/ppt/notesSlides/notesSlide20.xml" Id="R38da62afba7945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57f4764704b52" /><Relationship Type="http://schemas.openxmlformats.org/officeDocument/2006/relationships/chart" Target="/ppt/slides/charts/chart3.xml" Id="R32ad0800302d43bc" /><Relationship Type="http://schemas.openxmlformats.org/officeDocument/2006/relationships/notesSlide" Target="/ppt/notesSlides/notesSlide21.xml" Id="Rf8698d3fe5c4463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7c80cfc13431d" /><Relationship Type="http://schemas.openxmlformats.org/officeDocument/2006/relationships/image" Target="/ppt/media/image19.png" Id="Re3ce4dc0eec24eea" /><Relationship Type="http://schemas.openxmlformats.org/officeDocument/2006/relationships/notesSlide" Target="/ppt/notesSlides/notesSlide22.xml" Id="R63499f0e689548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18128dbb64968" /><Relationship Type="http://schemas.openxmlformats.org/officeDocument/2006/relationships/notesSlide" Target="/ppt/notesSlides/notesSlide23.xml" Id="R4a157159b6fc46a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0144cd2844d0c" /><Relationship Type="http://schemas.openxmlformats.org/officeDocument/2006/relationships/image" Target="/ppt/media/image20.png" Id="R3e367bba84a64093" /><Relationship Type="http://schemas.openxmlformats.org/officeDocument/2006/relationships/image" Target="/ppt/media/image21.png" Id="R4f89933c3fb84685" /><Relationship Type="http://schemas.openxmlformats.org/officeDocument/2006/relationships/notesSlide" Target="/ppt/notesSlides/notesSlide24.xml" Id="Rc0f72946986a47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d06fde4da4507" /><Relationship Type="http://schemas.openxmlformats.org/officeDocument/2006/relationships/image" Target="/ppt/media/image22.png" Id="R34a3ed3d65774573" /><Relationship Type="http://schemas.openxmlformats.org/officeDocument/2006/relationships/notesSlide" Target="/ppt/notesSlides/notesSlide25.xml" Id="R2a61c4764903460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bcf9e87534ace" /><Relationship Type="http://schemas.openxmlformats.org/officeDocument/2006/relationships/image" Target="/ppt/media/image23.png" Id="R545203f30b894c6e" /><Relationship Type="http://schemas.openxmlformats.org/officeDocument/2006/relationships/notesSlide" Target="/ppt/notesSlides/notesSlide26.xml" Id="Radd0e9a31bcd472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ba820a4e74c11" /><Relationship Type="http://schemas.openxmlformats.org/officeDocument/2006/relationships/image" Target="/ppt/media/image24.png" Id="Rd6a9385fa53c4dc0" /><Relationship Type="http://schemas.openxmlformats.org/officeDocument/2006/relationships/image" Target="/ppt/media/image25.png" Id="R24a480a6d99640d1" /><Relationship Type="http://schemas.openxmlformats.org/officeDocument/2006/relationships/image" Target="/ppt/media/image26.png" Id="R7644f116d09a4751" /><Relationship Type="http://schemas.openxmlformats.org/officeDocument/2006/relationships/notesSlide" Target="/ppt/notesSlides/notesSlide27.xml" Id="R29f5339faa594a1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be310f67a43d8" /><Relationship Type="http://schemas.openxmlformats.org/officeDocument/2006/relationships/image" Target="/ppt/media/image27.png" Id="R1319a8a68a204962" /><Relationship Type="http://schemas.openxmlformats.org/officeDocument/2006/relationships/image" Target="/ppt/media/image28.png" Id="R7c3318b6eac047db" /><Relationship Type="http://schemas.openxmlformats.org/officeDocument/2006/relationships/image" Target="/ppt/media/image29.png" Id="R95df6760063f4ab2" /><Relationship Type="http://schemas.openxmlformats.org/officeDocument/2006/relationships/notesSlide" Target="/ppt/notesSlides/notesSlide28.xml" Id="Rf58bff617624476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322e44fba4ea6" /><Relationship Type="http://schemas.openxmlformats.org/officeDocument/2006/relationships/image" Target="/ppt/media/image30.png" Id="R9153bd6752ed46a9" /><Relationship Type="http://schemas.openxmlformats.org/officeDocument/2006/relationships/image" Target="/ppt/media/image31.png" Id="Rfd0df8d8efa245e0" /><Relationship Type="http://schemas.openxmlformats.org/officeDocument/2006/relationships/image" Target="/ppt/media/image32.png" Id="R3bdcec786e874eb8" /><Relationship Type="http://schemas.openxmlformats.org/officeDocument/2006/relationships/image" Target="/ppt/media/image33.png" Id="R04af11f754184c95" /><Relationship Type="http://schemas.openxmlformats.org/officeDocument/2006/relationships/notesSlide" Target="/ppt/notesSlides/notesSlide29.xml" Id="R4e11c2cd866f4c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39aeca5ca4dd2" /><Relationship Type="http://schemas.openxmlformats.org/officeDocument/2006/relationships/notesSlide" Target="/ppt/notesSlides/notesSlide30.xml" Id="R7f5ce693381e451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65724a25444b0" /><Relationship Type="http://schemas.openxmlformats.org/officeDocument/2006/relationships/image" Target="/ppt/media/image34.png" Id="Ra7001bc9685449b0" /><Relationship Type="http://schemas.openxmlformats.org/officeDocument/2006/relationships/image" Target="/ppt/media/image35.png" Id="R12ab5e85cf7c4db6" /><Relationship Type="http://schemas.openxmlformats.org/officeDocument/2006/relationships/image" Target="/ppt/media/image36.png" Id="Rb1c13fa3e3cc48e6" /><Relationship Type="http://schemas.openxmlformats.org/officeDocument/2006/relationships/notesSlide" Target="/ppt/notesSlides/notesSlide31.xml" Id="Rffa166388d7b45c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33ba7aa2a49ce" /><Relationship Type="http://schemas.openxmlformats.org/officeDocument/2006/relationships/notesSlide" Target="/ppt/notesSlides/notesSlide32.xml" Id="Rd095d85b2a1a492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b6a4b6a024037" /><Relationship Type="http://schemas.openxmlformats.org/officeDocument/2006/relationships/notesSlide" Target="/ppt/notesSlides/notesSlide33.xml" Id="Rc6a90a97bcbb49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e335cd1534c73" /><Relationship Type="http://schemas.openxmlformats.org/officeDocument/2006/relationships/notesSlide" Target="/ppt/notesSlides/notesSlide34.xml" Id="Rfb900d4c131a4dc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4682ff2824a64" /><Relationship Type="http://schemas.openxmlformats.org/officeDocument/2006/relationships/image" Target="/ppt/media/image37.png" Id="R5df552c1c7ba47d6" /><Relationship Type="http://schemas.openxmlformats.org/officeDocument/2006/relationships/image" Target="/ppt/media/image38.png" Id="R4701ee222cd54dfa" /><Relationship Type="http://schemas.openxmlformats.org/officeDocument/2006/relationships/image" Target="/ppt/media/image39.png" Id="R6f775a073d004347" /><Relationship Type="http://schemas.openxmlformats.org/officeDocument/2006/relationships/image" Target="/ppt/media/image40.png" Id="R01dee898de0a41d7" /><Relationship Type="http://schemas.openxmlformats.org/officeDocument/2006/relationships/notesSlide" Target="/ppt/notesSlides/notesSlide35.xml" Id="R6cd8de4a340b426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dba72ddcc40d4" /><Relationship Type="http://schemas.openxmlformats.org/officeDocument/2006/relationships/chart" Target="/ppt/slides/charts/chart4.xml" Id="Rb241858b3cfc4b17" /><Relationship Type="http://schemas.openxmlformats.org/officeDocument/2006/relationships/notesSlide" Target="/ppt/notesSlides/notesSlide36.xml" Id="R0038afffd5ab4b5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f5c8a47444bc3" /><Relationship Type="http://schemas.openxmlformats.org/officeDocument/2006/relationships/image" Target="/ppt/media/image41.png" Id="R63aa1341cdc54a4e" /><Relationship Type="http://schemas.openxmlformats.org/officeDocument/2006/relationships/notesSlide" Target="/ppt/notesSlides/notesSlide37.xml" Id="R8931ab2a2cab447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812be793b4ef2" /><Relationship Type="http://schemas.openxmlformats.org/officeDocument/2006/relationships/image" Target="/ppt/media/image42.png" Id="R9b7a0124876e44f1" /><Relationship Type="http://schemas.openxmlformats.org/officeDocument/2006/relationships/notesSlide" Target="/ppt/notesSlides/notesSlide38.xml" Id="R1c355ac9778e48b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fcad766634b4c" /><Relationship Type="http://schemas.openxmlformats.org/officeDocument/2006/relationships/notesSlide" Target="/ppt/notesSlides/notesSlide39.xml" Id="R5121015fa66d407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600f890ea4a7e" /><Relationship Type="http://schemas.openxmlformats.org/officeDocument/2006/relationships/notesSlide" Target="/ppt/notesSlides/notesSlide40.xml" Id="R4fd453e545404e71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scatterChart>
        <c:scatterStyle val="lineMarker"/>
        <c:ser>
          <c:idx val="0"/>
          <c:order val="0"/>
          <c:tx>
            <c:v>precision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7"/>
          </c:marker>
          <c:xVal>
            <c:numLit>
              <c:formatCode>General</c:formatCode>
              <c:ptCount val="9"/>
              <c:pt idx="0">
                <c:v>0</c:v>
              </c:pt>
              <c:pt idx="1">
                <c:v>0.3333333333333333</c:v>
              </c:pt>
              <c:pt idx="2">
                <c:v>0.3333333333333333</c:v>
              </c:pt>
              <c:pt idx="3">
                <c:v>0.6666666666666666</c:v>
              </c:pt>
              <c:pt idx="4">
                <c:v>0.6666666666666666</c:v>
              </c:pt>
              <c:pt idx="5">
                <c:v>0.6666666666666666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</c:numLit>
          </c:xVal>
          <c:yVal>
            <c:numLit>
              <c:formatCode>General</c:formatCode>
              <c:ptCount val="9"/>
              <c:pt idx="0">
                <c:v>100</c:v>
              </c:pt>
              <c:pt idx="1">
                <c:v>100</c:v>
              </c:pt>
              <c:pt idx="2">
                <c:v>50</c:v>
              </c:pt>
              <c:pt idx="3">
                <c:v>66.66666666666667</c:v>
              </c:pt>
              <c:pt idx="4">
                <c:v>50</c:v>
              </c:pt>
              <c:pt idx="5">
                <c:v>40</c:v>
              </c:pt>
              <c:pt idx="6">
                <c:v>50</c:v>
              </c:pt>
              <c:pt idx="7">
                <c:v>42.857142857142854</c:v>
              </c:pt>
              <c:pt idx="8">
                <c:v>37.5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44">
                <a:solidFill>
                  <a:srgbClr val="5F6B78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44">
                <a:solidFill>
                  <a:srgbClr val="5F6B78"/>
                </a:solidFill>
              </a:defRPr>
            </a:pPr>
          </a:p>
        </c:txPr>
        <c:crossAx val="48672768"/>
        <c:crosses val="autoZero"/>
        <c:majorUnit val="0.3333333333333333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AP at target prevalence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7"/>
              <c:pt idx="0">
                <c:v>0.01</c:v>
              </c:pt>
              <c:pt idx="1">
                <c:v>0.03</c:v>
              </c:pt>
              <c:pt idx="2">
                <c:v>0.05</c:v>
              </c:pt>
              <c:pt idx="3">
                <c:v>0.1</c:v>
              </c:pt>
              <c:pt idx="4">
                <c:v>0.2</c:v>
              </c:pt>
              <c:pt idx="5">
                <c:v>0.4</c:v>
              </c:pt>
              <c:pt idx="6">
                <c:v>0.6</c:v>
              </c:pt>
            </c:numLit>
          </c:cat>
          <c:val>
            <c:numLit>
              <c:formatCode>General</c:formatCode>
              <c:ptCount val="7"/>
              <c:pt idx="0">
                <c:v>35</c:v>
              </c:pt>
              <c:pt idx="1">
                <c:v>38.1</c:v>
              </c:pt>
              <c:pt idx="2">
                <c:v>41</c:v>
              </c:pt>
              <c:pt idx="3">
                <c:v>47.6</c:v>
              </c:pt>
              <c:pt idx="4">
                <c:v>58.3</c:v>
              </c:pt>
              <c:pt idx="5">
                <c:v>73.9</c:v>
              </c:pt>
              <c:pt idx="6">
                <c:v>84.9</c:v>
              </c:pt>
            </c:numLit>
          </c:val>
          <c:smooth val="1"/>
        </c:ser>
        <c:ser>
          <c:idx val="1"/>
          <c:order val="1"/>
          <c:tx>
            <c:v>CNAP at target prevalence</c:v>
          </c:tx>
          <c:spPr>
            <a:ln xmlns:a="http://schemas.openxmlformats.org/drawingml/2006/main" w="38100">
              <a:solidFill>
                <a:srgbClr val="0E7C66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7"/>
              <c:pt idx="0">
                <c:v>0.01</c:v>
              </c:pt>
              <c:pt idx="1">
                <c:v>0.03</c:v>
              </c:pt>
              <c:pt idx="2">
                <c:v>0.05</c:v>
              </c:pt>
              <c:pt idx="3">
                <c:v>0.1</c:v>
              </c:pt>
              <c:pt idx="4">
                <c:v>0.2</c:v>
              </c:pt>
              <c:pt idx="5">
                <c:v>0.4</c:v>
              </c:pt>
              <c:pt idx="6">
                <c:v>0.6</c:v>
              </c:pt>
            </c:numLit>
          </c:cat>
          <c:val>
            <c:numLit>
              <c:formatCode>General</c:formatCode>
              <c:ptCount val="7"/>
              <c:pt idx="0">
                <c:v>34.3</c:v>
              </c:pt>
              <c:pt idx="1">
                <c:v>36.2</c:v>
              </c:pt>
              <c:pt idx="2">
                <c:v>37.9</c:v>
              </c:pt>
              <c:pt idx="3">
                <c:v>41.7</c:v>
              </c:pt>
              <c:pt idx="4">
                <c:v>47.9</c:v>
              </c:pt>
              <c:pt idx="5">
                <c:v>56.4</c:v>
              </c:pt>
              <c:pt idx="6">
                <c:v>62.3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253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replication 1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4"/>
              <c:pt idx="0">
                <c:v>0.01</c:v>
              </c:pt>
              <c:pt idx="1">
                <c:v>0.05</c:v>
              </c:pt>
              <c:pt idx="2">
                <c:v>0.2</c:v>
              </c:pt>
              <c:pt idx="3">
                <c:v>0.4</c:v>
              </c:pt>
            </c:numLit>
          </c:cat>
          <c:val>
            <c:numLit>
              <c:formatCode>General</c:formatCode>
              <c:ptCount val="4"/>
              <c:pt idx="0">
                <c:v>22</c:v>
              </c:pt>
              <c:pt idx="1">
                <c:v>38</c:v>
              </c:pt>
              <c:pt idx="2">
                <c:v>55</c:v>
              </c:pt>
              <c:pt idx="3">
                <c:v>61</c:v>
              </c:pt>
            </c:numLit>
          </c:val>
          <c:smooth val="1"/>
        </c:ser>
        <c:ser>
          <c:idx val="1"/>
          <c:order val="1"/>
          <c:tx>
            <c:v>replication 2</c:v>
          </c:tx>
          <c:spPr>
            <a:ln xmlns:a="http://schemas.openxmlformats.org/drawingml/2006/main" w="38100">
              <a:solidFill>
                <a:srgbClr val="D97706"/>
              </a:solidFill>
              <a:prstDash val="solid"/>
            </a:ln>
          </c:spPr>
          <c:marker>
            <c:symbol val="diamond"/>
            <c:size val="7"/>
          </c:marker>
          <c:cat>
            <c:numLit>
              <c:formatCode>General</c:formatCode>
              <c:ptCount val="4"/>
              <c:pt idx="0">
                <c:v>0.01</c:v>
              </c:pt>
              <c:pt idx="1">
                <c:v>0.05</c:v>
              </c:pt>
              <c:pt idx="2">
                <c:v>0.2</c:v>
              </c:pt>
              <c:pt idx="3">
                <c:v>0.4</c:v>
              </c:pt>
            </c:numLit>
          </c:cat>
          <c:val>
            <c:numLit>
              <c:formatCode>General</c:formatCode>
              <c:ptCount val="4"/>
              <c:pt idx="0">
                <c:v>62</c:v>
              </c:pt>
              <c:pt idx="1">
                <c:v>54</c:v>
              </c:pt>
              <c:pt idx="2">
                <c:v>36</c:v>
              </c:pt>
              <c:pt idx="3">
                <c:v>18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253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supported level</c:v>
          </c:tx>
          <c:spPr>
            <a:ln xmlns:a="http://schemas.openxmlformats.org/drawingml/2006/main" w="38100">
              <a:solidFill>
                <a:srgbClr val="6B4E8E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52</c:v>
              </c:pt>
              <c:pt idx="1">
                <c:v>43</c:v>
              </c:pt>
              <c:pt idx="2">
                <c:v>38</c:v>
              </c:pt>
              <c:pt idx="3">
                <c:v>34</c:v>
              </c:pt>
              <c:pt idx="4">
                <c:v>31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25B2124-338F-4EA8-8D37-1B0D6F50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LAB WALKTHROUGH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E3AD4A-129E-4C9A-BF5D-B38F541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096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11253D"/>
                </a:solidFill>
              </a:defRPr>
            </a:pPr>
            <a:r>
              <a:rPr sz="4650" b="1" i="0">
                <a:solidFill>
                  <a:srgbClr val="11253D"/>
                </a:solidFill>
              </a:rPr>
              <a:t>What did the performance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11253D"/>
                </a:solidFill>
              </a:defRPr>
            </a:pPr>
            <a:r>
              <a:rPr sz="4650" b="1" i="0">
                <a:solidFill>
                  <a:srgbClr val="11253D"/>
                </a:solidFill>
              </a:rPr>
              <a:t>claim survive?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83C7020-F718-478D-8473-FC237C01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A pedagogical route from average precision to prevalence-robust,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replication-supported model replacement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C95059D-009E-4799-A517-7EC1462B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1D0CC3-D7DB-4B75-9749-6B7AA19D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240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2B6CB0"/>
                </a:solidFill>
              </a:defRPr>
            </a:pPr>
            <a:r>
              <a:rPr sz="4350" b="1" i="0">
                <a:solidFill>
                  <a:srgbClr val="2B6CB0"/>
                </a:solidFill>
              </a:rPr>
              <a:t>AP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C24B822-06DC-4137-927B-6C5DDA6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D97706"/>
                </a:solidFill>
              </a:defRPr>
            </a:pPr>
            <a:r>
              <a:rPr sz="2400" b="1" i="0">
                <a:solidFill>
                  <a:srgbClr val="D97706"/>
                </a:solidFill>
              </a:rPr>
              <a:t>↓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F189AFA-8D78-4480-BAC9-FD44EAA7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776D2DC-1E4C-4B58-A3B4-F1B7F697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040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E7C66"/>
                </a:solidFill>
              </a:defRPr>
            </a:pPr>
            <a:r>
              <a:rPr sz="2775" b="1" i="0">
                <a:solidFill>
                  <a:srgbClr val="0E7C66"/>
                </a:solidFill>
              </a:rPr>
              <a:t>claim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D2D4A1-4814-4ED5-85FC-D9B87C9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14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0E7C66"/>
                </a:solidFill>
              </a:defRPr>
            </a:pPr>
            <a:r>
              <a:rPr sz="1725" b="0" i="0">
                <a:solidFill>
                  <a:srgbClr val="0E7C66"/>
                </a:solidFill>
              </a:rPr>
              <a:t>survived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7876E6A-E5E4-4DE2-8D32-2BC47D9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59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1A36DE-0B8B-4C34-BADF-B2FD51CF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F6B78"/>
                </a:solidFill>
              </a:defRPr>
            </a:pPr>
            <a:r>
              <a:rPr sz="1350" b="0" i="0">
                <a:solidFill>
                  <a:srgbClr val="5F6B78"/>
                </a:solidFill>
              </a:rPr>
              <a:t>Stats_Paper_Extending_PRAUC_v12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BA194FB-4762-4DC5-8A2F-02C3C18E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817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 i="0">
                <a:solidFill>
                  <a:srgbClr val="5F6B78"/>
                </a:solidFill>
              </a:defRPr>
            </a:pPr>
            <a:r>
              <a:rPr sz="1350" b="0" i="0">
                <a:solidFill>
                  <a:srgbClr val="5F6B78"/>
                </a:solidFill>
              </a:rPr>
              <a:t>Computational lab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9574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2476BC3-37D9-E2FD-B8CF-92125D18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8537C0-52FD-ECCF-F0C2-81582872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AUROC </a:t>
            </a:r>
            <a:r>
              <a:rPr sz="3600" b="1" i="0">
                <a:solidFill>
                  <a:srgbClr val="11253D"/>
                </a:solidFill>
              </a:rPr>
              <a:t>vs Average Precision (AP)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0A93E01-9D9C-0F6C-E832-8E98619C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94A257-728D-3768-46BD-5A85B91C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FC80619-0296-BC1B-3D5A-3270F73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743" y="3024188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Eg, at a particular threshold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F9E381A-68EB-4B89-AB0E-B8DF8990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6D37F81-2D74-86D1-2C13-6363B353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81600"/>
            <a:ext cx="4476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E7C66"/>
                </a:solidFill>
              </a:defRPr>
            </a:pPr>
            <a:r>
              <a:rPr sz="2100" b="1">
                <a:solidFill>
                  <a:srgbClr val="0E7C66"/>
                </a:solidFill>
              </a:rPr>
              <a:t>AP asks: </a:t>
            </a:r>
          </a:p>
          <a:p xmlns:a="http://schemas.openxmlformats.org/drawingml/2006/main">
            <a:pPr>
              <a:buNone/>
              <a:defRPr sz="2100" b="1" i="0">
                <a:solidFill>
                  <a:srgbClr val="0E7C66"/>
                </a:solidFill>
              </a:defRPr>
            </a:pPr>
            <a:r>
              <a:rPr sz="2100" b="1"/>
              <a:t>On average, how pure are the model's predictions while progressively retrieving more of the true positives?</a:t>
            </a:r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E0EA9190-2C75-864D-DF09-5198AF26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2" y="39100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59211347-0B37-D789-9C24-9FF79C3B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7" y="39671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A35383D2-67D2-04B8-0B11-7949BD74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2" y="39100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896426D4-AA65-8371-946A-972CC52E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7" y="39671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77614E6-27F7-83AB-2FFB-FDDB6A66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031" y="3805238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1F79C291-D283-EA10-8D15-E08F3399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93" y="3767138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B346EFA5-ACBB-9DFD-440D-1D3CC5F9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7" y="3786188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403D25B-EB79-D8C3-42D3-E4A723E9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956" y="3748088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1BD2D959-3C30-5F9E-501D-EF5798F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15" y="3678891"/>
            <a:ext cx="4933249" cy="3160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>
                <a:solidFill>
                  <a:srgbClr val="11253D"/>
                </a:solidFill>
              </a:rPr>
              <a:t>AUPRC: vary classification threshold in order to compute: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  <a:p xmlns:a="http://schemas.openxmlformats.org/drawingml/2006/main">
            <a:pPr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/>
              <a:t>probability that a randomly chosen positive example receives a higher score than a randomly chosen negative example.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0FBCF46-AC10-F39C-EF96-87CD24A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537" y="1949193"/>
            <a:ext cx="4933249" cy="730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>
                <a:solidFill>
                  <a:srgbClr val="11253D"/>
                </a:solidFill>
              </a:rPr>
              <a:t>AP: Vary classification threshold but only look at positives.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4AA828A-ED0A-E7A2-3D69-477BFEA4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9" y="2095500"/>
            <a:ext cx="3355041" cy="238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Model provides a score, s. (The darker the higher)</a:t>
            </a: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22D6ACB0-8399-8B69-242F-535508E5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D06D8489-322B-A9A3-04E7-DB1A0B4C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CE8CC660-8DAE-870E-1C81-480C5F9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FC803B4B-07B1-58EA-8AC8-02F062C9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50000"/>
              <a:lumOff val="50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8AF48CD-7A70-60BF-B299-D1B31261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535" y="26146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65000"/>
              <a:lumOff val="35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4F7171F6-1B11-7EE8-389A-6D77F38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10" y="26717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E6EA7E43-63FD-5F15-CE70-8067B3A3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285" y="26146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3A561911-B5A5-C963-86D4-F13D9F9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160" y="26717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0BE35FE4-8D83-2811-8C3F-39B9C4E0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010" y="2518803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3805AF65-5AFE-D42C-076E-6685DE7C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297" y="2448766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82DD51EA-7506-3263-B1FA-0B91DF7B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260" y="2518803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1512C100-55CE-6AA5-01AC-7723AFB7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914" y="2471737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A96496C4-3B30-F0E7-5717-D5F28B66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86" y="2463333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646519C2-EED3-326C-2ACB-4EBD18C4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24193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666E3750-25E3-6D2C-BBB5-9053987D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265" y="2468376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106A7E0D-3548-C31D-36B8-4FF009E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89" y="2406323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6894260B-A914-C165-23A2-EA2AE112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67" y="4869516"/>
            <a:ext cx="2353593" cy="3193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𝑃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 xml:space="preserve">(  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𝑠</m:t>
                  </m:r>
                  <m:d>
                    <m:dPr>
                      <m:grow m:val="off"/>
                    </m:dPr>
                    <m:e>
                      <m:sSub>
                        <m:e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𝑝𝑜𝑠</m:t>
                          </m:r>
                        </m:sub>
                      </m:sSub>
                    </m:e>
                  </m:d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&gt;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𝑠</m:t>
                  </m:r>
                  <m:d>
                    <m:dPr>
                      <m:grow m:val="off"/>
                    </m:dPr>
                    <m:e>
                      <m:sSub>
                        <m:e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𝑛𝑒𝑔</m:t>
                          </m:r>
                        </m:sub>
                      </m:sSub>
                    </m:e>
                  </m:d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 xml:space="preserve"> )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2609178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D48ACF-3F0F-48C7-8065-F0162AB4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A804195-36A0-4DF1-A11F-CCC066E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Average Precision depends on precision (averaged over recall)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7262E9E-5EE9-40CC-B85B-A5A4A320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91882C-B3DA-48B4-89F0-1FD2A9E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WHY AP?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6198A7-6BC3-4BC2-BC03-D21AE31E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03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75307B3-2B37-48B5-9437-C3DB7B18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6482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2A992B0-4A8B-47FA-BD7F-08C6998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PRECISION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22AA8A8-F504-4E94-858D-20A40320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Of the cases we selected,</a:t>
            </a:r>
          </a:p>
          <a:p xmlns:a="http://schemas.openxmlformats.org/drawingml/2006/main">
            <a:pPr algn="l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how many are positive?</a:t>
            </a:r>
          </a:p>
        </p:txBody>
      </p:sp>
      <p:pic>
        <p:nvPicPr>
          <p:cNvPr id="2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9686121544c35"/>
          <a:stretch xmlns:a="http://schemas.openxmlformats.org/drawingml/2006/main"/>
        </p:blipFill>
        <p:spPr>
          <a:xfrm xmlns:a="http://schemas.openxmlformats.org/drawingml/2006/main">
            <a:off x="2074196" y="3790950"/>
            <a:ext cx="2080958" cy="514350"/>
          </a:xfrm>
          <a:prstGeom xmlns:a="http://schemas.openxmlformats.org/drawingml/2006/main" prst="rect">
            <a:avLst/>
          </a:prstGeom>
        </p:spPr>
      </p:pic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DC6E005-B75D-4B55-B304-6095E53B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6482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91291D-0DFC-4522-99A4-409AB100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RECALL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FE065F-E5D4-4B06-9096-C51A2E9B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Of all positive cases,</a:t>
            </a:r>
          </a:p>
          <a:p xmlns:a="http://schemas.openxmlformats.org/drawingml/2006/main">
            <a:pPr algn="l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how many did we select?</a:t>
            </a:r>
          </a:p>
        </p:txBody>
      </p:sp>
      <p:pic>
        <p:nvPicPr>
          <p:cNvPr id="3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c33f815cd4cf2"/>
          <a:stretch xmlns:a="http://schemas.openxmlformats.org/drawingml/2006/main"/>
        </p:blipFill>
        <p:spPr>
          <a:xfrm xmlns:a="http://schemas.openxmlformats.org/drawingml/2006/main">
            <a:off x="7994965" y="3790950"/>
            <a:ext cx="1821820" cy="514350"/>
          </a:xfrm>
          <a:prstGeom xmlns:a="http://schemas.openxmlformats.org/drawingml/2006/main" prst="rect">
            <a:avLst/>
          </a:prstGeom>
        </p:spPr>
      </p:pic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34EA426-2F9D-4888-8E7A-26E972B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48250"/>
            <a:ext cx="6400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1B9D8A8-68A8-443C-A75E-59B7F65E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19700"/>
            <a:ext cx="601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Move the score threshold → both quantities change together.</a:t>
            </a:r>
          </a:p>
        </p:txBody>
      </p:sp>
    </p:spTree>
    <p:extLst>
      <p:ext uri="{BB962C8B-B14F-4D97-AF65-F5344CB8AC3E}">
        <p14:creationId xmlns:p14="http://schemas.microsoft.com/office/powerpoint/2010/main" val="1683577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1420E2D-7C50-4C12-888E-88BBA65A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A9B20F-841D-4E73-B53C-FB12292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How to compute AP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997E2E-EA9F-4DB1-8286-2B5D9A28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61C0B7-20CA-47A3-8B2D-6C410FDE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713006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438CF8-986A-4146-BEB7-3570EDC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0556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ONE RANKED LIST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FC75DB0-2204-4CFE-A2F7-08F37D33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0B560BF-C061-4E33-91B0-880D2FA1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9D867E-ADD9-4C8C-ABBE-4D89CAA1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76CFB81-29AF-40FB-A1EE-CBCE341D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7930D97-DBFC-4167-B2D2-8CD46CBE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CE29DEC-7DDB-48C9-91DA-34725AB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8867649-E891-436C-926E-76124693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90FCD39-896E-4276-947C-0A03AFC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4A63D7D-EEC8-481D-8574-F00529E7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13B64E-C59C-4BB0-9742-BB17BAD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5D540F2-395F-4D93-A62D-52A39F0E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2801F7C-74E9-4F62-BF14-13B96E5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4D862CE-9626-48C5-90DD-B38396FA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932848-BADA-464D-B68E-D6F5AB01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6BE8FB5-3C16-477C-AFEC-A23DA586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5830FA7-9146-427D-8C06-E9AE134C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1ECE6CB-EB62-439A-820A-124B121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B6EFC19-2B15-4F3C-AA78-31A7CB6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BDE649C-5C3D-4D3F-B6FC-E757137E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8AA58FF-D248-40E7-A72F-83D4622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61DEB06-0499-461D-8A89-99AB4C05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2C49DE65-EAE2-4180-8840-8D93413A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6BCE866-1926-432A-9FBE-D4AD899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9347328-E499-43DB-812F-B53694A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7C468F7-A216-450D-9490-8488F4A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2056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750" b="1" i="0">
                <a:solidFill>
                  <a:srgbClr val="5F6B78"/>
                </a:solidFill>
              </a:defRPr>
            </a:pPr>
            <a:r>
              <a:rPr sz="3750" b="1" i="0">
                <a:solidFill>
                  <a:srgbClr val="5F6B78"/>
                </a:solidFill>
              </a:rPr>
              <a:t>→</a:t>
            </a:r>
          </a:p>
        </p:txBody>
      </p:sp>
      <p:graphicFrame>
        <p:nvGraphicFramePr>
          <p:cNvPr id="68" name="Chart"/>
          <p:cNvGraphicFramePr/>
          <p:nvPr/>
        </p:nvGraphicFramePr>
        <p:xfrm>
          <a:off xmlns:a="http://schemas.openxmlformats.org/drawingml/2006/main" x="6667500" y="3312456"/>
          <a:ext xmlns:a="http://schemas.openxmlformats.org/drawingml/2006/main" cx="4476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7672c80a29453f"/>
          </a:graphicData>
        </a:graphic>
      </p:graphicFrame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77C644F-2C7E-4908-967A-A003208D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550956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recall →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6E2A69E-0090-4AFC-982F-513C0446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96" y="534352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Every positive expands recall; every false positive can dilute precision.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60D1945-5EAA-2543-E69B-C324819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31641"/>
            <a:ext cx="60960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To compute AP, move down the ranked list of examples from highest score to lowest score and ask how precise is the model at every point where I recover more positive examples?</a:t>
            </a:r>
          </a:p>
        </p:txBody>
      </p:sp>
    </p:spTree>
    <p:extLst>
      <p:ext uri="{BB962C8B-B14F-4D97-AF65-F5344CB8AC3E}">
        <p14:creationId xmlns:p14="http://schemas.microsoft.com/office/powerpoint/2010/main" val="837768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173A2B9-ED99-4156-923C-5AA661C2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BB5C15-907C-4AD6-B0DF-DC2E9F97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253D"/>
                </a:solidFill>
              </a:defRPr>
            </a:pPr>
            <a:r>
              <a:rPr sz="3450" b="1" i="0">
                <a:solidFill>
                  <a:srgbClr val="11253D"/>
                </a:solidFill>
              </a:rPr>
              <a:t>AP rises when positives</a:t>
            </a:r>
          </a:p>
          <a:p xmlns:a="http://schemas.openxmlformats.org/drawingml/2006/main">
            <a:pPr algn="l">
              <a:buNone/>
              <a:defRPr sz="3450" b="1" i="0">
                <a:solidFill>
                  <a:srgbClr val="11253D"/>
                </a:solidFill>
              </a:defRPr>
            </a:pPr>
            <a:r>
              <a:rPr sz="3450" b="1" i="0">
                <a:solidFill>
                  <a:srgbClr val="11253D"/>
                </a:solidFill>
              </a:rPr>
              <a:t>appear early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9D75171-CD3C-4C11-AE17-78FD623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A5EE2DE-A404-4B16-9384-FF537157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WHY AP?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0086903-2739-4BA7-B6D3-15AF93C1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2F3EDD8-3712-4505-9EBC-3679B8F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POSITIVE RANKS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676EEB00-A176-4FD9-9179-650CE760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87885F-1D7F-446C-BDFA-13472D1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30AF30-19AA-490C-AD28-8EC3954B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76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1</a:t>
            </a:r>
          </a:p>
        </p:txBody>
      </p:sp>
      <p:pic>
        <p:nvPicPr>
          <p:cNvPr id="39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2c60cb3624c8a"/>
          <a:stretch xmlns:a="http://schemas.openxmlformats.org/drawingml/2006/main"/>
        </p:blipFill>
        <p:spPr>
          <a:xfrm xmlns:a="http://schemas.openxmlformats.org/drawingml/2006/main">
            <a:off x="3597325" y="2609850"/>
            <a:ext cx="787301" cy="438150"/>
          </a:xfrm>
          <a:prstGeom xmlns:a="http://schemas.openxmlformats.org/drawingml/2006/main" prst="rect">
            <a:avLst/>
          </a:prstGeom>
        </p:spPr>
      </p:pic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5B6DF55-97D6-4617-82BB-2305593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052235-777F-4967-BDA4-A133B9DB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32E1C6-9B00-4788-A204-E1167897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95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3</a:t>
            </a:r>
          </a:p>
        </p:txBody>
      </p:sp>
      <p:pic>
        <p:nvPicPr>
          <p:cNvPr id="43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5ce5003f94201"/>
          <a:stretch xmlns:a="http://schemas.openxmlformats.org/drawingml/2006/main"/>
        </p:blipFill>
        <p:spPr>
          <a:xfrm xmlns:a="http://schemas.openxmlformats.org/drawingml/2006/main">
            <a:off x="3600376" y="3429000"/>
            <a:ext cx="781198" cy="438150"/>
          </a:xfrm>
          <a:prstGeom xmlns:a="http://schemas.openxmlformats.org/drawingml/2006/main" prst="rect">
            <a:avLst/>
          </a:prstGeom>
        </p:spPr>
      </p:pic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BC94BCF2-C031-4455-9151-EA174E30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751CA3D-A3C3-4240-8ACE-46C0CAF8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33E6560-269E-425D-9858-89E8619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148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6</a:t>
            </a:r>
          </a:p>
        </p:txBody>
      </p:sp>
      <p:pic>
        <p:nvPicPr>
          <p:cNvPr id="47" name="Pictur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d2dba4c904ede"/>
          <a:stretch xmlns:a="http://schemas.openxmlformats.org/drawingml/2006/main"/>
        </p:blipFill>
        <p:spPr>
          <a:xfrm xmlns:a="http://schemas.openxmlformats.org/drawingml/2006/main">
            <a:off x="3600376" y="4248150"/>
            <a:ext cx="781198" cy="438150"/>
          </a:xfrm>
          <a:prstGeom xmlns:a="http://schemas.openxmlformats.org/drawingml/2006/main" prst="rect">
            <a:avLst/>
          </a:prstGeom>
        </p:spPr>
      </p:pic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3CDA66E-5333-418F-BD8B-4278FECA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612d2151f4098"/>
          <a:stretch xmlns:a="http://schemas.openxmlformats.org/drawingml/2006/main"/>
        </p:blipFill>
        <p:spPr>
          <a:xfrm xmlns:a="http://schemas.openxmlformats.org/drawingml/2006/main" flipH="0" flipV="0">
            <a:off x="6722804" y="2724150"/>
            <a:ext cx="3699392" cy="781050"/>
          </a:xfrm>
          <a:prstGeom xmlns:a="http://schemas.openxmlformats.org/drawingml/2006/main" prst="rect">
            <a:avLst/>
          </a:prstGeom>
        </p:spPr>
      </p:pic>
      <p:pic>
        <p:nvPicPr>
          <p:cNvPr id="50" name="Pictur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acee2c5ca4426"/>
          <a:stretch xmlns:a="http://schemas.openxmlformats.org/drawingml/2006/main"/>
        </p:blipFill>
        <p:spPr>
          <a:xfrm xmlns:a="http://schemas.openxmlformats.org/drawingml/2006/main" flipH="0" flipV="0">
            <a:off x="7133034" y="3619500"/>
            <a:ext cx="2878931" cy="590550"/>
          </a:xfrm>
          <a:prstGeom xmlns:a="http://schemas.openxmlformats.org/drawingml/2006/main" prst="rect">
            <a:avLst/>
          </a:prstGeom>
        </p:spPr>
      </p:pic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4ECD5B1-C0F7-4688-B0BD-FDDF19B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86677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4843555-68BB-4C40-9B82-0AA7871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AP is a weighted summary of precision over recall—not the area of a smooth geometric shape.</a:t>
            </a:r>
          </a:p>
        </p:txBody>
      </p:sp>
    </p:spTree>
    <p:extLst>
      <p:ext uri="{BB962C8B-B14F-4D97-AF65-F5344CB8AC3E}">
        <p14:creationId xmlns:p14="http://schemas.microsoft.com/office/powerpoint/2010/main" val="748429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6D7C92A-A139-427E-BAAC-B293FC1F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23A910-9371-4797-AE54-AAE0E7AD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ranking can stay unchanged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while precision collapses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3C90C7-D32C-42AF-8263-81BE1DDD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4F215F-D9A7-4138-BBE5-59E92DB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153D1C-0E15-467F-AFC2-20D4CC61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D1503D0-910E-4875-9412-3854065D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SAME OPERATING BEHAVIOR</a:t>
            </a:r>
          </a:p>
        </p:txBody>
      </p:sp>
      <p:pic>
        <p:nvPicPr>
          <p:cNvPr id="2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6b1f092444c52"/>
          <a:stretch xmlns:a="http://schemas.openxmlformats.org/drawingml/2006/main"/>
        </p:blipFill>
        <p:spPr>
          <a:xfrm xmlns:a="http://schemas.openxmlformats.org/drawingml/2006/main">
            <a:off x="685800" y="2372447"/>
            <a:ext cx="4476750" cy="474807"/>
          </a:xfrm>
          <a:prstGeom xmlns:a="http://schemas.openxmlformats.org/drawingml/2006/main" prst="rect">
            <a:avLst/>
          </a:prstGeom>
        </p:spPr>
      </p:pic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A53CB6B-5354-41EF-996D-DE05928C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4095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B3ADC5D-6BE5-446A-BFDE-89C9659D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385000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2A7A6D8-4D54-4DF5-A901-7357680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50% prevalence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771479-566F-4892-81B7-012B5BEE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24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B6CB0"/>
                </a:solidFill>
              </a:defRPr>
            </a:pPr>
            <a:r>
              <a:rPr sz="1650" b="1" i="0">
                <a:solidFill>
                  <a:srgbClr val="2B6CB0"/>
                </a:solidFill>
              </a:rPr>
              <a:t>0.94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A19A79B-968F-4CE0-BC9D-6674BD6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D0F45F2-6EF2-43E5-A56F-779C397E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7340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F8D6B69-430F-4D15-A4E6-80D83AFB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1% prevalence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056465C-EDB8-40C6-BA07-B4A1E82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86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0.14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C0481C-D866-49C8-9F22-F449B91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0957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DA486CE-C940-482A-8D7D-680AD938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The classifier did not change.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263E5C2-FAF4-4C87-AD02-6F8CAA1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D97706"/>
                </a:solidFill>
              </a:defRPr>
            </a:pPr>
            <a:r>
              <a:rPr sz="2250" b="1" i="0">
                <a:solidFill>
                  <a:srgbClr val="D97706"/>
                </a:solidFill>
              </a:rPr>
              <a:t>The supply of negatives did.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F24C709-AF9C-4920-8407-FCF36E92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1253D"/>
                </a:solidFill>
              </a:defRPr>
            </a:pPr>
            <a:r>
              <a:rPr sz="1875" b="0" i="0">
                <a:solidFill>
                  <a:srgbClr val="11253D"/>
                </a:solidFill>
              </a:rPr>
              <a:t>Precision therefore describes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11253D"/>
                </a:solidFill>
              </a:defRPr>
            </a:pPr>
            <a:r>
              <a:rPr sz="1875" b="0" i="0">
                <a:solidFill>
                  <a:srgbClr val="11253D"/>
                </a:solidFill>
              </a:rPr>
              <a:t>a ranking in a population.</a:t>
            </a:r>
          </a:p>
        </p:txBody>
      </p:sp>
    </p:spTree>
    <p:extLst>
      <p:ext uri="{BB962C8B-B14F-4D97-AF65-F5344CB8AC3E}">
        <p14:creationId xmlns:p14="http://schemas.microsoft.com/office/powerpoint/2010/main" val="1771354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4AF5E08-78E7-4E6C-8A08-0020DE16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C4A3AA-3E2F-4549-B15A-AAE39F0B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Change the class prior—but preserve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within-class ranking behavior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750627-A415-4C69-9D33-102B9272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7D7FE8-3E5B-4793-990F-30CD4130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FCB92C-B3DF-4330-99F6-18AE2718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A0CB7E-4B0E-4D37-AFB5-C0BBD731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KEEP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6BA50DA-4FCE-4E76-8FBA-D5D3FA7E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32c3bd0514815"/>
          <a:stretch xmlns:a="http://schemas.openxmlformats.org/drawingml/2006/main"/>
        </p:blipFill>
        <p:spPr>
          <a:xfrm xmlns:a="http://schemas.openxmlformats.org/drawingml/2006/main">
            <a:off x="1066800" y="2896269"/>
            <a:ext cx="3581400" cy="474913"/>
          </a:xfrm>
          <a:prstGeom xmlns:a="http://schemas.openxmlformats.org/drawingml/2006/main" prst="rect">
            <a:avLst/>
          </a:prstGeom>
        </p:spPr>
      </p:pic>
      <p:pic>
        <p:nvPicPr>
          <p:cNvPr id="28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9d38c9dd5435f"/>
          <a:stretch xmlns:a="http://schemas.openxmlformats.org/drawingml/2006/main"/>
        </p:blipFill>
        <p:spPr>
          <a:xfrm xmlns:a="http://schemas.openxmlformats.org/drawingml/2006/main">
            <a:off x="1066800" y="3661557"/>
            <a:ext cx="3581400" cy="468337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112EAF8-2515-4E2D-8F43-9967F7FB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Observed class-conditional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ranking behavior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7CBBEBF-AC3B-44CD-8D60-A749CC1D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5F6B78"/>
                </a:solidFill>
              </a:defRPr>
            </a:pPr>
            <a:r>
              <a:rPr sz="39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467E673-479A-4CEB-B0B2-95DF1188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CHANGE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12CE1D1-7828-4E92-BB0A-75C9977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d814126a948e7"/>
          <a:stretch xmlns:a="http://schemas.openxmlformats.org/drawingml/2006/main"/>
        </p:blipFill>
        <p:spPr>
          <a:xfrm xmlns:a="http://schemas.openxmlformats.org/drawingml/2006/main">
            <a:off x="7505700" y="3105000"/>
            <a:ext cx="3162300" cy="590851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C78D0DB-5783-473E-8616-C53F202D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5F6B78"/>
                </a:solidFill>
              </a:defRPr>
            </a:pPr>
            <a:r>
              <a:rPr sz="1875" b="0" i="0">
                <a:solidFill>
                  <a:srgbClr val="5F6B78"/>
                </a:solidFill>
              </a:rPr>
              <a:t>The target population’s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5F6B78"/>
                </a:solidFill>
              </a:defRPr>
            </a:pPr>
            <a:r>
              <a:rPr sz="1875" b="0" i="0">
                <a:solidFill>
                  <a:srgbClr val="5F6B78"/>
                </a:solidFill>
              </a:rPr>
              <a:t>class prior</a:t>
            </a:r>
          </a:p>
        </p:txBody>
      </p:sp>
    </p:spTree>
    <p:extLst>
      <p:ext uri="{BB962C8B-B14F-4D97-AF65-F5344CB8AC3E}">
        <p14:creationId xmlns:p14="http://schemas.microsoft.com/office/powerpoint/2010/main" val="1952789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7BAD08D-45D9-4C62-9BCB-0B2C5CFB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D562FC-62FB-4A02-B84E-7A74223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Prior-standardized precision makes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target prevalence explicit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2A4865-7891-4828-B983-D4E1A919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B97AA6-D81D-4EB8-AC41-FA5D969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5525A5-48A2-4754-B668-18B292A1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08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5B6E66E-03B3-4602-9B5B-EDDDF96C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39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86546a02743b6"/>
          <a:stretch xmlns:a="http://schemas.openxmlformats.org/drawingml/2006/main"/>
        </p:blipFill>
        <p:spPr>
          <a:xfrm xmlns:a="http://schemas.openxmlformats.org/drawingml/2006/main">
            <a:off x="3784426" y="2343150"/>
            <a:ext cx="4623148" cy="81915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74F8C80-782A-47AF-ACF1-734432B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1% target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53BAA61-AEB1-453F-B743-48CC1A8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DDA961C-FA27-442B-A40E-AC3DFAE4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D97706"/>
                </a:solidFill>
              </a:defRPr>
            </a:pPr>
            <a:r>
              <a:rPr sz="2250" b="1" i="0">
                <a:solidFill>
                  <a:srgbClr val="D97706"/>
                </a:solidFill>
              </a:rPr>
              <a:t>0.14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6325DA-F85C-4299-B0CF-B480669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5% target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841B45D-32FB-43D4-B723-169A8C55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1C64AE-CFD5-4BAB-B077-54EAF85C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0.46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CBB4641-1FD3-4D4E-AA8D-EC04FC44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10% target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267B68C-7415-4E31-A513-301F6BD2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DAC4A4F-0EA8-4F5B-A854-3411203C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0.64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EFB2718-B338-4250-987E-77FA62E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20% target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686145B-5CEA-480E-8062-33C09BE8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82ABCD2-75C3-4CA0-8177-9D2DD54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0.80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1BDEF2-77E2-4C6E-857A-AE43EF55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50% target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063EF3B-C527-44D8-89CF-4C3111A5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2194D19-E485-4386-9AB4-34CFF70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0.94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A018A24-19F6-4CC9-B174-A22FFAA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The example fixes recall at 0.80 and the false-positive rate at 0.05.</a:t>
            </a:r>
          </a:p>
        </p:txBody>
      </p:sp>
    </p:spTree>
    <p:extLst>
      <p:ext uri="{BB962C8B-B14F-4D97-AF65-F5344CB8AC3E}">
        <p14:creationId xmlns:p14="http://schemas.microsoft.com/office/powerpoint/2010/main" val="2003227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BA8B33B-A9F9-43BA-BFA1-A475276E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7070CB7-5F11-4999-9B10-A05C1BB9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Reweighting is licensed only when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class-conditional scores transport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964DAE-EA21-4A1E-BD83-15B3C3C1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E3A4DAE-0B5A-4E87-9BD2-8DFEEF70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52F2144-60E7-4EE5-907A-21574CB1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09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52430CE-A2B7-4B87-8568-8A4A61EB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9530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96055E1-B17A-4DC2-82CF-48415D1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LICENSED</a:t>
            </a:r>
          </a:p>
        </p:txBody>
      </p:sp>
      <p:pic>
        <p:nvPicPr>
          <p:cNvPr id="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dd56bbdde4046"/>
          <a:stretch xmlns:a="http://schemas.openxmlformats.org/drawingml/2006/main"/>
        </p:blipFill>
        <p:spPr>
          <a:xfrm xmlns:a="http://schemas.openxmlformats.org/drawingml/2006/main">
            <a:off x="1066800" y="3271907"/>
            <a:ext cx="4419600" cy="352287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9253539-2B7E-4F01-BC7E-4111A09B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0E7C66"/>
                </a:solidFill>
              </a:defRPr>
            </a:pPr>
            <a:r>
              <a:rPr sz="1725" b="0" i="0">
                <a:solidFill>
                  <a:srgbClr val="0E7C66"/>
                </a:solidFill>
              </a:rPr>
              <a:t>Only the class prior changes.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9F876AA-164E-4F83-926A-D412A32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49530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4DC250D-952A-4F9C-90C6-A5DFE68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NOT LICENSED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0F33020-A571-4F0E-942F-DFFD0421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3924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Severity shifts</a:t>
            </a:r>
          </a:p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Measurement shifts</a:t>
            </a:r>
          </a:p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Within-class scores shift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A41AF24-BD09-41AF-8AE2-F0EA0DC3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B5473C"/>
                </a:solidFill>
              </a:defRPr>
            </a:pPr>
            <a:r>
              <a:rPr sz="1725" b="0" i="0">
                <a:solidFill>
                  <a:srgbClr val="B5473C"/>
                </a:solidFill>
              </a:rPr>
              <a:t>Those changes belong in the regime.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EEBF8D3-DF9B-4F69-A789-7185075A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0200"/>
            <a:ext cx="8801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04AEE1-A9EC-4466-9EE6-78B98DA6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81650"/>
            <a:ext cx="842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Invariance is a prespecified transport claim—not something the reweighted curve can prove.</a:t>
            </a:r>
          </a:p>
        </p:txBody>
      </p:sp>
    </p:spTree>
    <p:extLst>
      <p:ext uri="{BB962C8B-B14F-4D97-AF65-F5344CB8AC3E}">
        <p14:creationId xmlns:p14="http://schemas.microsoft.com/office/powerpoint/2010/main" val="15812653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2EBC8ED-8248-4384-AB1B-232E701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ADCE26-6883-472E-96E2-C2FDFC9F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AP needs a common baseline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before prevalences can be compared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6EA129-8A02-46B4-8EEE-42630D8A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C15606-7BCB-4112-83F8-5A4BDDEB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9547945-53F4-4CEE-B7D6-1C44422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E20049-CA1C-4C93-9ED1-48AC7AC3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F6B78"/>
                </a:solidFill>
              </a:defRPr>
            </a:pPr>
            <a:r>
              <a:rPr sz="2100" b="0" i="0">
                <a:solidFill>
                  <a:srgbClr val="5F6B78"/>
                </a:solidFill>
              </a:rPr>
              <a:t>Random ranking has</a:t>
            </a:r>
          </a:p>
        </p:txBody>
      </p:sp>
      <p:pic>
        <p:nvPicPr>
          <p:cNvPr id="2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c43f82658472e"/>
          <a:stretch xmlns:a="http://schemas.openxmlformats.org/drawingml/2006/main"/>
        </p:blipFill>
        <p:spPr>
          <a:xfrm xmlns:a="http://schemas.openxmlformats.org/drawingml/2006/main">
            <a:off x="1426618" y="2800350"/>
            <a:ext cx="2233115" cy="62865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3B311B7-6B03-495B-9B4B-7B6E269E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So a raw AP of 0.30 means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something different at 1%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than at 20% prevalence.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5928A93-0ADF-4349-9AAA-AC09EAF7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750" b="1" i="0">
                <a:solidFill>
                  <a:srgbClr val="5F6B78"/>
                </a:solidFill>
              </a:defRPr>
            </a:pPr>
            <a:r>
              <a:rPr sz="37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AE3BD14-2CB8-4A0B-B466-0F3C652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45529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20d9a3df547da"/>
          <a:stretch xmlns:a="http://schemas.openxmlformats.org/drawingml/2006/main"/>
        </p:blipFill>
        <p:spPr>
          <a:xfrm xmlns:a="http://schemas.openxmlformats.org/drawingml/2006/main">
            <a:off x="7251652" y="2647950"/>
            <a:ext cx="2927447" cy="781050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D27EED-C08C-4964-82CB-8A392E9A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0 marks population random ranking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488085B-A2FA-4EB7-B037-4E3649D8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1 marks perfect ranking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5CE24A-7BD0-41C0-91C2-F1B5605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00650"/>
            <a:ext cx="5981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07D7AFC-42D0-4639-9E4A-759F7E2A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560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Normalize after evaluating the ranking in the target population.</a:t>
            </a:r>
          </a:p>
        </p:txBody>
      </p:sp>
    </p:spTree>
    <p:extLst>
      <p:ext uri="{BB962C8B-B14F-4D97-AF65-F5344CB8AC3E}">
        <p14:creationId xmlns:p14="http://schemas.microsoft.com/office/powerpoint/2010/main" val="9749330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0302463-E68E-4404-B776-B3DF654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3F53A3-1122-45F9-B86C-7E717726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Chance normalization aligns the endpoints—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not the whole prevalence profile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C9DBA6-DB4C-4B20-9F40-6A606B3F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B833B4-E613-44CB-A7A6-B24818FF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282FCB5-B86F-4C8F-B475-E8DA5BE7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11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2076450"/>
          <a:ext xmlns:a="http://schemas.openxmlformats.org/drawingml/2006/main" cx="73342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3abeef2ed1473e"/>
          </a:graphicData>
        </a:graphic>
      </p:graphicFrame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9251B6-6ACD-4051-9577-7127267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57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745373-699F-4A7F-9971-03249F71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Same ranking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FBEB2FD-9F0A-4687-A4E7-9681E2F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Same endpoints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03BCC8A-4EAB-4E0E-BBAF-878E217D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D97706"/>
                </a:solidFill>
              </a:defRPr>
            </a:pPr>
            <a:r>
              <a:rPr sz="1950" b="1" i="0">
                <a:solidFill>
                  <a:srgbClr val="D97706"/>
                </a:solidFill>
              </a:rPr>
              <a:t>Difficulty varies</a:t>
            </a:r>
          </a:p>
          <a:p xmlns:a="http://schemas.openxmlformats.org/drawingml/2006/main">
            <a:pPr algn="ctr">
              <a:buNone/>
              <a:defRPr sz="1950" b="1" i="0">
                <a:solidFill>
                  <a:srgbClr val="D97706"/>
                </a:solidFill>
              </a:defRPr>
            </a:pPr>
            <a:r>
              <a:rPr sz="1950" b="1" i="0">
                <a:solidFill>
                  <a:srgbClr val="D97706"/>
                </a:solidFill>
              </a:rPr>
              <a:t>by prevalence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F7D34EC-C80D-4B16-8034-0B335EA5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769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target prevalence →</a:t>
            </a:r>
          </a:p>
        </p:txBody>
      </p:sp>
    </p:spTree>
    <p:extLst>
      <p:ext uri="{BB962C8B-B14F-4D97-AF65-F5344CB8AC3E}">
        <p14:creationId xmlns:p14="http://schemas.microsoft.com/office/powerpoint/2010/main" val="15502549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CE2587A-6B92-488F-9F62-72F1D60D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8FDD88-6A23-47F6-A739-591BD39F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If the claim must hold everywhere,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an average answers the wrong question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3F7DA9-66D7-47A8-9B27-38B310B2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292E91F-E565-4158-A435-9FC51DB8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BBC64AF-FD16-4D60-8B84-C9F5D40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12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84E5B52-AF89-4F4B-B10A-9712CA8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CB6A3E4-3D5F-4F43-A754-B138761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.01 target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1C27BB8-1908-4BD7-8C4F-23E08AEA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0.55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748C616-0D01-47AE-907D-04FC2F5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977D3A8-7F1C-4682-B00F-05A6075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.05 target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EF7253F-2794-4450-86C6-E3E5EFCC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0.48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F006F67-022E-4CBE-A771-7923D288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7D499BF-DBE8-4485-A159-5DBB4CF6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.20 target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FF4DCBA-3DA3-462B-88DA-C8950E73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0.31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684882D-0343-4777-BC37-2264940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8EF87B4-FB49-4BDE-8FA4-27F1F4D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.40 target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9F4148-1C70-40C8-9C1C-4FC89FF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0.52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C3D5136-7AB0-4C9D-8A6D-74A14F47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F9E4518-0DFB-44DC-9227-0CD43BF0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1619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FC071-E6F5-42D0-87FF-8BCDA54E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minimum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06BDFD1-BDF9-40D4-A6B0-827D3368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0E7C66"/>
                </a:solidFill>
              </a:defRPr>
            </a:pPr>
            <a:r>
              <a:rPr sz="2550" b="1" i="0">
                <a:solidFill>
                  <a:srgbClr val="0E7C66"/>
                </a:solidFill>
              </a:rPr>
              <a:t>0.31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AFCCDAF-1F69-4C5D-988C-5D698127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43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Average: 0.47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0B63994-EF11-4F4E-9AC9-A09C14C7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706"/>
                </a:solidFill>
              </a:defRPr>
            </a:pPr>
            <a:r>
              <a:rPr sz="2100" b="1" i="0">
                <a:solidFill>
                  <a:srgbClr val="D97706"/>
                </a:solidFill>
              </a:rPr>
              <a:t>but the claim failed at 0.31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67AAF16-0456-4EB8-99B7-E17527B4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7886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A8F9DCA-375C-40ED-B99E-075C6F39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750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Robust CNAP is the largest level attained at every declared prevalence.</a:t>
            </a:r>
          </a:p>
        </p:txBody>
      </p:sp>
    </p:spTree>
    <p:extLst>
      <p:ext uri="{BB962C8B-B14F-4D97-AF65-F5344CB8AC3E}">
        <p14:creationId xmlns:p14="http://schemas.microsoft.com/office/powerpoint/2010/main" val="20660611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076DC4A-8B53-41D6-BB0E-A15BB016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ASSESSMENT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D21AB4-CD2A-4949-9617-13B1CB87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performance claim needs three declarations: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populations, regime, and attempts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FC552A-DADC-451F-975C-00707AAE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025A3B-048A-4B0A-AEF7-85644946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71B037-9D80-456D-8004-C331FB9B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13</a:t>
            </a:r>
          </a:p>
        </p:txBody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1403215f4485c"/>
          <a:stretch xmlns:a="http://schemas.openxmlformats.org/drawingml/2006/main"/>
        </p:blipFill>
        <p:spPr>
          <a:xfrm xmlns:a="http://schemas.openxmlformats.org/drawingml/2006/main">
            <a:off x="4045039" y="2190750"/>
            <a:ext cx="4101921" cy="742950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D5CDF42-F3A2-4E8D-B529-AE0C492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A0958A2-916B-4CF3-A9DC-710392E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2B6CB0"/>
                </a:solidFill>
              </a:defRPr>
            </a:pPr>
            <a:r>
              <a:rPr sz="3150" b="1" i="0">
                <a:solidFill>
                  <a:srgbClr val="2B6CB0"/>
                </a:solidFill>
              </a:rPr>
              <a:t>Π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EE3F8DD-F144-4DE7-A1F6-2F21331E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Where must the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claim hold?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7C43A7D-DD7F-4617-836F-196CABA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F55A7CA-4288-4A70-AF96-26103911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6B4E8E"/>
                </a:solidFill>
              </a:defRPr>
            </a:pPr>
            <a:r>
              <a:rPr sz="3150" b="1" i="0">
                <a:solidFill>
                  <a:srgbClr val="6B4E8E"/>
                </a:solidFill>
              </a:rPr>
              <a:t>ℛ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094EA91-7D06-42EE-8181-3648FFBF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What may vary in a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complete replication?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C1EDAE2-9379-4BF2-AE11-99A4C3EC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A13B9D-5C26-43AF-9D8E-7CC3CB6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D97706"/>
                </a:solidFill>
              </a:defRPr>
            </a:pPr>
            <a:r>
              <a:rPr sz="3150" b="1" i="0">
                <a:solidFill>
                  <a:srgbClr val="D97706"/>
                </a:solidFill>
              </a:rPr>
              <a:t>K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BB6AAE9-0315-44D5-9614-94CB356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How many attempts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must be survived?</a:t>
            </a:r>
          </a:p>
        </p:txBody>
      </p:sp>
    </p:spTree>
    <p:extLst>
      <p:ext uri="{BB962C8B-B14F-4D97-AF65-F5344CB8AC3E}">
        <p14:creationId xmlns:p14="http://schemas.microsoft.com/office/powerpoint/2010/main" val="11312209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AF43938-5B61-499E-B878-DF46155C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ASSESSMENT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EC6233-25EE-4E11-A686-70525E09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“Replication” is incomplete until we say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what is allowed to change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952B506-D0BE-4DD4-8CB5-E375EA3E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93FF10-7490-49DD-ABCE-FDAB294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B4BA04-C28D-48AD-B836-A86699C2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6E4B49-F42F-40EC-9ED5-9D9A3BFE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REGIME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0C8C0B-A40F-4F5B-974C-02E7EAD7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EVALUATION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5063118-C885-47E2-99BC-3CCDC7D6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ENVIRONMENT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428CE57-0CE1-4AD7-A2CD-66EF7209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MODEL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631A33C-F516-4662-9E79-F3B2846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A56183-18C3-44C4-BBE2-7E92364C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B6CB0"/>
                </a:solidFill>
              </a:defRPr>
            </a:pPr>
            <a:r>
              <a:rPr sz="1650" b="1" i="0">
                <a:solidFill>
                  <a:srgbClr val="2B6CB0"/>
                </a:solidFill>
              </a:rPr>
              <a:t>Fixed model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74FD74-9927-4235-8057-31972589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592291D-410E-4584-ADA5-E5D2E5E0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environment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AA07B4E-DC05-4A49-9D89-C5A4278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fitted model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18642F-CEC9-4BEF-B450-33F8C3A3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73FD431-0CFD-456D-8686-524D1D1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B4E8E"/>
                </a:solidFill>
              </a:defRPr>
            </a:pPr>
            <a:r>
              <a:rPr sz="1650" b="1" i="0">
                <a:solidFill>
                  <a:srgbClr val="6B4E8E"/>
                </a:solidFill>
              </a:rPr>
              <a:t>New environment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858C731-7BBC-4F0E-8783-6581CE0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76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4B8D4B-B157-4C12-B250-E65B774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environment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8D6DB39-1F1E-495D-90A2-7DD14172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fitted model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AA7B3DA-BCCE-4C1B-A06C-72C9A6A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0FE9F57-178B-4DC3-BA36-4B0C6B5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Repeated development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23DCB60-592B-43E5-B8FB-75BAB2F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13CDF7E-8A67-41F4-9CDB-711374B1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environment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C09B55E-0D52-4966-A1D9-A5C1CDC2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refit + reselect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5B90278-C1A7-4CFC-B5E1-CEB690A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57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B5473C"/>
                </a:solidFill>
              </a:defRPr>
            </a:pPr>
            <a:r>
              <a:rPr sz="1875" b="1" i="0">
                <a:solidFill>
                  <a:srgbClr val="B5473C"/>
                </a:solidFill>
              </a:rPr>
              <a:t>A unit bootstrap identifies only the first target.</a:t>
            </a:r>
          </a:p>
        </p:txBody>
      </p:sp>
    </p:spTree>
    <p:extLst>
      <p:ext uri="{BB962C8B-B14F-4D97-AF65-F5344CB8AC3E}">
        <p14:creationId xmlns:p14="http://schemas.microsoft.com/office/powerpoint/2010/main" val="14271016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EF7B54-E11F-4D3B-9B7E-6D17715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ASSESSMENT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2D7D5F-CF25-48FE-97D7-2606FA90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Prevalence is computed within each draw;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other conditions are generated by the regime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F8F5F3-9765-4A7A-9BA6-8D97AF02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62BE85-87DB-4648-9065-4B85D55C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FA13C70-3F0D-41BA-A43D-AB57012B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66B0EB0-6D12-4613-B44D-6FDBF858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7053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E6389E6-D602-43DF-9EF4-2BC1EA2D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COMPUTED CHALLENGE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7FF361F-A332-4285-8416-CD21BA1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Evaluate every target prevalence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within the same replication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9224FE9-FE63-4D7A-B62D-20BCA89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Licensed by score-level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prior-shift invariance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93FEC11-7E89-41E5-9183-0665EB2B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47053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AE339F6-223A-46A1-9786-3385347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GENERATED CHALLENGE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32A03F0-D386-4822-8171-27B50A37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Draw environments, units,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or development runs from the regime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E152F8-EF40-414D-AAD0-A9EA9F66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Cannot be recovered by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reweighting one evaluation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5FD53DD-441D-4810-A9A6-B7371934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14950"/>
            <a:ext cx="8077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C8F9B05-2E33-43B3-8322-033A5026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86400"/>
            <a:ext cx="769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If invariance fails, prevalence becomes part of the environments generated by the regime.</a:t>
            </a:r>
          </a:p>
        </p:txBody>
      </p:sp>
    </p:spTree>
    <p:extLst>
      <p:ext uri="{BB962C8B-B14F-4D97-AF65-F5344CB8AC3E}">
        <p14:creationId xmlns:p14="http://schemas.microsoft.com/office/powerpoint/2010/main" val="10607081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66731A-7656-4F4E-845B-6D98D621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B307D7-CF1F-4922-807F-AA27E376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Expected performance can conceal a replication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that defeated the claim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A417AF-ECEE-4BCE-A756-AC6A12EE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B64570-7C5B-4A5B-B2A0-B411695A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1FC880-F550-4579-B5D3-49FCF1FC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16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C2C37B9-47C3-4494-9933-2C2C4129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34290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945536E-0319-4CB1-95B3-FBC60CF3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Replication 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A4C117C-8A8C-4134-8BCD-D8D372DB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975" b="1" i="0">
                <a:solidFill>
                  <a:srgbClr val="0E7C66"/>
                </a:solidFill>
              </a:defRPr>
            </a:pPr>
            <a:r>
              <a:rPr sz="3975" b="1" i="0">
                <a:solidFill>
                  <a:srgbClr val="0E7C66"/>
                </a:solidFill>
              </a:rPr>
              <a:t>0.70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2B207AE-10A2-4799-9D6E-AC282888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5F6B78"/>
                </a:solidFill>
              </a:defRPr>
            </a:pPr>
            <a:r>
              <a:rPr sz="3000" b="1" i="0">
                <a:solidFill>
                  <a:srgbClr val="5F6B78"/>
                </a:solidFill>
              </a:rPr>
              <a:t>+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01A2F59-5A16-4FCC-AB01-03507B2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34290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3834FEC-D78C-49FC-B51F-F5875995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Replication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7D1770-1C65-4C7F-B06E-E523DD5C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975" b="1" i="0">
                <a:solidFill>
                  <a:srgbClr val="B5473C"/>
                </a:solidFill>
              </a:defRPr>
            </a:pPr>
            <a:r>
              <a:rPr sz="3975" b="1" i="0">
                <a:solidFill>
                  <a:srgbClr val="B5473C"/>
                </a:solidFill>
              </a:rPr>
              <a:t>0.05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FA83601-859C-45E7-944B-9B7272A7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DCB5A1D-0F34-4FBA-B044-C2431C70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43150"/>
            <a:ext cx="1428750" cy="1733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6D01D9E-F627-4D6D-AF66-F70B8E6A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mean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A169E91-BDD9-49A3-83AD-59F57A9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D97706"/>
                </a:solidFill>
              </a:defRPr>
            </a:pPr>
            <a:r>
              <a:rPr sz="2325" b="1" i="0">
                <a:solidFill>
                  <a:srgbClr val="D97706"/>
                </a:solidFill>
              </a:rPr>
              <a:t>0.375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7F0B068-614E-4C64-AE79-96FB364B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9650"/>
            <a:ext cx="731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B5473C"/>
                </a:solidFill>
              </a:defRPr>
            </a:pPr>
            <a:r>
              <a:rPr sz="2325" b="1" i="0">
                <a:solidFill>
                  <a:srgbClr val="B5473C"/>
                </a:solidFill>
              </a:rPr>
              <a:t>A claim at 0.375 did not survive replication 2.</a:t>
            </a:r>
          </a:p>
        </p:txBody>
      </p:sp>
    </p:spTree>
    <p:extLst>
      <p:ext uri="{BB962C8B-B14F-4D97-AF65-F5344CB8AC3E}">
        <p14:creationId xmlns:p14="http://schemas.microsoft.com/office/powerpoint/2010/main" val="11955924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9E12FB5-F7EC-4EC5-9185-DDA0D30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7B0447B-86D7-469A-90F8-41A62B70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Support is the expected level retained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by every declared challenge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DCC5A2-0691-4D2C-BAC7-02E023F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E337C2-993E-45FC-A430-732E70EA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7EEA03-3E10-4975-A617-1CB95187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6C3CF02-9BAA-47B8-A945-17FA21C9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91CB14-1A26-4BEA-A3F8-97BCDDE2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18C54EB-2452-429D-90DB-108EE80D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0.62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DD217E-6E91-4A0B-BB97-1C7E23F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2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2878A19-040C-400A-BE45-CE570E0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5B5C5B-D71D-4D69-974A-98D02B8B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0.47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C7780BB-E953-438A-84FF-B027FAA1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3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CD9A4B0-780E-4BFA-898C-3A9FB9B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32E5B10-0507-4092-9314-923DAFD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0.71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22A876-1DAA-44A4-93CE-C3097B0C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4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599230A-B217-4EB7-A85D-C28BBC5D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DB52D23-3EB3-4378-8CEE-4A910977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0.29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B6F08E-0F06-4078-9069-44D02E14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894B544-F2D1-4F57-91E1-7429C517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1143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73F85F7-1BDF-400F-B71C-466AEEC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F6B78"/>
                </a:solidFill>
              </a:defRPr>
            </a:pPr>
            <a:r>
              <a:rPr sz="1350" b="1" i="0">
                <a:solidFill>
                  <a:srgbClr val="5F6B78"/>
                </a:solidFill>
              </a:rPr>
              <a:t>min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24442AD-455D-4BF8-A0C7-C2F2E7D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E7C66"/>
                </a:solidFill>
              </a:defRPr>
            </a:pPr>
            <a:r>
              <a:rPr sz="2250" b="1" i="0">
                <a:solidFill>
                  <a:srgbClr val="0E7C66"/>
                </a:solidFill>
              </a:rPr>
              <a:t>0.29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0CE0817-00C0-44E0-B6A2-60FB8560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62450"/>
            <a:ext cx="7315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4b05720c544c8"/>
          <a:stretch xmlns:a="http://schemas.openxmlformats.org/drawingml/2006/main"/>
        </p:blipFill>
        <p:spPr>
          <a:xfrm xmlns:a="http://schemas.openxmlformats.org/drawingml/2006/main">
            <a:off x="3214255" y="4495800"/>
            <a:ext cx="5763491" cy="685800"/>
          </a:xfrm>
          <a:prstGeom xmlns:a="http://schemas.openxmlformats.org/drawingml/2006/main" prst="rect">
            <a:avLst/>
          </a:prstGeom>
        </p:spPr>
      </p:pic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551D6B6-D203-4236-A71C-05849ED2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6260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Expectation is over repeated executions of the declared regime.</a:t>
            </a:r>
          </a:p>
        </p:txBody>
      </p:sp>
    </p:spTree>
    <p:extLst>
      <p:ext uri="{BB962C8B-B14F-4D97-AF65-F5344CB8AC3E}">
        <p14:creationId xmlns:p14="http://schemas.microsoft.com/office/powerpoint/2010/main" val="18505076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4B26AC7-5DFF-4756-8D8F-51F3CC62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92ABC4-D321-4B8B-B291-DB59B5AE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 two attempts, corroboration charges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half the replication disagreement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00A52F-4280-400D-94C3-2EB03BC7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4C592A-BA9F-4071-9609-C86AB861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D89A0BF-9E3E-401F-91A4-944949B6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18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F144984-67F2-4F88-8618-0B7DFE1E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0172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0d4f178334fd9"/>
          <a:stretch xmlns:a="http://schemas.openxmlformats.org/drawingml/2006/main"/>
        </p:blipFill>
        <p:spPr>
          <a:xfrm xmlns:a="http://schemas.openxmlformats.org/drawingml/2006/main">
            <a:off x="3395886" y="2400300"/>
            <a:ext cx="5400229" cy="781050"/>
          </a:xfrm>
          <a:prstGeom xmlns:a="http://schemas.openxmlformats.org/drawingml/2006/main" prst="rect">
            <a:avLst/>
          </a:prstGeom>
        </p:spPr>
      </p:pic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77EC374-D83D-49D1-B4C1-98A59B75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714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419422-6CF3-473E-87F9-1117354C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2B6CB0"/>
                </a:solidFill>
              </a:defRPr>
            </a:pPr>
            <a:r>
              <a:rPr sz="1800" b="1" i="0">
                <a:solidFill>
                  <a:srgbClr val="2B6CB0"/>
                </a:solidFill>
              </a:rPr>
              <a:t>Expected performance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6FB54C6-AFD5-47EB-87C7-D08FF1D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1253D"/>
                </a:solidFill>
              </a:defRPr>
            </a:pPr>
            <a:r>
              <a:rPr sz="2550" b="1" i="0">
                <a:solidFill>
                  <a:srgbClr val="11253D"/>
                </a:solidFill>
              </a:rPr>
              <a:t>0.50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10DFDB-2E8B-4DF6-A9ED-19AB157E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FA9A2BE-EDD6-4FF6-A3BA-630415D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4286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642F53C-8DC9-4695-8BFB-5C1FF612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D97706"/>
                </a:solidFill>
              </a:defRPr>
            </a:pPr>
            <a:r>
              <a:rPr sz="1800" b="1" i="0">
                <a:solidFill>
                  <a:srgbClr val="D97706"/>
                </a:solidFill>
              </a:rPr>
              <a:t>Half the expected disagreement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963C38D-67FD-49E9-B036-D7F817D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1253D"/>
                </a:solidFill>
              </a:defRPr>
            </a:pPr>
            <a:r>
              <a:rPr sz="2550" b="1" i="0">
                <a:solidFill>
                  <a:srgbClr val="11253D"/>
                </a:solidFill>
              </a:rPr>
              <a:t>0.12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CD64997-3BD3-4DAF-9DA1-7CD17B5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361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C77B37E-16A7-4358-B6ED-D242EEE9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95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E7C66"/>
                </a:solidFill>
              </a:defRPr>
            </a:pPr>
            <a:r>
              <a:rPr sz="2025" b="1" i="0">
                <a:solidFill>
                  <a:srgbClr val="0E7C66"/>
                </a:solidFill>
              </a:rPr>
              <a:t>Supported level: 0.38</a:t>
            </a:r>
          </a:p>
        </p:txBody>
      </p:sp>
    </p:spTree>
    <p:extLst>
      <p:ext uri="{BB962C8B-B14F-4D97-AF65-F5344CB8AC3E}">
        <p14:creationId xmlns:p14="http://schemas.microsoft.com/office/powerpoint/2010/main" val="13540513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DD92B8-6B51-4B19-8906-7D29198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685702-CAE9-4B43-BE6B-B747E3C0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In Popper’s sense, survival is support—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not probability of truth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EEBC4E-21E5-4075-849B-3B641FC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C2EE67-7080-4D4B-B25F-A4AF716D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9BC1B7-D4B2-4CF9-9712-74C08712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19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7C5B13D-0986-4344-9F19-F499470C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8006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07D1D3-A7FD-446C-A441-30EEDD3E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WHAT THE CLAIM EARNS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22EB39-788A-424C-B4F0-F88E046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It survived specified</a:t>
            </a:r>
          </a:p>
          <a:p xmlns:a="http://schemas.openxmlformats.org/drawingml/2006/main">
            <a:pPr algn="ctr">
              <a:buNone/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opportunities for defeat.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B6E037B-F4ED-4195-A2E1-383CB650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The assessment makes those</a:t>
            </a:r>
          </a:p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opportunities criticizable.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CEF8E67-B4E5-4FB9-9B50-01EFBD0A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8006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276FB58-EDAE-4A18-B089-38E939A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9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WHAT IT DOES NOT EARN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4DE035A-B5F9-425F-AC14-7D4B6B5A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A probability that the</a:t>
            </a:r>
          </a:p>
          <a:p xmlns:a="http://schemas.openxmlformats.org/drawingml/2006/main">
            <a:pPr algn="ctr">
              <a:buNone/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model or claim is true.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0F75617-4FA7-4FBB-B8C6-DF4D6C5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Nor a fixed confidence level.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29FFD0-8CFC-4880-9061-F9F47828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6B4E8E"/>
                </a:solidFill>
              </a:defRPr>
            </a:pPr>
            <a:r>
              <a:rPr sz="1950" b="1" i="0">
                <a:solidFill>
                  <a:srgbClr val="6B4E8E"/>
                </a:solidFill>
              </a:rPr>
              <a:t>Corroboration remains negative: the claim has not yet been defeated under 𝒜.</a:t>
            </a:r>
          </a:p>
        </p:txBody>
      </p:sp>
    </p:spTree>
    <p:extLst>
      <p:ext uri="{BB962C8B-B14F-4D97-AF65-F5344CB8AC3E}">
        <p14:creationId xmlns:p14="http://schemas.microsoft.com/office/powerpoint/2010/main" val="10660398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F1F3380-3F28-478A-8DFD-25C16298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0CAD3D-CE28-4CAE-ABEB-A057F6F7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bootstrap estimates projected support;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it does not manufacture replications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977A71-710D-4B23-A437-491C18B9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0C8435-E33F-439D-AB7B-28DFF462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7670EBB-9E6B-4E1E-A102-72F15A41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646B3A-C9F4-4B59-ABDB-CB54D89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COMPUTATION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37F951-08FD-4D53-B8E5-7D1A2274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41148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8C1671-934C-4AD2-B7FF-E2876128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1 observed evaluation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2CED5B-26E7-4336-9452-1A8DC4C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A675226-E7F1-4B2D-AD39-AD54D0E4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2B6CB0"/>
                </a:solidFill>
              </a:defRPr>
            </a:pPr>
            <a:r>
              <a:rPr sz="2025" b="1" i="0">
                <a:solidFill>
                  <a:srgbClr val="2B6CB0"/>
                </a:solidFill>
              </a:rPr>
              <a:t>1,000 bootstrap draws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786B144-1BE8-423B-B384-92714F4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Less Monte Carlo error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7FFBC25-AB4F-4C67-B76E-10D2E67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EVIDENCE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BA48F4A-26FC-4239-85FC-FC877C2D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4514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D50706-24DF-4EF6-B978-4BE4060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394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New sites, measurements,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or development runs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B95DF9-7220-4FB2-95C0-F36AAD26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6B4E8E"/>
                </a:solidFill>
              </a:defRPr>
            </a:pPr>
            <a:r>
              <a:rPr sz="1725" b="0" i="0">
                <a:solidFill>
                  <a:srgbClr val="6B4E8E"/>
                </a:solidFill>
              </a:rPr>
              <a:t>Can reveal failures the bootstrap</a:t>
            </a:r>
          </a:p>
          <a:p xmlns:a="http://schemas.openxmlformats.org/drawingml/2006/main">
            <a:pPr algn="ctr">
              <a:buNone/>
              <a:defRPr sz="1725" b="0" i="0">
                <a:solidFill>
                  <a:srgbClr val="6B4E8E"/>
                </a:solidFill>
              </a:defRPr>
            </a:pPr>
            <a:r>
              <a:rPr sz="1725" b="0" i="0">
                <a:solidFill>
                  <a:srgbClr val="6B4E8E"/>
                </a:solidFill>
              </a:rPr>
              <a:t>held fixed.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8FE45BF-601F-430C-9A1E-D966A10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3B90725-4A37-4FD3-8543-2FB4FB3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More bootstrap draws improve computation; more attempts strengthen the claim; new environments change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3372332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D6FF03D-7FD5-4B8D-8CD7-514CF1E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7C47DA-BF2F-442A-A671-87959E5D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Each replication must face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full prevalence set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E043C3-D5A7-4854-B6A6-80FE0EE9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EA970D5-F07E-4C5D-8B68-0F1084FD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919DCE4-B400-4209-9C78-49A4848C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704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ad0800302d43bc"/>
          </a:graphicData>
        </a:graphic>
      </p:graphicFrame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08E16B1-5B70-4E38-98AD-14AF1F0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1242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6D50524-78E2-4E05-87FE-FC522758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Replication 1 fails first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at low prevalence.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0674065-AFE3-4EC6-A237-F0BCA372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Replication 2 fails first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at high prevalence.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4D0F78-3798-414F-B717-14AB0EF1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53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Each replication must reveal its own limiting population.</a:t>
            </a:r>
          </a:p>
        </p:txBody>
      </p:sp>
    </p:spTree>
    <p:extLst>
      <p:ext uri="{BB962C8B-B14F-4D97-AF65-F5344CB8AC3E}">
        <p14:creationId xmlns:p14="http://schemas.microsoft.com/office/powerpoint/2010/main" val="14692375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75BC9EA-3A16-40EC-8F30-4806BD01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9FCDF3-8E4B-489C-8E77-990E244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Support equals mean performance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minus two costs of challenge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06BF621-9402-4584-BB85-050A23EF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E923C9-B8AD-4DDA-91A5-F97111DE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AAC4CD-4B71-470B-A83F-ECDEFA68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22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618538-75F7-4D3E-A22B-ED0D7E62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2997E8-100F-4491-B44F-9B24BEA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2B6CB0"/>
                </a:solidFill>
              </a:defRPr>
            </a:pPr>
            <a:r>
              <a:rPr sz="2925" b="1" i="0">
                <a:solidFill>
                  <a:srgbClr val="2B6CB0"/>
                </a:solidFill>
              </a:rPr>
              <a:t>0.54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8BE91D5-5B30-4E68-8A12-38E5C110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Best fixed-prevalence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expected profile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5D76E39-7516-4B39-96BA-7819AC45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0D4E5DF-1BBB-4FBD-B3B5-FA7E136C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A22A04-5E76-4961-AB65-14DFCFC7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D97706"/>
                </a:solidFill>
              </a:defRPr>
            </a:pPr>
            <a:r>
              <a:rPr sz="2925" b="1" i="0">
                <a:solidFill>
                  <a:srgbClr val="D97706"/>
                </a:solidFill>
              </a:rPr>
              <a:t>−0.08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949E75-1397-493D-B3E0-00194B5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Movement of limiting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prevalence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862D58D-93F6-4DF3-BD0B-3AC938FB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76C720B-50DF-4007-B67E-AAE58EEA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E6454E2-0793-4266-A856-6255B6E1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6B4E8E"/>
                </a:solidFill>
              </a:defRPr>
            </a:pPr>
            <a:r>
              <a:rPr sz="2925" b="1" i="0">
                <a:solidFill>
                  <a:srgbClr val="6B4E8E"/>
                </a:solidFill>
              </a:rPr>
              <a:t>−0.06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49AAE9D-45FE-4B2D-93C1-94994D4F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Replication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disagreement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7458AEC-E2EB-4A60-B66E-4EF9A6E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910B904-4C83-42A9-A566-7154068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2312890-FC3A-4242-B5F7-22E60B7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0E7C66"/>
                </a:solidFill>
              </a:defRPr>
            </a:pPr>
            <a:r>
              <a:rPr sz="2925" b="1" i="0">
                <a:solidFill>
                  <a:srgbClr val="0E7C66"/>
                </a:solidFill>
              </a:rPr>
              <a:t>0.40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DB338A-C08E-4669-8AA2-AEC43EF2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Supported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performance</a:t>
            </a:r>
          </a:p>
        </p:txBody>
      </p:sp>
      <p:pic>
        <p:nvPicPr>
          <p:cNvPr id="45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e4dc0eec24eea"/>
          <a:stretch xmlns:a="http://schemas.openxmlformats.org/drawingml/2006/main"/>
        </p:blipFill>
        <p:spPr>
          <a:xfrm xmlns:a="http://schemas.openxmlformats.org/drawingml/2006/main">
            <a:off x="3106882" y="4762500"/>
            <a:ext cx="5978236" cy="685800"/>
          </a:xfrm>
          <a:prstGeom xmlns:a="http://schemas.openxmlformats.org/drawingml/2006/main" prst="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631FF2A-DA64-4414-818C-E56486F2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816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The costs diagnose why support is low; they are not new headline estimands.</a:t>
            </a:r>
          </a:p>
        </p:txBody>
      </p:sp>
    </p:spTree>
    <p:extLst>
      <p:ext uri="{BB962C8B-B14F-4D97-AF65-F5344CB8AC3E}">
        <p14:creationId xmlns:p14="http://schemas.microsoft.com/office/powerpoint/2010/main" val="1532623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662B629-7D0B-4C4E-A6E6-253941F3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ESTIMATION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527A84-BE7D-4A53-91F2-A8C8E54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fixed-model bootstrap preserves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order of the scientific claim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11AB2C-5AFF-49F3-9DC5-B79A78B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006B22B-18DC-4914-A254-E852AD7E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ESTIMATION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DAB2EF9-C977-4A54-AE4C-A75B5056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23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D916AEA-38B3-4356-B98E-7261C08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89C6C2C6-58ED-4751-B696-04710289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4E336A-C6D2-4177-B678-05C2CA0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C9990E8-4526-4FB8-987F-CF3BB323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Resample units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B54208-18C3-4B3E-ABC4-ED7A24AB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Stratify by observed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outcome class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8A4F94-3AEA-4A58-AFD4-7C4E581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A2B28BF-8926-44A0-ABA4-F9916C9E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0459B823-A942-463B-A51A-0E862B0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E8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1DD4BCC-EA29-44E7-B610-0C95782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76C8168-6EFE-4CA2-9DFF-125AF8F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Build profile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4DFF961-FFAC-48DD-AE51-7D1FAFEB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Evaluate every target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on those same units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7526AA4-3279-4DED-8221-947A0D1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123D658-4DC9-4975-A4F6-949D40E7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DA5F3E56-95EB-4A72-954E-818F9421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183673-80D9-464B-BBED-00203C48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D8D69F2-A235-4023-AE8B-2F5FEC64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Retain worst target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DB42820-E48D-4159-9B91-881AD86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Keep the profile minimum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for each replication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C0B6592-19A8-46AA-A7FF-80AEDAA6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C7C18AE-85B0-41A1-9B07-67F04F16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D49E61D5-A1BB-40B3-819A-6D236BF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CF48DDF-BB92-4360-9656-A7F2EF2B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68EDBBE-D2F2-44F7-9573-77158F2E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Apply support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30921ED-3399-47A9-9B25-8441F95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Average minima over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groups of attempts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EFE8D2A-4028-4D2F-974C-D0087CDF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86400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B5473C"/>
                </a:solidFill>
              </a:defRPr>
            </a:pPr>
            <a:r>
              <a:rPr sz="1800" b="1" i="0">
                <a:solidFill>
                  <a:srgbClr val="B5473C"/>
                </a:solidFill>
              </a:rPr>
              <a:t>Resampling separately at each prevalence would destroy the joint profile.</a:t>
            </a:r>
          </a:p>
        </p:txBody>
      </p:sp>
    </p:spTree>
    <p:extLst>
      <p:ext uri="{BB962C8B-B14F-4D97-AF65-F5344CB8AC3E}">
        <p14:creationId xmlns:p14="http://schemas.microsoft.com/office/powerpoint/2010/main" val="6461744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18F0DC0-8504-403B-A859-9FEEF12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DESIGN ANCHOR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39EDF0-11A1-4F95-995E-E89340B5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Finite-sample AP has a design anchor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that need not equal prevalence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81798D-61F4-45E5-B264-DB03625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A72C24-3901-4F4A-B8B5-CEC7C13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DESIGN ANCHOR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8E9388-0A50-4282-B9C8-B25956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0535AD4-D4AD-413B-A84C-ED72DCC8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ONE POSITIVE + ONE NEGATIVE; 50% PREVALENCE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2A004C-8D5A-4246-94C7-28DE071F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962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B50865-40E4-4EEE-9DF9-BBEA24E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ordering 1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E0F33EE-EAED-4A68-851C-DB4AC3A6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F982436-B12C-425E-9E9D-1742DBDA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B1F564AC-7E83-4901-9F55-7243D911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DA6638A-C81E-4670-9CB4-39AC24D5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pic>
        <p:nvPicPr>
          <p:cNvPr id="42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67bba84a64093"/>
          <a:stretch xmlns:a="http://schemas.openxmlformats.org/drawingml/2006/main"/>
        </p:blipFill>
        <p:spPr>
          <a:xfrm xmlns:a="http://schemas.openxmlformats.org/drawingml/2006/main">
            <a:off x="1104900" y="3753322"/>
            <a:ext cx="3505200" cy="456255"/>
          </a:xfrm>
          <a:prstGeom xmlns:a="http://schemas.openxmlformats.org/drawingml/2006/main" prst="rect">
            <a:avLst/>
          </a:prstGeom>
        </p:spPr>
      </p:pic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B4B7070-6239-4F35-8DC6-18C3FCB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3962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F9E67E6-AA7E-4CA6-96F5-718172C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ordering 2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5A005C8E-03FB-40AA-8875-A293C076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C2CE18A-890F-4B41-9770-77552B2A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B100655-6285-48C2-B06F-6E640D7B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70DF13D-EAB7-4676-A899-E319C510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49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9933c3fb84685"/>
          <a:stretch xmlns:a="http://schemas.openxmlformats.org/drawingml/2006/main"/>
        </p:blipFill>
        <p:spPr>
          <a:xfrm xmlns:a="http://schemas.openxmlformats.org/drawingml/2006/main">
            <a:off x="5971282" y="3657600"/>
            <a:ext cx="2459236" cy="647700"/>
          </a:xfrm>
          <a:prstGeom xmlns:a="http://schemas.openxmlformats.org/drawingml/2006/main" prst="rect">
            <a:avLst/>
          </a:prstGeom>
        </p:spPr>
      </p:pic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72251A1-FA97-4A37-8BB3-41A5599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5F6B78"/>
                </a:solidFill>
              </a:defRPr>
            </a:pPr>
            <a:r>
              <a:rPr sz="30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D7A04ECE-C598-4A59-AD62-E1B8DCD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62250"/>
            <a:ext cx="1314450" cy="13906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5959A19-81E3-49F9-936C-4A51012E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527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5F6B78"/>
                </a:solidFill>
              </a:defRPr>
            </a:pPr>
            <a:r>
              <a:rPr sz="1650" b="1" i="0">
                <a:solidFill>
                  <a:srgbClr val="5F6B78"/>
                </a:solidFill>
              </a:rPr>
              <a:t>support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239722F-013D-4D41-AAEE-8BEE07D5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099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B5473C"/>
                </a:solidFill>
              </a:defRPr>
            </a:pPr>
            <a:r>
              <a:rPr sz="2550" b="1" i="0">
                <a:solidFill>
                  <a:srgbClr val="B5473C"/>
                </a:solidFill>
              </a:rPr>
              <a:t>0.25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10E1B53-9447-4AC4-ACD0-5000AB8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05400"/>
            <a:ext cx="902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79E30CB-49AF-4E33-963F-D45F90DD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76850"/>
            <a:ext cx="864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Pure noise can return positive supported CNAP because stepwise AP rewards favorable finite orderings.</a:t>
            </a:r>
          </a:p>
        </p:txBody>
      </p:sp>
    </p:spTree>
    <p:extLst>
      <p:ext uri="{BB962C8B-B14F-4D97-AF65-F5344CB8AC3E}">
        <p14:creationId xmlns:p14="http://schemas.microsoft.com/office/powerpoint/2010/main" val="16057371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59F70E-3290-4661-A3FC-609EE68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DESIGN ANCHOR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A4FAE4-04B9-499C-AA1E-4DFA157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Conditional calibration makes one model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interpretable—but not comparable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C844C0-36EC-41F6-BC77-C66BB3A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D473BF-A80A-4851-9D22-A951BAAB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DESIGN ANCHOR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116C01-4856-4F36-972C-47EA02A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2413600-9A8D-449F-A498-10000A70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8577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FD6A58-7A6A-4F5D-81B9-DB9FDA72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FOR ONE FIXED SCORE VECTOR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299B8C-1A33-45FD-831D-4FB71BB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Permute labels under the</a:t>
            </a:r>
          </a:p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design’s allowed symmetry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9F3842-90C0-4AF2-B0F6-BA4CCF1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6B4E8E"/>
                </a:solidFill>
              </a:defRPr>
            </a:pPr>
            <a:r>
              <a:rPr sz="1800" b="0" i="0">
                <a:solidFill>
                  <a:srgbClr val="6B4E8E"/>
                </a:solidFill>
              </a:rPr>
              <a:t>→ estimate its conditional</a:t>
            </a:r>
          </a:p>
          <a:p xmlns:a="http://schemas.openxmlformats.org/drawingml/2006/main">
            <a:pPr algn="ctr">
              <a:buNone/>
              <a:defRPr sz="1800" b="0" i="0">
                <a:solidFill>
                  <a:srgbClr val="6B4E8E"/>
                </a:solidFill>
              </a:defRPr>
            </a:pPr>
            <a:r>
              <a:rPr sz="1800" b="0" i="0">
                <a:solidFill>
                  <a:srgbClr val="6B4E8E"/>
                </a:solidFill>
              </a:rPr>
              <a:t>null anchor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413168E-2320-439D-8F87-1F582785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194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 i="0">
                <a:solidFill>
                  <a:srgbClr val="5F6B78"/>
                </a:solidFill>
              </a:defRPr>
            </a:pPr>
            <a:r>
              <a:rPr sz="33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41727B1-179B-402D-BD8B-0804D88A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6291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3ed3d65774573"/>
          <a:stretch xmlns:a="http://schemas.openxmlformats.org/drawingml/2006/main"/>
        </p:blipFill>
        <p:spPr>
          <a:xfrm xmlns:a="http://schemas.openxmlformats.org/drawingml/2006/main">
            <a:off x="7731303" y="2647950"/>
            <a:ext cx="2577745" cy="81915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441FADB-1C92-4748-9853-A7648537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Raw value + anchor + ratio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must travel together.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2A29E34-2510-4C50-85E5-6C69AA48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902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Different score vectors have different anchors → calibrated values cannot be subtracted.</a:t>
            </a:r>
          </a:p>
        </p:txBody>
      </p:sp>
    </p:spTree>
    <p:extLst>
      <p:ext uri="{BB962C8B-B14F-4D97-AF65-F5344CB8AC3E}">
        <p14:creationId xmlns:p14="http://schemas.microsoft.com/office/powerpoint/2010/main" val="4700200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6916D6C-C955-4461-B7BA-C4F54DE4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3B36FD-F22E-43B9-9321-84EC7C3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Subtracting two marginal reports combines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adverse cases that never co-occurred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60FC6E-FFC4-46EA-B043-4659E2FF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08F3CB-E207-469C-9B3D-6374D5C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7BF44D-EA43-4CD8-8678-93013C7D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26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36244A2-BF44-4414-912B-EE45EA98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286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9C0B90-C449-40EB-8D9A-F3319A45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MODEL A’S MARGINAL WORST CASE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3DA8823-7DD3-4B9A-BCCD-44CA3AD4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site 1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1% prevalence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CNAP 0.30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43B57B-FAF9-4288-B418-52BF19CC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286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5CBCA0-5A6D-4F19-A4F4-31925F1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MODEL B’S MARGINAL WORST CASE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597DD3-16AB-4C24-9BFC-0A9224CC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8610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site 2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30% prevalence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CNAP 0.25</a:t>
            </a:r>
          </a:p>
        </p:txBody>
      </p:sp>
      <p:pic>
        <p:nvPicPr>
          <p:cNvPr id="2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203f30b894c6e"/>
          <a:stretch xmlns:a="http://schemas.openxmlformats.org/drawingml/2006/main"/>
        </p:blipFill>
        <p:spPr>
          <a:xfrm xmlns:a="http://schemas.openxmlformats.org/drawingml/2006/main">
            <a:off x="4095750" y="5041275"/>
            <a:ext cx="4000500" cy="471151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999976-CCD6-4B7C-BB0D-3BF21D4F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3880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B5473C"/>
                </a:solidFill>
              </a:defRPr>
            </a:pPr>
            <a:r>
              <a:rPr sz="1800" b="1" i="0">
                <a:solidFill>
                  <a:srgbClr val="B5473C"/>
                </a:solidFill>
              </a:rPr>
              <a:t>But no evaluation ever contained that comparison.</a:t>
            </a:r>
          </a:p>
        </p:txBody>
      </p:sp>
    </p:spTree>
    <p:extLst>
      <p:ext uri="{BB962C8B-B14F-4D97-AF65-F5344CB8AC3E}">
        <p14:creationId xmlns:p14="http://schemas.microsoft.com/office/powerpoint/2010/main" val="147627447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6224107-1D92-4753-A119-0E2EDC00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19A11F-D0CB-40D7-A486-3A578BC4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Pairing can still reward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arbitrary tie-breaking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E57F61-EF34-4063-84AF-16CAC5C6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C4972C-D470-4754-B6EC-0DBE747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334F8C8-7E71-4706-840E-E1E55768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27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72C7DF8-6D11-4B8E-8041-F3F55AF6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70D917-5B10-435A-8677-DE23ED98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MODEL A: FOUR DISTINCT SCORES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9761576-113E-40A8-A931-66E1EFD9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76B816F-D5F4-4B0B-A4F5-CFD85C7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0.9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F5EEFED-06BA-431C-8DF8-3A9A767F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2D249-B4B6-4C45-92E8-531136FA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0.7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D26B632-F415-4576-AB2A-D7D10E20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905927-7B30-4B22-A639-BCCC7936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0.5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E9F0B0F-ECFC-41FE-9E06-2964A982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C85CA6F-93B3-422D-8BEA-49F6F632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0.3</a:t>
            </a:r>
          </a:p>
        </p:txBody>
      </p:sp>
      <p:pic>
        <p:nvPicPr>
          <p:cNvPr id="44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9385fa53c4dc0"/>
          <a:stretch xmlns:a="http://schemas.openxmlformats.org/drawingml/2006/main"/>
        </p:blipFill>
        <p:spPr>
          <a:xfrm xmlns:a="http://schemas.openxmlformats.org/drawingml/2006/main">
            <a:off x="2391440" y="4171950"/>
            <a:ext cx="1389321" cy="533400"/>
          </a:xfrm>
          <a:prstGeom xmlns:a="http://schemas.openxmlformats.org/drawingml/2006/main" prst="rect">
            <a:avLst/>
          </a:prstGeom>
        </p:spPr>
      </p:pic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1C09566-5A42-4965-B55D-36616D31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4FF6CE0-DEF1-4714-8FFA-F9A9320D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MODEL B: ONE COMPLETE TIE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8DC2482-3029-4A8D-B66C-E1EED92B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162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B4E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59C5CB-33ED-4D1B-8DF1-D09C1983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6B4E8E"/>
                </a:solidFill>
              </a:defRPr>
            </a:pPr>
            <a:r>
              <a:rPr sz="1725" b="1" i="0">
                <a:solidFill>
                  <a:srgbClr val="6B4E8E"/>
                </a:solidFill>
              </a:rPr>
              <a:t>0.5     0.5     0.5     0.5</a:t>
            </a:r>
          </a:p>
        </p:txBody>
      </p:sp>
      <p:pic>
        <p:nvPicPr>
          <p:cNvPr id="49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480a6d99640d1"/>
          <a:stretch xmlns:a="http://schemas.openxmlformats.org/drawingml/2006/main"/>
        </p:blipFill>
        <p:spPr>
          <a:xfrm xmlns:a="http://schemas.openxmlformats.org/drawingml/2006/main">
            <a:off x="8680847" y="4171950"/>
            <a:ext cx="850106" cy="533400"/>
          </a:xfrm>
          <a:prstGeom xmlns:a="http://schemas.openxmlformats.org/drawingml/2006/main" prst="rect">
            <a:avLst/>
          </a:prstGeom>
        </p:spPr>
      </p:pic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24EA948-2537-43A7-8077-8863A2A6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81600"/>
            <a:ext cx="7429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4424812-4CC9-4E40-83AE-F117297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57800"/>
            <a:ext cx="693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B5473C"/>
                </a:solidFill>
              </a:defRPr>
            </a:pPr>
            <a:r>
              <a:rPr sz="1575" b="1" i="0">
                <a:solidFill>
                  <a:srgbClr val="B5473C"/>
                </a:solidFill>
              </a:rPr>
              <a:t>No association—yet the expected paired difference is positive:</a:t>
            </a:r>
          </a:p>
        </p:txBody>
      </p:sp>
      <p:pic>
        <p:nvPicPr>
          <p:cNvPr id="52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4f116d09a4751"/>
          <a:stretch xmlns:a="http://schemas.openxmlformats.org/drawingml/2006/main"/>
        </p:blipFill>
        <p:spPr>
          <a:xfrm xmlns:a="http://schemas.openxmlformats.org/drawingml/2006/main">
            <a:off x="4381500" y="5553324"/>
            <a:ext cx="3429000" cy="3805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800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4D106F7-2E51-4FFF-BF89-E8D5A9D9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ADB138-568F-43B6-9BFB-BD46D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averaging removes expected credit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for distinctions the model did not make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A50349B-CBAA-41F0-83EA-AA620754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8ADA8F-686E-4CC3-92A0-30C4278E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316EDB-99DE-41A1-96D6-6498B03D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0FCF18D-3CAD-459C-832E-F54899D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ONE TIED BLOCK WITH TWO POSITIVES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BE1D066-621F-4D5C-8CF3-B1B8EF9E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9CF0FC9-BB49-417A-B74B-363666D5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AAB505-4EB9-4E65-AA1B-CD4F3F4F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E53C95F7-22C1-4322-89B1-2B6EBF07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5D01B40-D79C-4E6F-A0B7-5D1FC702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C9A1EDF-1FB3-4A73-8A26-21DA2ADF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BE2C7A1-0CAB-4655-8B8C-ABC4A59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pic>
        <p:nvPicPr>
          <p:cNvPr id="53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9a8a68a204962"/>
          <a:stretch xmlns:a="http://schemas.openxmlformats.org/drawingml/2006/main"/>
        </p:blipFill>
        <p:spPr>
          <a:xfrm xmlns:a="http://schemas.openxmlformats.org/drawingml/2006/main">
            <a:off x="121920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E3488D-C2D0-4885-B22C-C6067847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7B20F5C5-F224-40A5-8BE8-4C72A5C4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A3569C6-7B42-42C6-A709-1B97651E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5629B43E-A429-45D1-A7A4-68E4D610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57652F1-FEC9-4481-9CCB-E2AAE85E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28CDB54B-DE3A-4851-AFE2-0621245E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924045C-2762-4996-BCAA-B586D2C3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61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318b6eac047db"/>
          <a:stretch xmlns:a="http://schemas.openxmlformats.org/drawingml/2006/main"/>
        </p:blipFill>
        <p:spPr>
          <a:xfrm xmlns:a="http://schemas.openxmlformats.org/drawingml/2006/main">
            <a:off x="409575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48572248-1581-4F7E-B18B-0406AC0E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80300C64-A65E-4C6C-860D-F9E80340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4C63133-AD0A-43A8-AEA7-39C7552A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7503976B-93B9-453F-9996-6F0D00C8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80469D6-A0A7-4A02-B523-B1AE701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27FA2A9D-E7D4-40C5-891D-FC9AFD8D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C3AE6FE-9FE2-4B25-9848-5E53B42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69" name="Picture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f6760063f4ab2"/>
          <a:stretch xmlns:a="http://schemas.openxmlformats.org/drawingml/2006/main"/>
        </p:blipFill>
        <p:spPr>
          <a:xfrm xmlns:a="http://schemas.openxmlformats.org/drawingml/2006/main">
            <a:off x="697230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B0D8247-AB93-4A4B-83CE-6224DFA8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C573B69-9972-4994-A092-FFAFA86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428750" cy="17907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318DEF0-E71E-4650-B273-703F13B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average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E010562-B8FA-4774-A27C-753BD4D2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337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E7C66"/>
                </a:solidFill>
              </a:defRPr>
            </a:pPr>
            <a:r>
              <a:rPr sz="2775" b="1" i="0">
                <a:solidFill>
                  <a:srgbClr val="0E7C66"/>
                </a:solidFill>
              </a:rPr>
              <a:t>0.81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50B500B-4F52-4BBA-A81C-BF8E7A1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Useful refinement still helps when it aligns with outcomes; arbitrary refinement earns zero expected advantage.</a:t>
            </a:r>
          </a:p>
        </p:txBody>
      </p:sp>
    </p:spTree>
    <p:extLst>
      <p:ext uri="{BB962C8B-B14F-4D97-AF65-F5344CB8AC3E}">
        <p14:creationId xmlns:p14="http://schemas.microsoft.com/office/powerpoint/2010/main" val="4444008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65184F5-5DD1-42BC-915A-2CC68F64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C742FD-98AA-4279-8369-F2D0E85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Form the paired advantage before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applying either challenge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56BCA5-1993-429E-A788-6C87455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BFE35F-C8D5-402D-BE14-66DC6C48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0D4609-F498-48F6-944D-39D17A33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29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20CD045-67E2-4431-A9B4-E755E7F0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2334A9A-E0B2-4BD3-BF7A-778F6B4E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PAIR</a:t>
            </a:r>
          </a:p>
        </p:txBody>
      </p:sp>
      <p:pic>
        <p:nvPicPr>
          <p:cNvPr id="35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3bd6752ed46a9"/>
          <a:stretch xmlns:a="http://schemas.openxmlformats.org/drawingml/2006/main"/>
        </p:blipFill>
        <p:spPr>
          <a:xfrm xmlns:a="http://schemas.openxmlformats.org/drawingml/2006/main">
            <a:off x="914400" y="3429847"/>
            <a:ext cx="1866900" cy="607905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2C5A964-E7D2-474C-A2F7-AF5D29D4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74855F2-7358-41CB-B473-2F6E8807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14863-E331-4F60-B6AE-2B4A4FAB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pic>
        <p:nvPicPr>
          <p:cNvPr id="39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df8d8efa245e0"/>
          <a:stretch xmlns:a="http://schemas.openxmlformats.org/drawingml/2006/main"/>
        </p:blipFill>
        <p:spPr>
          <a:xfrm xmlns:a="http://schemas.openxmlformats.org/drawingml/2006/main">
            <a:off x="3771900" y="3453485"/>
            <a:ext cx="1866900" cy="560631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9B7F00E-882D-4CB3-A80A-2B81819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362C30-3098-40F5-A5B3-45DC617F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4849CFF-0CF3-423B-841D-5028A38F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REPLICATION</a:t>
            </a:r>
          </a:p>
        </p:txBody>
      </p:sp>
      <p:pic>
        <p:nvPicPr>
          <p:cNvPr id="43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cec786e874eb8"/>
          <a:stretch xmlns:a="http://schemas.openxmlformats.org/drawingml/2006/main"/>
        </p:blipFill>
        <p:spPr>
          <a:xfrm xmlns:a="http://schemas.openxmlformats.org/drawingml/2006/main">
            <a:off x="6629400" y="3537676"/>
            <a:ext cx="1866900" cy="392248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39D165C-3520-4CC2-A226-CBA9EC4E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CC6D9CA-ECC8-4AE8-A2F7-C1767CFE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A214C3-E6DE-426A-B94C-20ECC73D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EXPECTATION</a:t>
            </a:r>
          </a:p>
        </p:txBody>
      </p:sp>
      <p:pic>
        <p:nvPicPr>
          <p:cNvPr id="47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f11f754184c95"/>
          <a:stretch xmlns:a="http://schemas.openxmlformats.org/drawingml/2006/main"/>
        </p:blipFill>
        <p:spPr>
          <a:xfrm xmlns:a="http://schemas.openxmlformats.org/drawingml/2006/main">
            <a:off x="9486900" y="3387708"/>
            <a:ext cx="1866900" cy="692184"/>
          </a:xfrm>
          <a:prstGeom xmlns:a="http://schemas.openxmlformats.org/drawingml/2006/main" prst="rect">
            <a:avLst/>
          </a:prstGeom>
        </p:spPr>
      </p:pic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4DF1EC9-5601-48D2-8182-271A4C2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5676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C81F630-1AE9-44DD-BEA4-B39787EC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05450"/>
            <a:ext cx="529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Same units → same prevalence → same replication</a:t>
            </a:r>
          </a:p>
        </p:txBody>
      </p:sp>
    </p:spTree>
    <p:extLst>
      <p:ext uri="{BB962C8B-B14F-4D97-AF65-F5344CB8AC3E}">
        <p14:creationId xmlns:p14="http://schemas.microsoft.com/office/powerpoint/2010/main" val="10831877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C0FD311-78B3-4DC9-9DB6-5BCE91F0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BBBF60-502A-439C-A446-0336F0A3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neutrality needs an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exchangeable-label reference law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4340B67-3BF0-4E8C-814E-82EBFF00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BDA6FD-A6E8-471A-9983-CC9E3D4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6AA62DC-9629-4086-860F-5C82979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D1219DD-997F-4E43-B6D5-2A64BF2F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33600"/>
            <a:ext cx="880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Conditionally on both score vectors and the observed positive count,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3A143C8-D2FE-43A3-BC87-112961D9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891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6B4E8E"/>
                </a:solidFill>
              </a:defRPr>
            </a:pPr>
            <a:r>
              <a:rPr sz="2400" b="1" i="0">
                <a:solidFill>
                  <a:srgbClr val="6B4E8E"/>
                </a:solidFill>
              </a:rPr>
              <a:t>every label vector with that many positives is equally likely.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57397B9-33EA-4615-8C84-83222FC1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857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92A6AB-E66B-412D-AB7D-58CD715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DEFENSIBLE REFERENCE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7E94A62-4DE1-4A43-809F-2A3EC22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i.i.d. held-out units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under a signal-free label law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5CFA12E-A961-42A5-B7B4-9BF818A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857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1BE49D0-C1B5-4A19-ACBD-D7B496B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NOT AUTOMATIC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9505D71-2EC8-4AFF-9F8C-9619BE38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matched, clustered, or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heterogeneous-risk designs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297C1CF-2239-422F-95FE-9E68C49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979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Without the law, the paired estimand remains descriptive—but the no-positive-anchor guarantee is lost.</a:t>
            </a:r>
          </a:p>
        </p:txBody>
      </p:sp>
    </p:spTree>
    <p:extLst>
      <p:ext uri="{BB962C8B-B14F-4D97-AF65-F5344CB8AC3E}">
        <p14:creationId xmlns:p14="http://schemas.microsoft.com/office/powerpoint/2010/main" val="16124355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14F6C4C-E9F5-409F-A362-38D4105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D9E73A-18EF-4ED8-A7B7-E318A39F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Coherent replacement permits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no-verdict region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4E1C05E-5784-45B0-BEBD-DA483D77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1C87F1-6EDC-492C-BBCF-C3159B41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A3C8DC-30AC-4C76-B900-D1099DBA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31</a:t>
            </a:r>
          </a:p>
        </p:txBody>
      </p:sp>
      <p:pic>
        <p:nvPicPr>
          <p:cNvPr id="28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01bc9685449b0"/>
          <a:stretch xmlns:a="http://schemas.openxmlformats.org/drawingml/2006/main"/>
        </p:blipFill>
        <p:spPr>
          <a:xfrm xmlns:a="http://schemas.openxmlformats.org/drawingml/2006/main">
            <a:off x="4156166" y="2019300"/>
            <a:ext cx="3879669" cy="6858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A37B853-F90B-423A-9F94-62F75303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E7C66"/>
                </a:solidFill>
              </a:defRPr>
            </a:pPr>
            <a:r>
              <a:rPr sz="1800" b="1" i="0">
                <a:solidFill>
                  <a:srgbClr val="0E7C66"/>
                </a:solidFill>
              </a:rPr>
              <a:t>Both orientations cannot be positive.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711A0AB-FBD9-45FC-9105-531D93B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925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7D56D39-CCCA-4ECE-AD80-41DC583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5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B3EB433-5B36-4844-BBBE-B8F17CD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0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0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6C47885-2F6C-47C5-91CB-1E895161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F669E33-6D8B-4E45-A03D-645CE037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C59EE28-CF48-47E8-A101-729831B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6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b5e85cf7c4db6"/>
          <a:stretch xmlns:a="http://schemas.openxmlformats.org/drawingml/2006/main"/>
        </p:blipFill>
        <p:spPr>
          <a:xfrm xmlns:a="http://schemas.openxmlformats.org/drawingml/2006/main">
            <a:off x="3790950" y="4623492"/>
            <a:ext cx="1657350" cy="316116"/>
          </a:xfrm>
          <a:prstGeom xmlns:a="http://schemas.openxmlformats.org/drawingml/2006/main" prst="rect">
            <a:avLst/>
          </a:prstGeom>
        </p:spPr>
      </p:pic>
      <p:pic>
        <p:nvPicPr>
          <p:cNvPr id="37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13fa3e3cc48e6"/>
          <a:stretch xmlns:a="http://schemas.openxmlformats.org/drawingml/2006/main"/>
        </p:blipFill>
        <p:spPr>
          <a:xfrm xmlns:a="http://schemas.openxmlformats.org/drawingml/2006/main">
            <a:off x="7029450" y="4611441"/>
            <a:ext cx="1657350" cy="340218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6D906E0-5D23-45FD-B961-8331ADBE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no verdict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E5CAAC0-1CB5-44A4-8D01-F5522DA4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43500"/>
            <a:ext cx="6934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A65F3BF-C0C3-4212-A2D7-1B9FD93A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14950"/>
            <a:ext cx="655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The declared challenges may defeat superiority in both directions.</a:t>
            </a:r>
          </a:p>
        </p:txBody>
      </p:sp>
    </p:spTree>
    <p:extLst>
      <p:ext uri="{BB962C8B-B14F-4D97-AF65-F5344CB8AC3E}">
        <p14:creationId xmlns:p14="http://schemas.microsoft.com/office/powerpoint/2010/main" val="25772297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38D0439-A34D-4440-937C-14199CD5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6872D3-CBAE-4BE7-8A3E-5C2FE5C9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Replacement needs a lower bound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above the decision margin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419E1E5-25BA-41AA-BECE-E7C05C39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F2E4906-3011-443F-BF0E-97FB0913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BE3EE6-8F5D-44B3-AF39-239250C3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DC78971-6891-4EF6-B0A9-D02A262B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ILLUSTRATIVE RESULT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81DF59C-F4E7-4385-BDDA-2B4EE584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962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29D8003-9B9F-44C5-BBC1-368546F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52850"/>
            <a:ext cx="3810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40F83C5-D195-4747-AA32-11F624F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E812879-2EA5-420A-88FE-1ED4B635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48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4ADC1FC-3834-405D-82FC-FA3F53F1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815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B6CB0"/>
                </a:solidFill>
              </a:defRPr>
            </a:pPr>
            <a:r>
              <a:rPr sz="1425" b="1" i="0">
                <a:solidFill>
                  <a:srgbClr val="2B6CB0"/>
                </a:solidFill>
              </a:rPr>
              <a:t>lower bound .03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8A31EEC-3417-43BC-9635-66475B8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B6CB0"/>
                </a:solidFill>
              </a:defRPr>
            </a:pPr>
            <a:r>
              <a:rPr sz="1425" b="1" i="0">
                <a:solidFill>
                  <a:srgbClr val="2B6CB0"/>
                </a:solidFill>
              </a:rPr>
              <a:t>estimate .08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11F9AD9-94ED-425B-B3F3-9011CC6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decision margin .05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443BF6A-7076-469F-9084-3DE88E9B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38750"/>
            <a:ext cx="7505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01631D1-8BF7-4E68-AA58-17714A51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10200"/>
            <a:ext cx="712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Do not replace: the outer lower bound does not exceed the decision margin.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191F88F-2E79-4A43-81D3-8B061032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967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Performance evidence is one decision input; costs, fairness, calibration, and intervention effects remain separate.</a:t>
            </a:r>
          </a:p>
        </p:txBody>
      </p:sp>
    </p:spTree>
    <p:extLst>
      <p:ext uri="{BB962C8B-B14F-4D97-AF65-F5344CB8AC3E}">
        <p14:creationId xmlns:p14="http://schemas.microsoft.com/office/powerpoint/2010/main" val="32196556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923BF47-B6C8-4067-AFF6-7BFFF5AA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INTERPRETATION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0F6ED1-7112-4067-84DB-7C020B2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number is meaningful only together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 the assessment it survived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A947A5D-D060-4AE0-B03A-71B68BF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372BA59-4746-4287-842A-1F66957B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INTERPRETATION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5B44E14-8A5F-4817-A6CF-8759D38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33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F11109D-B706-4B4A-954B-69458E6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E4E751-28D5-48CB-966B-2E887F7D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E7C66"/>
                </a:solidFill>
              </a:defRPr>
            </a:pPr>
            <a:r>
              <a:rPr sz="2250" b="1" i="0">
                <a:solidFill>
                  <a:srgbClr val="0E7C66"/>
                </a:solidFill>
              </a:rPr>
              <a:t>Supported quantity: raw support or paired advantage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FA16C02-120A-4042-B450-9CED601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1038565-FDFF-42A3-A4FF-35ABAA6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Π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67DCA26-020E-4A00-9ECE-F48E8372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766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Which populations had to be survived?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D2A339D-2C05-4DF0-82AA-E790B0E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E8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5D997F9-531A-4061-B26E-96BE0689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ℛ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D1CD0DA-509B-4A35-B53E-0A7A423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What changed in a complete replication?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93D1F38-069C-42F0-9D9D-417126B8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3DDD341-4667-40DB-ABB3-F84A102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5A20827-BEE0-40E6-B2F2-8ACD47E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339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How many opportunities for defeat were joined?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C3255157-7326-410D-8E62-45412EFB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3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F6C34C1-0C38-4141-8E57-D75B36E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759E90-999C-4F85-80C2-EFD9E1BB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625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Which invariance, symmetry, and uncertainty assumptions qualify the result?</a:t>
            </a:r>
          </a:p>
        </p:txBody>
      </p:sp>
    </p:spTree>
    <p:extLst>
      <p:ext uri="{BB962C8B-B14F-4D97-AF65-F5344CB8AC3E}">
        <p14:creationId xmlns:p14="http://schemas.microsoft.com/office/powerpoint/2010/main" val="113206034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7776872-BD08-46BD-B02F-14629A3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SYNTHESIS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5C887E-68C7-426B-AB98-426C9705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Performance becomes a scientific claim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only when its challenges are declared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7213F5-9017-444D-91E0-C62B3915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404B0E-D01A-43CF-89A4-541CE6D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SYNTHESIS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0D2EAE-EE73-480F-A7F7-18BB144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34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F750E12-66C3-49B7-9686-4D4BC04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A7EA0C-DD66-453B-984E-BEA81655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Name populations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121B632-BC13-4B61-A357-2A28A29C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Standardize the prior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and normalize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28400E-673E-4DEA-903A-C8A60112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C27DB5A-2D19-4C1C-BDA2-66AA677C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DE7CBA9-F01E-4803-BEE8-2F6460A2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Expose failures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5653B87-7A0A-4A8C-B4C1-F1528B14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Minimum over target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prevalence in each draw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3F0FF13-8157-44E9-8E64-DF34E9E3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1DD8138-1EC5-4A5D-9B9F-45491401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71E9221-3666-414E-BC24-6DB15B4E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Demand survival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BBE991-FBE4-47ED-8693-3E5D851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Expected minimum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over attempts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AB12E58-51A8-478C-A23D-4F813C4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7381661-3B40-43E4-8A79-15A90FB3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3A84AE9-626D-4CE2-AF34-AE895F6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Make the claim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6CD9415-9FE8-4A97-8B3C-48EA3CD4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Paired, tie-neutral,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margin-qualified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331980-A6AC-4124-87C6-F79F90D7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9700"/>
            <a:ext cx="681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Support is not a new name for high performance.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7446148-EE1F-4906-BAD7-196A205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57850"/>
            <a:ext cx="880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0E7C66"/>
                </a:solidFill>
              </a:defRPr>
            </a:pPr>
            <a:r>
              <a:rPr sz="1875" b="0" i="0">
                <a:solidFill>
                  <a:srgbClr val="0E7C66"/>
                </a:solidFill>
              </a:rPr>
              <a:t>It is the surviving magnitude after the challenges have been declared.</a:t>
            </a:r>
          </a:p>
        </p:txBody>
      </p:sp>
    </p:spTree>
    <p:extLst>
      <p:ext uri="{BB962C8B-B14F-4D97-AF65-F5344CB8AC3E}">
        <p14:creationId xmlns:p14="http://schemas.microsoft.com/office/powerpoint/2010/main" val="21262201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CC6BFCB-EC60-4D02-BB69-531E365E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06F663-D6A2-43FD-87EB-4B640EA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Empirical prior-standardized AP is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weighted threshold sum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6CBC09A-E941-4520-8E87-6B6D9D19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9AEDDA-146C-4D1C-B207-AD5637DC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F8D5976-F9CB-415B-A4D0-D017D4AE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1AAC7E6-7C73-4E6D-9C47-EA9B19A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0210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552c1c7ba47d6"/>
          <a:stretch xmlns:a="http://schemas.openxmlformats.org/drawingml/2006/main"/>
        </p:blipFill>
        <p:spPr>
          <a:xfrm xmlns:a="http://schemas.openxmlformats.org/drawingml/2006/main">
            <a:off x="2804033" y="2305050"/>
            <a:ext cx="6583934" cy="876300"/>
          </a:xfrm>
          <a:prstGeom xmlns:a="http://schemas.openxmlformats.org/drawingml/2006/main" prst="rect">
            <a:avLst/>
          </a:prstGeom>
        </p:spPr>
      </p:pic>
      <p:pic>
        <p:nvPicPr>
          <p:cNvPr id="2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1ee222cd54dfa"/>
          <a:stretch xmlns:a="http://schemas.openxmlformats.org/drawingml/2006/main"/>
        </p:blipFill>
        <p:spPr>
          <a:xfrm xmlns:a="http://schemas.openxmlformats.org/drawingml/2006/main">
            <a:off x="1451309" y="3733800"/>
            <a:ext cx="2069432" cy="457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56EACD-DEFF-4972-82F0-9171728A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recall gained when a score block enters</a:t>
            </a:r>
          </a:p>
        </p:txBody>
      </p:sp>
      <p:pic>
        <p:nvPicPr>
          <p:cNvPr id="2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75a073d004347"/>
          <a:stretch xmlns:a="http://schemas.openxmlformats.org/drawingml/2006/main"/>
        </p:blipFill>
        <p:spPr>
          <a:xfrm xmlns:a="http://schemas.openxmlformats.org/drawingml/2006/main">
            <a:off x="2040857" y="4476750"/>
            <a:ext cx="890337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57FBAD-225D-4DE6-A075-9490631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target-population positive mass selected</a:t>
            </a:r>
          </a:p>
        </p:txBody>
      </p:sp>
      <p:pic>
        <p:nvPicPr>
          <p:cNvPr id="30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ee898de0a41d7"/>
          <a:stretch xmlns:a="http://schemas.openxmlformats.org/drawingml/2006/main"/>
        </p:blipFill>
        <p:spPr>
          <a:xfrm xmlns:a="http://schemas.openxmlformats.org/drawingml/2006/main">
            <a:off x="1552307" y="5219700"/>
            <a:ext cx="1867437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3D0163B-77EF-48A7-9FBC-25970208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target-population negative mass selected</a:t>
            </a:r>
          </a:p>
        </p:txBody>
      </p:sp>
    </p:spTree>
    <p:extLst>
      <p:ext uri="{BB962C8B-B14F-4D97-AF65-F5344CB8AC3E}">
        <p14:creationId xmlns:p14="http://schemas.microsoft.com/office/powerpoint/2010/main" val="7451837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BEDBF5D-EB68-4A99-AAD8-167951F2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A81C9B-A485-4293-86BE-9077BFA8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More attempts strengthen the challenge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but do not broaden the regime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76DA59D-D6BE-4C76-9C31-7B4B1482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9DAFA8-CF8C-4A47-AA5B-2110D20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2B3C177-38B3-4CD7-B8BB-537CAF4C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19150" y="2076450"/>
          <a:ext xmlns:a="http://schemas.openxmlformats.org/drawingml/2006/main" cx="64389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41858b3cfc4b17"/>
          </a:graphicData>
        </a:graphic>
      </p:graphicFrame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CB8EC10-D297-4091-91F0-D8ACA6D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76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F6B78"/>
                </a:solidFill>
              </a:defRPr>
            </a:pPr>
            <a:r>
              <a:rPr sz="1350" b="1" i="0">
                <a:solidFill>
                  <a:srgbClr val="5F6B78"/>
                </a:solidFill>
              </a:rPr>
              <a:t>attempts 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0529F02-CD55-4120-8C76-9C08B22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9D8AF8F-520D-403F-8F90-8F0E4EE7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The attempt count controls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5047F9D-346F-4437-8F49-0CD19F27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how many draws</a:t>
            </a:r>
          </a:p>
          <a:p xmlns:a="http://schemas.openxmlformats.org/drawingml/2006/main">
            <a:pPr algn="ctr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must survive jointly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C1F4C4-E861-4419-8E11-19DD1BA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It does not decide whether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sites or model fits vary.</a:t>
            </a:r>
          </a:p>
        </p:txBody>
      </p:sp>
    </p:spTree>
    <p:extLst>
      <p:ext uri="{BB962C8B-B14F-4D97-AF65-F5344CB8AC3E}">
        <p14:creationId xmlns:p14="http://schemas.microsoft.com/office/powerpoint/2010/main" val="13513146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0BDCE6C-A1B5-4BA2-B36E-8E93EB9E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F946E5-0C61-4566-B691-354C29ED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two-attempt estimator avoids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enumerating replication pairs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B51A9C-ADA5-47C1-A5B7-844888F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3C2F0D-5955-4A21-83BE-08447DC0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D29C736-931E-430C-B726-9C9623D1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38CA11-3130-4162-AEE8-2ED75C06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52650"/>
            <a:ext cx="902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Sort the retained bootstrap effects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6490457-FD93-41DE-A726-6B026EC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4917227-57C1-4BF0-9052-F5F2125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2AB7004-3291-4696-9AC9-2AE6CA3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.12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3FFA2C0-553C-4989-A5BE-670718B9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24C97B7-DEEE-4A94-99A1-C2CE8FA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94641ED-92CA-47FA-B4DD-EFC98D09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.20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21A68BE-03F5-4AB4-977B-F25C6088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B72711D-6AFC-4F4C-B63D-1B1DE353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65AB4C2-0C85-4D99-AA78-C8FE68D1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.31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3987870-C29B-418A-B7B1-5152EE99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22AD7FA-9D38-4461-96B9-6DDCC3E6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7D8667D-1646-4EB3-B245-342CDC2B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.44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33D9CF-AA71-4625-B0A7-C433860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759B0FB-C332-474F-B14B-331D93AD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D199CFB-DA5F-4DDF-BC47-4E34647A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.58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46E45F5-4014-4A06-8506-436806F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9410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a1341cdc54a4e"/>
          <a:stretch xmlns:a="http://schemas.openxmlformats.org/drawingml/2006/main"/>
        </p:blipFill>
        <p:spPr>
          <a:xfrm xmlns:a="http://schemas.openxmlformats.org/drawingml/2006/main">
            <a:off x="4475451" y="4495800"/>
            <a:ext cx="3241098" cy="723900"/>
          </a:xfrm>
          <a:prstGeom xmlns:a="http://schemas.openxmlformats.org/drawingml/2006/main" prst="rect">
            <a:avLst/>
          </a:prstGeom>
        </p:spPr>
      </p:pic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4E3465D-4BDE-4EA6-B0CC-115554C6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57850"/>
            <a:ext cx="777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Small values receive larger weights because they are the minimum in more pairs.</a:t>
            </a:r>
          </a:p>
        </p:txBody>
      </p:sp>
    </p:spTree>
    <p:extLst>
      <p:ext uri="{BB962C8B-B14F-4D97-AF65-F5344CB8AC3E}">
        <p14:creationId xmlns:p14="http://schemas.microsoft.com/office/powerpoint/2010/main" val="20570644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FD017B3-4A51-4326-8872-1594A781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F391CA6-36EC-499A-9E42-41FD15CB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averaging can be computed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without enumerating orderings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6B175C-1A61-47E0-BFA9-2DE540F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EDE893-ADAA-46E0-B694-BD1EB1C4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DCA516-AD66-4833-8E50-33EA20F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38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C2C4553-802C-4019-BE98-C0304CA3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000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CC01001-BECE-4ACC-B968-8F6225D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FOR EACH TIED BLOCK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A2E06F3-18CB-4259-A686-0069E481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390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1. Choose the position k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of a focal positive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2. Count t preceding positives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with a hypergeometric law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36D1351-667C-4457-A0CE-6138C5CC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5F6B78"/>
                </a:solidFill>
              </a:defRPr>
            </a:pPr>
            <a:r>
              <a:rPr sz="36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A4228E1-EACE-4AB2-BBE4-4F24322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47815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8F87BF-9481-4A70-B8DD-4D02526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4019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Average its prior-standardized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precision over k and 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AE0F627-0A71-4B0D-BE4C-B3187ADB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5F6B78"/>
                </a:solidFill>
              </a:defRPr>
            </a:pPr>
            <a:r>
              <a:rPr sz="1650" b="1" i="0">
                <a:solidFill>
                  <a:srgbClr val="5F6B78"/>
                </a:solidFill>
              </a:rPr>
              <a:t>Computational cost</a:t>
            </a:r>
          </a:p>
        </p:txBody>
      </p:sp>
      <p:pic>
        <p:nvPicPr>
          <p:cNvPr id="3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a0124876e44f1"/>
          <a:stretch xmlns:a="http://schemas.openxmlformats.org/drawingml/2006/main"/>
        </p:blipFill>
        <p:spPr>
          <a:xfrm xmlns:a="http://schemas.openxmlformats.org/drawingml/2006/main">
            <a:off x="8544654" y="3829050"/>
            <a:ext cx="760542" cy="476250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01C5B70-09FE-4A3C-9FA8-901826D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5770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No enumeration or random jitter is required.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E47278D-48CA-4D8F-A2DA-713CB359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86400"/>
            <a:ext cx="891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The combinatorial weights do not depend on prevalence and can be reused during the search.</a:t>
            </a:r>
          </a:p>
        </p:txBody>
      </p:sp>
    </p:spTree>
    <p:extLst>
      <p:ext uri="{BB962C8B-B14F-4D97-AF65-F5344CB8AC3E}">
        <p14:creationId xmlns:p14="http://schemas.microsoft.com/office/powerpoint/2010/main" val="55114370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8BECA7D-EC1E-4DA2-A4D7-84CA0665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7D1FA5-CB4E-450C-B34F-369C2D92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Outer uncertainty asks how well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one evaluation identifies the target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A54C91-FAEE-4311-B7C9-85DE5B5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B085DA-6BC5-4D35-A2E8-97C0C75D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3FD48B-C98A-4E38-BE97-DA41F5D5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39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71AE80B-C43F-4648-9CF8-BFD3D99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2713606-5C61-4D8E-B4C2-556BC751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Observed evaluation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044A54-0289-4225-8F81-921AA34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one empirical score–label distribution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9DF432-30DD-480C-A216-008F339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E01194F-E23B-4720-A5CA-88842987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3D0DD1-165C-4F8A-B383-53D2AF7D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Outer sample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6AF832A-0579-4946-97C4-573856B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new empirical distribution of units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F54FB69-6076-48B2-B142-86E2E947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5E84B90-22CA-4840-937F-F65DFFB3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E3BCC4D-0DB7-47F9-ACAA-63218F14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Full inner procedure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9BA94FA-96CE-4DC0-BFC3-AB7594C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profile → infimum → support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430FD7C-D958-4402-8DAC-674A821A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20B1F9F-3077-40E3-A129-ECB47D27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24150"/>
            <a:ext cx="857250" cy="16954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789A3D-BE73-4E0D-A5B9-46F7C48B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813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E7C66"/>
                </a:solidFill>
              </a:defRPr>
            </a:pPr>
            <a:r>
              <a:rPr sz="1725" b="1" i="0">
                <a:solidFill>
                  <a:srgbClr val="0E7C66"/>
                </a:solidFill>
              </a:rPr>
              <a:t>lower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0E7C66"/>
                </a:solidFill>
              </a:defRPr>
            </a:pPr>
            <a:r>
              <a:rPr sz="1725" b="1" i="0">
                <a:solidFill>
                  <a:srgbClr val="0E7C66"/>
                </a:solidFill>
              </a:rPr>
              <a:t>bound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027E4BE-98CE-4CDF-9C9B-7A3AF33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B5473C"/>
                </a:solidFill>
              </a:defRPr>
            </a:pPr>
            <a:r>
              <a:rPr sz="1875" b="1" i="0">
                <a:solidFill>
                  <a:srgbClr val="B5473C"/>
                </a:solidFill>
              </a:rPr>
              <a:t>Coverage is not automatic when the minimizing prevalence is flat or moves.</a:t>
            </a:r>
          </a:p>
        </p:txBody>
      </p:sp>
    </p:spTree>
    <p:extLst>
      <p:ext uri="{BB962C8B-B14F-4D97-AF65-F5344CB8AC3E}">
        <p14:creationId xmlns:p14="http://schemas.microsoft.com/office/powerpoint/2010/main" val="149752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9844897-27BA-410D-AE81-6FB689E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E46B34-1029-4F6B-9311-05B9393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Key references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4FFE1D-6A03-4039-9DDF-B54289E3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082C13-993E-4B2B-A560-42264539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6F37AE-AF50-418D-BD01-9D50489D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0317D57-3DF5-4CD1-93BB-87E965E9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POPULATION + CORROBORATION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6EC0FDA-A3BE-45F2-8EA2-21D09C5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Popper, K. (1959). The Logic of Scientific Discovery.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207D05-711B-4844-B237-F3897FF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Popper, K. (1963). Conjectures and Refutations.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719F94D-2F35-4326-BC25-BBD51A6D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Siblini et al. (2020). Master your metrics with calibration.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924E187-8F9A-4EC6-8AEF-1A4C51D1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Elkan, C. (2001). Foundations of cost-sensitive learning.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304430D-2FBB-4AED-AE3C-ABEB3DB1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Saerens et al. (2002). Adjusting outputs to new priors.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F678995-EBC4-4BFB-8F23-2EFA91EC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DESIGN + COMPUTATION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FD65DB6-3214-41C7-A96A-BA0F49F9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Bestgen, Y. (2015). Exact expected AP of the random baseline.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36A07A-B7DC-4651-A02D-D5F4A61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Ojala &amp; Garriga (2010). Permutation tests for classifier performance.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4C7743-DC3D-4953-BEAE-A3DB82B5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Bareinboim &amp; Pearl (2013). Transportability of experimental results.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0CD4C07-4E3C-4027-893E-E14DAFD2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Hoeffding, W. (1948). U-statistics.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2503DBE-5E3E-4C5D-8336-916B5AAB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Perdomo et al. (2020). Performative prediction.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3D79F20-CD1F-4C48-A13F-E956807D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62650"/>
            <a:ext cx="750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5F6B78"/>
                </a:solidFill>
              </a:defRPr>
            </a:pPr>
            <a:r>
              <a:rPr sz="1500" b="0" i="0">
                <a:solidFill>
                  <a:srgbClr val="5F6B78"/>
                </a:solidFill>
              </a:rPr>
              <a:t>Complete references appear in Stats_Paper_Extending_PRAUC_v12.tex.</a:t>
            </a:r>
          </a:p>
        </p:txBody>
      </p:sp>
    </p:spTree>
    <p:extLst>
      <p:ext uri="{BB962C8B-B14F-4D97-AF65-F5344CB8AC3E}">
        <p14:creationId xmlns:p14="http://schemas.microsoft.com/office/powerpoint/2010/main" val="1222969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2026-07-29T17:09:22.0660000Z</dcterms:created>
  <dcterms:modified xsi:type="dcterms:W3CDTF">2026-07-29T17:09:22.0660000Z</dcterms:modified>
</coreProperties>
</file>