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0dc939e402494f" /><Relationship Type="http://schemas.openxmlformats.org/officeDocument/2006/relationships/extended-properties" Target="/docProps/app.xml" Id="Rf4c717786d9e4c1f" /><Relationship Type="http://schemas.openxmlformats.org/officeDocument/2006/relationships/officeDocument" Target="/ppt/presentation.xml" Id="Rfb1171cd68d549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52124d657a49f0"/>
  </p:sldMasterIdLst>
  <p:notesMasterIdLst>
    <p:notesMasterId xmlns:r="http://schemas.openxmlformats.org/officeDocument/2006/relationships" r:id="R3261fef893ae4efa"/>
  </p:notesMasterIdLst>
  <p:sldIdLst>
    <p:sldId xmlns:r="http://schemas.openxmlformats.org/officeDocument/2006/relationships" id="256" r:id="R290b095a944345ba"/>
    <p:sldId xmlns:r="http://schemas.openxmlformats.org/officeDocument/2006/relationships" id="257" r:id="R7525c41e32ce49f8"/>
    <p:sldId xmlns:r="http://schemas.openxmlformats.org/officeDocument/2006/relationships" id="258" r:id="Rf2c80dd8cac749cb"/>
    <p:sldId xmlns:r="http://schemas.openxmlformats.org/officeDocument/2006/relationships" id="259" r:id="R548f5133cac84544"/>
    <p:sldId xmlns:r="http://schemas.openxmlformats.org/officeDocument/2006/relationships" id="260" r:id="R713e593b92b840e1"/>
    <p:sldId xmlns:r="http://schemas.openxmlformats.org/officeDocument/2006/relationships" id="261" r:id="R1dd7b36680854d23"/>
    <p:sldId xmlns:r="http://schemas.openxmlformats.org/officeDocument/2006/relationships" id="262" r:id="R660a9742f5fb42c2"/>
    <p:sldId xmlns:r="http://schemas.openxmlformats.org/officeDocument/2006/relationships" id="263" r:id="Ree4d8818c7cb4dd1"/>
    <p:sldId xmlns:r="http://schemas.openxmlformats.org/officeDocument/2006/relationships" id="264" r:id="Rdb25fe001cd94dae"/>
    <p:sldId xmlns:r="http://schemas.openxmlformats.org/officeDocument/2006/relationships" id="265" r:id="R2891bb5df28f44f4"/>
    <p:sldId xmlns:r="http://schemas.openxmlformats.org/officeDocument/2006/relationships" id="266" r:id="R5d8502c06e9a4df0"/>
    <p:sldId xmlns:r="http://schemas.openxmlformats.org/officeDocument/2006/relationships" id="267" r:id="Rf4fa3a5795f24a11"/>
    <p:sldId xmlns:r="http://schemas.openxmlformats.org/officeDocument/2006/relationships" id="268" r:id="R5755b189f8c34081"/>
    <p:sldId xmlns:r="http://schemas.openxmlformats.org/officeDocument/2006/relationships" id="269" r:id="Ra9771750f0e54267"/>
    <p:sldId xmlns:r="http://schemas.openxmlformats.org/officeDocument/2006/relationships" id="270" r:id="R4c61631129954788"/>
    <p:sldId xmlns:r="http://schemas.openxmlformats.org/officeDocument/2006/relationships" id="271" r:id="Rc687a3ddc15241da"/>
    <p:sldId xmlns:r="http://schemas.openxmlformats.org/officeDocument/2006/relationships" id="272" r:id="R02b7cbe2e2044898"/>
    <p:sldId xmlns:r="http://schemas.openxmlformats.org/officeDocument/2006/relationships" id="273" r:id="R2afdc21a1f244639"/>
    <p:sldId xmlns:r="http://schemas.openxmlformats.org/officeDocument/2006/relationships" id="274" r:id="R947a6e96f7cc42b3"/>
    <p:sldId xmlns:r="http://schemas.openxmlformats.org/officeDocument/2006/relationships" id="275" r:id="R42355831bf6c4590"/>
    <p:sldId xmlns:r="http://schemas.openxmlformats.org/officeDocument/2006/relationships" id="276" r:id="R1888fbe20aab45a3"/>
    <p:sldId xmlns:r="http://schemas.openxmlformats.org/officeDocument/2006/relationships" id="277" r:id="R9c934005221646e0"/>
    <p:sldId xmlns:r="http://schemas.openxmlformats.org/officeDocument/2006/relationships" id="278" r:id="Rc12e8b2c29464e27"/>
    <p:sldId xmlns:r="http://schemas.openxmlformats.org/officeDocument/2006/relationships" id="279" r:id="R1987be1b2dd84e7f"/>
    <p:sldId xmlns:r="http://schemas.openxmlformats.org/officeDocument/2006/relationships" id="280" r:id="Rfca09d4e1b2147bd"/>
    <p:sldId xmlns:r="http://schemas.openxmlformats.org/officeDocument/2006/relationships" id="281" r:id="R742155eb3b9e4011"/>
    <p:sldId xmlns:r="http://schemas.openxmlformats.org/officeDocument/2006/relationships" id="282" r:id="R0a7e5929412e454a"/>
    <p:sldId xmlns:r="http://schemas.openxmlformats.org/officeDocument/2006/relationships" id="283" r:id="Re80e69c95a0d4521"/>
    <p:sldId xmlns:r="http://schemas.openxmlformats.org/officeDocument/2006/relationships" id="284" r:id="Rc231c7aefc14486d"/>
    <p:sldId xmlns:r="http://schemas.openxmlformats.org/officeDocument/2006/relationships" id="285" r:id="Re6ffd096237b4451"/>
    <p:sldId xmlns:r="http://schemas.openxmlformats.org/officeDocument/2006/relationships" id="286" r:id="Rbca54aa46d1942a9"/>
    <p:sldId xmlns:r="http://schemas.openxmlformats.org/officeDocument/2006/relationships" id="287" r:id="Rdb7812d7f9cd423b"/>
    <p:sldId xmlns:r="http://schemas.openxmlformats.org/officeDocument/2006/relationships" id="288" r:id="Rafc7c05ae3a64379"/>
    <p:sldId xmlns:r="http://schemas.openxmlformats.org/officeDocument/2006/relationships" id="289" r:id="R7a419cad4c6842ee"/>
    <p:sldId xmlns:r="http://schemas.openxmlformats.org/officeDocument/2006/relationships" id="290" r:id="R1af60d1ccd314328"/>
    <p:sldId xmlns:r="http://schemas.openxmlformats.org/officeDocument/2006/relationships" id="291" r:id="R7c467467fc6d4c88"/>
    <p:sldId xmlns:r="http://schemas.openxmlformats.org/officeDocument/2006/relationships" id="292" r:id="R8af778da24794b71"/>
    <p:sldId xmlns:r="http://schemas.openxmlformats.org/officeDocument/2006/relationships" id="293" r:id="Rc4ec406bf3314e9f"/>
    <p:sldId xmlns:r="http://schemas.openxmlformats.org/officeDocument/2006/relationships" id="294" r:id="R368b38e816f743b9"/>
    <p:sldId xmlns:r="http://schemas.openxmlformats.org/officeDocument/2006/relationships" id="295" r:id="R21ecc90395134ac8"/>
    <p:sldId xmlns:r="http://schemas.openxmlformats.org/officeDocument/2006/relationships" id="296" r:id="R641dfe37c0b843ad"/>
    <p:sldId xmlns:r="http://schemas.openxmlformats.org/officeDocument/2006/relationships" id="297" r:id="R92aab69c2f6b4c2c"/>
    <p:sldId xmlns:r="http://schemas.openxmlformats.org/officeDocument/2006/relationships" id="298" r:id="R21220dfc6f0a4c76"/>
    <p:sldId xmlns:r="http://schemas.openxmlformats.org/officeDocument/2006/relationships" id="299" r:id="Rbaf9d39a97a04a06"/>
    <p:sldId xmlns:r="http://schemas.openxmlformats.org/officeDocument/2006/relationships" id="300" r:id="Rcb018fa7a5e641e4"/>
    <p:sldId xmlns:r="http://schemas.openxmlformats.org/officeDocument/2006/relationships" id="301" r:id="R40676b9a97ff467b"/>
    <p:sldId xmlns:r="http://schemas.openxmlformats.org/officeDocument/2006/relationships" id="302" r:id="Rea15c419ba724ed7"/>
    <p:sldId xmlns:r="http://schemas.openxmlformats.org/officeDocument/2006/relationships" id="303" r:id="R4644982f4d994799"/>
    <p:sldId xmlns:r="http://schemas.openxmlformats.org/officeDocument/2006/relationships" id="304" r:id="Ra7111d7ea15d4bb2"/>
    <p:sldId xmlns:r="http://schemas.openxmlformats.org/officeDocument/2006/relationships" id="305" r:id="R92218b534b3e4e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dd49124e6b4fde" /><Relationship Type="http://schemas.openxmlformats.org/officeDocument/2006/relationships/slideMaster" Target="/ppt/slideMasters/slideMaster1.xml" Id="R4252124d657a49f0" /><Relationship Type="http://schemas.openxmlformats.org/officeDocument/2006/relationships/notesMaster" Target="/ppt/notesMasters/notesMaster1.xml" Id="R3261fef893ae4efa" /><Relationship Type="http://schemas.openxmlformats.org/officeDocument/2006/relationships/presProps" Target="/ppt/presProps.xml" Id="R1f7108491b2c491f" /><Relationship Type="http://schemas.openxmlformats.org/officeDocument/2006/relationships/tableStyles" Target="/ppt/tableStyles.xml" Id="R60d38fcd30f94a27" /><Relationship Type="http://schemas.openxmlformats.org/officeDocument/2006/relationships/slide" Target="/ppt/slides/slide1.xml" Id="R290b095a944345ba" /><Relationship Type="http://schemas.openxmlformats.org/officeDocument/2006/relationships/slide" Target="/ppt/slides/slide2.xml" Id="R7525c41e32ce49f8" /><Relationship Type="http://schemas.openxmlformats.org/officeDocument/2006/relationships/slide" Target="/ppt/slides/slide3.xml" Id="Rf2c80dd8cac749cb" /><Relationship Type="http://schemas.openxmlformats.org/officeDocument/2006/relationships/slide" Target="/ppt/slides/slide4.xml" Id="R548f5133cac84544" /><Relationship Type="http://schemas.openxmlformats.org/officeDocument/2006/relationships/slide" Target="/ppt/slides/slide5.xml" Id="R713e593b92b840e1" /><Relationship Type="http://schemas.openxmlformats.org/officeDocument/2006/relationships/slide" Target="/ppt/slides/slide6.xml" Id="R1dd7b36680854d23" /><Relationship Type="http://schemas.openxmlformats.org/officeDocument/2006/relationships/slide" Target="/ppt/slides/slide7.xml" Id="R660a9742f5fb42c2" /><Relationship Type="http://schemas.openxmlformats.org/officeDocument/2006/relationships/slide" Target="/ppt/slides/slide8.xml" Id="Ree4d8818c7cb4dd1" /><Relationship Type="http://schemas.openxmlformats.org/officeDocument/2006/relationships/slide" Target="/ppt/slides/slide9.xml" Id="Rdb25fe001cd94dae" /><Relationship Type="http://schemas.openxmlformats.org/officeDocument/2006/relationships/slide" Target="/ppt/slides/slide10.xml" Id="R2891bb5df28f44f4" /><Relationship Type="http://schemas.openxmlformats.org/officeDocument/2006/relationships/slide" Target="/ppt/slides/slide11.xml" Id="R5d8502c06e9a4df0" /><Relationship Type="http://schemas.openxmlformats.org/officeDocument/2006/relationships/slide" Target="/ppt/slides/slide12.xml" Id="Rf4fa3a5795f24a11" /><Relationship Type="http://schemas.openxmlformats.org/officeDocument/2006/relationships/slide" Target="/ppt/slides/slide13.xml" Id="R5755b189f8c34081" /><Relationship Type="http://schemas.openxmlformats.org/officeDocument/2006/relationships/slide" Target="/ppt/slides/slide14.xml" Id="Ra9771750f0e54267" /><Relationship Type="http://schemas.openxmlformats.org/officeDocument/2006/relationships/slide" Target="/ppt/slides/slide15.xml" Id="R4c61631129954788" /><Relationship Type="http://schemas.openxmlformats.org/officeDocument/2006/relationships/slide" Target="/ppt/slides/slide16.xml" Id="Rc687a3ddc15241da" /><Relationship Type="http://schemas.openxmlformats.org/officeDocument/2006/relationships/slide" Target="/ppt/slides/slide17.xml" Id="R02b7cbe2e2044898" /><Relationship Type="http://schemas.openxmlformats.org/officeDocument/2006/relationships/slide" Target="/ppt/slides/slide18.xml" Id="R2afdc21a1f244639" /><Relationship Type="http://schemas.openxmlformats.org/officeDocument/2006/relationships/slide" Target="/ppt/slides/slide19.xml" Id="R947a6e96f7cc42b3" /><Relationship Type="http://schemas.openxmlformats.org/officeDocument/2006/relationships/slide" Target="/ppt/slides/slide20.xml" Id="R42355831bf6c4590" /><Relationship Type="http://schemas.openxmlformats.org/officeDocument/2006/relationships/slide" Target="/ppt/slides/slide21.xml" Id="R1888fbe20aab45a3" /><Relationship Type="http://schemas.openxmlformats.org/officeDocument/2006/relationships/slide" Target="/ppt/slides/slide22.xml" Id="R9c934005221646e0" /><Relationship Type="http://schemas.openxmlformats.org/officeDocument/2006/relationships/slide" Target="/ppt/slides/slide23.xml" Id="Rc12e8b2c29464e27" /><Relationship Type="http://schemas.openxmlformats.org/officeDocument/2006/relationships/slide" Target="/ppt/slides/slide24.xml" Id="R1987be1b2dd84e7f" /><Relationship Type="http://schemas.openxmlformats.org/officeDocument/2006/relationships/slide" Target="/ppt/slides/slide25.xml" Id="Rfca09d4e1b2147bd" /><Relationship Type="http://schemas.openxmlformats.org/officeDocument/2006/relationships/slide" Target="/ppt/slides/slide26.xml" Id="R742155eb3b9e4011" /><Relationship Type="http://schemas.openxmlformats.org/officeDocument/2006/relationships/slide" Target="/ppt/slides/slide27.xml" Id="R0a7e5929412e454a" /><Relationship Type="http://schemas.openxmlformats.org/officeDocument/2006/relationships/slide" Target="/ppt/slides/slide28.xml" Id="Re80e69c95a0d4521" /><Relationship Type="http://schemas.openxmlformats.org/officeDocument/2006/relationships/slide" Target="/ppt/slides/slide29.xml" Id="Rc231c7aefc14486d" /><Relationship Type="http://schemas.openxmlformats.org/officeDocument/2006/relationships/slide" Target="/ppt/slides/slide30.xml" Id="Re6ffd096237b4451" /><Relationship Type="http://schemas.openxmlformats.org/officeDocument/2006/relationships/slide" Target="/ppt/slides/slide31.xml" Id="Rbca54aa46d1942a9" /><Relationship Type="http://schemas.openxmlformats.org/officeDocument/2006/relationships/slide" Target="/ppt/slides/slide32.xml" Id="Rdb7812d7f9cd423b" /><Relationship Type="http://schemas.openxmlformats.org/officeDocument/2006/relationships/slide" Target="/ppt/slides/slide33.xml" Id="Rafc7c05ae3a64379" /><Relationship Type="http://schemas.openxmlformats.org/officeDocument/2006/relationships/slide" Target="/ppt/slides/slide34.xml" Id="R7a419cad4c6842ee" /><Relationship Type="http://schemas.openxmlformats.org/officeDocument/2006/relationships/slide" Target="/ppt/slides/slide35.xml" Id="R1af60d1ccd314328" /><Relationship Type="http://schemas.openxmlformats.org/officeDocument/2006/relationships/slide" Target="/ppt/slides/slide36.xml" Id="R7c467467fc6d4c88" /><Relationship Type="http://schemas.openxmlformats.org/officeDocument/2006/relationships/slide" Target="/ppt/slides/slide37.xml" Id="R8af778da24794b71" /><Relationship Type="http://schemas.openxmlformats.org/officeDocument/2006/relationships/slide" Target="/ppt/slides/slide38.xml" Id="Rc4ec406bf3314e9f" /><Relationship Type="http://schemas.openxmlformats.org/officeDocument/2006/relationships/slide" Target="/ppt/slides/slide39.xml" Id="R368b38e816f743b9" /><Relationship Type="http://schemas.openxmlformats.org/officeDocument/2006/relationships/slide" Target="/ppt/slides/slide40.xml" Id="R21ecc90395134ac8" /><Relationship Type="http://schemas.openxmlformats.org/officeDocument/2006/relationships/slide" Target="/ppt/slides/slide41.xml" Id="R641dfe37c0b843ad" /><Relationship Type="http://schemas.openxmlformats.org/officeDocument/2006/relationships/slide" Target="/ppt/slides/slide42.xml" Id="R92aab69c2f6b4c2c" /><Relationship Type="http://schemas.openxmlformats.org/officeDocument/2006/relationships/slide" Target="/ppt/slides/slide43.xml" Id="R21220dfc6f0a4c76" /><Relationship Type="http://schemas.openxmlformats.org/officeDocument/2006/relationships/slide" Target="/ppt/slides/slide44.xml" Id="Rbaf9d39a97a04a06" /><Relationship Type="http://schemas.openxmlformats.org/officeDocument/2006/relationships/slide" Target="/ppt/slides/slide45.xml" Id="Rcb018fa7a5e641e4" /><Relationship Type="http://schemas.openxmlformats.org/officeDocument/2006/relationships/slide" Target="/ppt/slides/slide46.xml" Id="R40676b9a97ff467b" /><Relationship Type="http://schemas.openxmlformats.org/officeDocument/2006/relationships/slide" Target="/ppt/slides/slide47.xml" Id="Rea15c419ba724ed7" /><Relationship Type="http://schemas.openxmlformats.org/officeDocument/2006/relationships/slide" Target="/ppt/slides/slide48.xml" Id="R4644982f4d994799" /><Relationship Type="http://schemas.openxmlformats.org/officeDocument/2006/relationships/slide" Target="/ppt/slides/slide49.xml" Id="Ra7111d7ea15d4bb2" /><Relationship Type="http://schemas.openxmlformats.org/officeDocument/2006/relationships/slide" Target="/ppt/slides/slide50.xml" Id="R92218b534b3e4e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ccde4da28643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2b1faf321641e8" /><Relationship Type="http://schemas.openxmlformats.org/officeDocument/2006/relationships/notesMaster" Target="/ppt/notesMasters/notesMaster1.xml" Id="Rb89d5ca4a28e4e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52f44d7f134992" /><Relationship Type="http://schemas.openxmlformats.org/officeDocument/2006/relationships/notesMaster" Target="/ppt/notesMasters/notesMaster1.xml" Id="Rda79344384be40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163311caa749d5" /><Relationship Type="http://schemas.openxmlformats.org/officeDocument/2006/relationships/notesMaster" Target="/ppt/notesMasters/notesMaster1.xml" Id="R055679d5b48e49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50fe7e252047c7" /><Relationship Type="http://schemas.openxmlformats.org/officeDocument/2006/relationships/notesMaster" Target="/ppt/notesMasters/notesMaster1.xml" Id="R1a435ac3746f48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c0da2501204501" /><Relationship Type="http://schemas.openxmlformats.org/officeDocument/2006/relationships/notesMaster" Target="/ppt/notesMasters/notesMaster1.xml" Id="R220e3238608949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404970dcfb4883" /><Relationship Type="http://schemas.openxmlformats.org/officeDocument/2006/relationships/notesMaster" Target="/ppt/notesMasters/notesMaster1.xml" Id="R34e518afe7954c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d388a94a7b4534" /><Relationship Type="http://schemas.openxmlformats.org/officeDocument/2006/relationships/notesMaster" Target="/ppt/notesMasters/notesMaster1.xml" Id="Ra33deec6c56547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31e95ac0c9474e" /><Relationship Type="http://schemas.openxmlformats.org/officeDocument/2006/relationships/notesMaster" Target="/ppt/notesMasters/notesMaster1.xml" Id="R3956dba4b0a944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57a277650441a7" /><Relationship Type="http://schemas.openxmlformats.org/officeDocument/2006/relationships/notesMaster" Target="/ppt/notesMasters/notesMaster1.xml" Id="R20a7fad6301c4c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e55dc5f7aa4abc" /><Relationship Type="http://schemas.openxmlformats.org/officeDocument/2006/relationships/notesMaster" Target="/ppt/notesMasters/notesMaster1.xml" Id="R79d798e30f4646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6180e00c084f18" /><Relationship Type="http://schemas.openxmlformats.org/officeDocument/2006/relationships/notesMaster" Target="/ppt/notesMasters/notesMaster1.xml" Id="Rd3562cbf8b044a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7275bab0174d60" /><Relationship Type="http://schemas.openxmlformats.org/officeDocument/2006/relationships/notesMaster" Target="/ppt/notesMasters/notesMaster1.xml" Id="R753c3e49195e4e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a7d7e28cf7489a" /><Relationship Type="http://schemas.openxmlformats.org/officeDocument/2006/relationships/notesMaster" Target="/ppt/notesMasters/notesMaster1.xml" Id="R463c6f86709c41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7989cb6cd940bb" /><Relationship Type="http://schemas.openxmlformats.org/officeDocument/2006/relationships/notesMaster" Target="/ppt/notesMasters/notesMaster1.xml" Id="R277dd2f195e048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d0c8dec8804d9d" /><Relationship Type="http://schemas.openxmlformats.org/officeDocument/2006/relationships/notesMaster" Target="/ppt/notesMasters/notesMaster1.xml" Id="Reebec8419b494c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1f033902c447d5" /><Relationship Type="http://schemas.openxmlformats.org/officeDocument/2006/relationships/notesMaster" Target="/ppt/notesMasters/notesMaster1.xml" Id="Rc6cbd847b74740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bf6bcfee534bdf" /><Relationship Type="http://schemas.openxmlformats.org/officeDocument/2006/relationships/notesMaster" Target="/ppt/notesMasters/notesMaster1.xml" Id="R5247b1496b0640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34075926d34b88" /><Relationship Type="http://schemas.openxmlformats.org/officeDocument/2006/relationships/notesMaster" Target="/ppt/notesMasters/notesMaster1.xml" Id="R907425e354d748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80649fed024b90" /><Relationship Type="http://schemas.openxmlformats.org/officeDocument/2006/relationships/notesMaster" Target="/ppt/notesMasters/notesMaster1.xml" Id="R84c341f7d57645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1b90c755cf4a87" /><Relationship Type="http://schemas.openxmlformats.org/officeDocument/2006/relationships/notesMaster" Target="/ppt/notesMasters/notesMaster1.xml" Id="Rcb7659a5ca834f0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f101eef44204323" /><Relationship Type="http://schemas.openxmlformats.org/officeDocument/2006/relationships/notesMaster" Target="/ppt/notesMasters/notesMaster1.xml" Id="Rbc12db2073af4e3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4e11d75827d46ff" /><Relationship Type="http://schemas.openxmlformats.org/officeDocument/2006/relationships/notesMaster" Target="/ppt/notesMasters/notesMaster1.xml" Id="Rb2c8a3609901423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20fedfefb14561" /><Relationship Type="http://schemas.openxmlformats.org/officeDocument/2006/relationships/notesMaster" Target="/ppt/notesMasters/notesMaster1.xml" Id="R447e991f43c2408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12428ca1ecb4e01" /><Relationship Type="http://schemas.openxmlformats.org/officeDocument/2006/relationships/notesMaster" Target="/ppt/notesMasters/notesMaster1.xml" Id="R0ae30478d2e3432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f08fd4eeeef4b4e" /><Relationship Type="http://schemas.openxmlformats.org/officeDocument/2006/relationships/notesMaster" Target="/ppt/notesMasters/notesMaster1.xml" Id="R5229c562bb9444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5ea60e7e69447da" /><Relationship Type="http://schemas.openxmlformats.org/officeDocument/2006/relationships/notesMaster" Target="/ppt/notesMasters/notesMaster1.xml" Id="R236f33a12724427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86dbcd00c004926" /><Relationship Type="http://schemas.openxmlformats.org/officeDocument/2006/relationships/notesMaster" Target="/ppt/notesMasters/notesMaster1.xml" Id="R048d774a3192486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2270078698b40d6" /><Relationship Type="http://schemas.openxmlformats.org/officeDocument/2006/relationships/notesMaster" Target="/ppt/notesMasters/notesMaster1.xml" Id="R8e86b0c59be149b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43ec9cd672045f2" /><Relationship Type="http://schemas.openxmlformats.org/officeDocument/2006/relationships/notesMaster" Target="/ppt/notesMasters/notesMaster1.xml" Id="R72e2d5a4979849c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ba47703e7904ef3" /><Relationship Type="http://schemas.openxmlformats.org/officeDocument/2006/relationships/notesMaster" Target="/ppt/notesMasters/notesMaster1.xml" Id="Rc8c6e1e065e043b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e8e4a61b18b4eaa" /><Relationship Type="http://schemas.openxmlformats.org/officeDocument/2006/relationships/notesMaster" Target="/ppt/notesMasters/notesMaster1.xml" Id="R2814e4b8be6e4ab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4477d448a224f9a" /><Relationship Type="http://schemas.openxmlformats.org/officeDocument/2006/relationships/notesMaster" Target="/ppt/notesMasters/notesMaster1.xml" Id="R6dc62d5efd89416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58199fccdbb43e5" /><Relationship Type="http://schemas.openxmlformats.org/officeDocument/2006/relationships/notesMaster" Target="/ppt/notesMasters/notesMaster1.xml" Id="R90c7acdb3eb347f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61bd79a79034516" /><Relationship Type="http://schemas.openxmlformats.org/officeDocument/2006/relationships/notesMaster" Target="/ppt/notesMasters/notesMaster1.xml" Id="R34b22a3da8c443f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a70b0094fe8475f" /><Relationship Type="http://schemas.openxmlformats.org/officeDocument/2006/relationships/notesMaster" Target="/ppt/notesMasters/notesMaster1.xml" Id="R6480a1fee8b34b8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d1eb8afa3954602" /><Relationship Type="http://schemas.openxmlformats.org/officeDocument/2006/relationships/notesMaster" Target="/ppt/notesMasters/notesMaster1.xml" Id="Rdd187232b1fd41b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0be02e687fe4d65" /><Relationship Type="http://schemas.openxmlformats.org/officeDocument/2006/relationships/notesMaster" Target="/ppt/notesMasters/notesMaster1.xml" Id="R556ba853e95c43d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f6c0af69b864a36" /><Relationship Type="http://schemas.openxmlformats.org/officeDocument/2006/relationships/notesMaster" Target="/ppt/notesMasters/notesMaster1.xml" Id="R098b78fb8ffa4b5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d52e4c661b64f04" /><Relationship Type="http://schemas.openxmlformats.org/officeDocument/2006/relationships/notesMaster" Target="/ppt/notesMasters/notesMaster1.xml" Id="R5272509b400341b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532f7ead68c405e" /><Relationship Type="http://schemas.openxmlformats.org/officeDocument/2006/relationships/notesMaster" Target="/ppt/notesMasters/notesMaster1.xml" Id="Re454959180f04e6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8d6264dfeac4c82" /><Relationship Type="http://schemas.openxmlformats.org/officeDocument/2006/relationships/notesMaster" Target="/ppt/notesMasters/notesMaster1.xml" Id="R2ca0717cd3bf465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2f2d91aab72460e" /><Relationship Type="http://schemas.openxmlformats.org/officeDocument/2006/relationships/notesMaster" Target="/ppt/notesMasters/notesMaster1.xml" Id="R544e5e7340c34ad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0649f287a0e4411" /><Relationship Type="http://schemas.openxmlformats.org/officeDocument/2006/relationships/notesMaster" Target="/ppt/notesMasters/notesMaster1.xml" Id="R1c2f8e9d383049e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0aaf6091a074706" /><Relationship Type="http://schemas.openxmlformats.org/officeDocument/2006/relationships/notesMaster" Target="/ppt/notesMasters/notesMaster1.xml" Id="R907336e435ff4e8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d9ee5ef02944d0e" /><Relationship Type="http://schemas.openxmlformats.org/officeDocument/2006/relationships/notesMaster" Target="/ppt/notesMasters/notesMaster1.xml" Id="Rd6bcb8cd8410441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99605cde3fe452a" /><Relationship Type="http://schemas.openxmlformats.org/officeDocument/2006/relationships/notesMaster" Target="/ppt/notesMasters/notesMaster1.xml" Id="R925828b2f05647e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272d472adb44200" /><Relationship Type="http://schemas.openxmlformats.org/officeDocument/2006/relationships/notesMaster" Target="/ppt/notesMasters/notesMaster1.xml" Id="R6233b0b46bd84c4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02f2fc04e074ff8" /><Relationship Type="http://schemas.openxmlformats.org/officeDocument/2006/relationships/notesMaster" Target="/ppt/notesMasters/notesMaster1.xml" Id="R31d2526c0d31404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1d18b9140624a6e" /><Relationship Type="http://schemas.openxmlformats.org/officeDocument/2006/relationships/notesMaster" Target="/ppt/notesMasters/notesMaster1.xml" Id="Re9c74fc891eb442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ce5ebb8a9b54c80" /><Relationship Type="http://schemas.openxmlformats.org/officeDocument/2006/relationships/notesMaster" Target="/ppt/notesMasters/notesMaster1.xml" Id="Ra0eaf711a03940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Title and abstract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Section “The problem: what did the performance claim survive?”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Section “The problem: what did the performance claim survive?”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“Prior standardization”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“Prior standardization”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“What licenses the transformation”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“A common effect scale”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“From a profile to a claim”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“The evaluation-generating regime”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“One assessment, two modes of challenge”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“From a failed average to joint survival”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“Projected support and empirical corroboration”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“Prevalence-robust supported performance”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“Why the prevalence search occurs inside each replication”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“Why the prevalence search occurs inside each replication”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“Severity and its limits”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“The fixed-model bootstrap”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“Intervals, grids, and richer regimes”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“The displacement”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“A design-relative report for one model”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“Why marginal reports do not compose”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“Why ordinary pairing is still not neutral”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“Tie-averaged average precision”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“The paired supported advantage”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“Reference behavior and design scope”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“No verdict and replacement”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“What the number says”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“What should be reported”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“Sparse outcomes and uncertainty”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Subsection “Inferences the result does not license”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Conclusion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“Definition and weighted implementation”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“Behavior across prevalence”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“Survival-function representation”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“Proof of the operator-order inequality”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“Proof of challenge monotonicity”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“Quantile representation and dispersion”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section “Why joint survival selects a power distortion”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“Why marginal subtraction overstates the paired advantage”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“Proof of refinement neutrality”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“Rank invariance under exchangeable labels”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“Why restricted label symmetry is insufficient”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“Why paired null centering fails”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“Proof of the orientation bound”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section “Closed-form computation of tie-averaged AP”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“General support order”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“Monte Carlo error”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“Prevalence evaluation”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manuscript: Stats_Paper_Extending_PRAUC_v12.tex — Appendix subsection “Outer bounds”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3cc51442443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4dddb0075e41b2" /><Relationship Type="http://schemas.openxmlformats.org/officeDocument/2006/relationships/slideLayout" Target="/ppt/slideLayouts/slideLayout1.xml" Id="R8eae1b3ff4844b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ae1b3ff4844b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72386838142a5" /><Relationship Type="http://schemas.openxmlformats.org/officeDocument/2006/relationships/notesSlide" Target="/ppt/notesSlides/notesSlide1.xml" Id="Ref22153609524a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91467f7d140a4" /><Relationship Type="http://schemas.openxmlformats.org/officeDocument/2006/relationships/notesSlide" Target="/ppt/notesSlides/notesSlide2.xml" Id="R399b69391a7041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d7f98c18247ba" /><Relationship Type="http://schemas.openxmlformats.org/officeDocument/2006/relationships/notesSlide" Target="/ppt/notesSlides/notesSlide3.xml" Id="Re7d7668ee5264e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473497b6c421c" /><Relationship Type="http://schemas.openxmlformats.org/officeDocument/2006/relationships/notesSlide" Target="/ppt/notesSlides/notesSlide4.xml" Id="R2a33d73f26ed46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04ffdca9a42fb" /><Relationship Type="http://schemas.openxmlformats.org/officeDocument/2006/relationships/notesSlide" Target="/ppt/notesSlides/notesSlide5.xml" Id="R80807aec432e46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d7499fe234426" /><Relationship Type="http://schemas.openxmlformats.org/officeDocument/2006/relationships/notesSlide" Target="/ppt/notesSlides/notesSlide6.xml" Id="R972cb0c635b546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26c398ae84848" /><Relationship Type="http://schemas.openxmlformats.org/officeDocument/2006/relationships/notesSlide" Target="/ppt/notesSlides/notesSlide7.xml" Id="R261182cb23f449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93b29023749c5" /><Relationship Type="http://schemas.openxmlformats.org/officeDocument/2006/relationships/chart" Target="/ppt/slides/charts/chart1.xml" Id="R4f2f415353664a31" /><Relationship Type="http://schemas.openxmlformats.org/officeDocument/2006/relationships/notesSlide" Target="/ppt/notesSlides/notesSlide8.xml" Id="Rf82a097d5d8342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4105d87c84df8" /><Relationship Type="http://schemas.openxmlformats.org/officeDocument/2006/relationships/notesSlide" Target="/ppt/notesSlides/notesSlide9.xml" Id="R62cef21409ad4b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01c2d9b9e4b1a" /><Relationship Type="http://schemas.openxmlformats.org/officeDocument/2006/relationships/notesSlide" Target="/ppt/notesSlides/notesSlide10.xml" Id="R81e332dd25ed4e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40392ba874d98" /><Relationship Type="http://schemas.openxmlformats.org/officeDocument/2006/relationships/notesSlide" Target="/ppt/notesSlides/notesSlide11.xml" Id="Rf06a5c3eb6e643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702e1b4f74882" /><Relationship Type="http://schemas.openxmlformats.org/officeDocument/2006/relationships/notesSlide" Target="/ppt/notesSlides/notesSlide12.xml" Id="Rbaf54f539d354b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b53c32b954843" /><Relationship Type="http://schemas.openxmlformats.org/officeDocument/2006/relationships/notesSlide" Target="/ppt/notesSlides/notesSlide13.xml" Id="R11d3e929383a44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a4c38fa0c4741" /><Relationship Type="http://schemas.openxmlformats.org/officeDocument/2006/relationships/notesSlide" Target="/ppt/notesSlides/notesSlide14.xml" Id="Rf564dbd634c244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b9dd57b594086" /><Relationship Type="http://schemas.openxmlformats.org/officeDocument/2006/relationships/notesSlide" Target="/ppt/notesSlides/notesSlide15.xml" Id="R68eeafbee02240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0245c6b3d4179" /><Relationship Type="http://schemas.openxmlformats.org/officeDocument/2006/relationships/notesSlide" Target="/ppt/notesSlides/notesSlide16.xml" Id="R677dbddc532d41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53bbfb8324ff6" /><Relationship Type="http://schemas.openxmlformats.org/officeDocument/2006/relationships/notesSlide" Target="/ppt/notesSlides/notesSlide17.xml" Id="Rdb7168eb508b48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db99de9274bc7" /><Relationship Type="http://schemas.openxmlformats.org/officeDocument/2006/relationships/notesSlide" Target="/ppt/notesSlides/notesSlide18.xml" Id="R26a4ecf71abb49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85c4457154c94" /><Relationship Type="http://schemas.openxmlformats.org/officeDocument/2006/relationships/notesSlide" Target="/ppt/notesSlides/notesSlide19.xml" Id="R3e198b390a5a43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207b844df4ed6" /><Relationship Type="http://schemas.openxmlformats.org/officeDocument/2006/relationships/notesSlide" Target="/ppt/notesSlides/notesSlide20.xml" Id="Rc69cb570c0c547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01707c7514284" /><Relationship Type="http://schemas.openxmlformats.org/officeDocument/2006/relationships/notesSlide" Target="/ppt/notesSlides/notesSlide21.xml" Id="R02b9593931d94d2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bd9f9024147de" /><Relationship Type="http://schemas.openxmlformats.org/officeDocument/2006/relationships/notesSlide" Target="/ppt/notesSlides/notesSlide22.xml" Id="R2a564da7cc6e46a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90a6cf4a844c5" /><Relationship Type="http://schemas.openxmlformats.org/officeDocument/2006/relationships/notesSlide" Target="/ppt/notesSlides/notesSlide23.xml" Id="Rbc694d3327aa4df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46eb06dd848b8" /><Relationship Type="http://schemas.openxmlformats.org/officeDocument/2006/relationships/notesSlide" Target="/ppt/notesSlides/notesSlide24.xml" Id="R13b265c807d44df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90039ca1d4eeb" /><Relationship Type="http://schemas.openxmlformats.org/officeDocument/2006/relationships/notesSlide" Target="/ppt/notesSlides/notesSlide25.xml" Id="Ra3f07b5ca06c4c5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9194fb43a44ca" /><Relationship Type="http://schemas.openxmlformats.org/officeDocument/2006/relationships/notesSlide" Target="/ppt/notesSlides/notesSlide26.xml" Id="Ra44f25503296424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79df997a740b8" /><Relationship Type="http://schemas.openxmlformats.org/officeDocument/2006/relationships/notesSlide" Target="/ppt/notesSlides/notesSlide27.xml" Id="R4606776ce2344aa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35024cfcc4d3c" /><Relationship Type="http://schemas.openxmlformats.org/officeDocument/2006/relationships/notesSlide" Target="/ppt/notesSlides/notesSlide28.xml" Id="R364564023a484ac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971469b294219" /><Relationship Type="http://schemas.openxmlformats.org/officeDocument/2006/relationships/notesSlide" Target="/ppt/notesSlides/notesSlide29.xml" Id="Rf06660d60b9944c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f022a86b24c17" /><Relationship Type="http://schemas.openxmlformats.org/officeDocument/2006/relationships/notesSlide" Target="/ppt/notesSlides/notesSlide30.xml" Id="Rcb26c678ecd44cf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995ef3a8244c9" /><Relationship Type="http://schemas.openxmlformats.org/officeDocument/2006/relationships/notesSlide" Target="/ppt/notesSlides/notesSlide31.xml" Id="R82cea5f63852487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bb3092bf34634" /><Relationship Type="http://schemas.openxmlformats.org/officeDocument/2006/relationships/notesSlide" Target="/ppt/notesSlides/notesSlide32.xml" Id="R8942da379a9d4e2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ab19f7e5440a1" /><Relationship Type="http://schemas.openxmlformats.org/officeDocument/2006/relationships/notesSlide" Target="/ppt/notesSlides/notesSlide33.xml" Id="Rf811b7cdaa584c4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a789dba90461c" /><Relationship Type="http://schemas.openxmlformats.org/officeDocument/2006/relationships/notesSlide" Target="/ppt/notesSlides/notesSlide34.xml" Id="R99bbbb8af4b04ac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0825c407e4cd6" /><Relationship Type="http://schemas.openxmlformats.org/officeDocument/2006/relationships/notesSlide" Target="/ppt/notesSlides/notesSlide35.xml" Id="R36b49209fb224a5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66f98b81b4d93" /><Relationship Type="http://schemas.openxmlformats.org/officeDocument/2006/relationships/notesSlide" Target="/ppt/notesSlides/notesSlide36.xml" Id="Rb21afe4745e64eb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e58f544034711" /><Relationship Type="http://schemas.openxmlformats.org/officeDocument/2006/relationships/notesSlide" Target="/ppt/notesSlides/notesSlide37.xml" Id="Ra1a214b23353453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8660b04ac4130" /><Relationship Type="http://schemas.openxmlformats.org/officeDocument/2006/relationships/notesSlide" Target="/ppt/notesSlides/notesSlide38.xml" Id="Rc62def41246f48a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7fabcccb942eb" /><Relationship Type="http://schemas.openxmlformats.org/officeDocument/2006/relationships/notesSlide" Target="/ppt/notesSlides/notesSlide39.xml" Id="R42ced65867094ed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b57ee293c42b5" /><Relationship Type="http://schemas.openxmlformats.org/officeDocument/2006/relationships/notesSlide" Target="/ppt/notesSlides/notesSlide40.xml" Id="Rd931286ebb54420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7cc382b0e4ea0" /><Relationship Type="http://schemas.openxmlformats.org/officeDocument/2006/relationships/notesSlide" Target="/ppt/notesSlides/notesSlide41.xml" Id="R34fb5792917f4be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b1edf72c44323" /><Relationship Type="http://schemas.openxmlformats.org/officeDocument/2006/relationships/notesSlide" Target="/ppt/notesSlides/notesSlide42.xml" Id="R923b0a9f737b454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7e7a6ba9c4db9" /><Relationship Type="http://schemas.openxmlformats.org/officeDocument/2006/relationships/notesSlide" Target="/ppt/notesSlides/notesSlide43.xml" Id="R8bc4dbb91aa14a0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f62772f0543d6" /><Relationship Type="http://schemas.openxmlformats.org/officeDocument/2006/relationships/notesSlide" Target="/ppt/notesSlides/notesSlide44.xml" Id="Rd2421064c5a647d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d95bf5feb49e9" /><Relationship Type="http://schemas.openxmlformats.org/officeDocument/2006/relationships/notesSlide" Target="/ppt/notesSlides/notesSlide45.xml" Id="R3d0e366f3eb24f0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857b478d64770" /><Relationship Type="http://schemas.openxmlformats.org/officeDocument/2006/relationships/notesSlide" Target="/ppt/notesSlides/notesSlide46.xml" Id="R009b537ad2b6432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6e6084de949b8" /><Relationship Type="http://schemas.openxmlformats.org/officeDocument/2006/relationships/notesSlide" Target="/ppt/notesSlides/notesSlide47.xml" Id="R6c36a3c3b386484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88d27a27a411c" /><Relationship Type="http://schemas.openxmlformats.org/officeDocument/2006/relationships/notesSlide" Target="/ppt/notesSlides/notesSlide48.xml" Id="R3172816d2c3a465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fd1033995489a" /><Relationship Type="http://schemas.openxmlformats.org/officeDocument/2006/relationships/notesSlide" Target="/ppt/notesSlides/notesSlide49.xml" Id="R4c6bb1e0a21e4cb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8df1c36404735" /><Relationship Type="http://schemas.openxmlformats.org/officeDocument/2006/relationships/notesSlide" Target="/ppt/notesSlides/notesSlide50.xml" Id="R35c356f375f94c07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Model A</c:v>
          </c:tx>
          <c:spPr>
            <a:ln xmlns:a="http://schemas.openxmlformats.org/drawingml/2006/main" w="28575">
              <a:solidFill>
                <a:srgbClr val="2F80ED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5"/>
              <c:pt idx="0">
                <c:v>1%</c:v>
              </c:pt>
              <c:pt idx="1">
                <c:v>5%</c:v>
              </c:pt>
              <c:pt idx="2">
                <c:v>10%</c:v>
              </c:pt>
              <c:pt idx="3">
                <c:v>25%</c:v>
              </c:pt>
              <c:pt idx="4">
                <c:v>50%</c:v>
              </c:pt>
            </c:strLit>
          </c:cat>
          <c:val>
            <c:numLit>
              <c:formatCode>General</c:formatCode>
              <c:ptCount val="5"/>
              <c:pt idx="0">
                <c:v>0.18</c:v>
              </c:pt>
              <c:pt idx="1">
                <c:v>0.31</c:v>
              </c:pt>
              <c:pt idx="2">
                <c:v>0.4</c:v>
              </c:pt>
              <c:pt idx="3">
                <c:v>0.49</c:v>
              </c:pt>
              <c:pt idx="4">
                <c:v>0.54</c:v>
              </c:pt>
            </c:numLit>
          </c:val>
        </c:ser>
        <c:ser>
          <c:idx val="1"/>
          <c:order val="1"/>
          <c:tx>
            <c:v>Model B</c:v>
          </c:tx>
          <c:spPr>
            <a:ln xmlns:a="http://schemas.openxmlformats.org/drawingml/2006/main" w="28575">
              <a:solidFill>
                <a:srgbClr val="0F9D91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5"/>
              <c:pt idx="0">
                <c:v>1%</c:v>
              </c:pt>
              <c:pt idx="1">
                <c:v>5%</c:v>
              </c:pt>
              <c:pt idx="2">
                <c:v>10%</c:v>
              </c:pt>
              <c:pt idx="3">
                <c:v>25%</c:v>
              </c:pt>
              <c:pt idx="4">
                <c:v>50%</c:v>
              </c:pt>
            </c:strLit>
          </c:cat>
          <c:val>
            <c:numLit>
              <c:formatCode>General</c:formatCode>
              <c:ptCount val="5"/>
              <c:pt idx="0">
                <c:v>0.25</c:v>
              </c:pt>
              <c:pt idx="1">
                <c:v>0.34</c:v>
              </c:pt>
              <c:pt idx="2">
                <c:v>0.38</c:v>
              </c:pt>
              <c:pt idx="3">
                <c:v>0.41</c:v>
              </c:pt>
              <c:pt idx="4">
                <c:v>0.43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eck-title">
            <a:extLst xmlns:a="http://schemas.openxmlformats.org/drawingml/2006/main">
              <a:ext uri="{FF2B5EF4-FFF2-40B4-BE49-F238E27FC236}">
                <a16:creationId xmlns:a16="http://schemas.microsoft.com/office/drawing/2014/main" id="{C91878F5-432E-450D-9905-3C3E6A72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9810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Supported model comparison</a:t>
            </a:r>
          </a:p>
          <a:p xmlns:a="http://schemas.openxmlformats.org/drawingml/2006/main">
            <a:pPr algn="l">
              <a:defRPr sz="5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across target prevalences</a:t>
            </a:r>
          </a:p>
        </p:txBody>
      </p:sp>
      <p:sp>
        <p:nvSpPr>
          <p:cNvPr id="2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2542F253-DB31-46C5-B49C-F21B2449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A replication-based method for average precision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6CEFC32-71D9-4278-9C84-41B9435C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uthor">
            <a:extLst xmlns:a="http://schemas.openxmlformats.org/drawingml/2006/main">
              <a:ext uri="{FF2B5EF4-FFF2-40B4-BE49-F238E27FC236}">
                <a16:creationId xmlns:a16="http://schemas.microsoft.com/office/drawing/2014/main" id="{B7974A81-8892-4B2F-AA4E-A98CD443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Marcus A. Thomas  ·  manuscript v12</a:t>
            </a:r>
          </a:p>
        </p:txBody>
      </p:sp>
      <p:sp>
        <p:nvSpPr>
          <p:cNvPr id="5" name="page-title">
            <a:extLst xmlns:a="http://schemas.openxmlformats.org/drawingml/2006/main">
              <a:ext uri="{FF2B5EF4-FFF2-40B4-BE49-F238E27FC236}">
                <a16:creationId xmlns:a16="http://schemas.microsoft.com/office/drawing/2014/main" id="{CE53C0AE-0667-4BB9-ADAD-FF3A5D38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84178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">
            <a:extLst xmlns:a="http://schemas.openxmlformats.org/drawingml/2006/main">
              <a:ext uri="{FF2B5EF4-FFF2-40B4-BE49-F238E27FC236}">
                <a16:creationId xmlns:a16="http://schemas.microsoft.com/office/drawing/2014/main" id="{F68807D9-BC0D-47AA-91D6-D777093F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Precision changes with prevalence even when ranking does not</a:t>
            </a:r>
          </a:p>
        </p:txBody>
      </p:sp>
      <p:sp>
        <p:nvSpPr>
          <p:cNvPr id="2" name="rule-2">
            <a:extLst xmlns:a="http://schemas.openxmlformats.org/drawingml/2006/main">
              <a:ext uri="{FF2B5EF4-FFF2-40B4-BE49-F238E27FC236}">
                <a16:creationId xmlns:a16="http://schemas.microsoft.com/office/drawing/2014/main" id="{55C59445-1386-4B07-A0EF-C59BDD51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2">
            <a:extLst xmlns:a="http://schemas.openxmlformats.org/drawingml/2006/main">
              <a:ext uri="{FF2B5EF4-FFF2-40B4-BE49-F238E27FC236}">
                <a16:creationId xmlns:a16="http://schemas.microsoft.com/office/drawing/2014/main" id="{6CF37761-4A64-47F8-85F1-C90DD7F5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605858E-9CDF-4323-9AD4-D9BDC79E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left-panel-2">
            <a:extLst xmlns:a="http://schemas.openxmlformats.org/drawingml/2006/main">
              <a:ext uri="{FF2B5EF4-FFF2-40B4-BE49-F238E27FC236}">
                <a16:creationId xmlns:a16="http://schemas.microsoft.com/office/drawing/2014/main" id="{984F2B5F-4763-4B41-BF78-D660AFE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3816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right-panel-2">
            <a:extLst xmlns:a="http://schemas.openxmlformats.org/drawingml/2006/main">
              <a:ext uri="{FF2B5EF4-FFF2-40B4-BE49-F238E27FC236}">
                <a16:creationId xmlns:a16="http://schemas.microsoft.com/office/drawing/2014/main" id="{11B515BD-5CFC-490A-8DAC-2DCC2EA4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6007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7" name="left-kicker-2">
            <a:extLst xmlns:a="http://schemas.openxmlformats.org/drawingml/2006/main">
              <a:ext uri="{FF2B5EF4-FFF2-40B4-BE49-F238E27FC236}">
                <a16:creationId xmlns:a16="http://schemas.microsoft.com/office/drawing/2014/main" id="{ACED2642-480D-4284-83A6-D3FD4E7F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50% PREVALENCE</a:t>
            </a:r>
          </a:p>
        </p:txBody>
      </p:sp>
      <p:sp>
        <p:nvSpPr>
          <p:cNvPr id="8" name="left-head-2">
            <a:extLst xmlns:a="http://schemas.openxmlformats.org/drawingml/2006/main">
              <a:ext uri="{FF2B5EF4-FFF2-40B4-BE49-F238E27FC236}">
                <a16:creationId xmlns:a16="http://schemas.microsoft.com/office/drawing/2014/main" id="{536D0F90-4388-486E-9FEA-860F68B3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Precision ≈ 0.94</a:t>
            </a:r>
          </a:p>
        </p:txBody>
      </p:sp>
      <p:sp>
        <p:nvSpPr>
          <p:cNvPr id="9" name="left-body-2">
            <a:extLst xmlns:a="http://schemas.openxmlformats.org/drawingml/2006/main">
              <a:ext uri="{FF2B5EF4-FFF2-40B4-BE49-F238E27FC236}">
                <a16:creationId xmlns:a16="http://schemas.microsoft.com/office/drawing/2014/main" id="{339008DE-8EBC-4685-BCE4-68B05294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10,000 cases</a:t>
            </a:r>
          </a:p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4,000 true positives</a:t>
            </a:r>
          </a:p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250 false positives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TPR = 80%  ·  FPR = 5%</a:t>
            </a:r>
          </a:p>
        </p:txBody>
      </p:sp>
      <p:sp>
        <p:nvSpPr>
          <p:cNvPr id="10" name="right-kicker-2">
            <a:extLst xmlns:a="http://schemas.openxmlformats.org/drawingml/2006/main">
              <a:ext uri="{FF2B5EF4-FFF2-40B4-BE49-F238E27FC236}">
                <a16:creationId xmlns:a16="http://schemas.microsoft.com/office/drawing/2014/main" id="{FAE4B920-C272-4B08-B7C8-EFEA8C0A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1% PREVALENCE</a:t>
            </a:r>
          </a:p>
        </p:txBody>
      </p:sp>
      <p:sp>
        <p:nvSpPr>
          <p:cNvPr id="11" name="right-head-2">
            <a:extLst xmlns:a="http://schemas.openxmlformats.org/drawingml/2006/main">
              <a:ext uri="{FF2B5EF4-FFF2-40B4-BE49-F238E27FC236}">
                <a16:creationId xmlns:a16="http://schemas.microsoft.com/office/drawing/2014/main" id="{66391D23-0F3B-4B94-A2DC-4FACD35D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28875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Precision ≈ 0.14</a:t>
            </a:r>
          </a:p>
        </p:txBody>
      </p:sp>
      <p:sp>
        <p:nvSpPr>
          <p:cNvPr id="12" name="right-body-2">
            <a:extLst xmlns:a="http://schemas.openxmlformats.org/drawingml/2006/main">
              <a:ext uri="{FF2B5EF4-FFF2-40B4-BE49-F238E27FC236}">
                <a16:creationId xmlns:a16="http://schemas.microsoft.com/office/drawing/2014/main" id="{7AE5C53F-AAD5-43A8-91DF-726F4C1E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8137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10,000 cases</a:t>
            </a:r>
          </a:p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80 true positives</a:t>
            </a:r>
          </a:p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495 false positives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ranking rates did not change.</a:t>
            </a:r>
          </a:p>
        </p:txBody>
      </p:sp>
    </p:spTree>
    <p:extLst>
      <p:ext uri="{BB962C8B-B14F-4D97-AF65-F5344CB8AC3E}">
        <p14:creationId xmlns:p14="http://schemas.microsoft.com/office/powerpoint/2010/main" val="541076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3">
            <a:extLst xmlns:a="http://schemas.openxmlformats.org/drawingml/2006/main">
              <a:ext uri="{FF2B5EF4-FFF2-40B4-BE49-F238E27FC236}">
                <a16:creationId xmlns:a16="http://schemas.microsoft.com/office/drawing/2014/main" id="{62309AD2-46A3-45C4-8A95-7BDCB9FF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 portable claim must define its target set, replication law, and K</a:t>
            </a:r>
          </a:p>
        </p:txBody>
      </p:sp>
      <p:sp>
        <p:nvSpPr>
          <p:cNvPr id="2" name="rule-3">
            <a:extLst xmlns:a="http://schemas.openxmlformats.org/drawingml/2006/main">
              <a:ext uri="{FF2B5EF4-FFF2-40B4-BE49-F238E27FC236}">
                <a16:creationId xmlns:a16="http://schemas.microsoft.com/office/drawing/2014/main" id="{02E368FC-9291-433D-B48F-0B3B9CA6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3">
            <a:extLst xmlns:a="http://schemas.openxmlformats.org/drawingml/2006/main">
              <a:ext uri="{FF2B5EF4-FFF2-40B4-BE49-F238E27FC236}">
                <a16:creationId xmlns:a16="http://schemas.microsoft.com/office/drawing/2014/main" id="{97B676F7-D014-4B27-B0D6-472C0A6E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F3130B4-BED1-4252-AF4D-08086355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" name="card-3-0">
            <a:extLst xmlns:a="http://schemas.openxmlformats.org/drawingml/2006/main">
              <a:ext uri="{FF2B5EF4-FFF2-40B4-BE49-F238E27FC236}">
                <a16:creationId xmlns:a16="http://schemas.microsoft.com/office/drawing/2014/main" id="{3BE2AB17-D0D8-4207-8F76-10C5C080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num-3-0">
            <a:extLst xmlns:a="http://schemas.openxmlformats.org/drawingml/2006/main">
              <a:ext uri="{FF2B5EF4-FFF2-40B4-BE49-F238E27FC236}">
                <a16:creationId xmlns:a16="http://schemas.microsoft.com/office/drawing/2014/main" id="{60797CB0-39CE-4DCD-A49B-86B6232D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Π★</a:t>
            </a:r>
          </a:p>
        </p:txBody>
      </p:sp>
      <p:sp>
        <p:nvSpPr>
          <p:cNvPr id="7" name="head-3-0">
            <a:extLst xmlns:a="http://schemas.openxmlformats.org/drawingml/2006/main">
              <a:ext uri="{FF2B5EF4-FFF2-40B4-BE49-F238E27FC236}">
                <a16:creationId xmlns:a16="http://schemas.microsoft.com/office/drawing/2014/main" id="{DE685288-B0DD-4E13-BEC7-C52FDB7D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Where must it hold?</a:t>
            </a:r>
          </a:p>
        </p:txBody>
      </p:sp>
      <p:sp>
        <p:nvSpPr>
          <p:cNvPr id="8" name="body-3-0">
            <a:extLst xmlns:a="http://schemas.openxmlformats.org/drawingml/2006/main">
              <a:ext uri="{FF2B5EF4-FFF2-40B4-BE49-F238E27FC236}">
                <a16:creationId xmlns:a16="http://schemas.microsoft.com/office/drawing/2014/main" id="{06C13908-CFBE-423E-A854-D23EC8ED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target prevalence set: named populations or a defensible interval.</a:t>
            </a:r>
          </a:p>
        </p:txBody>
      </p:sp>
      <p:sp>
        <p:nvSpPr>
          <p:cNvPr id="9" name="card-3-1">
            <a:extLst xmlns:a="http://schemas.openxmlformats.org/drawingml/2006/main">
              <a:ext uri="{FF2B5EF4-FFF2-40B4-BE49-F238E27FC236}">
                <a16:creationId xmlns:a16="http://schemas.microsoft.com/office/drawing/2014/main" id="{E80B109D-DE94-404A-BEBE-09F9576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0" name="num-3-1">
            <a:extLst xmlns:a="http://schemas.openxmlformats.org/drawingml/2006/main">
              <a:ext uri="{FF2B5EF4-FFF2-40B4-BE49-F238E27FC236}">
                <a16:creationId xmlns:a16="http://schemas.microsoft.com/office/drawing/2014/main" id="{4F22108B-565F-47E8-8399-19709241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ℛ</a:t>
            </a:r>
          </a:p>
        </p:txBody>
      </p:sp>
      <p:sp>
        <p:nvSpPr>
          <p:cNvPr id="11" name="head-3-1">
            <a:extLst xmlns:a="http://schemas.openxmlformats.org/drawingml/2006/main">
              <a:ext uri="{FF2B5EF4-FFF2-40B4-BE49-F238E27FC236}">
                <a16:creationId xmlns:a16="http://schemas.microsoft.com/office/drawing/2014/main" id="{03AE05A0-ABAA-4273-9408-9249183B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What may change?</a:t>
            </a:r>
          </a:p>
        </p:txBody>
      </p:sp>
      <p:sp>
        <p:nvSpPr>
          <p:cNvPr id="12" name="body-3-1">
            <a:extLst xmlns:a="http://schemas.openxmlformats.org/drawingml/2006/main">
              <a:ext uri="{FF2B5EF4-FFF2-40B4-BE49-F238E27FC236}">
                <a16:creationId xmlns:a16="http://schemas.microsoft.com/office/drawing/2014/main" id="{98ABAE64-9ADD-4EAA-BEF3-CFE54974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law for one complete replication: units, environments, measurement, or development.</a:t>
            </a:r>
          </a:p>
        </p:txBody>
      </p:sp>
      <p:sp>
        <p:nvSpPr>
          <p:cNvPr id="13" name="card-3-2">
            <a:extLst xmlns:a="http://schemas.openxmlformats.org/drawingml/2006/main">
              <a:ext uri="{FF2B5EF4-FFF2-40B4-BE49-F238E27FC236}">
                <a16:creationId xmlns:a16="http://schemas.microsoft.com/office/drawing/2014/main" id="{3FC02550-6006-4587-8DFC-05507792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4" name="num-3-2">
            <a:extLst xmlns:a="http://schemas.openxmlformats.org/drawingml/2006/main">
              <a:ext uri="{FF2B5EF4-FFF2-40B4-BE49-F238E27FC236}">
                <a16:creationId xmlns:a16="http://schemas.microsoft.com/office/drawing/2014/main" id="{7535CF40-F22F-4DD4-9B8C-B6CFBC7C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K</a:t>
            </a:r>
          </a:p>
        </p:txBody>
      </p:sp>
      <p:sp>
        <p:nvSpPr>
          <p:cNvPr id="15" name="head-3-2">
            <a:extLst xmlns:a="http://schemas.openxmlformats.org/drawingml/2006/main">
              <a:ext uri="{FF2B5EF4-FFF2-40B4-BE49-F238E27FC236}">
                <a16:creationId xmlns:a16="http://schemas.microsoft.com/office/drawing/2014/main" id="{07F4B5E9-AC8D-4342-BD81-539F3BB1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How many chances to fail?</a:t>
            </a:r>
          </a:p>
        </p:txBody>
      </p:sp>
      <p:sp>
        <p:nvSpPr>
          <p:cNvPr id="16" name="body-3-2">
            <a:extLst xmlns:a="http://schemas.openxmlformats.org/drawingml/2006/main">
              <a:ext uri="{FF2B5EF4-FFF2-40B4-BE49-F238E27FC236}">
                <a16:creationId xmlns:a16="http://schemas.microsoft.com/office/drawing/2014/main" id="{A573AD70-90F0-4DB0-88D6-7673E41D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Independent replications that must retain the claimed level jointly.</a:t>
            </a:r>
          </a:p>
        </p:txBody>
      </p:sp>
      <p:sp>
        <p:nvSpPr>
          <p:cNvPr id="17" name="bottom-3">
            <a:extLst xmlns:a="http://schemas.openxmlformats.org/drawingml/2006/main">
              <a:ext uri="{FF2B5EF4-FFF2-40B4-BE49-F238E27FC236}">
                <a16:creationId xmlns:a16="http://schemas.microsoft.com/office/drawing/2014/main" id="{4986C09A-5BC6-4BE9-BF92-50215F95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m:rPr>
                      <m:nor/>
                      <m:sty m:val="p"/>
                    </m:rPr>
                    <m:t>A</m:t>
                  </m:r>
                  <m:r>
                    <m:t>=</m:t>
                  </m:r>
                  <m:r>
                    <m:t>(</m:t>
                  </m:r>
                  <m:sSub>
                    <m:e>
                      <m:r>
                        <m:t>Π</m:t>
                      </m:r>
                    </m:e>
                    <m:sub>
                      <m:r>
                        <m:t>∗</m:t>
                      </m:r>
                    </m:sub>
                  </m:sSub>
                  <m:r>
                    <m:t>,</m:t>
                  </m:r>
                  <m:r>
                    <m:rPr>
                      <m:nor/>
                      <m:sty m:val="p"/>
                    </m:rPr>
                    <m:t>R</m:t>
                  </m:r>
                  <m:r>
                    <m:t>,</m:t>
                  </m:r>
                  <m:r>
                    <m:t>K</m:t>
                  </m:r>
                  <m:r>
                    <m:t>)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304138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4">
            <a:extLst xmlns:a="http://schemas.openxmlformats.org/drawingml/2006/main">
              <a:ext uri="{FF2B5EF4-FFF2-40B4-BE49-F238E27FC236}">
                <a16:creationId xmlns:a16="http://schemas.microsoft.com/office/drawing/2014/main" id="{6D757F53-3588-4042-9FCA-62784F44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How can prevalence change without changing the ranking?</a:t>
            </a:r>
          </a:p>
        </p:txBody>
      </p:sp>
      <p:sp>
        <p:nvSpPr>
          <p:cNvPr id="2" name="rule-4">
            <a:extLst xmlns:a="http://schemas.openxmlformats.org/drawingml/2006/main">
              <a:ext uri="{FF2B5EF4-FFF2-40B4-BE49-F238E27FC236}">
                <a16:creationId xmlns:a16="http://schemas.microsoft.com/office/drawing/2014/main" id="{ED38A815-8890-45BD-9FDA-089D9AD8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4">
            <a:extLst xmlns:a="http://schemas.openxmlformats.org/drawingml/2006/main">
              <a:ext uri="{FF2B5EF4-FFF2-40B4-BE49-F238E27FC236}">
                <a16:creationId xmlns:a16="http://schemas.microsoft.com/office/drawing/2014/main" id="{05E7B895-33C7-4D81-8ADB-818515AB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271E167A-3A7D-48E8-9AF2-14D6C8BB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5" name="formula-panel-4">
            <a:extLst xmlns:a="http://schemas.openxmlformats.org/drawingml/2006/main">
              <a:ext uri="{FF2B5EF4-FFF2-40B4-BE49-F238E27FC236}">
                <a16:creationId xmlns:a16="http://schemas.microsoft.com/office/drawing/2014/main" id="{AC57B373-C131-478A-B84C-06AF82D9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</p:sp>
      <p:sp>
        <p:nvSpPr>
          <p:cNvPr id="6" name="formula-label-4">
            <a:extLst xmlns:a="http://schemas.openxmlformats.org/drawingml/2006/main">
              <a:ext uri="{FF2B5EF4-FFF2-40B4-BE49-F238E27FC236}">
                <a16:creationId xmlns:a16="http://schemas.microsoft.com/office/drawing/2014/main" id="{BF830282-4FA4-44B3-A673-62FF99C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4">
            <a:extLst xmlns:a="http://schemas.openxmlformats.org/drawingml/2006/main">
              <a:ext uri="{FF2B5EF4-FFF2-40B4-BE49-F238E27FC236}">
                <a16:creationId xmlns:a16="http://schemas.microsoft.com/office/drawing/2014/main" id="{50191A71-2F46-4401-9D2D-846D6C3E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6388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p</m:t>
                      </m:r>
                    </m:e>
                    <m:sub>
                      <m:r>
                        <m:t>π</m:t>
                      </m:r>
                    </m:sub>
                  </m:sSub>
                  <m:r>
                    <m:t>(</m:t>
                  </m:r>
                  <m:r>
                    <m:t>c</m:t>
                  </m:r>
                  <m:r>
                    <m:t>)</m:t>
                  </m:r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π</m:t>
                      </m:r>
                      <m:r>
                        <m:t>r</m:t>
                      </m:r>
                      <m:r>
                        <m:t>(</m:t>
                      </m:r>
                      <m:r>
                        <m:t>c</m:t>
                      </m:r>
                      <m:r>
                        <m:t>)</m:t>
                      </m:r>
                    </m:num>
                    <m:den>
                      <m:r>
                        <m:t>π</m:t>
                      </m:r>
                      <m:r>
                        <m:t>r</m:t>
                      </m:r>
                      <m:r>
                        <m:t>(</m:t>
                      </m:r>
                      <m:r>
                        <m:t>c</m:t>
                      </m:r>
                      <m:r>
                        <m:t>)</m:t>
                      </m:r>
                      <m:r>
                        <m:t>+</m:t>
                      </m:r>
                      <m:r>
                        <m:t>(</m:t>
                      </m:r>
                      <m:r>
                        <m:t>1</m:t>
                      </m:r>
                      <m:r>
                        <m:t>-</m:t>
                      </m:r>
                      <m:r>
                        <m:t>π</m:t>
                      </m:r>
                      <m:r>
                        <m:t>)</m:t>
                      </m:r>
                      <m:r>
                        <m:t>f</m:t>
                      </m:r>
                      <m:r>
                        <m:t>(</m:t>
                      </m:r>
                      <m:r>
                        <m:t>c</m:t>
                      </m:r>
                      <m:r>
                        <m:t>)</m:t>
                      </m:r>
                    </m:den>
                  </m:f>
                </m:oMath>
              </m:oMathPara>
            </a14:m>
          </a:p>
        </p:txBody>
      </p:sp>
      <p:sp>
        <p:nvSpPr>
          <p:cNvPr id="8" name="formula-caption-4">
            <a:extLst xmlns:a="http://schemas.openxmlformats.org/drawingml/2006/main">
              <a:ext uri="{FF2B5EF4-FFF2-40B4-BE49-F238E27FC236}">
                <a16:creationId xmlns:a16="http://schemas.microsoft.com/office/drawing/2014/main" id="{25712F64-6812-4830-866C-EE922387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563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r(c): true-positive rate   ·   f(c): false-positive rate</a:t>
            </a:r>
          </a:p>
        </p:txBody>
      </p:sp>
      <p:sp>
        <p:nvSpPr>
          <p:cNvPr id="9" name="meaning-label-4">
            <a:extLst xmlns:a="http://schemas.openxmlformats.org/drawingml/2006/main">
              <a:ext uri="{FF2B5EF4-FFF2-40B4-BE49-F238E27FC236}">
                <a16:creationId xmlns:a16="http://schemas.microsoft.com/office/drawing/2014/main" id="{D551BC72-D1FB-48CA-B68B-318E7676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10" name="meaning-4">
            <a:extLst xmlns:a="http://schemas.openxmlformats.org/drawingml/2006/main">
              <a:ext uri="{FF2B5EF4-FFF2-40B4-BE49-F238E27FC236}">
                <a16:creationId xmlns:a16="http://schemas.microsoft.com/office/drawing/2014/main" id="{A28EFE6B-61B8-49DD-B75F-DAA7CFFD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Reweight the class prior to the target prevalence π.</a:t>
            </a:r>
          </a:p>
        </p:txBody>
      </p:sp>
      <p:sp>
        <p:nvSpPr>
          <p:cNvPr id="11" name="why-4">
            <a:extLst xmlns:a="http://schemas.openxmlformats.org/drawingml/2006/main">
              <a:ext uri="{FF2B5EF4-FFF2-40B4-BE49-F238E27FC236}">
                <a16:creationId xmlns:a16="http://schemas.microsoft.com/office/drawing/2014/main" id="{F6BB36A5-6123-4155-8280-F99634A8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observed class-conditional ranking rates stay fixed. Applying this at every score threshold produces APπ.</a:t>
            </a:r>
          </a:p>
        </p:txBody>
      </p:sp>
    </p:spTree>
    <p:extLst>
      <p:ext uri="{BB962C8B-B14F-4D97-AF65-F5344CB8AC3E}">
        <p14:creationId xmlns:p14="http://schemas.microsoft.com/office/powerpoint/2010/main" val="2127595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5">
            <a:extLst xmlns:a="http://schemas.openxmlformats.org/drawingml/2006/main">
              <a:ext uri="{FF2B5EF4-FFF2-40B4-BE49-F238E27FC236}">
                <a16:creationId xmlns:a16="http://schemas.microsoft.com/office/drawing/2014/main" id="{62E7C38D-6BA2-44D2-ACF9-D1F7F1A2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Valid reweighting must separate prior odds from ranking evidence</a:t>
            </a:r>
          </a:p>
        </p:txBody>
      </p:sp>
      <p:sp>
        <p:nvSpPr>
          <p:cNvPr id="2" name="rule-5">
            <a:extLst xmlns:a="http://schemas.openxmlformats.org/drawingml/2006/main">
              <a:ext uri="{FF2B5EF4-FFF2-40B4-BE49-F238E27FC236}">
                <a16:creationId xmlns:a16="http://schemas.microsoft.com/office/drawing/2014/main" id="{F656C4E1-BE14-4368-B337-A6004C87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5">
            <a:extLst xmlns:a="http://schemas.openxmlformats.org/drawingml/2006/main">
              <a:ext uri="{FF2B5EF4-FFF2-40B4-BE49-F238E27FC236}">
                <a16:creationId xmlns:a16="http://schemas.microsoft.com/office/drawing/2014/main" id="{909CF6FF-A1C5-4C8D-960D-A8A93465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EA66AE76-D9DB-4D70-82A4-D5D4A9E3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5" name="formula-panel-5">
            <a:extLst xmlns:a="http://schemas.openxmlformats.org/drawingml/2006/main">
              <a:ext uri="{FF2B5EF4-FFF2-40B4-BE49-F238E27FC236}">
                <a16:creationId xmlns:a16="http://schemas.microsoft.com/office/drawing/2014/main" id="{1652305E-9523-4AB6-B3CC-FE379817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</p:sp>
      <p:sp>
        <p:nvSpPr>
          <p:cNvPr id="6" name="formula-label-5">
            <a:extLst xmlns:a="http://schemas.openxmlformats.org/drawingml/2006/main">
              <a:ext uri="{FF2B5EF4-FFF2-40B4-BE49-F238E27FC236}">
                <a16:creationId xmlns:a16="http://schemas.microsoft.com/office/drawing/2014/main" id="{D99B92BB-A24D-4B0E-8D83-5BD9CF99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5">
            <a:extLst xmlns:a="http://schemas.openxmlformats.org/drawingml/2006/main">
              <a:ext uri="{FF2B5EF4-FFF2-40B4-BE49-F238E27FC236}">
                <a16:creationId xmlns:a16="http://schemas.microsoft.com/office/drawing/2014/main" id="{DA0F82BF-03B7-4C74-86A0-F630E043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6388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f>
                    <m:fPr>
                      <m:type m:val="bar"/>
                    </m:fPr>
                    <m:num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π</m:t>
                          </m:r>
                        </m:sub>
                      </m:sSub>
                      <m:r>
                        <m:t>(</m:t>
                      </m:r>
                      <m:r>
                        <m:t>c</m:t>
                      </m:r>
                      <m:r>
                        <m:t>)</m:t>
                      </m:r>
                    </m:num>
                    <m:den>
                      <m:r>
                        <m:t>1</m:t>
                      </m:r>
                      <m:r>
                        <m:t>-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π</m:t>
                          </m:r>
                        </m:sub>
                      </m:sSub>
                      <m:r>
                        <m:t>(</m:t>
                      </m:r>
                      <m:r>
                        <m:t>c</m:t>
                      </m:r>
                      <m:r>
                        <m:t>)</m:t>
                      </m:r>
                    </m:den>
                  </m:f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π</m:t>
                      </m:r>
                    </m:num>
                    <m:den>
                      <m:r>
                        <m:t>1</m:t>
                      </m:r>
                      <m:r>
                        <m:t>-</m:t>
                      </m:r>
                      <m:r>
                        <m:t>π</m:t>
                      </m:r>
                    </m:den>
                  </m:f>
                  <m:f>
                    <m:fPr>
                      <m:type m:val="bar"/>
                    </m:fPr>
                    <m:num>
                      <m:r>
                        <m:t>r</m:t>
                      </m:r>
                      <m:r>
                        <m:t>(</m:t>
                      </m:r>
                      <m:r>
                        <m:t>c</m:t>
                      </m:r>
                      <m:r>
                        <m:t>)</m:t>
                      </m:r>
                    </m:num>
                    <m:den>
                      <m:r>
                        <m:t>f</m:t>
                      </m:r>
                      <m:r>
                        <m:t>(</m:t>
                      </m:r>
                      <m:r>
                        <m:t>c</m:t>
                      </m:r>
                      <m:r>
                        <m:t>)</m:t>
                      </m:r>
                    </m:den>
                  </m:f>
                </m:oMath>
              </m:oMathPara>
            </a14:m>
          </a:p>
        </p:txBody>
      </p:sp>
      <p:sp>
        <p:nvSpPr>
          <p:cNvPr id="8" name="meaning-label-5">
            <a:extLst xmlns:a="http://schemas.openxmlformats.org/drawingml/2006/main">
              <a:ext uri="{FF2B5EF4-FFF2-40B4-BE49-F238E27FC236}">
                <a16:creationId xmlns:a16="http://schemas.microsoft.com/office/drawing/2014/main" id="{B677EB90-0F6E-4A26-8C53-BC743FB3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9" name="meaning-5">
            <a:extLst xmlns:a="http://schemas.openxmlformats.org/drawingml/2006/main">
              <a:ext uri="{FF2B5EF4-FFF2-40B4-BE49-F238E27FC236}">
                <a16:creationId xmlns:a16="http://schemas.microsoft.com/office/drawing/2014/main" id="{A454A826-C624-4629-8E13-F7658564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Population prior × ranking evidence.</a:t>
            </a:r>
          </a:p>
        </p:txBody>
      </p:sp>
      <p:sp>
        <p:nvSpPr>
          <p:cNvPr id="10" name="why-5">
            <a:extLst xmlns:a="http://schemas.openxmlformats.org/drawingml/2006/main">
              <a:ext uri="{FF2B5EF4-FFF2-40B4-BE49-F238E27FC236}">
                <a16:creationId xmlns:a16="http://schemas.microsoft.com/office/drawing/2014/main" id="{DC9A8C8B-95A2-4157-BAC5-9A9A7FD7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Only the first factor changes with the target population. The second comes from the score distributions within class.</a:t>
            </a:r>
          </a:p>
        </p:txBody>
      </p:sp>
    </p:spTree>
    <p:extLst>
      <p:ext uri="{BB962C8B-B14F-4D97-AF65-F5344CB8AC3E}">
        <p14:creationId xmlns:p14="http://schemas.microsoft.com/office/powerpoint/2010/main" val="54056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6">
            <a:extLst xmlns:a="http://schemas.openxmlformats.org/drawingml/2006/main">
              <a:ext uri="{FF2B5EF4-FFF2-40B4-BE49-F238E27FC236}">
                <a16:creationId xmlns:a16="http://schemas.microsoft.com/office/drawing/2014/main" id="{F87E0D4A-239D-4048-972B-56926C58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Prior reweighting requires stable within-class score behavior</a:t>
            </a:r>
          </a:p>
        </p:txBody>
      </p:sp>
      <p:sp>
        <p:nvSpPr>
          <p:cNvPr id="2" name="rule-6">
            <a:extLst xmlns:a="http://schemas.openxmlformats.org/drawingml/2006/main">
              <a:ext uri="{FF2B5EF4-FFF2-40B4-BE49-F238E27FC236}">
                <a16:creationId xmlns:a16="http://schemas.microsoft.com/office/drawing/2014/main" id="{FB67C445-65A8-483D-9508-61A7BCF6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6">
            <a:extLst xmlns:a="http://schemas.openxmlformats.org/drawingml/2006/main">
              <a:ext uri="{FF2B5EF4-FFF2-40B4-BE49-F238E27FC236}">
                <a16:creationId xmlns:a16="http://schemas.microsoft.com/office/drawing/2014/main" id="{3B1D49DA-A35D-47D6-B1CE-16E27BBF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E7EA9D1E-B83F-44D6-AFFA-C253AC35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5" name="left-panel-6">
            <a:extLst xmlns:a="http://schemas.openxmlformats.org/drawingml/2006/main">
              <a:ext uri="{FF2B5EF4-FFF2-40B4-BE49-F238E27FC236}">
                <a16:creationId xmlns:a16="http://schemas.microsoft.com/office/drawing/2014/main" id="{7BD0C79B-4E93-4FA1-87B6-58211515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3816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right-panel-6">
            <a:extLst xmlns:a="http://schemas.openxmlformats.org/drawingml/2006/main">
              <a:ext uri="{FF2B5EF4-FFF2-40B4-BE49-F238E27FC236}">
                <a16:creationId xmlns:a16="http://schemas.microsoft.com/office/drawing/2014/main" id="{8AC0C2AD-1363-4159-9353-FB03209B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6007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7" name="left-kicker-6">
            <a:extLst xmlns:a="http://schemas.openxmlformats.org/drawingml/2006/main">
              <a:ext uri="{FF2B5EF4-FFF2-40B4-BE49-F238E27FC236}">
                <a16:creationId xmlns:a16="http://schemas.microsoft.com/office/drawing/2014/main" id="{A10A3E47-80D2-4EC5-AF75-3536AA56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LICENSED</a:t>
            </a:r>
          </a:p>
        </p:txBody>
      </p:sp>
      <p:sp>
        <p:nvSpPr>
          <p:cNvPr id="8" name="left-head-6">
            <a:extLst xmlns:a="http://schemas.openxmlformats.org/drawingml/2006/main">
              <a:ext uri="{FF2B5EF4-FFF2-40B4-BE49-F238E27FC236}">
                <a16:creationId xmlns:a16="http://schemas.microsoft.com/office/drawing/2014/main" id="{525D83FA-7FC4-48A9-8D51-A362FBD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P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m:t>obs</m:t>
                      </m:r>
                    </m:sub>
                  </m:sSub>
                  <m:r>
                    <m:t>(</m:t>
                  </m:r>
                  <m:r>
                    <m:t>S</m:t>
                  </m:r>
                  <m:r>
                    <m:t>≥</m:t>
                  </m:r>
                  <m:r>
                    <m:t>c</m:t>
                  </m:r>
                  <m:r>
                    <m:t xml:space="preserve"> </m:t>
                  </m:r>
                  <m:r>
                    <m:t>|</m:t>
                  </m:r>
                  <m:r>
                    <m:t xml:space="preserve"> </m:t>
                  </m:r>
                  <m:r>
                    <m:t>Y</m:t>
                  </m:r>
                  <m:r>
                    <m:t>=</m:t>
                  </m:r>
                  <m:r>
                    <m:t>y</m:t>
                  </m:r>
                  <m:r>
                    <m:t>)</m:t>
                  </m:r>
                  <m:r>
                    <m:t>=</m:t>
                  </m:r>
                  <m:sSub>
                    <m:e>
                      <m:r>
                        <m:t>P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m:t>target</m:t>
                      </m:r>
                    </m:sub>
                  </m:sSub>
                  <m:r>
                    <m:t>(</m:t>
                  </m:r>
                  <m:r>
                    <m:t>S</m:t>
                  </m:r>
                  <m:r>
                    <m:t>≥</m:t>
                  </m:r>
                  <m:r>
                    <m:t>c</m:t>
                  </m:r>
                  <m:r>
                    <m:t xml:space="preserve"> </m:t>
                  </m:r>
                  <m:r>
                    <m:t>|</m:t>
                  </m:r>
                  <m:r>
                    <m:t xml:space="preserve"> </m:t>
                  </m:r>
                  <m:r>
                    <m:t>Y</m:t>
                  </m:r>
                  <m:r>
                    <m:t>=</m:t>
                  </m:r>
                  <m:r>
                    <m:t>y</m:t>
                  </m:r>
                  <m:r>
                    <m:t>)</m:t>
                  </m:r>
                </m:oMath>
              </m:oMathPara>
            </a14:m>
          </a:p>
        </p:txBody>
      </p:sp>
      <p:sp>
        <p:nvSpPr>
          <p:cNvPr id="9" name="left-body-6">
            <a:extLst xmlns:a="http://schemas.openxmlformats.org/drawingml/2006/main">
              <a:ext uri="{FF2B5EF4-FFF2-40B4-BE49-F238E27FC236}">
                <a16:creationId xmlns:a16="http://schemas.microsoft.com/office/drawing/2014/main" id="{D1DBF5A2-2F1F-43AE-8C21-F9F6CA71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Target populations differ in prevalence, while within-class score behavior is stable.</a:t>
            </a:r>
          </a:p>
        </p:txBody>
      </p:sp>
      <p:sp>
        <p:nvSpPr>
          <p:cNvPr id="10" name="right-kicker-6">
            <a:extLst xmlns:a="http://schemas.openxmlformats.org/drawingml/2006/main">
              <a:ext uri="{FF2B5EF4-FFF2-40B4-BE49-F238E27FC236}">
                <a16:creationId xmlns:a16="http://schemas.microsoft.com/office/drawing/2014/main" id="{36D32A21-747C-45AF-8AF0-6B2925C0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NOT LICENSED</a:t>
            </a:r>
          </a:p>
        </p:txBody>
      </p:sp>
      <p:sp>
        <p:nvSpPr>
          <p:cNvPr id="11" name="right-head-6">
            <a:extLst xmlns:a="http://schemas.openxmlformats.org/drawingml/2006/main">
              <a:ext uri="{FF2B5EF4-FFF2-40B4-BE49-F238E27FC236}">
                <a16:creationId xmlns:a16="http://schemas.microsoft.com/office/drawing/2014/main" id="{C87721C4-4262-4F5E-96E3-15D8C493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28875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Severity, measurement, or within-class behavior changes</a:t>
            </a:r>
          </a:p>
        </p:txBody>
      </p:sp>
      <p:sp>
        <p:nvSpPr>
          <p:cNvPr id="12" name="right-body-6">
            <a:extLst xmlns:a="http://schemas.openxmlformats.org/drawingml/2006/main">
              <a:ext uri="{FF2B5EF4-FFF2-40B4-BE49-F238E27FC236}">
                <a16:creationId xmlns:a16="http://schemas.microsoft.com/office/drawing/2014/main" id="{25A3BD8C-185B-4C8E-B482-BA61593D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8137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Then prevalence must enter through environments generated by ℛ. Reweighting one evaluation cannot transport the ranking.</a:t>
            </a:r>
          </a:p>
        </p:txBody>
      </p:sp>
    </p:spTree>
    <p:extLst>
      <p:ext uri="{BB962C8B-B14F-4D97-AF65-F5344CB8AC3E}">
        <p14:creationId xmlns:p14="http://schemas.microsoft.com/office/powerpoint/2010/main" val="10377332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7">
            <a:extLst xmlns:a="http://schemas.openxmlformats.org/drawingml/2006/main">
              <a:ext uri="{FF2B5EF4-FFF2-40B4-BE49-F238E27FC236}">
                <a16:creationId xmlns:a16="http://schemas.microsoft.com/office/drawing/2014/main" id="{7AC4553B-E21D-4D72-96C7-14CDF760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88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Chance-Normalized AP changes the prior—not the ranking evidence</a:t>
            </a:r>
          </a:p>
        </p:txBody>
      </p:sp>
      <p:sp>
        <p:nvSpPr>
          <p:cNvPr id="2" name="rule-7">
            <a:extLst xmlns:a="http://schemas.openxmlformats.org/drawingml/2006/main">
              <a:ext uri="{FF2B5EF4-FFF2-40B4-BE49-F238E27FC236}">
                <a16:creationId xmlns:a16="http://schemas.microsoft.com/office/drawing/2014/main" id="{D2EFA834-946B-447B-9363-9E211F6E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7">
            <a:extLst xmlns:a="http://schemas.openxmlformats.org/drawingml/2006/main">
              <a:ext uri="{FF2B5EF4-FFF2-40B4-BE49-F238E27FC236}">
                <a16:creationId xmlns:a16="http://schemas.microsoft.com/office/drawing/2014/main" id="{BA717698-478D-4F75-B37B-AB583A5A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4273B2D9-40A6-4551-885C-1373CFF2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" name="formula-panel-7">
            <a:extLst xmlns:a="http://schemas.openxmlformats.org/drawingml/2006/main">
              <a:ext uri="{FF2B5EF4-FFF2-40B4-BE49-F238E27FC236}">
                <a16:creationId xmlns:a16="http://schemas.microsoft.com/office/drawing/2014/main" id="{1B33549B-4169-45DF-A275-AEBBEEE8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14288">
            <a:solidFill>
              <a:srgbClr val="0F9D91"/>
            </a:solidFill>
            <a:prstDash val="solid"/>
          </a:ln>
        </p:spPr>
      </p:sp>
      <p:sp>
        <p:nvSpPr>
          <p:cNvPr id="6" name="formula-label-7">
            <a:extLst xmlns:a="http://schemas.openxmlformats.org/drawingml/2006/main">
              <a:ext uri="{FF2B5EF4-FFF2-40B4-BE49-F238E27FC236}">
                <a16:creationId xmlns:a16="http://schemas.microsoft.com/office/drawing/2014/main" id="{8C6F2EF4-027A-45E1-8DC2-7498063C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7">
            <a:extLst xmlns:a="http://schemas.openxmlformats.org/drawingml/2006/main">
              <a:ext uri="{FF2B5EF4-FFF2-40B4-BE49-F238E27FC236}">
                <a16:creationId xmlns:a16="http://schemas.microsoft.com/office/drawing/2014/main" id="{45933219-001E-45A8-9748-92AD67CF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6388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CNAP</m:t>
                      </m:r>
                    </m:e>
                    <m:sub>
                      <m:r>
                        <m:t>π</m:t>
                      </m:r>
                    </m:sub>
                  </m:sSub>
                  <m:r>
                    <m:t>(</m:t>
                  </m:r>
                  <m:r>
                    <m:t>D</m:t>
                  </m:r>
                  <m:r>
                    <m:t>)</m:t>
                  </m:r>
                  <m:r>
                    <m:t>=</m:t>
                  </m:r>
                  <m:f>
                    <m:fPr>
                      <m:type m:val="bar"/>
                    </m:fPr>
                    <m:num>
                      <m:sSub>
                        <m:e>
                          <m:r>
                            <m:t>AP</m:t>
                          </m:r>
                        </m:e>
                        <m:sub>
                          <m:r>
                            <m:t>π</m:t>
                          </m:r>
                        </m:sub>
                      </m:sSub>
                      <m:r>
                        <m:t>(</m:t>
                      </m:r>
                      <m:r>
                        <m:t>D</m:t>
                      </m:r>
                      <m:r>
                        <m:t>)</m:t>
                      </m:r>
                      <m:r>
                        <m:t>-</m:t>
                      </m:r>
                      <m:r>
                        <m:t>π</m:t>
                      </m:r>
                    </m:num>
                    <m:den>
                      <m:r>
                        <m:t>1</m:t>
                      </m:r>
                      <m:r>
                        <m:t>-</m:t>
                      </m:r>
                      <m:r>
                        <m:t>π</m:t>
                      </m:r>
                    </m:den>
                  </m:f>
                </m:oMath>
              </m:oMathPara>
            </a14:m>
          </a:p>
        </p:txBody>
      </p:sp>
      <p:sp>
        <p:nvSpPr>
          <p:cNvPr id="8" name="formula-caption-7">
            <a:extLst xmlns:a="http://schemas.openxmlformats.org/drawingml/2006/main">
              <a:ext uri="{FF2B5EF4-FFF2-40B4-BE49-F238E27FC236}">
                <a16:creationId xmlns:a16="http://schemas.microsoft.com/office/drawing/2014/main" id="{71DB877F-FD00-4278-A68A-2069D243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563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0 = population random ranking   ·   1 = perfect ranking</a:t>
            </a:r>
          </a:p>
        </p:txBody>
      </p:sp>
      <p:sp>
        <p:nvSpPr>
          <p:cNvPr id="9" name="meaning-label-7">
            <a:extLst xmlns:a="http://schemas.openxmlformats.org/drawingml/2006/main">
              <a:ext uri="{FF2B5EF4-FFF2-40B4-BE49-F238E27FC236}">
                <a16:creationId xmlns:a16="http://schemas.microsoft.com/office/drawing/2014/main" id="{07916FE0-5A6F-4068-A63A-A6D424E2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10" name="meaning-7">
            <a:extLst xmlns:a="http://schemas.openxmlformats.org/drawingml/2006/main">
              <a:ext uri="{FF2B5EF4-FFF2-40B4-BE49-F238E27FC236}">
                <a16:creationId xmlns:a16="http://schemas.microsoft.com/office/drawing/2014/main" id="{627EAA55-2814-43A4-8A71-9BF65714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Subtract the prevalence-specific chance level, then rescale to the ceiling.</a:t>
            </a:r>
          </a:p>
        </p:txBody>
      </p:sp>
      <p:sp>
        <p:nvSpPr>
          <p:cNvPr id="11" name="why-7">
            <a:extLst xmlns:a="http://schemas.openxmlformats.org/drawingml/2006/main">
              <a:ext uri="{FF2B5EF4-FFF2-40B4-BE49-F238E27FC236}">
                <a16:creationId xmlns:a16="http://schemas.microsoft.com/office/drawing/2014/main" id="{656426C3-C3AA-472F-B80B-9BE411CE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Common endpoints improve interpretation—but the profile can still change with prevalence.</a:t>
            </a:r>
          </a:p>
        </p:txBody>
      </p:sp>
    </p:spTree>
    <p:extLst>
      <p:ext uri="{BB962C8B-B14F-4D97-AF65-F5344CB8AC3E}">
        <p14:creationId xmlns:p14="http://schemas.microsoft.com/office/powerpoint/2010/main" val="15299829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8">
            <a:extLst xmlns:a="http://schemas.openxmlformats.org/drawingml/2006/main">
              <a:ext uri="{FF2B5EF4-FFF2-40B4-BE49-F238E27FC236}">
                <a16:creationId xmlns:a16="http://schemas.microsoft.com/office/drawing/2014/main" id="{8DEEDF16-C7E6-42BB-A4D5-65D387C4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22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Robust performance is the minimum normalized AP across prevalences</a:t>
            </a:r>
          </a:p>
        </p:txBody>
      </p:sp>
      <p:sp>
        <p:nvSpPr>
          <p:cNvPr id="2" name="rule-8">
            <a:extLst xmlns:a="http://schemas.openxmlformats.org/drawingml/2006/main">
              <a:ext uri="{FF2B5EF4-FFF2-40B4-BE49-F238E27FC236}">
                <a16:creationId xmlns:a16="http://schemas.microsoft.com/office/drawing/2014/main" id="{97D1BB7E-42F5-4721-8834-28DE6466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8">
            <a:extLst xmlns:a="http://schemas.openxmlformats.org/drawingml/2006/main">
              <a:ext uri="{FF2B5EF4-FFF2-40B4-BE49-F238E27FC236}">
                <a16:creationId xmlns:a16="http://schemas.microsoft.com/office/drawing/2014/main" id="{A957E9E0-4D14-4C72-B10B-4A0738C9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532D9F6D-8A6C-4C02-83E4-7AC6F886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5" name="chart-frame-8">
            <a:extLst xmlns:a="http://schemas.openxmlformats.org/drawingml/2006/main">
              <a:ext uri="{FF2B5EF4-FFF2-40B4-BE49-F238E27FC236}">
                <a16:creationId xmlns:a16="http://schemas.microsoft.com/office/drawing/2014/main" id="{484029D4-5938-422C-97F2-FB6A4F1E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6572250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604837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2f415353664a31"/>
          </a:graphicData>
        </a:graphic>
      </p:graphicFrame>
      <p:sp>
        <p:nvSpPr>
          <p:cNvPr id="7" name="chart-note-label-8">
            <a:extLst xmlns:a="http://schemas.openxmlformats.org/drawingml/2006/main">
              <a:ext uri="{FF2B5EF4-FFF2-40B4-BE49-F238E27FC236}">
                <a16:creationId xmlns:a16="http://schemas.microsoft.com/office/drawing/2014/main" id="{3CEF09AD-6B4F-46F6-9F89-D412DB9D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ROBUST CNAP</a:t>
            </a:r>
          </a:p>
        </p:txBody>
      </p:sp>
      <p:sp>
        <p:nvSpPr>
          <p:cNvPr id="8" name="chart-note-8">
            <a:extLst xmlns:a="http://schemas.openxmlformats.org/drawingml/2006/main">
              <a:ext uri="{FF2B5EF4-FFF2-40B4-BE49-F238E27FC236}">
                <a16:creationId xmlns:a16="http://schemas.microsoft.com/office/drawing/2014/main" id="{31E045AC-D699-4541-B028-8C5A58FF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90525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inf</m:t>
                      </m:r>
                    </m:e>
                    <m:sub>
                      <m:r>
                        <m:t>π</m:t>
                      </m:r>
                      <m:r>
                        <m:t>∈</m:t>
                      </m:r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∗</m:t>
                          </m:r>
                        </m:sub>
                      </m:sSub>
                    </m:sub>
                  </m:sSub>
                  <m:sSub>
                    <m:e>
                      <m:r>
                        <m:t>CNAP</m:t>
                      </m:r>
                    </m:e>
                    <m:sub>
                      <m:r>
                        <m:t>π</m:t>
                      </m:r>
                    </m:sub>
                  </m:sSub>
                  <m:r>
                    <m:t>(</m:t>
                  </m:r>
                  <m:r>
                    <m:t>D</m:t>
                  </m:r>
                  <m:r>
                    <m:t>)</m:t>
                  </m:r>
                </m:oMath>
              </m:oMathPara>
            </a14:m>
          </a:p>
        </p:txBody>
      </p:sp>
      <p:sp>
        <p:nvSpPr>
          <p:cNvPr id="9" name="chart-body-8">
            <a:extLst xmlns:a="http://schemas.openxmlformats.org/drawingml/2006/main">
              <a:ext uri="{FF2B5EF4-FFF2-40B4-BE49-F238E27FC236}">
                <a16:creationId xmlns:a16="http://schemas.microsoft.com/office/drawing/2014/main" id="{E4002971-8619-444B-B207-51D3DCA4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largest level attained at every declared prevalence. Broadening Π★ can only keep or lower this value.</a:t>
            </a:r>
          </a:p>
        </p:txBody>
      </p:sp>
      <p:sp>
        <p:nvSpPr>
          <p:cNvPr id="10" name="schematic-8">
            <a:extLst xmlns:a="http://schemas.openxmlformats.org/drawingml/2006/main">
              <a:ext uri="{FF2B5EF4-FFF2-40B4-BE49-F238E27FC236}">
                <a16:creationId xmlns:a16="http://schemas.microsoft.com/office/drawing/2014/main" id="{65267944-143B-4643-B8E8-6FB58845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721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1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Schematic profile — not empirical study data</a:t>
            </a:r>
          </a:p>
        </p:txBody>
      </p:sp>
    </p:spTree>
    <p:extLst>
      <p:ext uri="{BB962C8B-B14F-4D97-AF65-F5344CB8AC3E}">
        <p14:creationId xmlns:p14="http://schemas.microsoft.com/office/powerpoint/2010/main" val="7613825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9">
            <a:extLst xmlns:a="http://schemas.openxmlformats.org/drawingml/2006/main">
              <a:ext uri="{FF2B5EF4-FFF2-40B4-BE49-F238E27FC236}">
                <a16:creationId xmlns:a16="http://schemas.microsoft.com/office/drawing/2014/main" id="{CC3EBA7F-9B49-4702-A3E9-1AAA621D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What, exactly, is allowed to vary across replications?</a:t>
            </a:r>
          </a:p>
        </p:txBody>
      </p:sp>
      <p:sp>
        <p:nvSpPr>
          <p:cNvPr id="2" name="rule-9">
            <a:extLst xmlns:a="http://schemas.openxmlformats.org/drawingml/2006/main">
              <a:ext uri="{FF2B5EF4-FFF2-40B4-BE49-F238E27FC236}">
                <a16:creationId xmlns:a16="http://schemas.microsoft.com/office/drawing/2014/main" id="{EB158189-D557-4998-9271-1A0F21EB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9">
            <a:extLst xmlns:a="http://schemas.openxmlformats.org/drawingml/2006/main">
              <a:ext uri="{FF2B5EF4-FFF2-40B4-BE49-F238E27FC236}">
                <a16:creationId xmlns:a16="http://schemas.microsoft.com/office/drawing/2014/main" id="{387D54CC-69D6-4DE1-8C2E-6E377BDC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64319051-7FB2-442D-8B14-17514540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5" name="card-9-0">
            <a:extLst xmlns:a="http://schemas.openxmlformats.org/drawingml/2006/main">
              <a:ext uri="{FF2B5EF4-FFF2-40B4-BE49-F238E27FC236}">
                <a16:creationId xmlns:a16="http://schemas.microsoft.com/office/drawing/2014/main" id="{401D934A-98A6-4036-9234-D0666CB7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num-9-0">
            <a:extLst xmlns:a="http://schemas.openxmlformats.org/drawingml/2006/main">
              <a:ext uri="{FF2B5EF4-FFF2-40B4-BE49-F238E27FC236}">
                <a16:creationId xmlns:a16="http://schemas.microsoft.com/office/drawing/2014/main" id="{6C46DB76-2CBF-4842-8FA9-0A4C87BC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FIXED MODEL</a:t>
            </a:r>
          </a:p>
        </p:txBody>
      </p:sp>
      <p:sp>
        <p:nvSpPr>
          <p:cNvPr id="7" name="head-9-0">
            <a:extLst xmlns:a="http://schemas.openxmlformats.org/drawingml/2006/main">
              <a:ext uri="{FF2B5EF4-FFF2-40B4-BE49-F238E27FC236}">
                <a16:creationId xmlns:a16="http://schemas.microsoft.com/office/drawing/2014/main" id="{1E824F18-D389-40F7-8C40-B7505EBF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New evaluation units</a:t>
            </a:r>
          </a:p>
        </p:txBody>
      </p:sp>
      <p:sp>
        <p:nvSpPr>
          <p:cNvPr id="8" name="body-9-0">
            <a:extLst xmlns:a="http://schemas.openxmlformats.org/drawingml/2006/main">
              <a:ext uri="{FF2B5EF4-FFF2-40B4-BE49-F238E27FC236}">
                <a16:creationId xmlns:a16="http://schemas.microsoft.com/office/drawing/2014/main" id="{D6830286-E0B2-4F71-A167-23865314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Hold the environment, measurement process, and fitted model fixed.</a:t>
            </a:r>
          </a:p>
        </p:txBody>
      </p:sp>
      <p:sp>
        <p:nvSpPr>
          <p:cNvPr id="9" name="card-9-1">
            <a:extLst xmlns:a="http://schemas.openxmlformats.org/drawingml/2006/main">
              <a:ext uri="{FF2B5EF4-FFF2-40B4-BE49-F238E27FC236}">
                <a16:creationId xmlns:a16="http://schemas.microsoft.com/office/drawing/2014/main" id="{43E13D50-5898-4DBA-83AD-E46F1DA5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0" name="num-9-1">
            <a:extLst xmlns:a="http://schemas.openxmlformats.org/drawingml/2006/main">
              <a:ext uri="{FF2B5EF4-FFF2-40B4-BE49-F238E27FC236}">
                <a16:creationId xmlns:a16="http://schemas.microsoft.com/office/drawing/2014/main" id="{492B7393-FEBC-43A6-B1FF-DDC9F915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NEW ENVIRONMENT</a:t>
            </a:r>
          </a:p>
        </p:txBody>
      </p:sp>
      <p:sp>
        <p:nvSpPr>
          <p:cNvPr id="11" name="head-9-1">
            <a:extLst xmlns:a="http://schemas.openxmlformats.org/drawingml/2006/main">
              <a:ext uri="{FF2B5EF4-FFF2-40B4-BE49-F238E27FC236}">
                <a16:creationId xmlns:a16="http://schemas.microsoft.com/office/drawing/2014/main" id="{0283DCE8-E978-4951-AAA0-9BB9FDFB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New deployment setting</a:t>
            </a:r>
          </a:p>
        </p:txBody>
      </p:sp>
      <p:sp>
        <p:nvSpPr>
          <p:cNvPr id="12" name="body-9-1">
            <a:extLst xmlns:a="http://schemas.openxmlformats.org/drawingml/2006/main">
              <a:ext uri="{FF2B5EF4-FFF2-40B4-BE49-F238E27FC236}">
                <a16:creationId xmlns:a16="http://schemas.microsoft.com/office/drawing/2014/main" id="{D2A4B38C-E25C-4A06-A5B6-D9A06499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Redraw the environment and declare how measurement changes.</a:t>
            </a:r>
          </a:p>
        </p:txBody>
      </p:sp>
      <p:sp>
        <p:nvSpPr>
          <p:cNvPr id="13" name="card-9-2">
            <a:extLst xmlns:a="http://schemas.openxmlformats.org/drawingml/2006/main">
              <a:ext uri="{FF2B5EF4-FFF2-40B4-BE49-F238E27FC236}">
                <a16:creationId xmlns:a16="http://schemas.microsoft.com/office/drawing/2014/main" id="{3448C458-7298-4F5F-AF6F-87FF08D4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4" name="num-9-2">
            <a:extLst xmlns:a="http://schemas.openxmlformats.org/drawingml/2006/main">
              <a:ext uri="{FF2B5EF4-FFF2-40B4-BE49-F238E27FC236}">
                <a16:creationId xmlns:a16="http://schemas.microsoft.com/office/drawing/2014/main" id="{D54468EA-8A94-4D2E-B32E-83A7F8EB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383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REPEATED DEVELOPMENT</a:t>
            </a:r>
          </a:p>
        </p:txBody>
      </p:sp>
      <p:sp>
        <p:nvSpPr>
          <p:cNvPr id="15" name="head-9-2">
            <a:extLst xmlns:a="http://schemas.openxmlformats.org/drawingml/2006/main">
              <a:ext uri="{FF2B5EF4-FFF2-40B4-BE49-F238E27FC236}">
                <a16:creationId xmlns:a16="http://schemas.microsoft.com/office/drawing/2014/main" id="{3DA19A6A-7FEF-47ED-8014-9E455A35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Redevelop the model</a:t>
            </a:r>
          </a:p>
        </p:txBody>
      </p:sp>
      <p:sp>
        <p:nvSpPr>
          <p:cNvPr id="16" name="body-9-2">
            <a:extLst xmlns:a="http://schemas.openxmlformats.org/drawingml/2006/main">
              <a:ext uri="{FF2B5EF4-FFF2-40B4-BE49-F238E27FC236}">
                <a16:creationId xmlns:a16="http://schemas.microsoft.com/office/drawing/2014/main" id="{A334B8C7-0BDF-4DB4-8875-A1B61E89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Redraw training, tuning, selection, fitting, and evaluation.</a:t>
            </a:r>
          </a:p>
        </p:txBody>
      </p:sp>
      <p:sp>
        <p:nvSpPr>
          <p:cNvPr id="17" name="bottom-9">
            <a:extLst xmlns:a="http://schemas.openxmlformats.org/drawingml/2006/main">
              <a:ext uri="{FF2B5EF4-FFF2-40B4-BE49-F238E27FC236}">
                <a16:creationId xmlns:a16="http://schemas.microsoft.com/office/drawing/2014/main" id="{4552919E-F376-4719-8593-D68F11EE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The scientific claim changes when the source of variation changes.</a:t>
            </a:r>
          </a:p>
        </p:txBody>
      </p:sp>
    </p:spTree>
    <p:extLst>
      <p:ext uri="{BB962C8B-B14F-4D97-AF65-F5344CB8AC3E}">
        <p14:creationId xmlns:p14="http://schemas.microsoft.com/office/powerpoint/2010/main" val="771189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10">
            <a:extLst xmlns:a="http://schemas.openxmlformats.org/drawingml/2006/main">
              <a:ext uri="{FF2B5EF4-FFF2-40B4-BE49-F238E27FC236}">
                <a16:creationId xmlns:a16="http://schemas.microsoft.com/office/drawing/2014/main" id="{E5B3A15A-1352-4A4A-B9B1-60C85105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Prevalence and replication require different challenge operations</a:t>
            </a:r>
          </a:p>
        </p:txBody>
      </p:sp>
      <p:sp>
        <p:nvSpPr>
          <p:cNvPr id="2" name="rule-10">
            <a:extLst xmlns:a="http://schemas.openxmlformats.org/drawingml/2006/main">
              <a:ext uri="{FF2B5EF4-FFF2-40B4-BE49-F238E27FC236}">
                <a16:creationId xmlns:a16="http://schemas.microsoft.com/office/drawing/2014/main" id="{012108DD-EAD6-4A68-AF71-5EB98C1C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10">
            <a:extLst xmlns:a="http://schemas.openxmlformats.org/drawingml/2006/main">
              <a:ext uri="{FF2B5EF4-FFF2-40B4-BE49-F238E27FC236}">
                <a16:creationId xmlns:a16="http://schemas.microsoft.com/office/drawing/2014/main" id="{36799D86-77CE-4EDA-9131-2E100039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7E63BFF7-74F3-443B-BD6A-C8CC3503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left-panel-10">
            <a:extLst xmlns:a="http://schemas.openxmlformats.org/drawingml/2006/main">
              <a:ext uri="{FF2B5EF4-FFF2-40B4-BE49-F238E27FC236}">
                <a16:creationId xmlns:a16="http://schemas.microsoft.com/office/drawing/2014/main" id="{A51D8D28-3E96-479C-B2D8-6162A902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3816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right-panel-10">
            <a:extLst xmlns:a="http://schemas.openxmlformats.org/drawingml/2006/main">
              <a:ext uri="{FF2B5EF4-FFF2-40B4-BE49-F238E27FC236}">
                <a16:creationId xmlns:a16="http://schemas.microsoft.com/office/drawing/2014/main" id="{87427FFF-0DBB-4050-8468-D8B545BD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6007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7" name="left-kicker-10">
            <a:extLst xmlns:a="http://schemas.openxmlformats.org/drawingml/2006/main">
              <a:ext uri="{FF2B5EF4-FFF2-40B4-BE49-F238E27FC236}">
                <a16:creationId xmlns:a16="http://schemas.microsoft.com/office/drawing/2014/main" id="{D143597E-1755-4B80-BB50-9E1130D6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WITHIN EACH REPLICATION</a:t>
            </a:r>
          </a:p>
        </p:txBody>
      </p:sp>
      <p:sp>
        <p:nvSpPr>
          <p:cNvPr id="8" name="left-head-10">
            <a:extLst xmlns:a="http://schemas.openxmlformats.org/drawingml/2006/main">
              <a:ext uri="{FF2B5EF4-FFF2-40B4-BE49-F238E27FC236}">
                <a16:creationId xmlns:a16="http://schemas.microsoft.com/office/drawing/2014/main" id="{EE6757B5-478B-4851-8F71-7D851563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Interrogate every π ∈ Π★</a:t>
            </a:r>
          </a:p>
        </p:txBody>
      </p:sp>
      <p:sp>
        <p:nvSpPr>
          <p:cNvPr id="9" name="left-body-10">
            <a:extLst xmlns:a="http://schemas.openxmlformats.org/drawingml/2006/main">
              <a:ext uri="{FF2B5EF4-FFF2-40B4-BE49-F238E27FC236}">
                <a16:creationId xmlns:a16="http://schemas.microsoft.com/office/drawing/2014/main" id="{7462AEBD-E55E-4817-86E8-2B1B7E8E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When score-level invariance holds, one realized evaluation supplies the rates needed for all target prevalences.</a:t>
            </a:r>
          </a:p>
        </p:txBody>
      </p:sp>
      <p:sp>
        <p:nvSpPr>
          <p:cNvPr id="10" name="right-kicker-10">
            <a:extLst xmlns:a="http://schemas.openxmlformats.org/drawingml/2006/main">
              <a:ext uri="{FF2B5EF4-FFF2-40B4-BE49-F238E27FC236}">
                <a16:creationId xmlns:a16="http://schemas.microsoft.com/office/drawing/2014/main" id="{F6EEEF38-5F84-4AD2-9BC9-5B046038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ACROSS REPLICATIONS</a:t>
            </a:r>
          </a:p>
        </p:txBody>
      </p:sp>
      <p:sp>
        <p:nvSpPr>
          <p:cNvPr id="11" name="right-head-10">
            <a:extLst xmlns:a="http://schemas.openxmlformats.org/drawingml/2006/main">
              <a:ext uri="{FF2B5EF4-FFF2-40B4-BE49-F238E27FC236}">
                <a16:creationId xmlns:a16="http://schemas.microsoft.com/office/drawing/2014/main" id="{D6989DAA-56DB-45FB-B22A-5CE0701F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28875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Generate draws from ℛ</a:t>
            </a:r>
          </a:p>
        </p:txBody>
      </p:sp>
      <p:sp>
        <p:nvSpPr>
          <p:cNvPr id="12" name="right-body-10">
            <a:extLst xmlns:a="http://schemas.openxmlformats.org/drawingml/2006/main">
              <a:ext uri="{FF2B5EF4-FFF2-40B4-BE49-F238E27FC236}">
                <a16:creationId xmlns:a16="http://schemas.microsoft.com/office/drawing/2014/main" id="{0B090EE7-C19E-47FC-B814-B9120DD7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8137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Environments, measurement conditions, and development runs cannot be recovered by prevalence reweighting.</a:t>
            </a:r>
          </a:p>
        </p:txBody>
      </p:sp>
    </p:spTree>
    <p:extLst>
      <p:ext uri="{BB962C8B-B14F-4D97-AF65-F5344CB8AC3E}">
        <p14:creationId xmlns:p14="http://schemas.microsoft.com/office/powerpoint/2010/main" val="7772463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1">
            <a:extLst xmlns:a="http://schemas.openxmlformats.org/drawingml/2006/main">
              <a:ext uri="{FF2B5EF4-FFF2-40B4-BE49-F238E27FC236}">
                <a16:creationId xmlns:a16="http://schemas.microsoft.com/office/drawing/2014/main" id="{E76D6120-B91D-44DA-949B-23558D3F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Should strong replications compensate for a failed one?</a:t>
            </a:r>
          </a:p>
        </p:txBody>
      </p:sp>
      <p:sp>
        <p:nvSpPr>
          <p:cNvPr id="2" name="rule-11">
            <a:extLst xmlns:a="http://schemas.openxmlformats.org/drawingml/2006/main">
              <a:ext uri="{FF2B5EF4-FFF2-40B4-BE49-F238E27FC236}">
                <a16:creationId xmlns:a16="http://schemas.microsoft.com/office/drawing/2014/main" id="{790252AE-F203-4FA2-95F5-DE18ADDA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11">
            <a:extLst xmlns:a="http://schemas.openxmlformats.org/drawingml/2006/main">
              <a:ext uri="{FF2B5EF4-FFF2-40B4-BE49-F238E27FC236}">
                <a16:creationId xmlns:a16="http://schemas.microsoft.com/office/drawing/2014/main" id="{50E0BD8A-4E23-47B8-A453-6D281C5E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42BBB171-9726-4615-BA81-27EFFC07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formula-panel-11">
            <a:extLst xmlns:a="http://schemas.openxmlformats.org/drawingml/2006/main">
              <a:ext uri="{FF2B5EF4-FFF2-40B4-BE49-F238E27FC236}">
                <a16:creationId xmlns:a16="http://schemas.microsoft.com/office/drawing/2014/main" id="{E86ED045-CD45-4048-AA23-EE0BDE39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14288">
            <a:solidFill>
              <a:srgbClr val="E76F51"/>
            </a:solidFill>
            <a:prstDash val="solid"/>
          </a:ln>
        </p:spPr>
      </p:sp>
      <p:sp>
        <p:nvSpPr>
          <p:cNvPr id="6" name="formula-label-11">
            <a:extLst xmlns:a="http://schemas.openxmlformats.org/drawingml/2006/main">
              <a:ext uri="{FF2B5EF4-FFF2-40B4-BE49-F238E27FC236}">
                <a16:creationId xmlns:a16="http://schemas.microsoft.com/office/drawing/2014/main" id="{E5BEB98F-8FDE-4984-B4D4-FF71D7D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11">
            <a:extLst xmlns:a="http://schemas.openxmlformats.org/drawingml/2006/main">
              <a:ext uri="{FF2B5EF4-FFF2-40B4-BE49-F238E27FC236}">
                <a16:creationId xmlns:a16="http://schemas.microsoft.com/office/drawing/2014/main" id="{C71320E2-D8E8-4FB6-8C90-6682BFC4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6388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</m:sub>
                  </m:sSub>
                  <m:r>
                    <m:t>(</m:t>
                  </m:r>
                  <m:r>
                    <m:t>T</m:t>
                  </m:r>
                  <m:r>
                    <m:t>;</m:t>
                  </m:r>
                  <m:r>
                    <m:rPr>
                      <m:nor/>
                      <m:sty m:val="p"/>
                    </m:rPr>
                    <m:t>R</m:t>
                  </m:r>
                  <m:r>
                    <m:t>)</m:t>
                  </m:r>
                  <m:r>
                    <m:t>=</m:t>
                  </m:r>
                  <m:sSub>
                    <m:e>
                      <m:r>
                        <m:t>E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m:t>R</m:t>
                      </m:r>
                    </m:sub>
                  </m:sSub>
                  <m:d>
                    <m:dPr>
                      <m:begChr m:val="["/>
                      <m:sepChr m:val=","/>
                      <m:endChr m:val="]"/>
                      <m:grow m:val="on"/>
                    </m:dPr>
                    <m:e>
                      <m:sSub>
                        <m:e>
                          <m:r>
                            <m:t>min</m:t>
                          </m:r>
                        </m:e>
                        <m:sub>
                          <m:r>
                            <m:t>1</m:t>
                          </m:r>
                          <m:r>
                            <m:t>≤</m:t>
                          </m:r>
                          <m:r>
                            <m:t>j</m:t>
                          </m:r>
                          <m:r>
                            <m:t>≤</m:t>
                          </m:r>
                          <m:r>
                            <m:t>K</m:t>
                          </m:r>
                        </m:sub>
                      </m:sSub>
                    </m:e>
                    <m:e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</m:e>
                  </m:d>
                </m:oMath>
              </m:oMathPara>
            </a14:m>
          </a:p>
        </p:txBody>
      </p:sp>
      <p:sp>
        <p:nvSpPr>
          <p:cNvPr id="8" name="formula-caption-11">
            <a:extLst xmlns:a="http://schemas.openxmlformats.org/drawingml/2006/main">
              <a:ext uri="{FF2B5EF4-FFF2-40B4-BE49-F238E27FC236}">
                <a16:creationId xmlns:a16="http://schemas.microsoft.com/office/drawing/2014/main" id="{17C4E529-B907-4886-92F8-D1393699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563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Example: min(0.70, 0.05) = 0.05, while the mean is 0.375</a:t>
            </a:r>
          </a:p>
        </p:txBody>
      </p:sp>
      <p:sp>
        <p:nvSpPr>
          <p:cNvPr id="9" name="meaning-label-11">
            <a:extLst xmlns:a="http://schemas.openxmlformats.org/drawingml/2006/main">
              <a:ext uri="{FF2B5EF4-FFF2-40B4-BE49-F238E27FC236}">
                <a16:creationId xmlns:a16="http://schemas.microsoft.com/office/drawing/2014/main" id="{A6B5950E-7E8D-4219-AFF1-5BED120A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10" name="meaning-11">
            <a:extLst xmlns:a="http://schemas.openxmlformats.org/drawingml/2006/main">
              <a:ext uri="{FF2B5EF4-FFF2-40B4-BE49-F238E27FC236}">
                <a16:creationId xmlns:a16="http://schemas.microsoft.com/office/drawing/2014/main" id="{2188EC36-7995-463A-876E-1AD1BF8C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 stronger replication cannot rescue a level defeated by a weaker one.</a:t>
            </a:r>
          </a:p>
        </p:txBody>
      </p:sp>
      <p:sp>
        <p:nvSpPr>
          <p:cNvPr id="11" name="why-11">
            <a:extLst xmlns:a="http://schemas.openxmlformats.org/drawingml/2006/main">
              <a:ext uri="{FF2B5EF4-FFF2-40B4-BE49-F238E27FC236}">
                <a16:creationId xmlns:a16="http://schemas.microsoft.com/office/drawing/2014/main" id="{04DEA9BD-3BB2-4AA0-8C52-99E755C4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At K=2, support equals expected performance minus half the expected absolute disagreement between replications.</a:t>
            </a:r>
          </a:p>
        </p:txBody>
      </p:sp>
    </p:spTree>
    <p:extLst>
      <p:ext uri="{BB962C8B-B14F-4D97-AF65-F5344CB8AC3E}">
        <p14:creationId xmlns:p14="http://schemas.microsoft.com/office/powerpoint/2010/main" val="16880460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12">
            <a:extLst xmlns:a="http://schemas.openxmlformats.org/drawingml/2006/main">
              <a:ext uri="{FF2B5EF4-FFF2-40B4-BE49-F238E27FC236}">
                <a16:creationId xmlns:a16="http://schemas.microsoft.com/office/drawing/2014/main" id="{EA193B21-FE00-4D1B-80E1-8D3EBD2B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K changes the claim—not computation or new evidence</a:t>
            </a:r>
          </a:p>
        </p:txBody>
      </p:sp>
      <p:sp>
        <p:nvSpPr>
          <p:cNvPr id="2" name="rule-12">
            <a:extLst xmlns:a="http://schemas.openxmlformats.org/drawingml/2006/main">
              <a:ext uri="{FF2B5EF4-FFF2-40B4-BE49-F238E27FC236}">
                <a16:creationId xmlns:a16="http://schemas.microsoft.com/office/drawing/2014/main" id="{DCFAFDCF-1D57-4227-9363-0CB7286B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12">
            <a:extLst xmlns:a="http://schemas.openxmlformats.org/drawingml/2006/main">
              <a:ext uri="{FF2B5EF4-FFF2-40B4-BE49-F238E27FC236}">
                <a16:creationId xmlns:a16="http://schemas.microsoft.com/office/drawing/2014/main" id="{1ED84DFA-105B-47D2-B6C8-50CF130F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9928CAF-6505-4ED0-9D65-ABC93C37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card-12-0">
            <a:extLst xmlns:a="http://schemas.openxmlformats.org/drawingml/2006/main">
              <a:ext uri="{FF2B5EF4-FFF2-40B4-BE49-F238E27FC236}">
                <a16:creationId xmlns:a16="http://schemas.microsoft.com/office/drawing/2014/main" id="{CB3E8A58-0B48-4526-A951-685D4D5C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num-12-0">
            <a:extLst xmlns:a="http://schemas.openxmlformats.org/drawingml/2006/main">
              <a:ext uri="{FF2B5EF4-FFF2-40B4-BE49-F238E27FC236}">
                <a16:creationId xmlns:a16="http://schemas.microsoft.com/office/drawing/2014/main" id="{BB271688-02F0-4964-BC72-6E3D8B58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7" name="head-12-0">
            <a:extLst xmlns:a="http://schemas.openxmlformats.org/drawingml/2006/main">
              <a:ext uri="{FF2B5EF4-FFF2-40B4-BE49-F238E27FC236}">
                <a16:creationId xmlns:a16="http://schemas.microsoft.com/office/drawing/2014/main" id="{01607059-F47E-4515-A801-F8467459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Computational replications</a:t>
            </a:r>
          </a:p>
        </p:txBody>
      </p:sp>
      <p:sp>
        <p:nvSpPr>
          <p:cNvPr id="8" name="body-12-0">
            <a:extLst xmlns:a="http://schemas.openxmlformats.org/drawingml/2006/main">
              <a:ext uri="{FF2B5EF4-FFF2-40B4-BE49-F238E27FC236}">
                <a16:creationId xmlns:a16="http://schemas.microsoft.com/office/drawing/2014/main" id="{54100F5F-935E-4ACE-A7A6-1E112552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More bootstrap draws reduce Monte Carlo error for the same target.</a:t>
            </a:r>
          </a:p>
        </p:txBody>
      </p:sp>
      <p:sp>
        <p:nvSpPr>
          <p:cNvPr id="9" name="card-12-1">
            <a:extLst xmlns:a="http://schemas.openxmlformats.org/drawingml/2006/main">
              <a:ext uri="{FF2B5EF4-FFF2-40B4-BE49-F238E27FC236}">
                <a16:creationId xmlns:a16="http://schemas.microsoft.com/office/drawing/2014/main" id="{8BBF8FB6-A37A-4257-9FA2-2758F640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0" name="num-12-1">
            <a:extLst xmlns:a="http://schemas.openxmlformats.org/drawingml/2006/main">
              <a:ext uri="{FF2B5EF4-FFF2-40B4-BE49-F238E27FC236}">
                <a16:creationId xmlns:a16="http://schemas.microsoft.com/office/drawing/2014/main" id="{383405AD-8207-413A-92E9-477EFA14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K</a:t>
            </a:r>
          </a:p>
        </p:txBody>
      </p:sp>
      <p:sp>
        <p:nvSpPr>
          <p:cNvPr id="11" name="head-12-1">
            <a:extLst xmlns:a="http://schemas.openxmlformats.org/drawingml/2006/main">
              <a:ext uri="{FF2B5EF4-FFF2-40B4-BE49-F238E27FC236}">
                <a16:creationId xmlns:a16="http://schemas.microsoft.com/office/drawing/2014/main" id="{3286C2BD-65AA-49FC-83C9-5984B8F2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Required joint survival</a:t>
            </a:r>
          </a:p>
        </p:txBody>
      </p:sp>
      <p:sp>
        <p:nvSpPr>
          <p:cNvPr id="12" name="body-12-1">
            <a:extLst xmlns:a="http://schemas.openxmlformats.org/drawingml/2006/main">
              <a:ext uri="{FF2B5EF4-FFF2-40B4-BE49-F238E27FC236}">
                <a16:creationId xmlns:a16="http://schemas.microsoft.com/office/drawing/2014/main" id="{4628F73D-8731-4A2C-BB8C-481DD6E6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Changing K changes the claim and its severity.</a:t>
            </a:r>
          </a:p>
        </p:txBody>
      </p:sp>
      <p:sp>
        <p:nvSpPr>
          <p:cNvPr id="13" name="card-12-2">
            <a:extLst xmlns:a="http://schemas.openxmlformats.org/drawingml/2006/main">
              <a:ext uri="{FF2B5EF4-FFF2-40B4-BE49-F238E27FC236}">
                <a16:creationId xmlns:a16="http://schemas.microsoft.com/office/drawing/2014/main" id="{597F9C45-CE3B-4446-A989-AD7B4410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4" name="num-12-2">
            <a:extLst xmlns:a="http://schemas.openxmlformats.org/drawingml/2006/main">
              <a:ext uri="{FF2B5EF4-FFF2-40B4-BE49-F238E27FC236}">
                <a16:creationId xmlns:a16="http://schemas.microsoft.com/office/drawing/2014/main" id="{5BA9978E-D3EF-47B6-A20C-1961F666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38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NEW DATA</a:t>
            </a:r>
          </a:p>
        </p:txBody>
      </p:sp>
      <p:sp>
        <p:nvSpPr>
          <p:cNvPr id="15" name="head-12-2">
            <a:extLst xmlns:a="http://schemas.openxmlformats.org/drawingml/2006/main">
              <a:ext uri="{FF2B5EF4-FFF2-40B4-BE49-F238E27FC236}">
                <a16:creationId xmlns:a16="http://schemas.microsoft.com/office/drawing/2014/main" id="{5AF3C66C-A590-44DE-9807-807F53D3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Empirical replication</a:t>
            </a:r>
          </a:p>
        </p:txBody>
      </p:sp>
      <p:sp>
        <p:nvSpPr>
          <p:cNvPr id="16" name="body-12-2">
            <a:extLst xmlns:a="http://schemas.openxmlformats.org/drawingml/2006/main">
              <a:ext uri="{FF2B5EF4-FFF2-40B4-BE49-F238E27FC236}">
                <a16:creationId xmlns:a16="http://schemas.microsoft.com/office/drawing/2014/main" id="{2A44DB1D-A361-491B-A2BB-FDEA6BA5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New environments or development runs can expose failures the bootstrap cannot see.</a:t>
            </a:r>
          </a:p>
        </p:txBody>
      </p:sp>
      <p:sp>
        <p:nvSpPr>
          <p:cNvPr id="17" name="bottom-12">
            <a:extLst xmlns:a="http://schemas.openxmlformats.org/drawingml/2006/main">
              <a:ext uri="{FF2B5EF4-FFF2-40B4-BE49-F238E27FC236}">
                <a16:creationId xmlns:a16="http://schemas.microsoft.com/office/drawing/2014/main" id="{E4BA8C68-4E27-4F8D-96E7-98B26041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The estimate projects what would survive K executions of the declared regime.</a:t>
            </a:r>
          </a:p>
        </p:txBody>
      </p:sp>
    </p:spTree>
    <p:extLst>
      <p:ext uri="{BB962C8B-B14F-4D97-AF65-F5344CB8AC3E}">
        <p14:creationId xmlns:p14="http://schemas.microsoft.com/office/powerpoint/2010/main" val="20936208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3">
            <a:extLst xmlns:a="http://schemas.openxmlformats.org/drawingml/2006/main">
              <a:ext uri="{FF2B5EF4-FFF2-40B4-BE49-F238E27FC236}">
                <a16:creationId xmlns:a16="http://schemas.microsoft.com/office/drawing/2014/main" id="{DFFB52C7-86EE-4FC9-9DAC-FCEA8E1D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Support minimizes prevalence before applying joint survival</a:t>
            </a:r>
          </a:p>
        </p:txBody>
      </p:sp>
      <p:sp>
        <p:nvSpPr>
          <p:cNvPr id="2" name="rule-13">
            <a:extLst xmlns:a="http://schemas.openxmlformats.org/drawingml/2006/main">
              <a:ext uri="{FF2B5EF4-FFF2-40B4-BE49-F238E27FC236}">
                <a16:creationId xmlns:a16="http://schemas.microsoft.com/office/drawing/2014/main" id="{5F5BE7E5-99D9-4565-9F64-1AA3D777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13">
            <a:extLst xmlns:a="http://schemas.openxmlformats.org/drawingml/2006/main">
              <a:ext uri="{FF2B5EF4-FFF2-40B4-BE49-F238E27FC236}">
                <a16:creationId xmlns:a16="http://schemas.microsoft.com/office/drawing/2014/main" id="{E2A0A744-4F3F-4F7D-BF2B-437BD4C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FEAA2D8F-E20B-431E-9D08-D446CA79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formula-panel-13">
            <a:extLst xmlns:a="http://schemas.openxmlformats.org/drawingml/2006/main">
              <a:ext uri="{FF2B5EF4-FFF2-40B4-BE49-F238E27FC236}">
                <a16:creationId xmlns:a16="http://schemas.microsoft.com/office/drawing/2014/main" id="{E287B684-7EA1-47F3-B47B-3BAA1749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</p:sp>
      <p:sp>
        <p:nvSpPr>
          <p:cNvPr id="6" name="formula-label-13">
            <a:extLst xmlns:a="http://schemas.openxmlformats.org/drawingml/2006/main">
              <a:ext uri="{FF2B5EF4-FFF2-40B4-BE49-F238E27FC236}">
                <a16:creationId xmlns:a16="http://schemas.microsoft.com/office/drawing/2014/main" id="{CE2A5729-4893-4B7F-84CB-722C8C51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13-0">
            <a:extLst xmlns:a="http://schemas.openxmlformats.org/drawingml/2006/main">
              <a:ext uri="{FF2B5EF4-FFF2-40B4-BE49-F238E27FC236}">
                <a16:creationId xmlns:a16="http://schemas.microsoft.com/office/drawing/2014/main" id="{2E238C8E-CB6E-4F54-84FC-D1AE9C05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Z</m:t>
                      </m:r>
                    </m:e>
                    <m:sub>
                      <m:r>
                        <m:t>j</m:t>
                      </m:r>
                    </m:sub>
                  </m:sSub>
                  <m:r>
                    <m:t>=</m:t>
                  </m:r>
                  <m:sSub>
                    <m:e>
                      <m:r>
                        <m:t>inf</m:t>
                      </m:r>
                    </m:e>
                    <m:sub>
                      <m:r>
                        <m:t>π</m:t>
                      </m:r>
                      <m:r>
                        <m:t>∈</m:t>
                      </m:r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∗</m:t>
                          </m:r>
                        </m:sub>
                      </m:sSub>
                    </m:sub>
                  </m:sSub>
                  <m:sSub>
                    <m:e>
                      <m:r>
                        <m:t>CNAP</m:t>
                      </m:r>
                    </m:e>
                    <m:sub>
                      <m:r>
                        <m:t>π</m:t>
                      </m:r>
                    </m:sub>
                  </m:sSub>
                  <m:r>
                    <m:t>(</m:t>
                  </m:r>
                  <m:sSub>
                    <m:e>
                      <m:r>
                        <m:t>D</m:t>
                      </m:r>
                    </m:e>
                    <m:sub>
                      <m:r>
                        <m:t>j</m:t>
                      </m:r>
                    </m:sub>
                  </m:sSub>
                  <m:r>
                    <m:t>)</m:t>
                  </m:r>
                </m:oMath>
              </m:oMathPara>
            </a14:m>
          </a:p>
        </p:txBody>
      </p:sp>
      <p:sp>
        <p:nvSpPr>
          <p:cNvPr id="8" name="formula-13-1">
            <a:extLst xmlns:a="http://schemas.openxmlformats.org/drawingml/2006/main">
              <a:ext uri="{FF2B5EF4-FFF2-40B4-BE49-F238E27FC236}">
                <a16:creationId xmlns:a16="http://schemas.microsoft.com/office/drawing/2014/main" id="{A3187673-952E-4A15-A1E5-96B02281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  <m:r>
                        <m:t>,</m:t>
                      </m:r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∗</m:t>
                          </m:r>
                        </m:sub>
                      </m:sSub>
                    </m:sub>
                    <m:sup>
                      <m:r>
                        <m:rPr>
                          <m:nor/>
                          <m:sty m:val="p"/>
                        </m:rPr>
                        <m:t>AP</m:t>
                      </m:r>
                    </m:sup>
                  </m:sSubSup>
                  <m:r>
                    <m:t>(</m:t>
                  </m:r>
                  <m:r>
                    <m:rPr>
                      <m:nor/>
                      <m:sty m:val="p"/>
                    </m:rPr>
                    <m:t>R</m:t>
                  </m:r>
                  <m:r>
                    <m:t>)</m:t>
                  </m:r>
                  <m:r>
                    <m:t>=</m:t>
                  </m:r>
                  <m:sSub>
                    <m:e>
                      <m:r>
                        <m:t>E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m:t>R</m:t>
                      </m:r>
                    </m:sub>
                  </m:sSub>
                  <m:d>
                    <m:dPr>
                      <m:begChr m:val="["/>
                      <m:sepChr m:val=","/>
                      <m:endChr m:val="]"/>
                      <m:grow m:val="on"/>
                    </m:dPr>
                    <m:e>
                      <m:sSub>
                        <m:e>
                          <m:r>
                            <m:t>min</m:t>
                          </m:r>
                        </m:e>
                        <m:sub>
                          <m:r>
                            <m:t>j</m:t>
                          </m:r>
                          <m:r>
                            <m:t>≤</m:t>
                          </m:r>
                          <m:r>
                            <m:t>K</m:t>
                          </m:r>
                        </m:sub>
                      </m:sSub>
                    </m:e>
                    <m:e>
                      <m:sSub>
                        <m:e>
                          <m:r>
                            <m:t>Z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</m:e>
                  </m:d>
                </m:oMath>
              </m:oMathPara>
            </a14:m>
          </a:p>
        </p:txBody>
      </p:sp>
      <p:sp>
        <p:nvSpPr>
          <p:cNvPr id="9" name="meaning-label-13">
            <a:extLst xmlns:a="http://schemas.openxmlformats.org/drawingml/2006/main">
              <a:ext uri="{FF2B5EF4-FFF2-40B4-BE49-F238E27FC236}">
                <a16:creationId xmlns:a16="http://schemas.microsoft.com/office/drawing/2014/main" id="{5A041A9B-F249-468A-8C2D-B5BAB22C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10" name="meaning-13">
            <a:extLst xmlns:a="http://schemas.openxmlformats.org/drawingml/2006/main">
              <a:ext uri="{FF2B5EF4-FFF2-40B4-BE49-F238E27FC236}">
                <a16:creationId xmlns:a16="http://schemas.microsoft.com/office/drawing/2014/main" id="{B8DEE297-F36F-42B9-A93F-74C32E33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Within every replication, find its weakest target population; then require all K replications to retain the level.</a:t>
            </a:r>
          </a:p>
        </p:txBody>
      </p:sp>
      <p:sp>
        <p:nvSpPr>
          <p:cNvPr id="11" name="why-13">
            <a:extLst xmlns:a="http://schemas.openxmlformats.org/drawingml/2006/main">
              <a:ext uri="{FF2B5EF4-FFF2-40B4-BE49-F238E27FC236}">
                <a16:creationId xmlns:a16="http://schemas.microsoft.com/office/drawing/2014/main" id="{E30D3EB0-6C26-408E-81A0-4F516A18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At K=2, the result is expected worst-prevalence performance minus half the expected disagreement between replications.</a:t>
            </a:r>
          </a:p>
        </p:txBody>
      </p:sp>
    </p:spTree>
    <p:extLst>
      <p:ext uri="{BB962C8B-B14F-4D97-AF65-F5344CB8AC3E}">
        <p14:creationId xmlns:p14="http://schemas.microsoft.com/office/powerpoint/2010/main" val="15290238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14">
            <a:extLst xmlns:a="http://schemas.openxmlformats.org/drawingml/2006/main">
              <a:ext uri="{FF2B5EF4-FFF2-40B4-BE49-F238E27FC236}">
                <a16:creationId xmlns:a16="http://schemas.microsoft.com/office/drawing/2014/main" id="{D10676E4-83C8-4EAC-A0DB-40A3943C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What fails if prevalence minimization occurs after replication?</a:t>
            </a:r>
          </a:p>
        </p:txBody>
      </p:sp>
      <p:sp>
        <p:nvSpPr>
          <p:cNvPr id="2" name="rule-14">
            <a:extLst xmlns:a="http://schemas.openxmlformats.org/drawingml/2006/main">
              <a:ext uri="{FF2B5EF4-FFF2-40B4-BE49-F238E27FC236}">
                <a16:creationId xmlns:a16="http://schemas.microsoft.com/office/drawing/2014/main" id="{0DE4036C-6671-418C-903E-AF4EBD7D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14">
            <a:extLst xmlns:a="http://schemas.openxmlformats.org/drawingml/2006/main">
              <a:ext uri="{FF2B5EF4-FFF2-40B4-BE49-F238E27FC236}">
                <a16:creationId xmlns:a16="http://schemas.microsoft.com/office/drawing/2014/main" id="{8243D930-ABA0-404D-A866-A56F0E5B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3034AAC6-B5A3-478B-B44F-B0C4DDBC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left-panel-14">
            <a:extLst xmlns:a="http://schemas.openxmlformats.org/drawingml/2006/main">
              <a:ext uri="{FF2B5EF4-FFF2-40B4-BE49-F238E27FC236}">
                <a16:creationId xmlns:a16="http://schemas.microsoft.com/office/drawing/2014/main" id="{1E3E3101-4791-444F-959E-686CBAB6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3816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right-panel-14">
            <a:extLst xmlns:a="http://schemas.openxmlformats.org/drawingml/2006/main">
              <a:ext uri="{FF2B5EF4-FFF2-40B4-BE49-F238E27FC236}">
                <a16:creationId xmlns:a16="http://schemas.microsoft.com/office/drawing/2014/main" id="{1D15DE11-B71D-4AB6-BAA6-C61976E7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6007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7" name="left-kicker-14">
            <a:extLst xmlns:a="http://schemas.openxmlformats.org/drawingml/2006/main">
              <a:ext uri="{FF2B5EF4-FFF2-40B4-BE49-F238E27FC236}">
                <a16:creationId xmlns:a16="http://schemas.microsoft.com/office/drawing/2014/main" id="{ED008952-687F-4307-9254-C903E46C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INTENDED CLAIM</a:t>
            </a:r>
          </a:p>
        </p:txBody>
      </p:sp>
      <p:sp>
        <p:nvSpPr>
          <p:cNvPr id="8" name="left-head-14">
            <a:extLst xmlns:a="http://schemas.openxmlformats.org/drawingml/2006/main">
              <a:ext uri="{FF2B5EF4-FFF2-40B4-BE49-F238E27FC236}">
                <a16:creationId xmlns:a16="http://schemas.microsoft.com/office/drawing/2014/main" id="{F22373EA-8D08-455D-852E-C2D6165B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func>
                    <m:fName>
                      <m:r>
                        <m:t>E</m:t>
                      </m:r>
                    </m:fName>
                    <m:e>
                      <m:d>
                        <m:dPr>
                          <m:begChr m:val="["/>
                          <m:sepChr m:val=","/>
                          <m:endChr m:val="]"/>
                          <m:grow m:val="on"/>
                        </m:dPr>
                        <m:e>
                          <m:sSub>
                            <m:e>
                              <m:r>
                                <m:t>min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r>
                                <m:t>inf</m:t>
                              </m:r>
                            </m:e>
                            <m:sub>
                              <m:r>
                                <m:t>π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r>
                                <m:t>CNAP</m:t>
                              </m:r>
                            </m:e>
                            <m:sub>
                              <m:r>
                                <m:t>π</m:t>
                              </m:r>
                            </m:sub>
                          </m:sSub>
                        </m:e>
                        <m:e>
                          <m:r>
                            <m:t>(</m:t>
                          </m:r>
                        </m:e>
                        <m:e>
                          <m:sSub>
                            <m:e>
                              <m:r>
                                <m:t>D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  <m:e>
                          <m:r>
                            <m:t>)</m:t>
                          </m:r>
                        </m:e>
                      </m:d>
                    </m:e>
                  </m:func>
                </m:oMath>
              </m:oMathPara>
            </a14:m>
          </a:p>
        </p:txBody>
      </p:sp>
      <p:sp>
        <p:nvSpPr>
          <p:cNvPr id="9" name="left-body-14">
            <a:extLst xmlns:a="http://schemas.openxmlformats.org/drawingml/2006/main">
              <a:ext uri="{FF2B5EF4-FFF2-40B4-BE49-F238E27FC236}">
                <a16:creationId xmlns:a16="http://schemas.microsoft.com/office/drawing/2014/main" id="{D27BC1BD-7CB1-429E-ADA5-220FA7DB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Each replication reveals the population that defeats it. Replication 1 may fail at 1%; replication 2 at 40%.</a:t>
            </a:r>
          </a:p>
        </p:txBody>
      </p:sp>
      <p:sp>
        <p:nvSpPr>
          <p:cNvPr id="10" name="right-kicker-14">
            <a:extLst xmlns:a="http://schemas.openxmlformats.org/drawingml/2006/main">
              <a:ext uri="{FF2B5EF4-FFF2-40B4-BE49-F238E27FC236}">
                <a16:creationId xmlns:a16="http://schemas.microsoft.com/office/drawing/2014/main" id="{D42286C7-E2A0-4055-BA28-5731BE55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WEAKER CLAIM</a:t>
            </a:r>
          </a:p>
        </p:txBody>
      </p:sp>
      <p:sp>
        <p:nvSpPr>
          <p:cNvPr id="11" name="right-head-14">
            <a:extLst xmlns:a="http://schemas.openxmlformats.org/drawingml/2006/main">
              <a:ext uri="{FF2B5EF4-FFF2-40B4-BE49-F238E27FC236}">
                <a16:creationId xmlns:a16="http://schemas.microsoft.com/office/drawing/2014/main" id="{E3FB9E60-A7AD-4965-A881-C73E3DB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33625"/>
            <a:ext cx="4953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inf</m:t>
                      </m:r>
                    </m:e>
                    <m:sub>
                      <m:r>
                        <m:t>π</m:t>
                      </m:r>
                    </m:sub>
                  </m:sSub>
                  <m:func>
                    <m:fName>
                      <m:r>
                        <m:t>E</m:t>
                      </m:r>
                    </m:fName>
                    <m:e>
                      <m:d>
                        <m:dPr>
                          <m:begChr m:val="["/>
                          <m:sepChr m:val=","/>
                          <m:endChr m:val="]"/>
                          <m:grow m:val="on"/>
                        </m:dPr>
                        <m:e>
                          <m:sSub>
                            <m:e>
                              <m:r>
                                <m:t>min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r>
                                <m:t>CNAP</m:t>
                              </m:r>
                            </m:e>
                            <m:sub>
                              <m:r>
                                <m:t>π</m:t>
                              </m:r>
                            </m:sub>
                          </m:sSub>
                        </m:e>
                        <m:e>
                          <m:r>
                            <m:t>(</m:t>
                          </m:r>
                        </m:e>
                        <m:e>
                          <m:sSub>
                            <m:e>
                              <m:r>
                                <m:t>D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  <m:e>
                          <m:r>
                            <m:t>)</m:t>
                          </m:r>
                        </m:e>
                      </m:d>
                    </m:e>
                  </m:func>
                </m:oMath>
              </m:oMathPara>
            </a14:m>
          </a:p>
        </p:txBody>
      </p:sp>
      <p:sp>
        <p:nvSpPr>
          <p:cNvPr id="12" name="right-body-14">
            <a:extLst xmlns:a="http://schemas.openxmlformats.org/drawingml/2006/main">
              <a:ext uri="{FF2B5EF4-FFF2-40B4-BE49-F238E27FC236}">
                <a16:creationId xmlns:a16="http://schemas.microsoft.com/office/drawing/2014/main" id="{DD4FBE86-9644-4926-8A54-1B0EDE3E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8137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All replications are challenged at the same prevalence before the population minimum is taken.</a:t>
            </a:r>
          </a:p>
        </p:txBody>
      </p:sp>
    </p:spTree>
    <p:extLst>
      <p:ext uri="{BB962C8B-B14F-4D97-AF65-F5344CB8AC3E}">
        <p14:creationId xmlns:p14="http://schemas.microsoft.com/office/powerpoint/2010/main" val="6409464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15">
            <a:extLst xmlns:a="http://schemas.openxmlformats.org/drawingml/2006/main">
              <a:ext uri="{FF2B5EF4-FFF2-40B4-BE49-F238E27FC236}">
                <a16:creationId xmlns:a16="http://schemas.microsoft.com/office/drawing/2014/main" id="{C00E8F6C-E1DE-41EC-9E22-E9E1CE60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7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Low support can reflect shifting worst cases or unstable replications</a:t>
            </a:r>
          </a:p>
        </p:txBody>
      </p:sp>
      <p:sp>
        <p:nvSpPr>
          <p:cNvPr id="2" name="rule-15">
            <a:extLst xmlns:a="http://schemas.openxmlformats.org/drawingml/2006/main">
              <a:ext uri="{FF2B5EF4-FFF2-40B4-BE49-F238E27FC236}">
                <a16:creationId xmlns:a16="http://schemas.microsoft.com/office/drawing/2014/main" id="{05A6FBA7-43F0-45D2-9EF0-3035559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15">
            <a:extLst xmlns:a="http://schemas.openxmlformats.org/drawingml/2006/main">
              <a:ext uri="{FF2B5EF4-FFF2-40B4-BE49-F238E27FC236}">
                <a16:creationId xmlns:a16="http://schemas.microsoft.com/office/drawing/2014/main" id="{26A3D7C0-9054-422E-860C-0C49C400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6333D736-199C-488B-9A9F-FA24150E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card-15-0">
            <a:extLst xmlns:a="http://schemas.openxmlformats.org/drawingml/2006/main">
              <a:ext uri="{FF2B5EF4-FFF2-40B4-BE49-F238E27FC236}">
                <a16:creationId xmlns:a16="http://schemas.microsoft.com/office/drawing/2014/main" id="{3CF68450-B0FA-4ADD-AD58-5CD9085B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num-15-0">
            <a:extLst xmlns:a="http://schemas.openxmlformats.org/drawingml/2006/main">
              <a:ext uri="{FF2B5EF4-FFF2-40B4-BE49-F238E27FC236}">
                <a16:creationId xmlns:a16="http://schemas.microsoft.com/office/drawing/2014/main" id="{440BDE9C-CA61-49E7-B20F-D5BDF657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START</a:t>
            </a:r>
          </a:p>
        </p:txBody>
      </p:sp>
      <p:sp>
        <p:nvSpPr>
          <p:cNvPr id="7" name="head-15-0">
            <a:extLst xmlns:a="http://schemas.openxmlformats.org/drawingml/2006/main">
              <a:ext uri="{FF2B5EF4-FFF2-40B4-BE49-F238E27FC236}">
                <a16:creationId xmlns:a16="http://schemas.microsoft.com/office/drawing/2014/main" id="{7C163BC7-73F3-41AD-968D-CD731B8F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Best worst-population mean</a:t>
            </a:r>
          </a:p>
        </p:txBody>
      </p:sp>
      <p:sp>
        <p:nvSpPr>
          <p:cNvPr id="8" name="body-15-0">
            <a:extLst xmlns:a="http://schemas.openxmlformats.org/drawingml/2006/main">
              <a:ext uri="{FF2B5EF4-FFF2-40B4-BE49-F238E27FC236}">
                <a16:creationId xmlns:a16="http://schemas.microsoft.com/office/drawing/2014/main" id="{828ED26B-8412-45B4-9899-480A0C3A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lowest expected profile value over the declared prevalence set.</a:t>
            </a:r>
          </a:p>
        </p:txBody>
      </p:sp>
      <p:sp>
        <p:nvSpPr>
          <p:cNvPr id="9" name="card-15-1">
            <a:extLst xmlns:a="http://schemas.openxmlformats.org/drawingml/2006/main">
              <a:ext uri="{FF2B5EF4-FFF2-40B4-BE49-F238E27FC236}">
                <a16:creationId xmlns:a16="http://schemas.microsoft.com/office/drawing/2014/main" id="{37F8EBDB-EFF9-4929-B528-F8A0F749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0" name="num-15-1">
            <a:extLst xmlns:a="http://schemas.openxmlformats.org/drawingml/2006/main">
              <a:ext uri="{FF2B5EF4-FFF2-40B4-BE49-F238E27FC236}">
                <a16:creationId xmlns:a16="http://schemas.microsoft.com/office/drawing/2014/main" id="{92F37CCB-ED39-49B5-B605-A5BB0E7F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− CPREV</a:t>
            </a:r>
          </a:p>
        </p:txBody>
      </p:sp>
      <p:sp>
        <p:nvSpPr>
          <p:cNvPr id="11" name="head-15-1">
            <a:extLst xmlns:a="http://schemas.openxmlformats.org/drawingml/2006/main">
              <a:ext uri="{FF2B5EF4-FFF2-40B4-BE49-F238E27FC236}">
                <a16:creationId xmlns:a16="http://schemas.microsoft.com/office/drawing/2014/main" id="{339B33C4-01AF-47D4-B468-D9DB92D1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Moving limiting prevalence</a:t>
            </a:r>
          </a:p>
        </p:txBody>
      </p:sp>
      <p:sp>
        <p:nvSpPr>
          <p:cNvPr id="12" name="body-15-1">
            <a:extLst xmlns:a="http://schemas.openxmlformats.org/drawingml/2006/main">
              <a:ext uri="{FF2B5EF4-FFF2-40B4-BE49-F238E27FC236}">
                <a16:creationId xmlns:a16="http://schemas.microsoft.com/office/drawing/2014/main" id="{77D45E62-F76E-4C64-990B-C3D2CBEA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weakest population changes across replications.</a:t>
            </a:r>
          </a:p>
        </p:txBody>
      </p:sp>
      <p:sp>
        <p:nvSpPr>
          <p:cNvPr id="13" name="card-15-2">
            <a:extLst xmlns:a="http://schemas.openxmlformats.org/drawingml/2006/main">
              <a:ext uri="{FF2B5EF4-FFF2-40B4-BE49-F238E27FC236}">
                <a16:creationId xmlns:a16="http://schemas.microsoft.com/office/drawing/2014/main" id="{F0673BE5-7D68-4E33-88A0-D18C8ED4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4" name="num-15-2">
            <a:extLst xmlns:a="http://schemas.openxmlformats.org/drawingml/2006/main">
              <a:ext uri="{FF2B5EF4-FFF2-40B4-BE49-F238E27FC236}">
                <a16:creationId xmlns:a16="http://schemas.microsoft.com/office/drawing/2014/main" id="{CF313375-575E-4FF7-B37D-BD084D1E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− CREP</a:t>
            </a:r>
          </a:p>
        </p:txBody>
      </p:sp>
      <p:sp>
        <p:nvSpPr>
          <p:cNvPr id="15" name="head-15-2">
            <a:extLst xmlns:a="http://schemas.openxmlformats.org/drawingml/2006/main">
              <a:ext uri="{FF2B5EF4-FFF2-40B4-BE49-F238E27FC236}">
                <a16:creationId xmlns:a16="http://schemas.microsoft.com/office/drawing/2014/main" id="{F2C21369-65EC-4D53-9CBA-2C5D1622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Replication disagreement</a:t>
            </a:r>
          </a:p>
        </p:txBody>
      </p:sp>
      <p:sp>
        <p:nvSpPr>
          <p:cNvPr id="16" name="body-15-2">
            <a:extLst xmlns:a="http://schemas.openxmlformats.org/drawingml/2006/main">
              <a:ext uri="{FF2B5EF4-FFF2-40B4-BE49-F238E27FC236}">
                <a16:creationId xmlns:a16="http://schemas.microsoft.com/office/drawing/2014/main" id="{2398A530-49C1-46D3-A2C8-5AFB7D5C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Retained levels vary; at K=2 this is ½E|Z₁−Z₂|.</a:t>
            </a:r>
          </a:p>
        </p:txBody>
      </p:sp>
      <p:sp>
        <p:nvSpPr>
          <p:cNvPr id="17" name="bottom-15">
            <a:extLst xmlns:a="http://schemas.openxmlformats.org/drawingml/2006/main">
              <a:ext uri="{FF2B5EF4-FFF2-40B4-BE49-F238E27FC236}">
                <a16:creationId xmlns:a16="http://schemas.microsoft.com/office/drawing/2014/main" id="{605DAA7C-6B5C-4BB2-95CC-25FDA44C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  <m:r>
                        <m:t>,</m:t>
                      </m:r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∗</m:t>
                          </m:r>
                        </m:sub>
                      </m:sSub>
                    </m:sub>
                    <m:sup>
                      <m:r>
                        <m:rPr>
                          <m:nor/>
                          <m:sty m:val="p"/>
                        </m:rPr>
                        <m:t>AP</m:t>
                      </m:r>
                    </m:sup>
                  </m:sSubSup>
                  <m:r>
                    <m:t>=</m:t>
                  </m:r>
                  <m:sSub>
                    <m:e>
                      <m:r>
                        <m:t>inf</m:t>
                      </m:r>
                    </m:e>
                    <m:sub>
                      <m:r>
                        <m:t>π</m:t>
                      </m:r>
                      <m:r>
                        <m:t>∈</m:t>
                      </m:r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∗</m:t>
                          </m:r>
                        </m:sub>
                      </m:sSub>
                    </m:sub>
                  </m:sSub>
                  <m:sSub>
                    <m:e>
                      <m:r>
                        <m:t>E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m:t>R</m:t>
                      </m:r>
                    </m:sub>
                  </m:sSub>
                  <m:r>
                    <m:t>[</m:t>
                  </m:r>
                  <m:sSub>
                    <m:e>
                      <m:r>
                        <m:t>CNAP</m:t>
                      </m:r>
                    </m:e>
                    <m:sub>
                      <m:r>
                        <m:t>π</m:t>
                      </m:r>
                    </m:sub>
                  </m:sSub>
                  <m:r>
                    <m:t>]</m:t>
                  </m:r>
                  <m:r>
                    <m:t>-</m:t>
                  </m:r>
                  <m:sSub>
                    <m:e>
                      <m:r>
                        <m:t>C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m:t>prev</m:t>
                      </m:r>
                    </m:sub>
                  </m:sSub>
                  <m:r>
                    <m:t>-</m:t>
                  </m:r>
                  <m:sSub>
                    <m:e>
                      <m:r>
                        <m:t>C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m:t>rep</m:t>
                      </m:r>
                    </m:sub>
                  </m:sSub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1817822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B9F8FBAB-5D18-443D-9492-49341AD9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Expanding the challenge set cannot increase raw support</a:t>
            </a:r>
          </a:p>
        </p:txBody>
      </p:sp>
      <p:sp>
        <p:nvSpPr>
          <p:cNvPr id="2" name="rule-16">
            <a:extLst xmlns:a="http://schemas.openxmlformats.org/drawingml/2006/main">
              <a:ext uri="{FF2B5EF4-FFF2-40B4-BE49-F238E27FC236}">
                <a16:creationId xmlns:a16="http://schemas.microsoft.com/office/drawing/2014/main" id="{CB8B45F0-ACCD-4E84-A411-7BEC4FED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16">
            <a:extLst xmlns:a="http://schemas.openxmlformats.org/drawingml/2006/main">
              <a:ext uri="{FF2B5EF4-FFF2-40B4-BE49-F238E27FC236}">
                <a16:creationId xmlns:a16="http://schemas.microsoft.com/office/drawing/2014/main" id="{8ACEAF74-4AE4-4151-B0EF-C9C6B714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16">
            <a:extLst xmlns:a="http://schemas.openxmlformats.org/drawingml/2006/main">
              <a:ext uri="{FF2B5EF4-FFF2-40B4-BE49-F238E27FC236}">
                <a16:creationId xmlns:a16="http://schemas.microsoft.com/office/drawing/2014/main" id="{5DD9BB72-AE68-4C3F-A0C4-CBDB5BDA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formula-panel-16">
            <a:extLst xmlns:a="http://schemas.openxmlformats.org/drawingml/2006/main">
              <a:ext uri="{FF2B5EF4-FFF2-40B4-BE49-F238E27FC236}">
                <a16:creationId xmlns:a16="http://schemas.microsoft.com/office/drawing/2014/main" id="{411D67EE-2878-4B86-8228-EA765B5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4288">
            <a:solidFill>
              <a:srgbClr val="D79B22"/>
            </a:solidFill>
            <a:prstDash val="solid"/>
          </a:ln>
        </p:spPr>
      </p:sp>
      <p:sp>
        <p:nvSpPr>
          <p:cNvPr id="6" name="formula-label-16">
            <a:extLst xmlns:a="http://schemas.openxmlformats.org/drawingml/2006/main">
              <a:ext uri="{FF2B5EF4-FFF2-40B4-BE49-F238E27FC236}">
                <a16:creationId xmlns:a16="http://schemas.microsoft.com/office/drawing/2014/main" id="{B5CEA9BF-196A-49B2-9CFB-F4AA2878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16-0">
            <a:extLst xmlns:a="http://schemas.openxmlformats.org/drawingml/2006/main">
              <a:ext uri="{FF2B5EF4-FFF2-40B4-BE49-F238E27FC236}">
                <a16:creationId xmlns:a16="http://schemas.microsoft.com/office/drawing/2014/main" id="{1583B43A-33A1-4556-8775-539744CF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Π</m:t>
                      </m:r>
                    </m:e>
                    <m:sub>
                      <m:r>
                        <m:t>1</m:t>
                      </m:r>
                    </m:sub>
                  </m:sSub>
                  <m:r>
                    <m:t>⊆</m:t>
                  </m:r>
                  <m:sSub>
                    <m:e>
                      <m:r>
                        <m:t>Π</m:t>
                      </m:r>
                    </m:e>
                    <m:sub>
                      <m:r>
                        <m:t>2</m:t>
                      </m:r>
                    </m:sub>
                  </m:sSub>
                  <m:r>
                    <m:t>,</m:t>
                  </m:r>
                  <m:r>
                    <m:t xml:space="preserve"> </m:t>
                  </m:r>
                  <m:sSub>
                    <m:e>
                      <m:r>
                        <m:t>K</m:t>
                      </m:r>
                    </m:e>
                    <m:sub>
                      <m:r>
                        <m:t>1</m:t>
                      </m:r>
                    </m:sub>
                  </m:sSub>
                  <m:r>
                    <m:t>≤</m:t>
                  </m:r>
                  <m:sSub>
                    <m:e>
                      <m:r>
                        <m:t>K</m:t>
                      </m:r>
                    </m:e>
                    <m:sub>
                      <m:r>
                        <m:t>2</m:t>
                      </m:r>
                    </m:sub>
                  </m:sSub>
                </m:oMath>
              </m:oMathPara>
            </a14:m>
          </a:p>
        </p:txBody>
      </p:sp>
      <p:sp>
        <p:nvSpPr>
          <p:cNvPr id="8" name="formula-16-1">
            <a:extLst xmlns:a="http://schemas.openxmlformats.org/drawingml/2006/main">
              <a:ext uri="{FF2B5EF4-FFF2-40B4-BE49-F238E27FC236}">
                <a16:creationId xmlns:a16="http://schemas.microsoft.com/office/drawing/2014/main" id="{484DB083-B0D8-47E3-86D0-6FD26C31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m:t>S</m:t>
                      </m:r>
                    </m:e>
                    <m:sub>
                      <m:sSub>
                        <m:e>
                          <m:r>
                            <m:t>K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t>,</m:t>
                      </m:r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</m:sub>
                    <m:sup>
                      <m:r>
                        <m:rPr>
                          <m:nor/>
                          <m:sty m:val="p"/>
                        </m:rPr>
                        <m:t>AP</m:t>
                      </m:r>
                    </m:sup>
                  </m:sSubSup>
                  <m:r>
                    <m:t>(</m:t>
                  </m:r>
                  <m:r>
                    <m:rPr>
                      <m:nor/>
                      <m:sty m:val="p"/>
                    </m:rPr>
                    <m:t>R</m:t>
                  </m:r>
                  <m:r>
                    <m:t>)</m:t>
                  </m:r>
                  <m:r>
                    <m:t>≤</m:t>
                  </m:r>
                  <m:sSubSup>
                    <m:e>
                      <m:r>
                        <m:t>S</m:t>
                      </m:r>
                    </m:e>
                    <m:sub>
                      <m:sSub>
                        <m:e>
                          <m:r>
                            <m:t>K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t>,</m:t>
                      </m:r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</m:sub>
                    <m:sup>
                      <m:r>
                        <m:rPr>
                          <m:nor/>
                          <m:sty m:val="p"/>
                        </m:rPr>
                        <m:t>AP</m:t>
                      </m:r>
                    </m:sup>
                  </m:sSubSup>
                  <m:r>
                    <m:t>(</m:t>
                  </m:r>
                  <m:r>
                    <m:rPr>
                      <m:nor/>
                      <m:sty m:val="p"/>
                    </m:rPr>
                    <m:t>R</m:t>
                  </m:r>
                  <m:r>
                    <m:t>)</m:t>
                  </m:r>
                </m:oMath>
              </m:oMathPara>
            </a14:m>
          </a:p>
        </p:txBody>
      </p:sp>
      <p:sp>
        <p:nvSpPr>
          <p:cNvPr id="9" name="meaning-label-16">
            <a:extLst xmlns:a="http://schemas.openxmlformats.org/drawingml/2006/main">
              <a:ext uri="{FF2B5EF4-FFF2-40B4-BE49-F238E27FC236}">
                <a16:creationId xmlns:a16="http://schemas.microsoft.com/office/drawing/2014/main" id="{B2D4AEA2-3308-4A3A-A868-3323AC42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10" name="meaning-16">
            <a:extLst xmlns:a="http://schemas.openxmlformats.org/drawingml/2006/main">
              <a:ext uri="{FF2B5EF4-FFF2-40B4-BE49-F238E27FC236}">
                <a16:creationId xmlns:a16="http://schemas.microsoft.com/office/drawing/2014/main" id="{C061ED88-CCD6-4C3D-8B36-44FFC840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Broader population coverage or more independent chances for defeat can only keep or lower support.</a:t>
            </a:r>
          </a:p>
        </p:txBody>
      </p:sp>
      <p:sp>
        <p:nvSpPr>
          <p:cNvPr id="11" name="why-16">
            <a:extLst xmlns:a="http://schemas.openxmlformats.org/drawingml/2006/main">
              <a:ext uri="{FF2B5EF4-FFF2-40B4-BE49-F238E27FC236}">
                <a16:creationId xmlns:a16="http://schemas.microsoft.com/office/drawing/2014/main" id="{954E183F-82A9-4598-B298-8F887314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Arbitrary regimes are not ordered this way: changing what is redrawn changes the scientific claim, not merely its index set.</a:t>
            </a:r>
          </a:p>
        </p:txBody>
      </p:sp>
    </p:spTree>
    <p:extLst>
      <p:ext uri="{BB962C8B-B14F-4D97-AF65-F5344CB8AC3E}">
        <p14:creationId xmlns:p14="http://schemas.microsoft.com/office/powerpoint/2010/main" val="17307409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17">
            <a:extLst xmlns:a="http://schemas.openxmlformats.org/drawingml/2006/main">
              <a:ext uri="{FF2B5EF4-FFF2-40B4-BE49-F238E27FC236}">
                <a16:creationId xmlns:a16="http://schemas.microsoft.com/office/drawing/2014/main" id="{7D763256-2532-44E4-AEE3-DA75B1B1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How can one evaluation estimate a replication-level target?</a:t>
            </a:r>
          </a:p>
        </p:txBody>
      </p:sp>
      <p:sp>
        <p:nvSpPr>
          <p:cNvPr id="2" name="rule-17">
            <a:extLst xmlns:a="http://schemas.openxmlformats.org/drawingml/2006/main">
              <a:ext uri="{FF2B5EF4-FFF2-40B4-BE49-F238E27FC236}">
                <a16:creationId xmlns:a16="http://schemas.microsoft.com/office/drawing/2014/main" id="{0373CB6C-98F2-4B3A-B571-8CDEF648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17">
            <a:extLst xmlns:a="http://schemas.openxmlformats.org/drawingml/2006/main">
              <a:ext uri="{FF2B5EF4-FFF2-40B4-BE49-F238E27FC236}">
                <a16:creationId xmlns:a16="http://schemas.microsoft.com/office/drawing/2014/main" id="{DC7CB402-DC7D-48D7-B68F-48A705E9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17">
            <a:extLst xmlns:a="http://schemas.openxmlformats.org/drawingml/2006/main">
              <a:ext uri="{FF2B5EF4-FFF2-40B4-BE49-F238E27FC236}">
                <a16:creationId xmlns:a16="http://schemas.microsoft.com/office/drawing/2014/main" id="{9EAF9CD8-FE78-457D-A92C-CECAC55E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arrow-17-0">
            <a:extLst xmlns:a="http://schemas.openxmlformats.org/drawingml/2006/main">
              <a:ext uri="{FF2B5EF4-FFF2-40B4-BE49-F238E27FC236}">
                <a16:creationId xmlns:a16="http://schemas.microsoft.com/office/drawing/2014/main" id="{8946A1A0-88E2-4C93-9B3A-B2C9273A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195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17-1">
            <a:extLst xmlns:a="http://schemas.openxmlformats.org/drawingml/2006/main">
              <a:ext uri="{FF2B5EF4-FFF2-40B4-BE49-F238E27FC236}">
                <a16:creationId xmlns:a16="http://schemas.microsoft.com/office/drawing/2014/main" id="{5E438481-66E7-412A-9F26-6457D7CF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195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17-2">
            <a:extLst xmlns:a="http://schemas.openxmlformats.org/drawingml/2006/main">
              <a:ext uri="{FF2B5EF4-FFF2-40B4-BE49-F238E27FC236}">
                <a16:creationId xmlns:a16="http://schemas.microsoft.com/office/drawing/2014/main" id="{FB715D38-50FB-409F-BE38-CCA0184C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17-0">
            <a:extLst xmlns:a="http://schemas.openxmlformats.org/drawingml/2006/main">
              <a:ext uri="{FF2B5EF4-FFF2-40B4-BE49-F238E27FC236}">
                <a16:creationId xmlns:a16="http://schemas.microsoft.com/office/drawing/2014/main" id="{0B159617-6EB5-4660-93D8-277FE53E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2552700" cy="29527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9" name="step-num-17-0">
            <a:extLst xmlns:a="http://schemas.openxmlformats.org/drawingml/2006/main">
              <a:ext uri="{FF2B5EF4-FFF2-40B4-BE49-F238E27FC236}">
                <a16:creationId xmlns:a16="http://schemas.microsoft.com/office/drawing/2014/main" id="{8BA908C9-85EB-4E38-AEDE-2C6DDB1A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step-head-17-0">
            <a:extLst xmlns:a="http://schemas.openxmlformats.org/drawingml/2006/main">
              <a:ext uri="{FF2B5EF4-FFF2-40B4-BE49-F238E27FC236}">
                <a16:creationId xmlns:a16="http://schemas.microsoft.com/office/drawing/2014/main" id="{2CAD6E0F-A5A9-4160-A8B5-23667A73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765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Resample within class</a:t>
            </a:r>
          </a:p>
        </p:txBody>
      </p:sp>
      <p:sp>
        <p:nvSpPr>
          <p:cNvPr id="11" name="step-body-17-0">
            <a:extLst xmlns:a="http://schemas.openxmlformats.org/drawingml/2006/main">
              <a:ext uri="{FF2B5EF4-FFF2-40B4-BE49-F238E27FC236}">
                <a16:creationId xmlns:a16="http://schemas.microsoft.com/office/drawing/2014/main" id="{81367290-DFE8-45EE-AF6D-555998D7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Draw planned positive and negative counts with replacement.</a:t>
            </a:r>
          </a:p>
        </p:txBody>
      </p:sp>
      <p:sp>
        <p:nvSpPr>
          <p:cNvPr id="12" name="step-17-1">
            <a:extLst xmlns:a="http://schemas.openxmlformats.org/drawingml/2006/main">
              <a:ext uri="{FF2B5EF4-FFF2-40B4-BE49-F238E27FC236}">
                <a16:creationId xmlns:a16="http://schemas.microsoft.com/office/drawing/2014/main" id="{7F4CBEE6-D57F-4C24-A20C-B2651D95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33625"/>
            <a:ext cx="2552700" cy="29527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3" name="step-num-17-1">
            <a:extLst xmlns:a="http://schemas.openxmlformats.org/drawingml/2006/main">
              <a:ext uri="{FF2B5EF4-FFF2-40B4-BE49-F238E27FC236}">
                <a16:creationId xmlns:a16="http://schemas.microsoft.com/office/drawing/2014/main" id="{E0D7D698-B451-4680-9794-5708E385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62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step-head-17-1">
            <a:extLst xmlns:a="http://schemas.openxmlformats.org/drawingml/2006/main">
              <a:ext uri="{FF2B5EF4-FFF2-40B4-BE49-F238E27FC236}">
                <a16:creationId xmlns:a16="http://schemas.microsoft.com/office/drawing/2014/main" id="{FCBED3F0-FFBB-4526-926C-FFCAA1DF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765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Recombine units</a:t>
            </a:r>
          </a:p>
        </p:txBody>
      </p:sp>
      <p:sp>
        <p:nvSpPr>
          <p:cNvPr id="15" name="step-body-17-1">
            <a:extLst xmlns:a="http://schemas.openxmlformats.org/drawingml/2006/main">
              <a:ext uri="{FF2B5EF4-FFF2-40B4-BE49-F238E27FC236}">
                <a16:creationId xmlns:a16="http://schemas.microsoft.com/office/drawing/2014/main" id="{3DE9156D-36C5-47C2-B357-DB88A9A9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Keep each unit’s score and outcome together.</a:t>
            </a:r>
          </a:p>
        </p:txBody>
      </p:sp>
      <p:sp>
        <p:nvSpPr>
          <p:cNvPr id="16" name="step-17-2">
            <a:extLst xmlns:a="http://schemas.openxmlformats.org/drawingml/2006/main">
              <a:ext uri="{FF2B5EF4-FFF2-40B4-BE49-F238E27FC236}">
                <a16:creationId xmlns:a16="http://schemas.microsoft.com/office/drawing/2014/main" id="{F2BB10CF-2F4D-4194-833E-02DE8946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2552700" cy="29527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7" name="step-num-17-2">
            <a:extLst xmlns:a="http://schemas.openxmlformats.org/drawingml/2006/main">
              <a:ext uri="{FF2B5EF4-FFF2-40B4-BE49-F238E27FC236}">
                <a16:creationId xmlns:a16="http://schemas.microsoft.com/office/drawing/2014/main" id="{B173269C-E6CD-4E33-94FC-2DD87F6A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2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step-head-17-2">
            <a:extLst xmlns:a="http://schemas.openxmlformats.org/drawingml/2006/main">
              <a:ext uri="{FF2B5EF4-FFF2-40B4-BE49-F238E27FC236}">
                <a16:creationId xmlns:a16="http://schemas.microsoft.com/office/drawing/2014/main" id="{84900AEC-6340-49E0-A44E-95457620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765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Evaluate all π</a:t>
            </a:r>
          </a:p>
        </p:txBody>
      </p:sp>
      <p:sp>
        <p:nvSpPr>
          <p:cNvPr id="19" name="step-body-17-2">
            <a:extLst xmlns:a="http://schemas.openxmlformats.org/drawingml/2006/main">
              <a:ext uri="{FF2B5EF4-FFF2-40B4-BE49-F238E27FC236}">
                <a16:creationId xmlns:a16="http://schemas.microsoft.com/office/drawing/2014/main" id="{17A06F7C-D44C-4FE9-9050-7F6E6230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Use the same resampled units across the full prevalence set.</a:t>
            </a:r>
          </a:p>
        </p:txBody>
      </p:sp>
      <p:sp>
        <p:nvSpPr>
          <p:cNvPr id="20" name="step-17-3">
            <a:extLst xmlns:a="http://schemas.openxmlformats.org/drawingml/2006/main">
              <a:ext uri="{FF2B5EF4-FFF2-40B4-BE49-F238E27FC236}">
                <a16:creationId xmlns:a16="http://schemas.microsoft.com/office/drawing/2014/main" id="{F320D47E-2867-40ED-BA6F-6ED9EE8D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552700" cy="29527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21" name="step-num-17-3">
            <a:extLst xmlns:a="http://schemas.openxmlformats.org/drawingml/2006/main">
              <a:ext uri="{FF2B5EF4-FFF2-40B4-BE49-F238E27FC236}">
                <a16:creationId xmlns:a16="http://schemas.microsoft.com/office/drawing/2014/main" id="{91AB218A-240C-45E5-B79F-CEF11764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62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step-head-17-3">
            <a:extLst xmlns:a="http://schemas.openxmlformats.org/drawingml/2006/main">
              <a:ext uri="{FF2B5EF4-FFF2-40B4-BE49-F238E27FC236}">
                <a16:creationId xmlns:a16="http://schemas.microsoft.com/office/drawing/2014/main" id="{00C447AF-6AE2-4D8C-A236-28C6623A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765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Record the retained level</a:t>
            </a:r>
          </a:p>
        </p:txBody>
      </p:sp>
      <p:sp>
        <p:nvSpPr>
          <p:cNvPr id="23" name="step-body-17-3">
            <a:extLst xmlns:a="http://schemas.openxmlformats.org/drawingml/2006/main">
              <a:ext uri="{FF2B5EF4-FFF2-40B4-BE49-F238E27FC236}">
                <a16:creationId xmlns:a16="http://schemas.microsoft.com/office/drawing/2014/main" id="{44F405C1-A752-4C12-A152-DC99D1AD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005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Store the lowest CNAP over the declared prevalence set.</a:t>
            </a:r>
          </a:p>
        </p:txBody>
      </p:sp>
      <p:sp>
        <p:nvSpPr>
          <p:cNvPr id="24" name="lead-17">
            <a:extLst xmlns:a="http://schemas.openxmlformats.org/drawingml/2006/main">
              <a:ext uri="{FF2B5EF4-FFF2-40B4-BE49-F238E27FC236}">
                <a16:creationId xmlns:a16="http://schemas.microsoft.com/office/drawing/2014/main" id="{67216024-3942-479C-91C6-E466F94A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Observed evaluation units must be the mechanism the regime redraws.</a:t>
            </a:r>
          </a:p>
        </p:txBody>
      </p:sp>
    </p:spTree>
    <p:extLst>
      <p:ext uri="{BB962C8B-B14F-4D97-AF65-F5344CB8AC3E}">
        <p14:creationId xmlns:p14="http://schemas.microsoft.com/office/powerpoint/2010/main" val="11380827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257652C1-09D0-42E0-AABA-92BC34A7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 finite grid can miss the worst prevalence in a continuous set</a:t>
            </a:r>
          </a:p>
        </p:txBody>
      </p:sp>
      <p:sp>
        <p:nvSpPr>
          <p:cNvPr id="2" name="rule-18">
            <a:extLst xmlns:a="http://schemas.openxmlformats.org/drawingml/2006/main">
              <a:ext uri="{FF2B5EF4-FFF2-40B4-BE49-F238E27FC236}">
                <a16:creationId xmlns:a16="http://schemas.microsoft.com/office/drawing/2014/main" id="{5F125100-CD98-42ED-BC46-4F802409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18">
            <a:extLst xmlns:a="http://schemas.openxmlformats.org/drawingml/2006/main">
              <a:ext uri="{FF2B5EF4-FFF2-40B4-BE49-F238E27FC236}">
                <a16:creationId xmlns:a16="http://schemas.microsoft.com/office/drawing/2014/main" id="{486588E8-1E04-41F0-A384-4A02F66F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18">
            <a:extLst xmlns:a="http://schemas.openxmlformats.org/drawingml/2006/main">
              <a:ext uri="{FF2B5EF4-FFF2-40B4-BE49-F238E27FC236}">
                <a16:creationId xmlns:a16="http://schemas.microsoft.com/office/drawing/2014/main" id="{BEF08BDD-FF4C-42DC-9511-DD5EA142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formula-panel-18">
            <a:extLst xmlns:a="http://schemas.openxmlformats.org/drawingml/2006/main">
              <a:ext uri="{FF2B5EF4-FFF2-40B4-BE49-F238E27FC236}">
                <a16:creationId xmlns:a16="http://schemas.microsoft.com/office/drawing/2014/main" id="{A5704C1E-CEA1-4E83-99F1-314EAAB1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14288">
            <a:solidFill>
              <a:srgbClr val="0F9D91"/>
            </a:solidFill>
            <a:prstDash val="solid"/>
          </a:ln>
        </p:spPr>
      </p:sp>
      <p:sp>
        <p:nvSpPr>
          <p:cNvPr id="6" name="formula-label-18">
            <a:extLst xmlns:a="http://schemas.openxmlformats.org/drawingml/2006/main">
              <a:ext uri="{FF2B5EF4-FFF2-40B4-BE49-F238E27FC236}">
                <a16:creationId xmlns:a16="http://schemas.microsoft.com/office/drawing/2014/main" id="{B2627A5F-EC62-4C4D-8750-6E9794C6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18-0">
            <a:extLst xmlns:a="http://schemas.openxmlformats.org/drawingml/2006/main">
              <a:ext uri="{FF2B5EF4-FFF2-40B4-BE49-F238E27FC236}">
                <a16:creationId xmlns:a16="http://schemas.microsoft.com/office/drawing/2014/main" id="{E0B1DD6A-92C1-4172-8E1B-2FF29931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Π</m:t>
                      </m:r>
                    </m:e>
                    <m:sub>
                      <m:r>
                        <m:t>∗</m:t>
                      </m:r>
                    </m:sub>
                  </m:sSub>
                  <m:r>
                    <m:t>=</m:t>
                  </m:r>
                  <m:r>
                    <m:t>{</m:t>
                  </m:r>
                  <m:sSub>
                    <m:e>
                      <m:r>
                        <m:t>π</m:t>
                      </m:r>
                    </m:e>
                    <m:sub>
                      <m:r>
                        <m:t>1</m:t>
                      </m:r>
                    </m:sub>
                  </m:sSub>
                  <m:r>
                    <m:t>,</m:t>
                  </m:r>
                  <m:r>
                    <m:t>…</m:t>
                  </m:r>
                  <m:r>
                    <m:t>,</m:t>
                  </m:r>
                  <m:sSub>
                    <m:e>
                      <m:r>
                        <m:t>π</m:t>
                      </m:r>
                    </m:e>
                    <m:sub>
                      <m:r>
                        <m:t>G</m:t>
                      </m:r>
                    </m:sub>
                  </m:sSub>
                  <m:r>
                    <m:t>}</m:t>
                  </m:r>
                  <m:r>
                    <m:t xml:space="preserve"> </m:t>
                  </m:r>
                  <m:r>
                    <m:rPr>
                      <m:nor/>
                      <m:sty m:val="p"/>
                    </m:rPr>
                    <m:t xml:space="preserve"> finite challenge</m:t>
                  </m:r>
                </m:oMath>
              </m:oMathPara>
            </a14:m>
          </a:p>
        </p:txBody>
      </p:sp>
      <p:sp>
        <p:nvSpPr>
          <p:cNvPr id="8" name="formula-18-1">
            <a:extLst xmlns:a="http://schemas.openxmlformats.org/drawingml/2006/main">
              <a:ext uri="{FF2B5EF4-FFF2-40B4-BE49-F238E27FC236}">
                <a16:creationId xmlns:a16="http://schemas.microsoft.com/office/drawing/2014/main" id="{F3F21710-84EA-4B91-99B4-38781962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Π</m:t>
                      </m:r>
                    </m:e>
                    <m:sub>
                      <m:r>
                        <m:t>∗</m:t>
                      </m:r>
                    </m:sub>
                  </m:sSub>
                  <m:r>
                    <m:t>=</m:t>
                  </m:r>
                  <m:r>
                    <m:t>[</m:t>
                  </m:r>
                  <m:sSub>
                    <m:e>
                      <m:r>
                        <m:t>π</m:t>
                      </m:r>
                    </m:e>
                    <m:sub>
                      <m:r>
                        <m:t>L</m:t>
                      </m:r>
                    </m:sub>
                  </m:sSub>
                  <m:r>
                    <m:t>,</m:t>
                  </m:r>
                  <m:sSub>
                    <m:e>
                      <m:r>
                        <m:t>π</m:t>
                      </m:r>
                    </m:e>
                    <m:sub>
                      <m:r>
                        <m:t>U</m:t>
                      </m:r>
                    </m:sub>
                  </m:sSub>
                  <m:r>
                    <m:t>]</m:t>
                  </m:r>
                  <m:r>
                    <m:t xml:space="preserve"> </m:t>
                  </m:r>
                  <m:r>
                    <m:rPr>
                      <m:nor/>
                      <m:sty m:val="p"/>
                    </m:rPr>
                    <m:t xml:space="preserve"> continuous challenge</m:t>
                  </m:r>
                </m:oMath>
              </m:oMathPara>
            </a14:m>
          </a:p>
        </p:txBody>
      </p:sp>
      <p:sp>
        <p:nvSpPr>
          <p:cNvPr id="9" name="meaning-label-18">
            <a:extLst xmlns:a="http://schemas.openxmlformats.org/drawingml/2006/main">
              <a:ext uri="{FF2B5EF4-FFF2-40B4-BE49-F238E27FC236}">
                <a16:creationId xmlns:a16="http://schemas.microsoft.com/office/drawing/2014/main" id="{7422D436-C6EA-40EA-AE22-AC75A559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10" name="meaning-18">
            <a:extLst xmlns:a="http://schemas.openxmlformats.org/drawingml/2006/main">
              <a:ext uri="{FF2B5EF4-FFF2-40B4-BE49-F238E27FC236}">
                <a16:creationId xmlns:a16="http://schemas.microsoft.com/office/drawing/2014/main" id="{FB8E7091-DC49-4059-8FF3-C46ABF63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 coarse grid can miss an interior minimum and inflate the result.</a:t>
            </a:r>
          </a:p>
        </p:txBody>
      </p:sp>
      <p:sp>
        <p:nvSpPr>
          <p:cNvPr id="11" name="why-18">
            <a:extLst xmlns:a="http://schemas.openxmlformats.org/drawingml/2006/main">
              <a:ext uri="{FF2B5EF4-FFF2-40B4-BE49-F238E27FC236}">
                <a16:creationId xmlns:a16="http://schemas.microsoft.com/office/drawing/2014/main" id="{C002173A-EE77-4844-9D90-B195D433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Outer resampling repeats the complete inner procedure. Richer regimes require data or a hierarchy that actually represents them.</a:t>
            </a:r>
          </a:p>
        </p:txBody>
      </p:sp>
    </p:spTree>
    <p:extLst>
      <p:ext uri="{BB962C8B-B14F-4D97-AF65-F5344CB8AC3E}">
        <p14:creationId xmlns:p14="http://schemas.microsoft.com/office/powerpoint/2010/main" val="757525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19">
            <a:extLst xmlns:a="http://schemas.openxmlformats.org/drawingml/2006/main">
              <a:ext uri="{FF2B5EF4-FFF2-40B4-BE49-F238E27FC236}">
                <a16:creationId xmlns:a16="http://schemas.microsoft.com/office/drawing/2014/main" id="{3E223924-8DF3-4824-A8FE-02AEBB42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Why can random ranking exceed zero in a finite design?</a:t>
            </a:r>
          </a:p>
        </p:txBody>
      </p:sp>
      <p:sp>
        <p:nvSpPr>
          <p:cNvPr id="2" name="rule-19">
            <a:extLst xmlns:a="http://schemas.openxmlformats.org/drawingml/2006/main">
              <a:ext uri="{FF2B5EF4-FFF2-40B4-BE49-F238E27FC236}">
                <a16:creationId xmlns:a16="http://schemas.microsoft.com/office/drawing/2014/main" id="{73EBF8C3-1395-4187-A116-C5CC2725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19">
            <a:extLst xmlns:a="http://schemas.openxmlformats.org/drawingml/2006/main">
              <a:ext uri="{FF2B5EF4-FFF2-40B4-BE49-F238E27FC236}">
                <a16:creationId xmlns:a16="http://schemas.microsoft.com/office/drawing/2014/main" id="{5177EF0C-62EA-43AF-9B23-2A94480A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19">
            <a:extLst xmlns:a="http://schemas.openxmlformats.org/drawingml/2006/main">
              <a:ext uri="{FF2B5EF4-FFF2-40B4-BE49-F238E27FC236}">
                <a16:creationId xmlns:a16="http://schemas.microsoft.com/office/drawing/2014/main" id="{EE2F12E7-1C0C-40B7-A4B0-BBC2F8FD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left-panel-19">
            <a:extLst xmlns:a="http://schemas.openxmlformats.org/drawingml/2006/main">
              <a:ext uri="{FF2B5EF4-FFF2-40B4-BE49-F238E27FC236}">
                <a16:creationId xmlns:a16="http://schemas.microsoft.com/office/drawing/2014/main" id="{4EFF9CBE-25E9-42FD-8202-DA8692B5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3816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right-panel-19">
            <a:extLst xmlns:a="http://schemas.openxmlformats.org/drawingml/2006/main">
              <a:ext uri="{FF2B5EF4-FFF2-40B4-BE49-F238E27FC236}">
                <a16:creationId xmlns:a16="http://schemas.microsoft.com/office/drawing/2014/main" id="{705B6C0E-4E7A-4C0B-9740-C27107AA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6007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7" name="left-kicker-19">
            <a:extLst xmlns:a="http://schemas.openxmlformats.org/drawingml/2006/main">
              <a:ext uri="{FF2B5EF4-FFF2-40B4-BE49-F238E27FC236}">
                <a16:creationId xmlns:a16="http://schemas.microsoft.com/office/drawing/2014/main" id="{9CB91DFA-029D-4CB6-A612-74B453EC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ONE POSITIVE + ONE NEGATIVE</a:t>
            </a:r>
          </a:p>
        </p:txBody>
      </p:sp>
      <p:sp>
        <p:nvSpPr>
          <p:cNvPr id="8" name="left-head-19">
            <a:extLst xmlns:a="http://schemas.openxmlformats.org/drawingml/2006/main">
              <a:ext uri="{FF2B5EF4-FFF2-40B4-BE49-F238E27FC236}">
                <a16:creationId xmlns:a16="http://schemas.microsoft.com/office/drawing/2014/main" id="{2ACEF87E-FE3D-405E-A9D5-CD9A3F40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Random order gives CNAP = 1 or 0</a:t>
            </a:r>
          </a:p>
        </p:txBody>
      </p:sp>
      <p:sp>
        <p:nvSpPr>
          <p:cNvPr id="9" name="left-body-19">
            <a:extLst xmlns:a="http://schemas.openxmlformats.org/drawingml/2006/main">
              <a:ext uri="{FF2B5EF4-FFF2-40B4-BE49-F238E27FC236}">
                <a16:creationId xmlns:a16="http://schemas.microsoft.com/office/drawing/2014/main" id="{5404D313-A309-4C19-93CF-EA93D1D4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Each ordering occurs with probability ½. Mean CNAP = ½.</a:t>
            </a:r>
          </a:p>
        </p:txBody>
      </p:sp>
      <p:sp>
        <p:nvSpPr>
          <p:cNvPr id="10" name="right-kicker-19">
            <a:extLst xmlns:a="http://schemas.openxmlformats.org/drawingml/2006/main">
              <a:ext uri="{FF2B5EF4-FFF2-40B4-BE49-F238E27FC236}">
                <a16:creationId xmlns:a16="http://schemas.microsoft.com/office/drawing/2014/main" id="{3D4C694B-0A8D-467E-8AFB-4EA30B84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TWO INDEPENDENT REPLICATIONS</a:t>
            </a:r>
          </a:p>
        </p:txBody>
      </p:sp>
      <p:sp>
        <p:nvSpPr>
          <p:cNvPr id="11" name="right-head-19">
            <a:extLst xmlns:a="http://schemas.openxmlformats.org/drawingml/2006/main">
              <a:ext uri="{FF2B5EF4-FFF2-40B4-BE49-F238E27FC236}">
                <a16:creationId xmlns:a16="http://schemas.microsoft.com/office/drawing/2014/main" id="{4246D442-293F-4633-BB5B-CD513152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33625"/>
            <a:ext cx="4953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func>
                    <m:fName>
                      <m:r>
                        <m:t>E</m:t>
                      </m:r>
                    </m:fName>
                    <m:e>
                      <m:d>
                        <m:dPr>
                          <m:begChr m:val="["/>
                          <m:sepChr m:val=","/>
                          <m:endChr m:val="]"/>
                          <m:grow m:val="on"/>
                        </m:dPr>
                        <m:e>
                          <m:r>
                            <m:t>min</m:t>
                          </m:r>
                        </m:e>
                        <m:e>
                          <m:r>
                            <m:t>(</m:t>
                          </m:r>
                        </m:e>
                        <m:e>
                          <m:sSub>
                            <m:e>
                              <m:r>
                                <m:t>Z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r>
                                <m:t>Z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m:t>)</m:t>
                          </m:r>
                        </m:e>
                      </m:d>
                    </m:e>
                  </m:func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14</m:t>
                      </m:r>
                    </m:num>
                    <m:den>
                      <m:r>
                        <m:t/>
                      </m:r>
                    </m:den>
                  </m:f>
                </m:oMath>
              </m:oMathPara>
            </a14:m>
          </a:p>
        </p:txBody>
      </p:sp>
      <p:sp>
        <p:nvSpPr>
          <p:cNvPr id="12" name="right-body-19">
            <a:extLst xmlns:a="http://schemas.openxmlformats.org/drawingml/2006/main">
              <a:ext uri="{FF2B5EF4-FFF2-40B4-BE49-F238E27FC236}">
                <a16:creationId xmlns:a16="http://schemas.microsoft.com/office/drawing/2014/main" id="{5FD63A7F-EA60-4338-AA6A-BB001AC6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8137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Pure noise returns +0.25 on a population scale whose zero denotes random ranking.</a:t>
            </a:r>
          </a:p>
        </p:txBody>
      </p:sp>
    </p:spTree>
    <p:extLst>
      <p:ext uri="{BB962C8B-B14F-4D97-AF65-F5344CB8AC3E}">
        <p14:creationId xmlns:p14="http://schemas.microsoft.com/office/powerpoint/2010/main" val="7136061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20">
            <a:extLst xmlns:a="http://schemas.openxmlformats.org/drawingml/2006/main">
              <a:ext uri="{FF2B5EF4-FFF2-40B4-BE49-F238E27FC236}">
                <a16:creationId xmlns:a16="http://schemas.microsoft.com/office/drawing/2014/main" id="{1759A3DC-1F30-4CDB-85CF-939605AB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Permutation supplies a finite-design reference for one model</a:t>
            </a:r>
          </a:p>
        </p:txBody>
      </p:sp>
      <p:sp>
        <p:nvSpPr>
          <p:cNvPr id="2" name="rule-20">
            <a:extLst xmlns:a="http://schemas.openxmlformats.org/drawingml/2006/main">
              <a:ext uri="{FF2B5EF4-FFF2-40B4-BE49-F238E27FC236}">
                <a16:creationId xmlns:a16="http://schemas.microsoft.com/office/drawing/2014/main" id="{888DC214-F756-4F69-ABE1-2738A330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20">
            <a:extLst xmlns:a="http://schemas.openxmlformats.org/drawingml/2006/main">
              <a:ext uri="{FF2B5EF4-FFF2-40B4-BE49-F238E27FC236}">
                <a16:creationId xmlns:a16="http://schemas.microsoft.com/office/drawing/2014/main" id="{4D7A4075-DE0D-474E-8A44-90E171B4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20">
            <a:extLst xmlns:a="http://schemas.openxmlformats.org/drawingml/2006/main">
              <a:ext uri="{FF2B5EF4-FFF2-40B4-BE49-F238E27FC236}">
                <a16:creationId xmlns:a16="http://schemas.microsoft.com/office/drawing/2014/main" id="{3E3D0B3F-5111-4FFC-9551-2D54B5E0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formula-panel-20">
            <a:extLst xmlns:a="http://schemas.openxmlformats.org/drawingml/2006/main">
              <a:ext uri="{FF2B5EF4-FFF2-40B4-BE49-F238E27FC236}">
                <a16:creationId xmlns:a16="http://schemas.microsoft.com/office/drawing/2014/main" id="{6487F039-25C9-4249-BAE0-F9FCC261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14288">
            <a:solidFill>
              <a:srgbClr val="0F9D91"/>
            </a:solidFill>
            <a:prstDash val="solid"/>
          </a:ln>
        </p:spPr>
      </p:sp>
      <p:sp>
        <p:nvSpPr>
          <p:cNvPr id="6" name="formula-label-20">
            <a:extLst xmlns:a="http://schemas.openxmlformats.org/drawingml/2006/main">
              <a:ext uri="{FF2B5EF4-FFF2-40B4-BE49-F238E27FC236}">
                <a16:creationId xmlns:a16="http://schemas.microsoft.com/office/drawing/2014/main" id="{DCF2381F-5136-48DC-9CCE-007998DA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20">
            <a:extLst xmlns:a="http://schemas.openxmlformats.org/drawingml/2006/main">
              <a:ext uri="{FF2B5EF4-FFF2-40B4-BE49-F238E27FC236}">
                <a16:creationId xmlns:a16="http://schemas.microsoft.com/office/drawing/2014/main" id="{6ED3CD5A-7B1F-4E5C-958F-AFE6DAF9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6388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m:t>S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m:t>est</m:t>
                      </m:r>
                    </m:sub>
                    <m:sup>
                      <m:r>
                        <m:rPr>
                          <m:nor/>
                          <m:sty m:val="p"/>
                        </m:rPr>
                        <m:t>cal</m:t>
                      </m:r>
                    </m:sup>
                  </m:sSubSup>
                  <m:r>
                    <m:t>=</m:t>
                  </m:r>
                  <m:f>
                    <m:fPr>
                      <m:type m:val="bar"/>
                    </m:fPr>
                    <m:num>
                      <m:sSub>
                        <m:e>
                          <m:r>
                            <m:t>S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est</m:t>
                          </m:r>
                        </m:sub>
                      </m:sSub>
                      <m:r>
                        <m:t>-</m:t>
                      </m:r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est</m:t>
                          </m:r>
                        </m:sub>
                        <m:sup>
                          <m:r>
                            <m:rPr>
                              <m:nor/>
                              <m:sty m:val="p"/>
                            </m:rPr>
                            <m:t>null</m:t>
                          </m:r>
                        </m:sup>
                      </m:sSubSup>
                    </m:num>
                    <m:den>
                      <m:r>
                        <m:t>1</m:t>
                      </m:r>
                      <m:r>
                        <m:t>-</m:t>
                      </m:r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est</m:t>
                          </m:r>
                        </m:sub>
                        <m:sup>
                          <m:r>
                            <m:rPr>
                              <m:nor/>
                              <m:sty m:val="p"/>
                            </m:rPr>
                            <m:t>null</m:t>
                          </m:r>
                        </m:sup>
                      </m:sSubSup>
                    </m:den>
                  </m:f>
                </m:oMath>
              </m:oMathPara>
            </a14:m>
          </a:p>
        </p:txBody>
      </p:sp>
      <p:sp>
        <p:nvSpPr>
          <p:cNvPr id="8" name="formula-caption-20">
            <a:extLst xmlns:a="http://schemas.openxmlformats.org/drawingml/2006/main">
              <a:ext uri="{FF2B5EF4-FFF2-40B4-BE49-F238E27FC236}">
                <a16:creationId xmlns:a16="http://schemas.microsoft.com/office/drawing/2014/main" id="{8E3CD50D-5CA1-4406-943C-35EA5517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563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Condition on the score vector, tie structure, units, and class counts</a:t>
            </a:r>
          </a:p>
        </p:txBody>
      </p:sp>
      <p:sp>
        <p:nvSpPr>
          <p:cNvPr id="9" name="meaning-label-20">
            <a:extLst xmlns:a="http://schemas.openxmlformats.org/drawingml/2006/main">
              <a:ext uri="{FF2B5EF4-FFF2-40B4-BE49-F238E27FC236}">
                <a16:creationId xmlns:a16="http://schemas.microsoft.com/office/drawing/2014/main" id="{AA109DBF-016C-4D7C-A0AC-97D18BCB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10" name="meaning-20">
            <a:extLst xmlns:a="http://schemas.openxmlformats.org/drawingml/2006/main">
              <a:ext uri="{FF2B5EF4-FFF2-40B4-BE49-F238E27FC236}">
                <a16:creationId xmlns:a16="http://schemas.microsoft.com/office/drawing/2014/main" id="{E15062F0-D9F8-43B4-9191-CA0A9E8C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Permutation estimates the finite-design anchor for this fixed score vector.</a:t>
            </a:r>
          </a:p>
        </p:txBody>
      </p:sp>
      <p:sp>
        <p:nvSpPr>
          <p:cNvPr id="11" name="why-20">
            <a:extLst xmlns:a="http://schemas.openxmlformats.org/drawingml/2006/main">
              <a:ext uri="{FF2B5EF4-FFF2-40B4-BE49-F238E27FC236}">
                <a16:creationId xmlns:a16="http://schemas.microsoft.com/office/drawing/2014/main" id="{AD57C5F8-4C62-459C-9A65-5D8F1837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calibrated value is conditional on the realized score vector, tie structure, units, and class counts.</a:t>
            </a:r>
          </a:p>
        </p:txBody>
      </p:sp>
    </p:spTree>
    <p:extLst>
      <p:ext uri="{BB962C8B-B14F-4D97-AF65-F5344CB8AC3E}">
        <p14:creationId xmlns:p14="http://schemas.microsoft.com/office/powerpoint/2010/main" val="951903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1">
            <a:extLst xmlns:a="http://schemas.openxmlformats.org/drawingml/2006/main">
              <a:ext uri="{FF2B5EF4-FFF2-40B4-BE49-F238E27FC236}">
                <a16:creationId xmlns:a16="http://schemas.microsoft.com/office/drawing/2014/main" id="{E557E641-4C9B-432F-A4F0-C4182823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5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Can two separately calibrated reports decide model replacement?</a:t>
            </a:r>
          </a:p>
        </p:txBody>
      </p:sp>
      <p:sp>
        <p:nvSpPr>
          <p:cNvPr id="2" name="rule-21">
            <a:extLst xmlns:a="http://schemas.openxmlformats.org/drawingml/2006/main">
              <a:ext uri="{FF2B5EF4-FFF2-40B4-BE49-F238E27FC236}">
                <a16:creationId xmlns:a16="http://schemas.microsoft.com/office/drawing/2014/main" id="{27A27D84-5008-4F1C-BA30-493F8B5F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21">
            <a:extLst xmlns:a="http://schemas.openxmlformats.org/drawingml/2006/main">
              <a:ext uri="{FF2B5EF4-FFF2-40B4-BE49-F238E27FC236}">
                <a16:creationId xmlns:a16="http://schemas.microsoft.com/office/drawing/2014/main" id="{967C9CFE-6D2D-4F64-A304-1F00C62A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21">
            <a:extLst xmlns:a="http://schemas.openxmlformats.org/drawingml/2006/main">
              <a:ext uri="{FF2B5EF4-FFF2-40B4-BE49-F238E27FC236}">
                <a16:creationId xmlns:a16="http://schemas.microsoft.com/office/drawing/2014/main" id="{8400CA71-98BC-43E2-98B8-ACCAED77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left-panel-21">
            <a:extLst xmlns:a="http://schemas.openxmlformats.org/drawingml/2006/main">
              <a:ext uri="{FF2B5EF4-FFF2-40B4-BE49-F238E27FC236}">
                <a16:creationId xmlns:a16="http://schemas.microsoft.com/office/drawing/2014/main" id="{5E87563E-37D5-4ADB-9B25-9C669016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3816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right-panel-21">
            <a:extLst xmlns:a="http://schemas.openxmlformats.org/drawingml/2006/main">
              <a:ext uri="{FF2B5EF4-FFF2-40B4-BE49-F238E27FC236}">
                <a16:creationId xmlns:a16="http://schemas.microsoft.com/office/drawing/2014/main" id="{6DA1621A-F8E3-4A6F-A58F-A7A506EB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6007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7" name="left-kicker-21">
            <a:extLst xmlns:a="http://schemas.openxmlformats.org/drawingml/2006/main">
              <a:ext uri="{FF2B5EF4-FFF2-40B4-BE49-F238E27FC236}">
                <a16:creationId xmlns:a16="http://schemas.microsoft.com/office/drawing/2014/main" id="{B617BE47-E474-49C8-B617-89CA4E13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MARGINAL SUBTRACTION</a:t>
            </a:r>
          </a:p>
        </p:txBody>
      </p:sp>
      <p:sp>
        <p:nvSpPr>
          <p:cNvPr id="8" name="left-head-21">
            <a:extLst xmlns:a="http://schemas.openxmlformats.org/drawingml/2006/main">
              <a:ext uri="{FF2B5EF4-FFF2-40B4-BE49-F238E27FC236}">
                <a16:creationId xmlns:a16="http://schemas.microsoft.com/office/drawing/2014/main" id="{3F112854-D647-43EA-807C-819C326B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4762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</m:sub>
                  </m:sSub>
                  <m:r>
                    <m:t>(</m:t>
                  </m:r>
                  <m:sSub>
                    <m:e>
                      <m:r>
                        <m:t>A</m:t>
                      </m:r>
                    </m:e>
                    <m:sub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∗</m:t>
                          </m:r>
                        </m:sub>
                      </m:sSub>
                    </m:sub>
                  </m:sSub>
                  <m:r>
                    <m:t>)</m:t>
                  </m:r>
                  <m:r>
                    <m:t>-</m:t>
                  </m:r>
                  <m:sSub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</m:sub>
                  </m:sSub>
                  <m:r>
                    <m:t>(</m:t>
                  </m:r>
                  <m:sSub>
                    <m:e>
                      <m:r>
                        <m:t>B</m:t>
                      </m:r>
                    </m:e>
                    <m:sub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∗</m:t>
                          </m:r>
                        </m:sub>
                      </m:sSub>
                    </m:sub>
                  </m:sSub>
                  <m:r>
                    <m:t>)</m:t>
                  </m:r>
                </m:oMath>
              </m:oMathPara>
            </a14:m>
          </a:p>
        </p:txBody>
      </p:sp>
      <p:sp>
        <p:nvSpPr>
          <p:cNvPr id="9" name="left-body-21">
            <a:extLst xmlns:a="http://schemas.openxmlformats.org/drawingml/2006/main">
              <a:ext uri="{FF2B5EF4-FFF2-40B4-BE49-F238E27FC236}">
                <a16:creationId xmlns:a16="http://schemas.microsoft.com/office/drawing/2014/main" id="{5F4E2391-1E1D-4438-BD2E-0B9E8613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A and B may meet different worst prevalences and different worst replications.</a:t>
            </a:r>
          </a:p>
        </p:txBody>
      </p:sp>
      <p:sp>
        <p:nvSpPr>
          <p:cNvPr id="10" name="right-kicker-21">
            <a:extLst xmlns:a="http://schemas.openxmlformats.org/drawingml/2006/main">
              <a:ext uri="{FF2B5EF4-FFF2-40B4-BE49-F238E27FC236}">
                <a16:creationId xmlns:a16="http://schemas.microsoft.com/office/drawing/2014/main" id="{7D76FC57-2B1D-42AE-96ED-7DBA5478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PAIRED CLAIM</a:t>
            </a:r>
          </a:p>
        </p:txBody>
      </p:sp>
      <p:sp>
        <p:nvSpPr>
          <p:cNvPr id="11" name="right-head-21">
            <a:extLst xmlns:a="http://schemas.openxmlformats.org/drawingml/2006/main">
              <a:ext uri="{FF2B5EF4-FFF2-40B4-BE49-F238E27FC236}">
                <a16:creationId xmlns:a16="http://schemas.microsoft.com/office/drawing/2014/main" id="{D8D54547-C761-45DF-AE74-FEC8F2D4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33625"/>
            <a:ext cx="4953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</m:sub>
                  </m:sSub>
                  <m:d>
                    <m:dPr>
                      <m:begChr m:val="("/>
                      <m:sepChr m:val=","/>
                      <m:endChr m:val=")"/>
                      <m:grow m:val="on"/>
                    </m:dPr>
                    <m:e>
                      <m:sSub>
                        <m:e>
                          <m:r>
                            <m:t>inf</m:t>
                          </m:r>
                        </m:e>
                        <m:sub>
                          <m:r>
                            <m:t>π</m:t>
                          </m:r>
                          <m:r>
                            <m:t>∈</m:t>
                          </m:r>
                          <m:sSub>
                            <m:e>
                              <m:r>
                                <m:t>Π</m:t>
                              </m:r>
                            </m:e>
                            <m:sub>
                              <m:r>
                                <m:t>∗</m:t>
                              </m:r>
                            </m:sub>
                          </m:sSub>
                        </m:sub>
                      </m:sSub>
                    </m:e>
                    <m:e>
                      <m:r>
                        <m:t>{</m:t>
                      </m:r>
                    </m:e>
                    <m:e>
                      <m:sSub>
                        <m:e>
                          <m:r>
                            <m:t>A</m:t>
                          </m:r>
                        </m:e>
                        <m:sub>
                          <m:r>
                            <m:t>π</m:t>
                          </m:r>
                        </m:sub>
                      </m:sSub>
                    </m:e>
                    <m:e>
                      <m:r>
                        <m:t>-</m:t>
                      </m:r>
                    </m:e>
                    <m:e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π</m:t>
                          </m:r>
                        </m:sub>
                      </m:sSub>
                    </m:e>
                    <m:e>
                      <m:r>
                        <m:t>}</m:t>
                      </m:r>
                    </m:e>
                  </m:d>
                </m:oMath>
              </m:oMathPara>
            </a14:m>
          </a:p>
        </p:txBody>
      </p:sp>
      <p:sp>
        <p:nvSpPr>
          <p:cNvPr id="12" name="right-body-21">
            <a:extLst xmlns:a="http://schemas.openxmlformats.org/drawingml/2006/main">
              <a:ext uri="{FF2B5EF4-FFF2-40B4-BE49-F238E27FC236}">
                <a16:creationId xmlns:a16="http://schemas.microsoft.com/office/drawing/2014/main" id="{806B691F-2086-4714-AB8E-2901CBA9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8137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Compare on the same units, at the same prevalence, before any population or replication minimum.</a:t>
            </a:r>
          </a:p>
        </p:txBody>
      </p:sp>
    </p:spTree>
    <p:extLst>
      <p:ext uri="{BB962C8B-B14F-4D97-AF65-F5344CB8AC3E}">
        <p14:creationId xmlns:p14="http://schemas.microsoft.com/office/powerpoint/2010/main" val="4069241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DA4F6357-8C82-46BA-9848-AC77A6A0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Even paired comparison can reward arbitrary tie-breaking</a:t>
            </a:r>
          </a:p>
        </p:txBody>
      </p:sp>
      <p:sp>
        <p:nvSpPr>
          <p:cNvPr id="2" name="rule-22">
            <a:extLst xmlns:a="http://schemas.openxmlformats.org/drawingml/2006/main">
              <a:ext uri="{FF2B5EF4-FFF2-40B4-BE49-F238E27FC236}">
                <a16:creationId xmlns:a16="http://schemas.microsoft.com/office/drawing/2014/main" id="{93B69F51-17C5-4AE8-8BC4-AC200104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22">
            <a:extLst xmlns:a="http://schemas.openxmlformats.org/drawingml/2006/main">
              <a:ext uri="{FF2B5EF4-FFF2-40B4-BE49-F238E27FC236}">
                <a16:creationId xmlns:a16="http://schemas.microsoft.com/office/drawing/2014/main" id="{6F0529DD-2475-4DB9-81E8-10D87D2F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22">
            <a:extLst xmlns:a="http://schemas.openxmlformats.org/drawingml/2006/main">
              <a:ext uri="{FF2B5EF4-FFF2-40B4-BE49-F238E27FC236}">
                <a16:creationId xmlns:a16="http://schemas.microsoft.com/office/drawing/2014/main" id="{C81C9673-4930-4B0D-96BD-569A8C42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left-panel-22">
            <a:extLst xmlns:a="http://schemas.openxmlformats.org/drawingml/2006/main">
              <a:ext uri="{FF2B5EF4-FFF2-40B4-BE49-F238E27FC236}">
                <a16:creationId xmlns:a16="http://schemas.microsoft.com/office/drawing/2014/main" id="{1C11D5A3-95AE-4BEE-A888-760C2442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3816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right-panel-22">
            <a:extLst xmlns:a="http://schemas.openxmlformats.org/drawingml/2006/main">
              <a:ext uri="{FF2B5EF4-FFF2-40B4-BE49-F238E27FC236}">
                <a16:creationId xmlns:a16="http://schemas.microsoft.com/office/drawing/2014/main" id="{87DF6054-7E69-4A69-AE27-B314CD18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6007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7" name="left-kicker-22">
            <a:extLst xmlns:a="http://schemas.openxmlformats.org/drawingml/2006/main">
              <a:ext uri="{FF2B5EF4-FFF2-40B4-BE49-F238E27FC236}">
                <a16:creationId xmlns:a16="http://schemas.microsoft.com/office/drawing/2014/main" id="{4C21CCC2-51D8-4758-9D9B-CC7DC333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MODEL A</a:t>
            </a:r>
          </a:p>
        </p:txBody>
      </p:sp>
      <p:sp>
        <p:nvSpPr>
          <p:cNvPr id="8" name="left-head-22">
            <a:extLst xmlns:a="http://schemas.openxmlformats.org/drawingml/2006/main">
              <a:ext uri="{FF2B5EF4-FFF2-40B4-BE49-F238E27FC236}">
                <a16:creationId xmlns:a16="http://schemas.microsoft.com/office/drawing/2014/main" id="{46BEAA4C-BF6E-4B42-AC07-DCA213BE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Four distinct scores</a:t>
            </a:r>
          </a:p>
        </p:txBody>
      </p:sp>
      <p:sp>
        <p:nvSpPr>
          <p:cNvPr id="9" name="left-body-22">
            <a:extLst xmlns:a="http://schemas.openxmlformats.org/drawingml/2006/main">
              <a:ext uri="{FF2B5EF4-FFF2-40B4-BE49-F238E27FC236}">
                <a16:creationId xmlns:a16="http://schemas.microsoft.com/office/drawing/2014/main" id="{E588F787-8A91-49CD-B63E-21328F0A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With 2 positive and 2 negative labels assigned at random, its expected CNAP advantage is about 0.361.</a:t>
            </a:r>
          </a:p>
        </p:txBody>
      </p:sp>
      <p:sp>
        <p:nvSpPr>
          <p:cNvPr id="10" name="right-kicker-22">
            <a:extLst xmlns:a="http://schemas.openxmlformats.org/drawingml/2006/main">
              <a:ext uri="{FF2B5EF4-FFF2-40B4-BE49-F238E27FC236}">
                <a16:creationId xmlns:a16="http://schemas.microsoft.com/office/drawing/2014/main" id="{FFC35CD3-66EC-4420-8441-CA725ACD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MODEL B</a:t>
            </a:r>
          </a:p>
        </p:txBody>
      </p:sp>
      <p:sp>
        <p:nvSpPr>
          <p:cNvPr id="11" name="right-head-22">
            <a:extLst xmlns:a="http://schemas.openxmlformats.org/drawingml/2006/main">
              <a:ext uri="{FF2B5EF4-FFF2-40B4-BE49-F238E27FC236}">
                <a16:creationId xmlns:a16="http://schemas.microsoft.com/office/drawing/2014/main" id="{BA54C065-2C9B-43BD-B340-AF370F0A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28875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One fully tied score</a:t>
            </a:r>
          </a:p>
        </p:txBody>
      </p:sp>
      <p:sp>
        <p:nvSpPr>
          <p:cNvPr id="12" name="right-body-22">
            <a:extLst xmlns:a="http://schemas.openxmlformats.org/drawingml/2006/main">
              <a:ext uri="{FF2B5EF4-FFF2-40B4-BE49-F238E27FC236}">
                <a16:creationId xmlns:a16="http://schemas.microsoft.com/office/drawing/2014/main" id="{4E00CA11-4FE3-44C2-8630-D77C54CD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8137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Neither score vector is associated with outcomes—yet A receives credit merely for breaking ties.</a:t>
            </a:r>
          </a:p>
        </p:txBody>
      </p:sp>
    </p:spTree>
    <p:extLst>
      <p:ext uri="{BB962C8B-B14F-4D97-AF65-F5344CB8AC3E}">
        <p14:creationId xmlns:p14="http://schemas.microsoft.com/office/powerpoint/2010/main" val="8338310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23">
            <a:extLst xmlns:a="http://schemas.openxmlformats.org/drawingml/2006/main">
              <a:ext uri="{FF2B5EF4-FFF2-40B4-BE49-F238E27FC236}">
                <a16:creationId xmlns:a16="http://schemas.microsoft.com/office/drawing/2014/main" id="{6CC65889-7E92-4E95-B8E0-3695CA04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Tie averaging removes arbitrary within-tie advantage</a:t>
            </a:r>
          </a:p>
        </p:txBody>
      </p:sp>
      <p:sp>
        <p:nvSpPr>
          <p:cNvPr id="2" name="rule-23">
            <a:extLst xmlns:a="http://schemas.openxmlformats.org/drawingml/2006/main">
              <a:ext uri="{FF2B5EF4-FFF2-40B4-BE49-F238E27FC236}">
                <a16:creationId xmlns:a16="http://schemas.microsoft.com/office/drawing/2014/main" id="{B305170F-23F2-4502-89A0-77244F02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23">
            <a:extLst xmlns:a="http://schemas.openxmlformats.org/drawingml/2006/main">
              <a:ext uri="{FF2B5EF4-FFF2-40B4-BE49-F238E27FC236}">
                <a16:creationId xmlns:a16="http://schemas.microsoft.com/office/drawing/2014/main" id="{8256AC2A-127A-4822-90F9-75E12E10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23">
            <a:extLst xmlns:a="http://schemas.openxmlformats.org/drawingml/2006/main">
              <a:ext uri="{FF2B5EF4-FFF2-40B4-BE49-F238E27FC236}">
                <a16:creationId xmlns:a16="http://schemas.microsoft.com/office/drawing/2014/main" id="{F8820F4C-5D3B-437D-9953-F582AFC0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formula-panel-23">
            <a:extLst xmlns:a="http://schemas.openxmlformats.org/drawingml/2006/main">
              <a:ext uri="{FF2B5EF4-FFF2-40B4-BE49-F238E27FC236}">
                <a16:creationId xmlns:a16="http://schemas.microsoft.com/office/drawing/2014/main" id="{5732F589-5B62-471C-B989-1BECC272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</p:sp>
      <p:sp>
        <p:nvSpPr>
          <p:cNvPr id="6" name="formula-label-23">
            <a:extLst xmlns:a="http://schemas.openxmlformats.org/drawingml/2006/main">
              <a:ext uri="{FF2B5EF4-FFF2-40B4-BE49-F238E27FC236}">
                <a16:creationId xmlns:a16="http://schemas.microsoft.com/office/drawing/2014/main" id="{1D788B7A-81AD-4636-B5DA-B9EB80E2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23">
            <a:extLst xmlns:a="http://schemas.openxmlformats.org/drawingml/2006/main">
              <a:ext uri="{FF2B5EF4-FFF2-40B4-BE49-F238E27FC236}">
                <a16:creationId xmlns:a16="http://schemas.microsoft.com/office/drawing/2014/main" id="{02DB7C07-CDE5-4F34-BC74-BBBAEA2F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6388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m:t>AP</m:t>
                      </m:r>
                    </m:e>
                    <m:sub>
                      <m:r>
                        <m:t>π</m:t>
                      </m:r>
                    </m:sub>
                    <m:sup>
                      <m:r>
                        <m:rPr>
                          <m:nor/>
                          <m:sty m:val="p"/>
                        </m:rPr>
                        <m:t>TA</m:t>
                      </m:r>
                    </m:sup>
                  </m:sSubSup>
                  <m:r>
                    <m:t>(</m:t>
                  </m:r>
                  <m:r>
                    <m:t>D</m:t>
                  </m:r>
                  <m:r>
                    <m:t>)</m:t>
                  </m:r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r>
                        <m:t>|</m:t>
                      </m:r>
                      <m:r>
                        <m:rPr>
                          <m:nor/>
                          <m:sty m:val="p"/>
                        </m:rPr>
                        <m:t>O</m:t>
                      </m:r>
                      <m:r>
                        <m:t>(</m:t>
                      </m:r>
                      <m:r>
                        <m:t>D</m:t>
                      </m:r>
                      <m:r>
                        <m:t>)</m:t>
                      </m:r>
                      <m:r>
                        <m:t>|</m:t>
                      </m:r>
                    </m:den>
                  </m:f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m:t>o</m:t>
                      </m:r>
                      <m:r>
                        <m:t>∈</m:t>
                      </m:r>
                      <m:r>
                        <m:rPr>
                          <m:nor/>
                          <m:sty m:val="p"/>
                        </m:rPr>
                        <m:t>O</m:t>
                      </m:r>
                      <m:r>
                        <m:t>(</m:t>
                      </m:r>
                      <m:r>
                        <m:t>D</m:t>
                      </m:r>
                      <m:r>
                        <m:t>)</m:t>
                      </m:r>
                    </m:sub>
                    <m:e>
                      <m:sSub>
                        <m:e>
                          <m:r>
                            <m:t>AP</m:t>
                          </m:r>
                        </m:e>
                        <m:sub>
                          <m:r>
                            <m:t>π</m:t>
                          </m:r>
                        </m:sub>
                      </m:sSub>
                      <m:r>
                        <m:t>(</m:t>
                      </m:r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o</m:t>
                          </m:r>
                        </m:sub>
                      </m:sSub>
                      <m:r>
                        <m:t>)</m:t>
                      </m:r>
                    </m:e>
                  </m:nary>
                </m:oMath>
              </m:oMathPara>
            </a14:m>
          </a:p>
        </p:txBody>
      </p:sp>
      <p:sp>
        <p:nvSpPr>
          <p:cNvPr id="8" name="formula-caption-23">
            <a:extLst xmlns:a="http://schemas.openxmlformats.org/drawingml/2006/main">
              <a:ext uri="{FF2B5EF4-FFF2-40B4-BE49-F238E27FC236}">
                <a16:creationId xmlns:a16="http://schemas.microsoft.com/office/drawing/2014/main" id="{07F10F5E-029D-4AC8-9DCF-1B05E374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563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Average over all strict rankings consistent with the score blocks</a:t>
            </a:r>
          </a:p>
        </p:txBody>
      </p:sp>
      <p:sp>
        <p:nvSpPr>
          <p:cNvPr id="9" name="meaning-label-23">
            <a:extLst xmlns:a="http://schemas.openxmlformats.org/drawingml/2006/main">
              <a:ext uri="{FF2B5EF4-FFF2-40B4-BE49-F238E27FC236}">
                <a16:creationId xmlns:a16="http://schemas.microsoft.com/office/drawing/2014/main" id="{482DD8A4-87D8-45EB-A5EC-B5A23871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10" name="meaning-23">
            <a:extLst xmlns:a="http://schemas.openxmlformats.org/drawingml/2006/main">
              <a:ext uri="{FF2B5EF4-FFF2-40B4-BE49-F238E27FC236}">
                <a16:creationId xmlns:a16="http://schemas.microsoft.com/office/drawing/2014/main" id="{0F4551B6-D99E-404C-839B-6E163E7F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Average AP over every within-tie ordering consistent with the observed score blocks.</a:t>
            </a:r>
          </a:p>
        </p:txBody>
      </p:sp>
      <p:sp>
        <p:nvSpPr>
          <p:cNvPr id="11" name="why-23">
            <a:extLst xmlns:a="http://schemas.openxmlformats.org/drawingml/2006/main">
              <a:ext uri="{FF2B5EF4-FFF2-40B4-BE49-F238E27FC236}">
                <a16:creationId xmlns:a16="http://schemas.microsoft.com/office/drawing/2014/main" id="{5EE2ECEA-B029-4ED9-BF5E-93BE2AC2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Outcome-relevant refinement can still improve AP; granularity alone receives no expected credit.</a:t>
            </a:r>
          </a:p>
        </p:txBody>
      </p:sp>
    </p:spTree>
    <p:extLst>
      <p:ext uri="{BB962C8B-B14F-4D97-AF65-F5344CB8AC3E}">
        <p14:creationId xmlns:p14="http://schemas.microsoft.com/office/powerpoint/2010/main" val="14959405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24">
            <a:extLst xmlns:a="http://schemas.openxmlformats.org/drawingml/2006/main">
              <a:ext uri="{FF2B5EF4-FFF2-40B4-BE49-F238E27FC236}">
                <a16:creationId xmlns:a16="http://schemas.microsoft.com/office/drawing/2014/main" id="{BEB5005E-582E-4514-BBAE-34AF28A7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83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Pair model differences before prevalence and replication challenges</a:t>
            </a:r>
          </a:p>
        </p:txBody>
      </p:sp>
      <p:sp>
        <p:nvSpPr>
          <p:cNvPr id="2" name="rule-24">
            <a:extLst xmlns:a="http://schemas.openxmlformats.org/drawingml/2006/main">
              <a:ext uri="{FF2B5EF4-FFF2-40B4-BE49-F238E27FC236}">
                <a16:creationId xmlns:a16="http://schemas.microsoft.com/office/drawing/2014/main" id="{6B86D4CF-4222-404C-BC68-E10BDDA9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24">
            <a:extLst xmlns:a="http://schemas.openxmlformats.org/drawingml/2006/main">
              <a:ext uri="{FF2B5EF4-FFF2-40B4-BE49-F238E27FC236}">
                <a16:creationId xmlns:a16="http://schemas.microsoft.com/office/drawing/2014/main" id="{88C9FCF1-DB2E-4A68-ABF5-2284EC8C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24">
            <a:extLst xmlns:a="http://schemas.openxmlformats.org/drawingml/2006/main">
              <a:ext uri="{FF2B5EF4-FFF2-40B4-BE49-F238E27FC236}">
                <a16:creationId xmlns:a16="http://schemas.microsoft.com/office/drawing/2014/main" id="{8313E7DD-C8F8-4A46-8FF2-43CA6C5C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formula-panel-24">
            <a:extLst xmlns:a="http://schemas.openxmlformats.org/drawingml/2006/main">
              <a:ext uri="{FF2B5EF4-FFF2-40B4-BE49-F238E27FC236}">
                <a16:creationId xmlns:a16="http://schemas.microsoft.com/office/drawing/2014/main" id="{782BC549-1F75-46AE-8C63-69BC2509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14288">
            <a:solidFill>
              <a:srgbClr val="0F9D91"/>
            </a:solidFill>
            <a:prstDash val="solid"/>
          </a:ln>
        </p:spPr>
      </p:sp>
      <p:sp>
        <p:nvSpPr>
          <p:cNvPr id="6" name="formula-label-24">
            <a:extLst xmlns:a="http://schemas.openxmlformats.org/drawingml/2006/main">
              <a:ext uri="{FF2B5EF4-FFF2-40B4-BE49-F238E27FC236}">
                <a16:creationId xmlns:a16="http://schemas.microsoft.com/office/drawing/2014/main" id="{85ECD313-CDC8-4C00-A94C-2CF2AF82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24-0">
            <a:extLst xmlns:a="http://schemas.openxmlformats.org/drawingml/2006/main">
              <a:ext uri="{FF2B5EF4-FFF2-40B4-BE49-F238E27FC236}">
                <a16:creationId xmlns:a16="http://schemas.microsoft.com/office/drawing/2014/main" id="{6A05F655-F48A-4607-BC76-FBCCE480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m:t>Δ</m:t>
                      </m:r>
                    </m:e>
                    <m:sub>
                      <m:r>
                        <m:t>π</m:t>
                      </m:r>
                    </m:sub>
                    <m:sup>
                      <m:r>
                        <m:rPr>
                          <m:nor/>
                          <m:sty m:val="p"/>
                        </m:rPr>
                        <m:t>TA</m:t>
                      </m:r>
                    </m:sup>
                  </m:sSubSup>
                  <m:r>
                    <m:t>(</m:t>
                  </m:r>
                  <m:r>
                    <m:t>D</m:t>
                  </m:r>
                  <m:r>
                    <m:t>)</m:t>
                  </m:r>
                  <m:r>
                    <m:t>=</m:t>
                  </m:r>
                  <m:sSubSup>
                    <m:e>
                      <m:r>
                        <m:t>CNAP</m:t>
                      </m:r>
                    </m:e>
                    <m:sub>
                      <m:r>
                        <m:t>A</m:t>
                      </m:r>
                      <m:r>
                        <m:t>,</m:t>
                      </m:r>
                      <m:r>
                        <m:t>π</m:t>
                      </m:r>
                    </m:sub>
                    <m:sup>
                      <m:r>
                        <m:rPr>
                          <m:nor/>
                          <m:sty m:val="p"/>
                        </m:rPr>
                        <m:t>TA</m:t>
                      </m:r>
                    </m:sup>
                  </m:sSubSup>
                  <m:r>
                    <m:t>(</m:t>
                  </m:r>
                  <m:r>
                    <m:t>D</m:t>
                  </m:r>
                  <m:r>
                    <m:t>)</m:t>
                  </m:r>
                  <m:r>
                    <m:t>-</m:t>
                  </m:r>
                  <m:sSubSup>
                    <m:e>
                      <m:r>
                        <m:t>CNAP</m:t>
                      </m:r>
                    </m:e>
                    <m:sub>
                      <m:r>
                        <m:t>B</m:t>
                      </m:r>
                      <m:r>
                        <m:t>,</m:t>
                      </m:r>
                      <m:r>
                        <m:t>π</m:t>
                      </m:r>
                    </m:sub>
                    <m:sup>
                      <m:r>
                        <m:rPr>
                          <m:nor/>
                          <m:sty m:val="p"/>
                        </m:rPr>
                        <m:t>TA</m:t>
                      </m:r>
                    </m:sup>
                  </m:sSubSup>
                  <m:r>
                    <m:t>(</m:t>
                  </m:r>
                  <m:r>
                    <m:t>D</m:t>
                  </m:r>
                  <m:r>
                    <m:t>)</m:t>
                  </m:r>
                </m:oMath>
              </m:oMathPara>
            </a14:m>
          </a:p>
        </p:txBody>
      </p:sp>
      <p:sp>
        <p:nvSpPr>
          <p:cNvPr id="8" name="formula-24-1">
            <a:extLst xmlns:a="http://schemas.openxmlformats.org/drawingml/2006/main">
              <a:ext uri="{FF2B5EF4-FFF2-40B4-BE49-F238E27FC236}">
                <a16:creationId xmlns:a16="http://schemas.microsoft.com/office/drawing/2014/main" id="{DEFF636D-72C9-4EAD-9E31-62EB2695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θ</m:t>
                      </m:r>
                    </m:e>
                    <m:sub>
                      <m:r>
                        <m:t>A</m:t>
                      </m:r>
                      <m:r>
                        <m:t>:</m:t>
                      </m:r>
                      <m:r>
                        <m:t>B</m:t>
                      </m:r>
                    </m:sub>
                  </m:sSub>
                  <m:r>
                    <m:t>=</m:t>
                  </m:r>
                  <m:sSub>
                    <m:e>
                      <m:r>
                        <m:t>E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m:t>R</m:t>
                      </m:r>
                    </m:sub>
                  </m:sSub>
                  <m:d>
                    <m:dPr>
                      <m:begChr m:val="["/>
                      <m:sepChr m:val=","/>
                      <m:endChr m:val="]"/>
                      <m:grow m:val="on"/>
                    </m:dPr>
                    <m:e>
                      <m:sSub>
                        <m:e>
                          <m:r>
                            <m:t>min</m:t>
                          </m:r>
                        </m:e>
                        <m:sub>
                          <m:r>
                            <m:t>j</m:t>
                          </m:r>
                          <m:r>
                            <m:t>≤</m:t>
                          </m:r>
                          <m:r>
                            <m:t>K</m:t>
                          </m:r>
                        </m:sub>
                      </m:sSub>
                    </m:e>
                    <m:e>
                      <m:sSub>
                        <m:e>
                          <m:r>
                            <m:t>inf</m:t>
                          </m:r>
                        </m:e>
                        <m:sub>
                          <m:r>
                            <m:t>π</m:t>
                          </m:r>
                          <m:r>
                            <m:t>∈</m:t>
                          </m:r>
                          <m:sSub>
                            <m:e>
                              <m:r>
                                <m:t>Π</m:t>
                              </m:r>
                            </m:e>
                            <m:sub>
                              <m:r>
                                <m:t>∗</m:t>
                              </m:r>
                            </m:sub>
                          </m:sSub>
                        </m:sub>
                      </m:sSub>
                    </m:e>
                    <m:e>
                      <m:sSubSup>
                        <m:e>
                          <m:r>
                            <m:t>Δ</m:t>
                          </m:r>
                        </m:e>
                        <m:sub>
                          <m:r>
                            <m:t>π</m:t>
                          </m:r>
                          <m:r>
                            <m:t>,</m:t>
                          </m:r>
                          <m:r>
                            <m:t>j</m:t>
                          </m:r>
                        </m:sub>
                        <m:sup>
                          <m:r>
                            <m:rPr>
                              <m:nor/>
                              <m:sty m:val="p"/>
                            </m:rPr>
                            <m:t>TA</m:t>
                          </m:r>
                        </m:sup>
                      </m:sSubSup>
                    </m:e>
                  </m:d>
                </m:oMath>
              </m:oMathPara>
            </a14:m>
          </a:p>
        </p:txBody>
      </p:sp>
      <p:sp>
        <p:nvSpPr>
          <p:cNvPr id="9" name="meaning-label-24">
            <a:extLst xmlns:a="http://schemas.openxmlformats.org/drawingml/2006/main">
              <a:ext uri="{FF2B5EF4-FFF2-40B4-BE49-F238E27FC236}">
                <a16:creationId xmlns:a16="http://schemas.microsoft.com/office/drawing/2014/main" id="{AC933FA0-8778-4A83-AB25-42B8FFD0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10" name="meaning-24">
            <a:extLst xmlns:a="http://schemas.openxmlformats.org/drawingml/2006/main">
              <a:ext uri="{FF2B5EF4-FFF2-40B4-BE49-F238E27FC236}">
                <a16:creationId xmlns:a16="http://schemas.microsoft.com/office/drawing/2014/main" id="{EB1ABA65-59FE-4988-AC27-3EBEDB7E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Same units → tie-neutral difference → prevalence challenge → replication challenge.</a:t>
            </a:r>
          </a:p>
        </p:txBody>
      </p:sp>
      <p:sp>
        <p:nvSpPr>
          <p:cNvPr id="11" name="why-24">
            <a:extLst xmlns:a="http://schemas.openxmlformats.org/drawingml/2006/main">
              <a:ext uri="{FF2B5EF4-FFF2-40B4-BE49-F238E27FC236}">
                <a16:creationId xmlns:a16="http://schemas.microsoft.com/office/drawing/2014/main" id="{4B6451D5-08B0-4900-B3D3-9FAD6335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Estimation preserves pairing at every layer. Neither marginal model score is an intermediate input.</a:t>
            </a:r>
          </a:p>
        </p:txBody>
      </p:sp>
    </p:spTree>
    <p:extLst>
      <p:ext uri="{BB962C8B-B14F-4D97-AF65-F5344CB8AC3E}">
        <p14:creationId xmlns:p14="http://schemas.microsoft.com/office/powerpoint/2010/main" val="16548362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25">
            <a:extLst xmlns:a="http://schemas.openxmlformats.org/drawingml/2006/main">
              <a:ext uri="{FF2B5EF4-FFF2-40B4-BE49-F238E27FC236}">
                <a16:creationId xmlns:a16="http://schemas.microsoft.com/office/drawing/2014/main" id="{3FEA2651-BC6A-4F3F-A3FE-2DBA0E9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167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 zero-reference guarantee requires exchangeable fixed-count labels</a:t>
            </a:r>
          </a:p>
        </p:txBody>
      </p:sp>
      <p:sp>
        <p:nvSpPr>
          <p:cNvPr id="2" name="rule-25">
            <a:extLst xmlns:a="http://schemas.openxmlformats.org/drawingml/2006/main">
              <a:ext uri="{FF2B5EF4-FFF2-40B4-BE49-F238E27FC236}">
                <a16:creationId xmlns:a16="http://schemas.microsoft.com/office/drawing/2014/main" id="{3C615BCD-0C6F-40F8-8CED-68228E31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25">
            <a:extLst xmlns:a="http://schemas.openxmlformats.org/drawingml/2006/main">
              <a:ext uri="{FF2B5EF4-FFF2-40B4-BE49-F238E27FC236}">
                <a16:creationId xmlns:a16="http://schemas.microsoft.com/office/drawing/2014/main" id="{B5C6E154-F5DC-4D31-A6E4-264550B6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25">
            <a:extLst xmlns:a="http://schemas.openxmlformats.org/drawingml/2006/main">
              <a:ext uri="{FF2B5EF4-FFF2-40B4-BE49-F238E27FC236}">
                <a16:creationId xmlns:a16="http://schemas.microsoft.com/office/drawing/2014/main" id="{B03CE175-C11B-48C5-8BA7-AF38B3D0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card-25-0">
            <a:extLst xmlns:a="http://schemas.openxmlformats.org/drawingml/2006/main">
              <a:ext uri="{FF2B5EF4-FFF2-40B4-BE49-F238E27FC236}">
                <a16:creationId xmlns:a16="http://schemas.microsoft.com/office/drawing/2014/main" id="{F40EE38D-CF27-423A-97B7-B41FAFE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num-25-0">
            <a:extLst xmlns:a="http://schemas.openxmlformats.org/drawingml/2006/main">
              <a:ext uri="{FF2B5EF4-FFF2-40B4-BE49-F238E27FC236}">
                <a16:creationId xmlns:a16="http://schemas.microsoft.com/office/drawing/2014/main" id="{2FA80724-BD80-4329-A3EA-67FCDB04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REFERENCE LAW</a:t>
            </a:r>
          </a:p>
        </p:txBody>
      </p:sp>
      <p:sp>
        <p:nvSpPr>
          <p:cNvPr id="7" name="head-25-0">
            <a:extLst xmlns:a="http://schemas.openxmlformats.org/drawingml/2006/main">
              <a:ext uri="{FF2B5EF4-FFF2-40B4-BE49-F238E27FC236}">
                <a16:creationId xmlns:a16="http://schemas.microsoft.com/office/drawing/2014/main" id="{A59BC35D-2B54-4138-9EBC-92A6CA99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65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All fixed-count label vectors are equally likely</a:t>
            </a:r>
          </a:p>
        </p:txBody>
      </p:sp>
      <p:sp>
        <p:nvSpPr>
          <p:cNvPr id="8" name="body-25-0">
            <a:extLst xmlns:a="http://schemas.openxmlformats.org/drawingml/2006/main">
              <a:ext uri="{FF2B5EF4-FFF2-40B4-BE49-F238E27FC236}">
                <a16:creationId xmlns:a16="http://schemas.microsoft.com/office/drawing/2014/main" id="{82F56595-3E9E-418D-BDCA-9E5DBD25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Condition on both score vectors and n+.</a:t>
            </a:r>
          </a:p>
        </p:txBody>
      </p:sp>
      <p:sp>
        <p:nvSpPr>
          <p:cNvPr id="9" name="card-25-1">
            <a:extLst xmlns:a="http://schemas.openxmlformats.org/drawingml/2006/main">
              <a:ext uri="{FF2B5EF4-FFF2-40B4-BE49-F238E27FC236}">
                <a16:creationId xmlns:a16="http://schemas.microsoft.com/office/drawing/2014/main" id="{9CE0E3C9-710C-475A-B17D-5973021A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0" name="num-25-1">
            <a:extLst xmlns:a="http://schemas.openxmlformats.org/drawingml/2006/main">
              <a:ext uri="{FF2B5EF4-FFF2-40B4-BE49-F238E27FC236}">
                <a16:creationId xmlns:a16="http://schemas.microsoft.com/office/drawing/2014/main" id="{ECC60A90-B30F-49DC-8C9B-F32601EA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CONSEQUENCE</a:t>
            </a:r>
          </a:p>
        </p:txBody>
      </p:sp>
      <p:sp>
        <p:nvSpPr>
          <p:cNvPr id="11" name="head-25-1">
            <a:extLst xmlns:a="http://schemas.openxmlformats.org/drawingml/2006/main">
              <a:ext uri="{FF2B5EF4-FFF2-40B4-BE49-F238E27FC236}">
                <a16:creationId xmlns:a16="http://schemas.microsoft.com/office/drawing/2014/main" id="{6553BD4C-2F27-46FF-9B2E-E5427900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Expected paired profile is zero</a:t>
            </a:r>
          </a:p>
        </p:txBody>
      </p:sp>
      <p:sp>
        <p:nvSpPr>
          <p:cNvPr id="12" name="body-25-1">
            <a:extLst xmlns:a="http://schemas.openxmlformats.org/drawingml/2006/main">
              <a:ext uri="{FF2B5EF4-FFF2-40B4-BE49-F238E27FC236}">
                <a16:creationId xmlns:a16="http://schemas.microsoft.com/office/drawing/2014/main" id="{0260AE21-CF11-400A-9B85-5BA18B3F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Tie structure no longer changes the expected AP anchor.</a:t>
            </a:r>
          </a:p>
        </p:txBody>
      </p:sp>
      <p:sp>
        <p:nvSpPr>
          <p:cNvPr id="13" name="card-25-2">
            <a:extLst xmlns:a="http://schemas.openxmlformats.org/drawingml/2006/main">
              <a:ext uri="{FF2B5EF4-FFF2-40B4-BE49-F238E27FC236}">
                <a16:creationId xmlns:a16="http://schemas.microsoft.com/office/drawing/2014/main" id="{1B67DD2B-D887-44C5-8296-1B092E32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4" name="num-25-2">
            <a:extLst xmlns:a="http://schemas.openxmlformats.org/drawingml/2006/main">
              <a:ext uri="{FF2B5EF4-FFF2-40B4-BE49-F238E27FC236}">
                <a16:creationId xmlns:a16="http://schemas.microsoft.com/office/drawing/2014/main" id="{51F951AA-1794-458C-8F7F-889FB157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BOUND</a:t>
            </a:r>
          </a:p>
        </p:txBody>
      </p:sp>
      <p:sp>
        <p:nvSpPr>
          <p:cNvPr id="15" name="head-25-2">
            <a:extLst xmlns:a="http://schemas.openxmlformats.org/drawingml/2006/main">
              <a:ext uri="{FF2B5EF4-FFF2-40B4-BE49-F238E27FC236}">
                <a16:creationId xmlns:a16="http://schemas.microsoft.com/office/drawing/2014/main" id="{BF1C1D61-B3EF-4862-A525-5B7973AF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Supported advantage ≤ 0 under noise</a:t>
            </a:r>
          </a:p>
        </p:txBody>
      </p:sp>
      <p:sp>
        <p:nvSpPr>
          <p:cNvPr id="16" name="body-25-2">
            <a:extLst xmlns:a="http://schemas.openxmlformats.org/drawingml/2006/main">
              <a:ext uri="{FF2B5EF4-FFF2-40B4-BE49-F238E27FC236}">
                <a16:creationId xmlns:a16="http://schemas.microsoft.com/office/drawing/2014/main" id="{62E1CD85-C569-4BD6-B83C-B6A34B31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infimum and minimum may push the reference value below zero.</a:t>
            </a:r>
          </a:p>
        </p:txBody>
      </p:sp>
      <p:sp>
        <p:nvSpPr>
          <p:cNvPr id="17" name="bottom-25">
            <a:extLst xmlns:a="http://schemas.openxmlformats.org/drawingml/2006/main">
              <a:ext uri="{FF2B5EF4-FFF2-40B4-BE49-F238E27FC236}">
                <a16:creationId xmlns:a16="http://schemas.microsoft.com/office/drawing/2014/main" id="{C9AD869F-45D1-48D5-A100-9C5C3D2F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Matched, clustered, or heterogeneous-risk designs may require a design-specific claim.</a:t>
            </a:r>
          </a:p>
        </p:txBody>
      </p:sp>
    </p:spTree>
    <p:extLst>
      <p:ext uri="{BB962C8B-B14F-4D97-AF65-F5344CB8AC3E}">
        <p14:creationId xmlns:p14="http://schemas.microsoft.com/office/powerpoint/2010/main" val="66943186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26">
            <a:extLst xmlns:a="http://schemas.openxmlformats.org/drawingml/2006/main">
              <a:ext uri="{FF2B5EF4-FFF2-40B4-BE49-F238E27FC236}">
                <a16:creationId xmlns:a16="http://schemas.microsoft.com/office/drawing/2014/main" id="{898A671A-639E-411B-B60E-01896134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 valid replacement rule may return no verdict</a:t>
            </a:r>
          </a:p>
        </p:txBody>
      </p:sp>
      <p:sp>
        <p:nvSpPr>
          <p:cNvPr id="2" name="rule-26">
            <a:extLst xmlns:a="http://schemas.openxmlformats.org/drawingml/2006/main">
              <a:ext uri="{FF2B5EF4-FFF2-40B4-BE49-F238E27FC236}">
                <a16:creationId xmlns:a16="http://schemas.microsoft.com/office/drawing/2014/main" id="{D458370F-5835-4CD7-91A4-4377F4D8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26">
            <a:extLst xmlns:a="http://schemas.openxmlformats.org/drawingml/2006/main">
              <a:ext uri="{FF2B5EF4-FFF2-40B4-BE49-F238E27FC236}">
                <a16:creationId xmlns:a16="http://schemas.microsoft.com/office/drawing/2014/main" id="{5348A058-5C7A-4F7E-ACC8-233BC6D7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26">
            <a:extLst xmlns:a="http://schemas.openxmlformats.org/drawingml/2006/main">
              <a:ext uri="{FF2B5EF4-FFF2-40B4-BE49-F238E27FC236}">
                <a16:creationId xmlns:a16="http://schemas.microsoft.com/office/drawing/2014/main" id="{738D2867-8919-4264-BD2D-5EF72281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formula-panel-26">
            <a:extLst xmlns:a="http://schemas.openxmlformats.org/drawingml/2006/main">
              <a:ext uri="{FF2B5EF4-FFF2-40B4-BE49-F238E27FC236}">
                <a16:creationId xmlns:a16="http://schemas.microsoft.com/office/drawing/2014/main" id="{74A73410-E371-4A23-A00C-27982A59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14288">
            <a:solidFill>
              <a:srgbClr val="E76F51"/>
            </a:solidFill>
            <a:prstDash val="solid"/>
          </a:ln>
        </p:spPr>
      </p:sp>
      <p:sp>
        <p:nvSpPr>
          <p:cNvPr id="6" name="formula-label-26">
            <a:extLst xmlns:a="http://schemas.openxmlformats.org/drawingml/2006/main">
              <a:ext uri="{FF2B5EF4-FFF2-40B4-BE49-F238E27FC236}">
                <a16:creationId xmlns:a16="http://schemas.microsoft.com/office/drawing/2014/main" id="{15342ADA-114B-4EE1-A58A-5F140AC8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26">
            <a:extLst xmlns:a="http://schemas.openxmlformats.org/drawingml/2006/main">
              <a:ext uri="{FF2B5EF4-FFF2-40B4-BE49-F238E27FC236}">
                <a16:creationId xmlns:a16="http://schemas.microsoft.com/office/drawing/2014/main" id="{2C31AFCB-EEFD-4C7F-8F0D-6D5720CB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6388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θ</m:t>
                      </m:r>
                    </m:e>
                    <m:sub>
                      <m:r>
                        <m:t>A</m:t>
                      </m:r>
                      <m:r>
                        <m:t>:</m:t>
                      </m:r>
                      <m:r>
                        <m:t>B</m:t>
                      </m:r>
                    </m:sub>
                  </m:sSub>
                  <m:r>
                    <m:t>+</m:t>
                  </m:r>
                  <m:sSub>
                    <m:e>
                      <m:r>
                        <m:t>θ</m:t>
                      </m:r>
                    </m:e>
                    <m:sub>
                      <m:r>
                        <m:t>B</m:t>
                      </m:r>
                      <m:r>
                        <m:t>:</m:t>
                      </m:r>
                      <m:r>
                        <m:t>A</m:t>
                      </m:r>
                    </m:sub>
                  </m:sSub>
                  <m:r>
                    <m:t>≤</m:t>
                  </m:r>
                  <m:r>
                    <m:t>0</m:t>
                  </m:r>
                  <m:r>
                    <m:t>,</m:t>
                  </m:r>
                  <m:r>
                    <m:t xml:space="preserve"> </m:t>
                  </m:r>
                  <m:func>
                    <m:fName>
                      <m:r>
                        <m:t>LB</m:t>
                      </m:r>
                    </m:fName>
                    <m:e>
                      <m:d>
                        <m:dPr>
                          <m:begChr m:val="("/>
                          <m:sepChr m:val=","/>
                          <m:endChr m:val=")"/>
                          <m:grow m:val="on"/>
                        </m:dPr>
                        <m:e>
                          <m:sSub>
                            <m:e>
                              <m:r>
                                <m:t>θ</m:t>
                              </m:r>
                            </m:e>
                            <m:sub>
                              <m:r>
                                <m:t>A</m:t>
                              </m:r>
                              <m:r>
                                <m:t>:</m:t>
                              </m:r>
                              <m:r>
                                <m:t>B</m:t>
                              </m:r>
                            </m:sub>
                          </m:sSub>
                        </m:e>
                      </m:d>
                    </m:e>
                  </m:func>
                  <m:r>
                    <m:t>&gt;</m:t>
                  </m:r>
                  <m:r>
                    <m:t>d</m:t>
                  </m:r>
                </m:oMath>
              </m:oMathPara>
            </a14:m>
          </a:p>
        </p:txBody>
      </p:sp>
      <p:sp>
        <p:nvSpPr>
          <p:cNvPr id="8" name="meaning-label-26">
            <a:extLst xmlns:a="http://schemas.openxmlformats.org/drawingml/2006/main">
              <a:ext uri="{FF2B5EF4-FFF2-40B4-BE49-F238E27FC236}">
                <a16:creationId xmlns:a16="http://schemas.microsoft.com/office/drawing/2014/main" id="{6DEF7005-F999-4FBD-A1DC-DD99D690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9" name="meaning-26">
            <a:extLst xmlns:a="http://schemas.openxmlformats.org/drawingml/2006/main">
              <a:ext uri="{FF2B5EF4-FFF2-40B4-BE49-F238E27FC236}">
                <a16:creationId xmlns:a16="http://schemas.microsoft.com/office/drawing/2014/main" id="{69221A53-C75F-4E82-AF19-058A6807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Both orientations cannot show a positive supported advantage.</a:t>
            </a:r>
          </a:p>
        </p:txBody>
      </p:sp>
      <p:sp>
        <p:nvSpPr>
          <p:cNvPr id="10" name="why-26">
            <a:extLst xmlns:a="http://schemas.openxmlformats.org/drawingml/2006/main">
              <a:ext uri="{FF2B5EF4-FFF2-40B4-BE49-F238E27FC236}">
                <a16:creationId xmlns:a16="http://schemas.microsoft.com/office/drawing/2014/main" id="{A7FC2BAC-E5A3-4188-9C62-BDCE6F7C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If both are nonpositive, the declared challenges defeated superiority in either direction. The practical margin d belongs to the decision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42708626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27">
            <a:extLst xmlns:a="http://schemas.openxmlformats.org/drawingml/2006/main">
              <a:ext uri="{FF2B5EF4-FFF2-40B4-BE49-F238E27FC236}">
                <a16:creationId xmlns:a16="http://schemas.microsoft.com/office/drawing/2014/main" id="{ECFE6469-4C47-4612-AEE8-C798DC00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What does a supported-performance value actually describe?</a:t>
            </a:r>
          </a:p>
        </p:txBody>
      </p:sp>
      <p:sp>
        <p:nvSpPr>
          <p:cNvPr id="2" name="rule-27">
            <a:extLst xmlns:a="http://schemas.openxmlformats.org/drawingml/2006/main">
              <a:ext uri="{FF2B5EF4-FFF2-40B4-BE49-F238E27FC236}">
                <a16:creationId xmlns:a16="http://schemas.microsoft.com/office/drawing/2014/main" id="{EF411343-B008-471B-876C-F71C2976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27">
            <a:extLst xmlns:a="http://schemas.openxmlformats.org/drawingml/2006/main">
              <a:ext uri="{FF2B5EF4-FFF2-40B4-BE49-F238E27FC236}">
                <a16:creationId xmlns:a16="http://schemas.microsoft.com/office/drawing/2014/main" id="{7B78D0CE-2B7D-41C9-A8F2-ACF5895A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27">
            <a:extLst xmlns:a="http://schemas.openxmlformats.org/drawingml/2006/main">
              <a:ext uri="{FF2B5EF4-FFF2-40B4-BE49-F238E27FC236}">
                <a16:creationId xmlns:a16="http://schemas.microsoft.com/office/drawing/2014/main" id="{4BA897D3-68AE-491A-8908-6D05CB47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card-27-0">
            <a:extLst xmlns:a="http://schemas.openxmlformats.org/drawingml/2006/main">
              <a:ext uri="{FF2B5EF4-FFF2-40B4-BE49-F238E27FC236}">
                <a16:creationId xmlns:a16="http://schemas.microsoft.com/office/drawing/2014/main" id="{BC14088A-BD33-427E-9C60-12ECAB60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num-27-0">
            <a:extLst xmlns:a="http://schemas.openxmlformats.org/drawingml/2006/main">
              <a:ext uri="{FF2B5EF4-FFF2-40B4-BE49-F238E27FC236}">
                <a16:creationId xmlns:a16="http://schemas.microsoft.com/office/drawing/2014/main" id="{8F4EE83D-AD06-482C-9487-5E7EEB6D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Π★</a:t>
            </a:r>
          </a:p>
        </p:txBody>
      </p:sp>
      <p:sp>
        <p:nvSpPr>
          <p:cNvPr id="7" name="head-27-0">
            <a:extLst xmlns:a="http://schemas.openxmlformats.org/drawingml/2006/main">
              <a:ext uri="{FF2B5EF4-FFF2-40B4-BE49-F238E27FC236}">
                <a16:creationId xmlns:a16="http://schemas.microsoft.com/office/drawing/2014/main" id="{355E96FB-6257-465C-96C0-CF5CEC37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Where the claim had to hold</a:t>
            </a:r>
          </a:p>
        </p:txBody>
      </p:sp>
      <p:sp>
        <p:nvSpPr>
          <p:cNvPr id="8" name="body-27-0">
            <a:extLst xmlns:a="http://schemas.openxmlformats.org/drawingml/2006/main">
              <a:ext uri="{FF2B5EF4-FFF2-40B4-BE49-F238E27FC236}">
                <a16:creationId xmlns:a16="http://schemas.microsoft.com/office/drawing/2014/main" id="{2B953BAF-7052-41BA-B94E-B655709E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target prevalence set travels with the value.</a:t>
            </a:r>
          </a:p>
        </p:txBody>
      </p:sp>
      <p:sp>
        <p:nvSpPr>
          <p:cNvPr id="9" name="card-27-1">
            <a:extLst xmlns:a="http://schemas.openxmlformats.org/drawingml/2006/main">
              <a:ext uri="{FF2B5EF4-FFF2-40B4-BE49-F238E27FC236}">
                <a16:creationId xmlns:a16="http://schemas.microsoft.com/office/drawing/2014/main" id="{600647E3-5C87-4234-A482-DF2D5358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0" name="num-27-1">
            <a:extLst xmlns:a="http://schemas.openxmlformats.org/drawingml/2006/main">
              <a:ext uri="{FF2B5EF4-FFF2-40B4-BE49-F238E27FC236}">
                <a16:creationId xmlns:a16="http://schemas.microsoft.com/office/drawing/2014/main" id="{6670D3D2-D9C4-4D1D-8385-11DBC0E4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ℛ</a:t>
            </a:r>
          </a:p>
        </p:txBody>
      </p:sp>
      <p:sp>
        <p:nvSpPr>
          <p:cNvPr id="11" name="head-27-1">
            <a:extLst xmlns:a="http://schemas.openxmlformats.org/drawingml/2006/main">
              <a:ext uri="{FF2B5EF4-FFF2-40B4-BE49-F238E27FC236}">
                <a16:creationId xmlns:a16="http://schemas.microsoft.com/office/drawing/2014/main" id="{88433F3D-96DA-45B8-9B80-43BC1388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What could expose failure</a:t>
            </a:r>
          </a:p>
        </p:txBody>
      </p:sp>
      <p:sp>
        <p:nvSpPr>
          <p:cNvPr id="12" name="body-27-1">
            <a:extLst xmlns:a="http://schemas.openxmlformats.org/drawingml/2006/main">
              <a:ext uri="{FF2B5EF4-FFF2-40B4-BE49-F238E27FC236}">
                <a16:creationId xmlns:a16="http://schemas.microsoft.com/office/drawing/2014/main" id="{EED73322-9121-4144-A1F9-02206022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Fixed model, new environment, or repeated development.</a:t>
            </a:r>
          </a:p>
        </p:txBody>
      </p:sp>
      <p:sp>
        <p:nvSpPr>
          <p:cNvPr id="13" name="card-27-2">
            <a:extLst xmlns:a="http://schemas.openxmlformats.org/drawingml/2006/main">
              <a:ext uri="{FF2B5EF4-FFF2-40B4-BE49-F238E27FC236}">
                <a16:creationId xmlns:a16="http://schemas.microsoft.com/office/drawing/2014/main" id="{D6C93147-11C8-4FE7-8C2E-AFD6EA41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4" name="num-27-2">
            <a:extLst xmlns:a="http://schemas.openxmlformats.org/drawingml/2006/main">
              <a:ext uri="{FF2B5EF4-FFF2-40B4-BE49-F238E27FC236}">
                <a16:creationId xmlns:a16="http://schemas.microsoft.com/office/drawing/2014/main" id="{6303F939-DC12-41C1-953E-7B99EFA3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K</a:t>
            </a:r>
          </a:p>
        </p:txBody>
      </p:sp>
      <p:sp>
        <p:nvSpPr>
          <p:cNvPr id="15" name="head-27-2">
            <a:extLst xmlns:a="http://schemas.openxmlformats.org/drawingml/2006/main">
              <a:ext uri="{FF2B5EF4-FFF2-40B4-BE49-F238E27FC236}">
                <a16:creationId xmlns:a16="http://schemas.microsoft.com/office/drawing/2014/main" id="{2A9E6DEE-1D8F-4C8B-B866-CA7A96A7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How many failures were possible</a:t>
            </a:r>
          </a:p>
        </p:txBody>
      </p:sp>
      <p:sp>
        <p:nvSpPr>
          <p:cNvPr id="16" name="body-27-2">
            <a:extLst xmlns:a="http://schemas.openxmlformats.org/drawingml/2006/main">
              <a:ext uri="{FF2B5EF4-FFF2-40B4-BE49-F238E27FC236}">
                <a16:creationId xmlns:a16="http://schemas.microsoft.com/office/drawing/2014/main" id="{24B14CC7-69F5-4D56-B11B-13052706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Independent challenges required to retain the level jointly.</a:t>
            </a:r>
          </a:p>
        </p:txBody>
      </p:sp>
      <p:sp>
        <p:nvSpPr>
          <p:cNvPr id="17" name="bottom-27">
            <a:extLst xmlns:a="http://schemas.openxmlformats.org/drawingml/2006/main">
              <a:ext uri="{FF2B5EF4-FFF2-40B4-BE49-F238E27FC236}">
                <a16:creationId xmlns:a16="http://schemas.microsoft.com/office/drawing/2014/main" id="{ED8A6383-A3DF-4E65-88C0-CD823AD3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It is a supported magnitude—not a confidence level or a probability of truth.</a:t>
            </a:r>
          </a:p>
        </p:txBody>
      </p:sp>
    </p:spTree>
    <p:extLst>
      <p:ext uri="{BB962C8B-B14F-4D97-AF65-F5344CB8AC3E}">
        <p14:creationId xmlns:p14="http://schemas.microsoft.com/office/powerpoint/2010/main" val="7870740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28">
            <a:extLst xmlns:a="http://schemas.openxmlformats.org/drawingml/2006/main">
              <a:ext uri="{FF2B5EF4-FFF2-40B4-BE49-F238E27FC236}">
                <a16:creationId xmlns:a16="http://schemas.microsoft.com/office/drawing/2014/main" id="{C0030D67-166E-4A85-8939-F1BF2DFF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 complete report separates estimand, decision, and evidence</a:t>
            </a:r>
          </a:p>
        </p:txBody>
      </p:sp>
      <p:sp>
        <p:nvSpPr>
          <p:cNvPr id="2" name="rule-28">
            <a:extLst xmlns:a="http://schemas.openxmlformats.org/drawingml/2006/main">
              <a:ext uri="{FF2B5EF4-FFF2-40B4-BE49-F238E27FC236}">
                <a16:creationId xmlns:a16="http://schemas.microsoft.com/office/drawing/2014/main" id="{2F05BA86-37AD-4409-B557-FBBC818B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28">
            <a:extLst xmlns:a="http://schemas.openxmlformats.org/drawingml/2006/main">
              <a:ext uri="{FF2B5EF4-FFF2-40B4-BE49-F238E27FC236}">
                <a16:creationId xmlns:a16="http://schemas.microsoft.com/office/drawing/2014/main" id="{54B9D60F-EF92-4874-A503-15A2164D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28">
            <a:extLst xmlns:a="http://schemas.openxmlformats.org/drawingml/2006/main">
              <a:ext uri="{FF2B5EF4-FFF2-40B4-BE49-F238E27FC236}">
                <a16:creationId xmlns:a16="http://schemas.microsoft.com/office/drawing/2014/main" id="{7ED5D71F-B25F-428C-A580-2E79189A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5" name="card-28-0">
            <a:extLst xmlns:a="http://schemas.openxmlformats.org/drawingml/2006/main">
              <a:ext uri="{FF2B5EF4-FFF2-40B4-BE49-F238E27FC236}">
                <a16:creationId xmlns:a16="http://schemas.microsoft.com/office/drawing/2014/main" id="{01677219-859F-45ED-AA63-F5D13A76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num-28-0">
            <a:extLst xmlns:a="http://schemas.openxmlformats.org/drawingml/2006/main">
              <a:ext uri="{FF2B5EF4-FFF2-40B4-BE49-F238E27FC236}">
                <a16:creationId xmlns:a16="http://schemas.microsoft.com/office/drawing/2014/main" id="{E81370D7-56F7-4AC0-88EC-C2AE5EC5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ESTIMAND</a:t>
            </a:r>
          </a:p>
        </p:txBody>
      </p:sp>
      <p:sp>
        <p:nvSpPr>
          <p:cNvPr id="7" name="head-28-0">
            <a:extLst xmlns:a="http://schemas.openxmlformats.org/drawingml/2006/main">
              <a:ext uri="{FF2B5EF4-FFF2-40B4-BE49-F238E27FC236}">
                <a16:creationId xmlns:a16="http://schemas.microsoft.com/office/drawing/2014/main" id="{AD5CD6ED-4129-40D3-85A5-5C94618B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Supported quantity + assessment</a:t>
            </a:r>
          </a:p>
        </p:txBody>
      </p:sp>
      <p:sp>
        <p:nvSpPr>
          <p:cNvPr id="8" name="body-28-0">
            <a:extLst xmlns:a="http://schemas.openxmlformats.org/drawingml/2006/main">
              <a:ext uri="{FF2B5EF4-FFF2-40B4-BE49-F238E27FC236}">
                <a16:creationId xmlns:a16="http://schemas.microsoft.com/office/drawing/2014/main" id="{1CA47BD4-5A12-4466-BD4C-1FFCE3FE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Raw value; Π★ and its basis; ℛ; K; replication counts and resampling unit.</a:t>
            </a:r>
          </a:p>
        </p:txBody>
      </p:sp>
      <p:sp>
        <p:nvSpPr>
          <p:cNvPr id="9" name="card-28-1">
            <a:extLst xmlns:a="http://schemas.openxmlformats.org/drawingml/2006/main">
              <a:ext uri="{FF2B5EF4-FFF2-40B4-BE49-F238E27FC236}">
                <a16:creationId xmlns:a16="http://schemas.microsoft.com/office/drawing/2014/main" id="{1943A4ED-C4BE-4F5D-9EAE-5FF492D4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0" name="num-28-1">
            <a:extLst xmlns:a="http://schemas.openxmlformats.org/drawingml/2006/main">
              <a:ext uri="{FF2B5EF4-FFF2-40B4-BE49-F238E27FC236}">
                <a16:creationId xmlns:a16="http://schemas.microsoft.com/office/drawing/2014/main" id="{4F61897B-F452-44D3-9030-F425672C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DECISION RULE</a:t>
            </a:r>
          </a:p>
        </p:txBody>
      </p:sp>
      <p:sp>
        <p:nvSpPr>
          <p:cNvPr id="11" name="head-28-1">
            <a:extLst xmlns:a="http://schemas.openxmlformats.org/drawingml/2006/main">
              <a:ext uri="{FF2B5EF4-FFF2-40B4-BE49-F238E27FC236}">
                <a16:creationId xmlns:a16="http://schemas.microsoft.com/office/drawing/2014/main" id="{21E148B9-60A0-4392-898A-A5692622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Pairing + practical margin</a:t>
            </a:r>
          </a:p>
        </p:txBody>
      </p:sp>
      <p:sp>
        <p:nvSpPr>
          <p:cNvPr id="12" name="body-28-1">
            <a:extLst xmlns:a="http://schemas.openxmlformats.org/drawingml/2006/main">
              <a:ext uri="{FF2B5EF4-FFF2-40B4-BE49-F238E27FC236}">
                <a16:creationId xmlns:a16="http://schemas.microsoft.com/office/drawing/2014/main" id="{0195B54B-0CC0-4181-9006-3B81C879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Orientation, tie averaging, exchangeability argument, d, and reversed orientation.</a:t>
            </a:r>
          </a:p>
        </p:txBody>
      </p:sp>
      <p:sp>
        <p:nvSpPr>
          <p:cNvPr id="13" name="card-28-2">
            <a:extLst xmlns:a="http://schemas.openxmlformats.org/drawingml/2006/main">
              <a:ext uri="{FF2B5EF4-FFF2-40B4-BE49-F238E27FC236}">
                <a16:creationId xmlns:a16="http://schemas.microsoft.com/office/drawing/2014/main" id="{6ADD654E-9393-4E70-9B1D-EE6547FE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4" name="num-28-2">
            <a:extLst xmlns:a="http://schemas.openxmlformats.org/drawingml/2006/main">
              <a:ext uri="{FF2B5EF4-FFF2-40B4-BE49-F238E27FC236}">
                <a16:creationId xmlns:a16="http://schemas.microsoft.com/office/drawing/2014/main" id="{BFF91605-078C-49CB-974C-23EA7E5C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38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5" name="head-28-2">
            <a:extLst xmlns:a="http://schemas.openxmlformats.org/drawingml/2006/main">
              <a:ext uri="{FF2B5EF4-FFF2-40B4-BE49-F238E27FC236}">
                <a16:creationId xmlns:a16="http://schemas.microsoft.com/office/drawing/2014/main" id="{174AC16A-A732-46FF-8381-739B0707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Diagnostics + uncertainty</a:t>
            </a:r>
          </a:p>
        </p:txBody>
      </p:sp>
      <p:sp>
        <p:nvSpPr>
          <p:cNvPr id="16" name="body-28-2">
            <a:extLst xmlns:a="http://schemas.openxmlformats.org/drawingml/2006/main">
              <a:ext uri="{FF2B5EF4-FFF2-40B4-BE49-F238E27FC236}">
                <a16:creationId xmlns:a16="http://schemas.microsoft.com/office/drawing/2014/main" id="{11F26B37-2B0B-479D-A4FB-55CD259C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Profiles, minimizing prevalences, costs, computation, Monte Carlo error, and validated outer bound.</a:t>
            </a:r>
          </a:p>
        </p:txBody>
      </p:sp>
    </p:spTree>
    <p:extLst>
      <p:ext uri="{BB962C8B-B14F-4D97-AF65-F5344CB8AC3E}">
        <p14:creationId xmlns:p14="http://schemas.microsoft.com/office/powerpoint/2010/main" val="1129403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9">
            <a:extLst xmlns:a="http://schemas.openxmlformats.org/drawingml/2006/main">
              <a:ext uri="{FF2B5EF4-FFF2-40B4-BE49-F238E27FC236}">
                <a16:creationId xmlns:a16="http://schemas.microsoft.com/office/drawing/2014/main" id="{AADCA57D-AC45-46BC-9C39-60B80C85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Sparse positives coarsen the supported-performance profile</a:t>
            </a:r>
          </a:p>
        </p:txBody>
      </p:sp>
      <p:sp>
        <p:nvSpPr>
          <p:cNvPr id="2" name="rule-29">
            <a:extLst xmlns:a="http://schemas.openxmlformats.org/drawingml/2006/main">
              <a:ext uri="{FF2B5EF4-FFF2-40B4-BE49-F238E27FC236}">
                <a16:creationId xmlns:a16="http://schemas.microsoft.com/office/drawing/2014/main" id="{499F1DD4-A52B-47AD-B671-771F3BAB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29">
            <a:extLst xmlns:a="http://schemas.openxmlformats.org/drawingml/2006/main">
              <a:ext uri="{FF2B5EF4-FFF2-40B4-BE49-F238E27FC236}">
                <a16:creationId xmlns:a16="http://schemas.microsoft.com/office/drawing/2014/main" id="{E3E66A48-1076-4A4C-885E-C84D5D45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29">
            <a:extLst xmlns:a="http://schemas.openxmlformats.org/drawingml/2006/main">
              <a:ext uri="{FF2B5EF4-FFF2-40B4-BE49-F238E27FC236}">
                <a16:creationId xmlns:a16="http://schemas.microsoft.com/office/drawing/2014/main" id="{3CCF70F6-7EC2-4D96-8AE3-4507FAA2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left-panel-29">
            <a:extLst xmlns:a="http://schemas.openxmlformats.org/drawingml/2006/main">
              <a:ext uri="{FF2B5EF4-FFF2-40B4-BE49-F238E27FC236}">
                <a16:creationId xmlns:a16="http://schemas.microsoft.com/office/drawing/2014/main" id="{2FAA5BC0-B43D-4572-8DAE-D9AD9A45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3816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right-panel-29">
            <a:extLst xmlns:a="http://schemas.openxmlformats.org/drawingml/2006/main">
              <a:ext uri="{FF2B5EF4-FFF2-40B4-BE49-F238E27FC236}">
                <a16:creationId xmlns:a16="http://schemas.microsoft.com/office/drawing/2014/main" id="{9FD52BD9-7CDE-49EC-ABFA-20E15B0F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6007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7" name="left-kicker-29">
            <a:extLst xmlns:a="http://schemas.openxmlformats.org/drawingml/2006/main">
              <a:ext uri="{FF2B5EF4-FFF2-40B4-BE49-F238E27FC236}">
                <a16:creationId xmlns:a16="http://schemas.microsoft.com/office/drawing/2014/main" id="{B33DD179-CEE6-444A-8C8D-CC2C9B9B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WHAT CHANGES</a:t>
            </a:r>
          </a:p>
        </p:txBody>
      </p:sp>
      <p:sp>
        <p:nvSpPr>
          <p:cNvPr id="8" name="left-head-29">
            <a:extLst xmlns:a="http://schemas.openxmlformats.org/drawingml/2006/main">
              <a:ext uri="{FF2B5EF4-FFF2-40B4-BE49-F238E27FC236}">
                <a16:creationId xmlns:a16="http://schemas.microsoft.com/office/drawing/2014/main" id="{6EEC5868-57B5-40C0-B613-52E74688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Each positive makes one full recall step</a:t>
            </a:r>
          </a:p>
        </p:txBody>
      </p:sp>
      <p:sp>
        <p:nvSpPr>
          <p:cNvPr id="9" name="left-body-29">
            <a:extLst xmlns:a="http://schemas.openxmlformats.org/drawingml/2006/main">
              <a:ext uri="{FF2B5EF4-FFF2-40B4-BE49-F238E27FC236}">
                <a16:creationId xmlns:a16="http://schemas.microsoft.com/office/drawing/2014/main" id="{F41F9DD2-421A-4C95-9DD8-5CF47374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One case can reshape the complete profile, its lower tail, and the minimizing prevalence.</a:t>
            </a:r>
          </a:p>
        </p:txBody>
      </p:sp>
      <p:sp>
        <p:nvSpPr>
          <p:cNvPr id="10" name="right-kicker-29">
            <a:extLst xmlns:a="http://schemas.openxmlformats.org/drawingml/2006/main">
              <a:ext uri="{FF2B5EF4-FFF2-40B4-BE49-F238E27FC236}">
                <a16:creationId xmlns:a16="http://schemas.microsoft.com/office/drawing/2014/main" id="{9F306DEF-C440-40C5-BF61-1A6258C9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WHAT DOES NOT HELP</a:t>
            </a:r>
          </a:p>
        </p:txBody>
      </p:sp>
      <p:sp>
        <p:nvSpPr>
          <p:cNvPr id="11" name="right-head-29">
            <a:extLst xmlns:a="http://schemas.openxmlformats.org/drawingml/2006/main">
              <a:ext uri="{FF2B5EF4-FFF2-40B4-BE49-F238E27FC236}">
                <a16:creationId xmlns:a16="http://schemas.microsoft.com/office/drawing/2014/main" id="{3326BA7D-2C9E-407A-B849-56B37421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28875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More bootstrap draws do not create more positives</a:t>
            </a:r>
          </a:p>
        </p:txBody>
      </p:sp>
      <p:sp>
        <p:nvSpPr>
          <p:cNvPr id="12" name="right-body-29">
            <a:extLst xmlns:a="http://schemas.openxmlformats.org/drawingml/2006/main">
              <a:ext uri="{FF2B5EF4-FFF2-40B4-BE49-F238E27FC236}">
                <a16:creationId xmlns:a16="http://schemas.microsoft.com/office/drawing/2014/main" id="{913961CE-DD58-42F1-9B27-4F24F48B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8137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Show the replication distribution and minimizers. Decimal precision is not evidential precision.</a:t>
            </a:r>
          </a:p>
        </p:txBody>
      </p:sp>
    </p:spTree>
    <p:extLst>
      <p:ext uri="{BB962C8B-B14F-4D97-AF65-F5344CB8AC3E}">
        <p14:creationId xmlns:p14="http://schemas.microsoft.com/office/powerpoint/2010/main" val="17667493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30">
            <a:extLst xmlns:a="http://schemas.openxmlformats.org/drawingml/2006/main">
              <a:ext uri="{FF2B5EF4-FFF2-40B4-BE49-F238E27FC236}">
                <a16:creationId xmlns:a16="http://schemas.microsoft.com/office/drawing/2014/main" id="{16B30D0C-2146-47FA-8F55-47C5A295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What conclusions remain outside the method’s scope?</a:t>
            </a:r>
          </a:p>
        </p:txBody>
      </p:sp>
      <p:sp>
        <p:nvSpPr>
          <p:cNvPr id="2" name="rule-30">
            <a:extLst xmlns:a="http://schemas.openxmlformats.org/drawingml/2006/main">
              <a:ext uri="{FF2B5EF4-FFF2-40B4-BE49-F238E27FC236}">
                <a16:creationId xmlns:a16="http://schemas.microsoft.com/office/drawing/2014/main" id="{E1CA4A92-4E8F-4F07-9037-5B37F82B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30">
            <a:extLst xmlns:a="http://schemas.openxmlformats.org/drawingml/2006/main">
              <a:ext uri="{FF2B5EF4-FFF2-40B4-BE49-F238E27FC236}">
                <a16:creationId xmlns:a16="http://schemas.microsoft.com/office/drawing/2014/main" id="{077B96EA-4290-434A-B07E-7D8A7A4F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A8C7161B-14C2-4F0E-BD6A-006798C5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5" name="card-30-0">
            <a:extLst xmlns:a="http://schemas.openxmlformats.org/drawingml/2006/main">
              <a:ext uri="{FF2B5EF4-FFF2-40B4-BE49-F238E27FC236}">
                <a16:creationId xmlns:a16="http://schemas.microsoft.com/office/drawing/2014/main" id="{6E2DB3E9-A3B4-4CC6-A2C0-BF4A6564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num-30-0">
            <a:extLst xmlns:a="http://schemas.openxmlformats.org/drawingml/2006/main">
              <a:ext uri="{FF2B5EF4-FFF2-40B4-BE49-F238E27FC236}">
                <a16:creationId xmlns:a16="http://schemas.microsoft.com/office/drawing/2014/main" id="{21E8098F-6D80-4871-A701-E5A78FAE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TRANSPORT</a:t>
            </a:r>
          </a:p>
        </p:txBody>
      </p:sp>
      <p:sp>
        <p:nvSpPr>
          <p:cNvPr id="7" name="head-30-0">
            <a:extLst xmlns:a="http://schemas.openxmlformats.org/drawingml/2006/main">
              <a:ext uri="{FF2B5EF4-FFF2-40B4-BE49-F238E27FC236}">
                <a16:creationId xmlns:a16="http://schemas.microsoft.com/office/drawing/2014/main" id="{8CDECE9B-27F3-44F9-923C-749C9249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Beyond prior shift</a:t>
            </a:r>
          </a:p>
        </p:txBody>
      </p:sp>
      <p:sp>
        <p:nvSpPr>
          <p:cNvPr id="8" name="body-30-0">
            <a:extLst xmlns:a="http://schemas.openxmlformats.org/drawingml/2006/main">
              <a:ext uri="{FF2B5EF4-FFF2-40B4-BE49-F238E27FC236}">
                <a16:creationId xmlns:a16="http://schemas.microsoft.com/office/drawing/2014/main" id="{66413892-4947-4476-ADFF-5910678A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Reweighting does not protect against within-class behavior changes.</a:t>
            </a:r>
          </a:p>
        </p:txBody>
      </p:sp>
      <p:sp>
        <p:nvSpPr>
          <p:cNvPr id="9" name="card-30-1">
            <a:extLst xmlns:a="http://schemas.openxmlformats.org/drawingml/2006/main">
              <a:ext uri="{FF2B5EF4-FFF2-40B4-BE49-F238E27FC236}">
                <a16:creationId xmlns:a16="http://schemas.microsoft.com/office/drawing/2014/main" id="{26E438D5-0296-49A1-A6DA-3869E7B7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0" name="num-30-1">
            <a:extLst xmlns:a="http://schemas.openxmlformats.org/drawingml/2006/main">
              <a:ext uri="{FF2B5EF4-FFF2-40B4-BE49-F238E27FC236}">
                <a16:creationId xmlns:a16="http://schemas.microsoft.com/office/drawing/2014/main" id="{A37B5421-281F-430D-82EF-502A95E6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11" name="head-30-1">
            <a:extLst xmlns:a="http://schemas.openxmlformats.org/drawingml/2006/main">
              <a:ext uri="{FF2B5EF4-FFF2-40B4-BE49-F238E27FC236}">
                <a16:creationId xmlns:a16="http://schemas.microsoft.com/office/drawing/2014/main" id="{1917A550-BED5-492A-A9BA-7EECC95B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Pairing alone removes chance</a:t>
            </a:r>
          </a:p>
        </p:txBody>
      </p:sp>
      <p:sp>
        <p:nvSpPr>
          <p:cNvPr id="12" name="body-30-1">
            <a:extLst xmlns:a="http://schemas.openxmlformats.org/drawingml/2006/main">
              <a:ext uri="{FF2B5EF4-FFF2-40B4-BE49-F238E27FC236}">
                <a16:creationId xmlns:a16="http://schemas.microsoft.com/office/drawing/2014/main" id="{A9D44A0F-5168-493C-B34A-7729515D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Exchangeable labels are also required for the reference guarantee.</a:t>
            </a:r>
          </a:p>
        </p:txBody>
      </p:sp>
      <p:sp>
        <p:nvSpPr>
          <p:cNvPr id="13" name="card-30-2">
            <a:extLst xmlns:a="http://schemas.openxmlformats.org/drawingml/2006/main">
              <a:ext uri="{FF2B5EF4-FFF2-40B4-BE49-F238E27FC236}">
                <a16:creationId xmlns:a16="http://schemas.microsoft.com/office/drawing/2014/main" id="{9604B80C-A944-4817-BE0E-70FCCE03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4" name="num-30-2">
            <a:extLst xmlns:a="http://schemas.openxmlformats.org/drawingml/2006/main">
              <a:ext uri="{FF2B5EF4-FFF2-40B4-BE49-F238E27FC236}">
                <a16:creationId xmlns:a16="http://schemas.microsoft.com/office/drawing/2014/main" id="{54F29647-B267-49AE-ABA5-FFC1ECAA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38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DEPLOYMENT</a:t>
            </a:r>
          </a:p>
        </p:txBody>
      </p:sp>
      <p:sp>
        <p:nvSpPr>
          <p:cNvPr id="15" name="head-30-2">
            <a:extLst xmlns:a="http://schemas.openxmlformats.org/drawingml/2006/main">
              <a:ext uri="{FF2B5EF4-FFF2-40B4-BE49-F238E27FC236}">
                <a16:creationId xmlns:a16="http://schemas.microsoft.com/office/drawing/2014/main" id="{713A4C32-B05A-4214-8068-EE10D119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Good ranking implies intervention benefit</a:t>
            </a:r>
          </a:p>
        </p:txBody>
      </p:sp>
      <p:sp>
        <p:nvSpPr>
          <p:cNvPr id="16" name="body-30-2">
            <a:extLst xmlns:a="http://schemas.openxmlformats.org/drawingml/2006/main">
              <a:ext uri="{FF2B5EF4-FFF2-40B4-BE49-F238E27FC236}">
                <a16:creationId xmlns:a16="http://schemas.microsoft.com/office/drawing/2014/main" id="{2095129D-F29F-456A-BF8A-864FDB47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Passive evaluation does not identify effects of acting on the ranking.</a:t>
            </a:r>
          </a:p>
        </p:txBody>
      </p:sp>
      <p:sp>
        <p:nvSpPr>
          <p:cNvPr id="17" name="bottom-30">
            <a:extLst xmlns:a="http://schemas.openxmlformats.org/drawingml/2006/main">
              <a:ext uri="{FF2B5EF4-FFF2-40B4-BE49-F238E27FC236}">
                <a16:creationId xmlns:a16="http://schemas.microsoft.com/office/drawing/2014/main" id="{0064A131-7F00-40A4-9ED6-C0F345D7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Nor does a common normalized scale create a universal leaderboard.</a:t>
            </a:r>
          </a:p>
        </p:txBody>
      </p:sp>
    </p:spTree>
    <p:extLst>
      <p:ext uri="{BB962C8B-B14F-4D97-AF65-F5344CB8AC3E}">
        <p14:creationId xmlns:p14="http://schemas.microsoft.com/office/powerpoint/2010/main" val="15097903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31">
            <a:extLst xmlns:a="http://schemas.openxmlformats.org/drawingml/2006/main">
              <a:ext uri="{FF2B5EF4-FFF2-40B4-BE49-F238E27FC236}">
                <a16:creationId xmlns:a16="http://schemas.microsoft.com/office/drawing/2014/main" id="{01D41EF6-9174-4800-8136-6F0D319F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The final estimand combines worst-prevalence and joint survival</a:t>
            </a:r>
          </a:p>
        </p:txBody>
      </p:sp>
      <p:sp>
        <p:nvSpPr>
          <p:cNvPr id="2" name="rule-31">
            <a:extLst xmlns:a="http://schemas.openxmlformats.org/drawingml/2006/main">
              <a:ext uri="{FF2B5EF4-FFF2-40B4-BE49-F238E27FC236}">
                <a16:creationId xmlns:a16="http://schemas.microsoft.com/office/drawing/2014/main" id="{7098999D-1C92-42A2-AFCB-F0946C9D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31">
            <a:extLst xmlns:a="http://schemas.openxmlformats.org/drawingml/2006/main">
              <a:ext uri="{FF2B5EF4-FFF2-40B4-BE49-F238E27FC236}">
                <a16:creationId xmlns:a16="http://schemas.microsoft.com/office/drawing/2014/main" id="{093B32B4-317E-498E-964B-50321E31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31">
            <a:extLst xmlns:a="http://schemas.openxmlformats.org/drawingml/2006/main">
              <a:ext uri="{FF2B5EF4-FFF2-40B4-BE49-F238E27FC236}">
                <a16:creationId xmlns:a16="http://schemas.microsoft.com/office/drawing/2014/main" id="{40024E7D-AAB0-4FE2-90C9-DAF9481C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5" name="formula-panel-31">
            <a:extLst xmlns:a="http://schemas.openxmlformats.org/drawingml/2006/main">
              <a:ext uri="{FF2B5EF4-FFF2-40B4-BE49-F238E27FC236}">
                <a16:creationId xmlns:a16="http://schemas.microsoft.com/office/drawing/2014/main" id="{8A7DA8B5-246B-4232-ABB5-67917AE6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</p:sp>
      <p:sp>
        <p:nvSpPr>
          <p:cNvPr id="6" name="formula-label-31">
            <a:extLst xmlns:a="http://schemas.openxmlformats.org/drawingml/2006/main">
              <a:ext uri="{FF2B5EF4-FFF2-40B4-BE49-F238E27FC236}">
                <a16:creationId xmlns:a16="http://schemas.microsoft.com/office/drawing/2014/main" id="{A2848E6E-4F04-457C-BC95-D0C6230F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31-0">
            <a:extLst xmlns:a="http://schemas.openxmlformats.org/drawingml/2006/main">
              <a:ext uri="{FF2B5EF4-FFF2-40B4-BE49-F238E27FC236}">
                <a16:creationId xmlns:a16="http://schemas.microsoft.com/office/drawing/2014/main" id="{FB2362EC-3A13-452B-91F2-2E7F38ED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Z</m:t>
                      </m:r>
                    </m:e>
                    <m:sub>
                      <m:r>
                        <m:t>j</m:t>
                      </m:r>
                    </m:sub>
                  </m:sSub>
                  <m:r>
                    <m:t>=</m:t>
                  </m:r>
                  <m:sSub>
                    <m:e>
                      <m:r>
                        <m:t>inf</m:t>
                      </m:r>
                    </m:e>
                    <m:sub>
                      <m:r>
                        <m:t>π</m:t>
                      </m:r>
                      <m:r>
                        <m:t>∈</m:t>
                      </m:r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∗</m:t>
                          </m:r>
                        </m:sub>
                      </m:sSub>
                    </m:sub>
                  </m:sSub>
                  <m:sSub>
                    <m:e>
                      <m:r>
                        <m:t>CNAP</m:t>
                      </m:r>
                    </m:e>
                    <m:sub>
                      <m:r>
                        <m:t>π</m:t>
                      </m:r>
                    </m:sub>
                  </m:sSub>
                  <m:r>
                    <m:t>(</m:t>
                  </m:r>
                  <m:sSub>
                    <m:e>
                      <m:r>
                        <m:t>D</m:t>
                      </m:r>
                    </m:e>
                    <m:sub>
                      <m:r>
                        <m:t>j</m:t>
                      </m:r>
                    </m:sub>
                  </m:sSub>
                  <m:r>
                    <m:t>)</m:t>
                  </m:r>
                </m:oMath>
              </m:oMathPara>
            </a14:m>
          </a:p>
        </p:txBody>
      </p:sp>
      <p:sp>
        <p:nvSpPr>
          <p:cNvPr id="8" name="formula-31-1">
            <a:extLst xmlns:a="http://schemas.openxmlformats.org/drawingml/2006/main">
              <a:ext uri="{FF2B5EF4-FFF2-40B4-BE49-F238E27FC236}">
                <a16:creationId xmlns:a16="http://schemas.microsoft.com/office/drawing/2014/main" id="{72046EA6-B78C-4B4E-89FE-F72A960E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  <m:r>
                        <m:t>,</m:t>
                      </m:r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∗</m:t>
                          </m:r>
                        </m:sub>
                      </m:sSub>
                    </m:sub>
                    <m:sup>
                      <m:r>
                        <m:rPr>
                          <m:nor/>
                          <m:sty m:val="p"/>
                        </m:rPr>
                        <m:t>AP</m:t>
                      </m:r>
                    </m:sup>
                  </m:sSubSup>
                  <m:r>
                    <m:t>=</m:t>
                  </m:r>
                  <m:sSub>
                    <m:e>
                      <m:r>
                        <m:t>E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m:t>R</m:t>
                      </m:r>
                    </m:sub>
                  </m:sSub>
                  <m:d>
                    <m:dPr>
                      <m:begChr m:val="["/>
                      <m:sepChr m:val=","/>
                      <m:endChr m:val="]"/>
                      <m:grow m:val="on"/>
                    </m:dPr>
                    <m:e>
                      <m:sSub>
                        <m:e>
                          <m:r>
                            <m:t>min</m:t>
                          </m:r>
                        </m:e>
                        <m:sub>
                          <m:r>
                            <m:t>j</m:t>
                          </m:r>
                          <m:r>
                            <m:t>≤</m:t>
                          </m:r>
                          <m:r>
                            <m:t>K</m:t>
                          </m:r>
                        </m:sub>
                      </m:sSub>
                    </m:e>
                    <m:e>
                      <m:sSub>
                        <m:e>
                          <m:r>
                            <m:t>Z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</m:e>
                  </m:d>
                </m:oMath>
              </m:oMathPara>
            </a14:m>
          </a:p>
        </p:txBody>
      </p:sp>
      <p:sp>
        <p:nvSpPr>
          <p:cNvPr id="9" name="formula-caption-31">
            <a:extLst xmlns:a="http://schemas.openxmlformats.org/drawingml/2006/main">
              <a:ext uri="{FF2B5EF4-FFF2-40B4-BE49-F238E27FC236}">
                <a16:creationId xmlns:a16="http://schemas.microsoft.com/office/drawing/2014/main" id="{49448156-F815-4BAB-852A-D1C1A09F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563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population challenge inside each replication · corroboration across replications</a:t>
            </a:r>
          </a:p>
        </p:txBody>
      </p:sp>
      <p:sp>
        <p:nvSpPr>
          <p:cNvPr id="10" name="meaning-label-31">
            <a:extLst xmlns:a="http://schemas.openxmlformats.org/drawingml/2006/main">
              <a:ext uri="{FF2B5EF4-FFF2-40B4-BE49-F238E27FC236}">
                <a16:creationId xmlns:a16="http://schemas.microsoft.com/office/drawing/2014/main" id="{84FC52BF-B4B1-442C-A5DB-243B35FB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11" name="meaning-31">
            <a:extLst xmlns:a="http://schemas.openxmlformats.org/drawingml/2006/main">
              <a:ext uri="{FF2B5EF4-FFF2-40B4-BE49-F238E27FC236}">
                <a16:creationId xmlns:a16="http://schemas.microsoft.com/office/drawing/2014/main" id="{922BF6EC-1294-44E6-9BBD-3C1EABBA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The estimand is indexed by the target prevalence set, replication law, and K.</a:t>
            </a:r>
          </a:p>
        </p:txBody>
      </p:sp>
      <p:sp>
        <p:nvSpPr>
          <p:cNvPr id="12" name="why-31">
            <a:extLst xmlns:a="http://schemas.openxmlformats.org/drawingml/2006/main">
              <a:ext uri="{FF2B5EF4-FFF2-40B4-BE49-F238E27FC236}">
                <a16:creationId xmlns:a16="http://schemas.microsoft.com/office/drawing/2014/main" id="{BF929D83-7241-4077-BFF0-3C7DAD49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For replacement, paired tie-averaged differences are compared with a practical margin through a validated outer bound.</a:t>
            </a:r>
          </a:p>
        </p:txBody>
      </p:sp>
    </p:spTree>
    <p:extLst>
      <p:ext uri="{BB962C8B-B14F-4D97-AF65-F5344CB8AC3E}">
        <p14:creationId xmlns:p14="http://schemas.microsoft.com/office/powerpoint/2010/main" val="83599181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ivider-title-32">
            <a:extLst xmlns:a="http://schemas.openxmlformats.org/drawingml/2006/main">
              <a:ext uri="{FF2B5EF4-FFF2-40B4-BE49-F238E27FC236}">
                <a16:creationId xmlns:a16="http://schemas.microsoft.com/office/drawing/2014/main" id="{887DC782-CAC2-44AF-9B17-B46B6860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477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Technical appendix:</a:t>
            </a:r>
          </a:p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definitions, proofs, and computation</a:t>
            </a:r>
          </a:p>
        </p:txBody>
      </p:sp>
      <p:sp>
        <p:nvSpPr>
          <p:cNvPr id="2" name="divider-sub-32">
            <a:extLst xmlns:a="http://schemas.openxmlformats.org/drawingml/2006/main">
              <a:ext uri="{FF2B5EF4-FFF2-40B4-BE49-F238E27FC236}">
                <a16:creationId xmlns:a16="http://schemas.microsoft.com/office/drawing/2014/main" id="{ED48F1D8-F9FC-4206-B387-AF21BE2A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7D4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C7D4E0"/>
                </a:solidFill>
                <a:latin typeface="Helvetica Neue"/>
                <a:ea typeface="Helvetica Neue"/>
                <a:cs typeface="Helvetica Neue"/>
              </a:rPr>
              <a:t>Mathematical properties, design conditions, and implementation details.</a:t>
            </a:r>
          </a:p>
        </p:txBody>
      </p:sp>
      <p:sp>
        <p:nvSpPr>
          <p:cNvPr id="3" name="divider-page-32">
            <a:extLst xmlns:a="http://schemas.openxmlformats.org/drawingml/2006/main">
              <a:ext uri="{FF2B5EF4-FFF2-40B4-BE49-F238E27FC236}">
                <a16:creationId xmlns:a16="http://schemas.microsoft.com/office/drawing/2014/main" id="{22A73DA5-D54E-4291-8778-0E5EAF9D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C7D4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C7D4E0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75091865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33">
            <a:extLst xmlns:a="http://schemas.openxmlformats.org/drawingml/2006/main">
              <a:ext uri="{FF2B5EF4-FFF2-40B4-BE49-F238E27FC236}">
                <a16:creationId xmlns:a16="http://schemas.microsoft.com/office/drawing/2014/main" id="{67FF25E0-F8CC-4C41-98DB-9072F3D6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Prior-standardized AP is weighted stepwise precision</a:t>
            </a:r>
          </a:p>
        </p:txBody>
      </p:sp>
      <p:sp>
        <p:nvSpPr>
          <p:cNvPr id="2" name="rule-33">
            <a:extLst xmlns:a="http://schemas.openxmlformats.org/drawingml/2006/main">
              <a:ext uri="{FF2B5EF4-FFF2-40B4-BE49-F238E27FC236}">
                <a16:creationId xmlns:a16="http://schemas.microsoft.com/office/drawing/2014/main" id="{F22059D0-9883-438D-9A34-E9BAD2E8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33">
            <a:extLst xmlns:a="http://schemas.openxmlformats.org/drawingml/2006/main">
              <a:ext uri="{FF2B5EF4-FFF2-40B4-BE49-F238E27FC236}">
                <a16:creationId xmlns:a16="http://schemas.microsoft.com/office/drawing/2014/main" id="{8E68E659-7B79-4166-9A84-0BD72A0B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33">
            <a:extLst xmlns:a="http://schemas.openxmlformats.org/drawingml/2006/main">
              <a:ext uri="{FF2B5EF4-FFF2-40B4-BE49-F238E27FC236}">
                <a16:creationId xmlns:a16="http://schemas.microsoft.com/office/drawing/2014/main" id="{5494062E-6D8C-4246-853F-EB469B5D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5" name="formula-panel-33">
            <a:extLst xmlns:a="http://schemas.openxmlformats.org/drawingml/2006/main">
              <a:ext uri="{FF2B5EF4-FFF2-40B4-BE49-F238E27FC236}">
                <a16:creationId xmlns:a16="http://schemas.microsoft.com/office/drawing/2014/main" id="{7E00655E-C219-408B-8D8C-14211E37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</p:sp>
      <p:sp>
        <p:nvSpPr>
          <p:cNvPr id="6" name="formula-label-33">
            <a:extLst xmlns:a="http://schemas.openxmlformats.org/drawingml/2006/main">
              <a:ext uri="{FF2B5EF4-FFF2-40B4-BE49-F238E27FC236}">
                <a16:creationId xmlns:a16="http://schemas.microsoft.com/office/drawing/2014/main" id="{27934B07-8AAC-4E51-937B-2CCF995F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33-0">
            <a:extLst xmlns:a="http://schemas.openxmlformats.org/drawingml/2006/main">
              <a:ext uri="{FF2B5EF4-FFF2-40B4-BE49-F238E27FC236}">
                <a16:creationId xmlns:a16="http://schemas.microsoft.com/office/drawing/2014/main" id="{544BFBD0-67DC-4CDE-BA00-A6B4284A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p</m:t>
                      </m:r>
                    </m:e>
                    <m:sub>
                      <m:r>
                        <m:t>π</m:t>
                      </m:r>
                      <m:r>
                        <m:t>,</m:t>
                      </m:r>
                      <m:r>
                        <m:t>h</m:t>
                      </m:r>
                    </m:sub>
                  </m:sSub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π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</m:num>
                    <m:den>
                      <m:r>
                        <m:t>π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t>+</m:t>
                      </m:r>
                      <m:r>
                        <m:t>(</m:t>
                      </m:r>
                      <m:r>
                        <m:t>1</m:t>
                      </m:r>
                      <m:r>
                        <m:t>-</m:t>
                      </m:r>
                      <m:r>
                        <m:t>π</m:t>
                      </m:r>
                      <m:r>
                        <m:t>)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</m:den>
                  </m:f>
                </m:oMath>
              </m:oMathPara>
            </a14:m>
          </a:p>
        </p:txBody>
      </p:sp>
      <p:sp>
        <p:nvSpPr>
          <p:cNvPr id="8" name="formula-33-1">
            <a:extLst xmlns:a="http://schemas.openxmlformats.org/drawingml/2006/main">
              <a:ext uri="{FF2B5EF4-FFF2-40B4-BE49-F238E27FC236}">
                <a16:creationId xmlns:a16="http://schemas.microsoft.com/office/drawing/2014/main" id="{2DB41527-9979-4E66-8B47-4BF73338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AP</m:t>
                      </m:r>
                    </m:e>
                    <m:sub>
                      <m:r>
                        <m:t>π</m:t>
                      </m:r>
                    </m:sub>
                  </m:sSub>
                  <m:r>
                    <m:t>(</m:t>
                  </m:r>
                  <m:r>
                    <m:t>D</m:t>
                  </m:r>
                  <m:r>
                    <m:t>)</m:t>
                  </m:r>
                  <m:r>
                    <m:t>=</m:t>
                  </m:r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m:t>h</m:t>
                      </m:r>
                      <m:r>
                        <m:t>=</m:t>
                      </m:r>
                      <m:r>
                        <m:t>1</m:t>
                      </m:r>
                    </m:sub>
                    <m:sup>
                      <m:r>
                        <m:t>H</m:t>
                      </m:r>
                    </m:sup>
                    <m:e>
                      <m:r>
                        <m:t>(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t>-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h</m:t>
                          </m:r>
                          <m:r>
                            <m:t>-</m:t>
                          </m:r>
                          <m:r>
                            <m:t>1</m:t>
                          </m:r>
                        </m:sub>
                      </m:sSub>
                      <m:r>
                        <m:t>)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π</m:t>
                          </m:r>
                          <m:r>
                            <m:t>,</m:t>
                          </m:r>
                          <m:r>
                            <m:t>h</m:t>
                          </m:r>
                        </m:sub>
                      </m:sSub>
                    </m:e>
                  </m:nary>
                </m:oMath>
              </m:oMathPara>
            </a14:m>
          </a:p>
        </p:txBody>
      </p:sp>
      <p:sp>
        <p:nvSpPr>
          <p:cNvPr id="9" name="meaning-label-33">
            <a:extLst xmlns:a="http://schemas.openxmlformats.org/drawingml/2006/main">
              <a:ext uri="{FF2B5EF4-FFF2-40B4-BE49-F238E27FC236}">
                <a16:creationId xmlns:a16="http://schemas.microsoft.com/office/drawing/2014/main" id="{B05EB045-90E6-44A4-B715-6593010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10" name="meaning-33">
            <a:extLst xmlns:a="http://schemas.openxmlformats.org/drawingml/2006/main">
              <a:ext uri="{FF2B5EF4-FFF2-40B4-BE49-F238E27FC236}">
                <a16:creationId xmlns:a16="http://schemas.microsoft.com/office/drawing/2014/main" id="{3D955A7F-F2C1-4BCB-A535-E73DD789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Each recall increment is weighted by precision in the target population.</a:t>
            </a:r>
          </a:p>
        </p:txBody>
      </p:sp>
      <p:sp>
        <p:nvSpPr>
          <p:cNvPr id="11" name="why-33">
            <a:extLst xmlns:a="http://schemas.openxmlformats.org/drawingml/2006/main">
              <a:ext uri="{FF2B5EF4-FFF2-40B4-BE49-F238E27FC236}">
                <a16:creationId xmlns:a16="http://schemas.microsoft.com/office/drawing/2014/main" id="{B5AC8872-AA61-40C6-915D-A6087326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Equivalent weights are π/n+ for every positive and (1−π)/n− for every negative. Score ties enter as threshold blocks.</a:t>
            </a:r>
          </a:p>
        </p:txBody>
      </p:sp>
    </p:spTree>
    <p:extLst>
      <p:ext uri="{BB962C8B-B14F-4D97-AF65-F5344CB8AC3E}">
        <p14:creationId xmlns:p14="http://schemas.microsoft.com/office/powerpoint/2010/main" val="87464521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34">
            <a:extLst xmlns:a="http://schemas.openxmlformats.org/drawingml/2006/main">
              <a:ext uri="{FF2B5EF4-FFF2-40B4-BE49-F238E27FC236}">
                <a16:creationId xmlns:a16="http://schemas.microsoft.com/office/drawing/2014/main" id="{F642CBE9-E35C-4A2E-95E5-988EBE5B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The CNAP minimum may lie inside the prevalence interval</a:t>
            </a:r>
          </a:p>
        </p:txBody>
      </p:sp>
      <p:sp>
        <p:nvSpPr>
          <p:cNvPr id="2" name="rule-34">
            <a:extLst xmlns:a="http://schemas.openxmlformats.org/drawingml/2006/main">
              <a:ext uri="{FF2B5EF4-FFF2-40B4-BE49-F238E27FC236}">
                <a16:creationId xmlns:a16="http://schemas.microsoft.com/office/drawing/2014/main" id="{F4E98BAA-7C5F-48E3-8079-43D2981A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34">
            <a:extLst xmlns:a="http://schemas.openxmlformats.org/drawingml/2006/main">
              <a:ext uri="{FF2B5EF4-FFF2-40B4-BE49-F238E27FC236}">
                <a16:creationId xmlns:a16="http://schemas.microsoft.com/office/drawing/2014/main" id="{D7049087-470A-4257-A174-D1A4D37B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34">
            <a:extLst xmlns:a="http://schemas.openxmlformats.org/drawingml/2006/main">
              <a:ext uri="{FF2B5EF4-FFF2-40B4-BE49-F238E27FC236}">
                <a16:creationId xmlns:a16="http://schemas.microsoft.com/office/drawing/2014/main" id="{37D9CA77-BCE8-41B8-8E65-5BD61B86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5" name="formula-panel-34">
            <a:extLst xmlns:a="http://schemas.openxmlformats.org/drawingml/2006/main">
              <a:ext uri="{FF2B5EF4-FFF2-40B4-BE49-F238E27FC236}">
                <a16:creationId xmlns:a16="http://schemas.microsoft.com/office/drawing/2014/main" id="{F463184A-4760-43BE-B179-6D75F22F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14288">
            <a:solidFill>
              <a:srgbClr val="0F9D91"/>
            </a:solidFill>
            <a:prstDash val="solid"/>
          </a:ln>
        </p:spPr>
      </p:sp>
      <p:sp>
        <p:nvSpPr>
          <p:cNvPr id="6" name="formula-label-34">
            <a:extLst xmlns:a="http://schemas.openxmlformats.org/drawingml/2006/main">
              <a:ext uri="{FF2B5EF4-FFF2-40B4-BE49-F238E27FC236}">
                <a16:creationId xmlns:a16="http://schemas.microsoft.com/office/drawing/2014/main" id="{F258EC82-9290-4B7F-A38B-0D83C94B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34-0">
            <a:extLst xmlns:a="http://schemas.openxmlformats.org/drawingml/2006/main">
              <a:ext uri="{FF2B5EF4-FFF2-40B4-BE49-F238E27FC236}">
                <a16:creationId xmlns:a16="http://schemas.microsoft.com/office/drawing/2014/main" id="{40DB5398-A8B8-4B06-BC64-EC2EAA1E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q</m:t>
                      </m:r>
                    </m:e>
                    <m:sub>
                      <m:r>
                        <m:t>h</m:t>
                      </m:r>
                    </m:sub>
                  </m:sSub>
                  <m:r>
                    <m:t>(</m:t>
                  </m:r>
                  <m:r>
                    <m:t>π</m:t>
                  </m:r>
                  <m:r>
                    <m:t>)</m:t>
                  </m:r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π</m:t>
                      </m:r>
                      <m:r>
                        <m:t>(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t>-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t>)</m:t>
                      </m:r>
                    </m:num>
                    <m:den>
                      <m:r>
                        <m:t>π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t>+</m:t>
                      </m:r>
                      <m:r>
                        <m:t>(</m:t>
                      </m:r>
                      <m:r>
                        <m:t>1</m:t>
                      </m:r>
                      <m:r>
                        <m:t>-</m:t>
                      </m:r>
                      <m:r>
                        <m:t>π</m:t>
                      </m:r>
                      <m:r>
                        <m:t>)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</m:den>
                  </m:f>
                </m:oMath>
              </m:oMathPara>
            </a14:m>
          </a:p>
        </p:txBody>
      </p:sp>
      <p:sp>
        <p:nvSpPr>
          <p:cNvPr id="8" name="formula-34-1">
            <a:extLst xmlns:a="http://schemas.openxmlformats.org/drawingml/2006/main">
              <a:ext uri="{FF2B5EF4-FFF2-40B4-BE49-F238E27FC236}">
                <a16:creationId xmlns:a16="http://schemas.microsoft.com/office/drawing/2014/main" id="{EF174EC5-1357-4141-B7D6-C4A28D0A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q</m:t>
                      </m:r>
                    </m:e>
                    <m:sub>
                      <m:r>
                        <m:t>h</m:t>
                      </m:r>
                    </m:sub>
                  </m:sSub>
                  <m:r>
                    <m:t>'</m:t>
                  </m:r>
                  <m:r>
                    <m:t>(</m:t>
                  </m:r>
                  <m:r>
                    <m:t>π</m:t>
                  </m:r>
                  <m:r>
                    <m:t>)</m:t>
                  </m:r>
                  <m:r>
                    <m:t>=</m:t>
                  </m:r>
                  <m:f>
                    <m:fPr>
                      <m:type m:val="bar"/>
                    </m:fPr>
                    <m:num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t>(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t>-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t>)</m:t>
                      </m:r>
                    </m:num>
                    <m:den>
                      <m:r>
                        <m:t>{</m:t>
                      </m:r>
                      <m:r>
                        <m:t>π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r>
                        <m:t>+</m:t>
                      </m:r>
                      <m:r>
                        <m:t>(</m:t>
                      </m:r>
                      <m:r>
                        <m:t>1</m:t>
                      </m:r>
                      <m:r>
                        <m:t>-</m:t>
                      </m:r>
                      <m:r>
                        <m:t>π</m:t>
                      </m:r>
                      <m:r>
                        <m:t>)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h</m:t>
                          </m:r>
                        </m:sub>
                      </m:sSub>
                      <m:sSup>
                        <m:e>
                          <m:r>
                            <m:t>}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</a:p>
        </p:txBody>
      </p:sp>
      <p:sp>
        <p:nvSpPr>
          <p:cNvPr id="9" name="meaning-label-34">
            <a:extLst xmlns:a="http://schemas.openxmlformats.org/drawingml/2006/main">
              <a:ext uri="{FF2B5EF4-FFF2-40B4-BE49-F238E27FC236}">
                <a16:creationId xmlns:a16="http://schemas.microsoft.com/office/drawing/2014/main" id="{00468386-F1DF-44C8-A3B0-E848D9C9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10" name="meaning-34">
            <a:extLst xmlns:a="http://schemas.openxmlformats.org/drawingml/2006/main">
              <a:ext uri="{FF2B5EF4-FFF2-40B4-BE49-F238E27FC236}">
                <a16:creationId xmlns:a16="http://schemas.microsoft.com/office/drawing/2014/main" id="{F5E2ED63-FA7F-436B-BBFE-91675CF8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If the true-positive rate is at least the false-positive rate at every contributing threshold, the profile is nondecreasing.</a:t>
            </a:r>
          </a:p>
        </p:txBody>
      </p:sp>
      <p:sp>
        <p:nvSpPr>
          <p:cNvPr id="11" name="why-34">
            <a:extLst xmlns:a="http://schemas.openxmlformats.org/drawingml/2006/main">
              <a:ext uri="{FF2B5EF4-FFF2-40B4-BE49-F238E27FC236}">
                <a16:creationId xmlns:a16="http://schemas.microsoft.com/office/drawing/2014/main" id="{665BD51D-3574-4E2E-B260-C3F1C173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Then the interval minimum is at πL. Thresholds crossing the ROC diagonal—or paired differences—can create interior extrema.</a:t>
            </a:r>
          </a:p>
        </p:txBody>
      </p:sp>
    </p:spTree>
    <p:extLst>
      <p:ext uri="{BB962C8B-B14F-4D97-AF65-F5344CB8AC3E}">
        <p14:creationId xmlns:p14="http://schemas.microsoft.com/office/powerpoint/2010/main" val="120731039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35">
            <a:extLst xmlns:a="http://schemas.openxmlformats.org/drawingml/2006/main">
              <a:ext uri="{FF2B5EF4-FFF2-40B4-BE49-F238E27FC236}">
                <a16:creationId xmlns:a16="http://schemas.microsoft.com/office/drawing/2014/main" id="{FC803D3D-A422-4160-8B85-AC845E9B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Expected minimum equals integrated joint survival</a:t>
            </a:r>
          </a:p>
        </p:txBody>
      </p:sp>
      <p:sp>
        <p:nvSpPr>
          <p:cNvPr id="2" name="rule-35">
            <a:extLst xmlns:a="http://schemas.openxmlformats.org/drawingml/2006/main">
              <a:ext uri="{FF2B5EF4-FFF2-40B4-BE49-F238E27FC236}">
                <a16:creationId xmlns:a16="http://schemas.microsoft.com/office/drawing/2014/main" id="{91299E17-9DF9-4A6C-973B-8B0ECC9D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35">
            <a:extLst xmlns:a="http://schemas.openxmlformats.org/drawingml/2006/main">
              <a:ext uri="{FF2B5EF4-FFF2-40B4-BE49-F238E27FC236}">
                <a16:creationId xmlns:a16="http://schemas.microsoft.com/office/drawing/2014/main" id="{C341647F-972F-469F-AB1C-2954182A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35">
            <a:extLst xmlns:a="http://schemas.openxmlformats.org/drawingml/2006/main">
              <a:ext uri="{FF2B5EF4-FFF2-40B4-BE49-F238E27FC236}">
                <a16:creationId xmlns:a16="http://schemas.microsoft.com/office/drawing/2014/main" id="{65C6255D-ABC5-486D-B31E-CF503C29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5" name="formula-panel-35">
            <a:extLst xmlns:a="http://schemas.openxmlformats.org/drawingml/2006/main">
              <a:ext uri="{FF2B5EF4-FFF2-40B4-BE49-F238E27FC236}">
                <a16:creationId xmlns:a16="http://schemas.microsoft.com/office/drawing/2014/main" id="{0C77FD7E-0B7F-47BE-9D6E-DBF60649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14288">
            <a:solidFill>
              <a:srgbClr val="E76F51"/>
            </a:solidFill>
            <a:prstDash val="solid"/>
          </a:ln>
        </p:spPr>
      </p:sp>
      <p:sp>
        <p:nvSpPr>
          <p:cNvPr id="6" name="formula-label-35">
            <a:extLst xmlns:a="http://schemas.openxmlformats.org/drawingml/2006/main">
              <a:ext uri="{FF2B5EF4-FFF2-40B4-BE49-F238E27FC236}">
                <a16:creationId xmlns:a16="http://schemas.microsoft.com/office/drawing/2014/main" id="{3CE503F2-2666-438F-9908-3D3F32BA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35">
            <a:extLst xmlns:a="http://schemas.openxmlformats.org/drawingml/2006/main">
              <a:ext uri="{FF2B5EF4-FFF2-40B4-BE49-F238E27FC236}">
                <a16:creationId xmlns:a16="http://schemas.microsoft.com/office/drawing/2014/main" id="{8842A192-B860-48E3-87AA-42C997E6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6388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</m:sub>
                  </m:sSub>
                  <m:r>
                    <m:t>(</m:t>
                  </m:r>
                  <m:r>
                    <m:t>T</m:t>
                  </m:r>
                  <m:r>
                    <m:t>)</m:t>
                  </m:r>
                  <m:r>
                    <m:t>=</m:t>
                  </m:r>
                  <m:r>
                    <m:t>L</m:t>
                  </m:r>
                  <m:r>
                    <m:t>+</m:t>
                  </m:r>
                  <m:nary>
                    <m:naryPr>
                      <m:chr m:val="∫"/>
                      <m:limLoc m:val="undOvr"/>
                      <m:subHide m:val="off"/>
                      <m:supHide m:val="off"/>
                    </m:naryPr>
                    <m:sub>
                      <m:r>
                        <m:t>L</m:t>
                      </m:r>
                    </m:sub>
                    <m:sup>
                      <m:r>
                        <m:t>U</m:t>
                      </m:r>
                    </m:sup>
                    <m:e>
                      <m:sSup>
                        <m:e>
                          <m:func>
                            <m:fName>
                              <m:r>
                                <m:t>P</m:t>
                              </m:r>
                            </m:fName>
                            <m:e>
                              <m:d>
                                <m:dPr>
                                  <m:begChr m:val="("/>
                                  <m:sepChr m:val=","/>
                                  <m:endChr m:val=")"/>
                                  <m:grow m:val="on"/>
                                </m:dPr>
                                <m:e>
                                  <m:r>
                                    <m:t>T</m:t>
                                  </m:r>
                                </m:e>
                                <m:e>
                                  <m:r>
                                    <m:t>&gt;</m:t>
                                  </m:r>
                                </m:e>
                                <m:e>
                                  <m:r>
                                    <m:t>s</m:t>
                                  </m:r>
                                </m:e>
                              </m:d>
                            </m:e>
                          </m:func>
                        </m:e>
                        <m:sup>
                          <m:r>
                            <m:t>K</m:t>
                          </m:r>
                        </m:sup>
                      </m:sSup>
                      <m:r>
                        <m:t xml:space="preserve"> </m:t>
                      </m:r>
                      <m:r>
                        <m:t>ds</m:t>
                      </m:r>
                    </m:e>
                  </m:nary>
                </m:oMath>
              </m:oMathPara>
            </a14:m>
          </a:p>
        </p:txBody>
      </p:sp>
      <p:sp>
        <p:nvSpPr>
          <p:cNvPr id="8" name="meaning-label-35">
            <a:extLst xmlns:a="http://schemas.openxmlformats.org/drawingml/2006/main">
              <a:ext uri="{FF2B5EF4-FFF2-40B4-BE49-F238E27FC236}">
                <a16:creationId xmlns:a16="http://schemas.microsoft.com/office/drawing/2014/main" id="{430ACF8B-FD08-4F7E-9A1A-6F132571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9" name="meaning-35">
            <a:extLst xmlns:a="http://schemas.openxmlformats.org/drawingml/2006/main">
              <a:ext uri="{FF2B5EF4-FFF2-40B4-BE49-F238E27FC236}">
                <a16:creationId xmlns:a16="http://schemas.microsoft.com/office/drawing/2014/main" id="{6FFBD3D6-DC3A-424A-96E6-542EE665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At every level s, P(T&gt;s)K is the chance that all K independent replications retain it.</a:t>
            </a:r>
          </a:p>
        </p:txBody>
      </p:sp>
      <p:sp>
        <p:nvSpPr>
          <p:cNvPr id="10" name="why-35">
            <a:extLst xmlns:a="http://schemas.openxmlformats.org/drawingml/2006/main">
              <a:ext uri="{FF2B5EF4-FFF2-40B4-BE49-F238E27FC236}">
                <a16:creationId xmlns:a16="http://schemas.microsoft.com/office/drawing/2014/main" id="{348AD250-10B2-4878-B45B-C4EA82D0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For robust CNAP, T&gt;s means the profile exceeds s at every π in Π★.</a:t>
            </a:r>
          </a:p>
        </p:txBody>
      </p:sp>
    </p:spTree>
    <p:extLst>
      <p:ext uri="{BB962C8B-B14F-4D97-AF65-F5344CB8AC3E}">
        <p14:creationId xmlns:p14="http://schemas.microsoft.com/office/powerpoint/2010/main" val="165824156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36">
            <a:extLst xmlns:a="http://schemas.openxmlformats.org/drawingml/2006/main">
              <a:ext uri="{FF2B5EF4-FFF2-40B4-BE49-F238E27FC236}">
                <a16:creationId xmlns:a16="http://schemas.microsoft.com/office/drawing/2014/main" id="{851294E0-AF39-4352-9B38-EAED76EF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Expectation creates the operator-order gap</a:t>
            </a:r>
          </a:p>
        </p:txBody>
      </p:sp>
      <p:sp>
        <p:nvSpPr>
          <p:cNvPr id="2" name="rule-36">
            <a:extLst xmlns:a="http://schemas.openxmlformats.org/drawingml/2006/main">
              <a:ext uri="{FF2B5EF4-FFF2-40B4-BE49-F238E27FC236}">
                <a16:creationId xmlns:a16="http://schemas.microsoft.com/office/drawing/2014/main" id="{32E00D6F-9F37-4B23-A0F8-D3D189EF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36">
            <a:extLst xmlns:a="http://schemas.openxmlformats.org/drawingml/2006/main">
              <a:ext uri="{FF2B5EF4-FFF2-40B4-BE49-F238E27FC236}">
                <a16:creationId xmlns:a16="http://schemas.microsoft.com/office/drawing/2014/main" id="{1C3BD8C6-C018-44F0-90B1-D5C966C3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36">
            <a:extLst xmlns:a="http://schemas.openxmlformats.org/drawingml/2006/main">
              <a:ext uri="{FF2B5EF4-FFF2-40B4-BE49-F238E27FC236}">
                <a16:creationId xmlns:a16="http://schemas.microsoft.com/office/drawing/2014/main" id="{0D103325-9695-4387-ABC6-E939550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5" name="identity-36">
            <a:extLst xmlns:a="http://schemas.openxmlformats.org/drawingml/2006/main">
              <a:ext uri="{FF2B5EF4-FFF2-40B4-BE49-F238E27FC236}">
                <a16:creationId xmlns:a16="http://schemas.microsoft.com/office/drawing/2014/main" id="{77A09A7B-296D-4666-8E67-2C207601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85775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14288">
            <a:solidFill>
              <a:srgbClr val="0F9D91"/>
            </a:solidFill>
            <a:prstDash val="solid"/>
          </a:ln>
        </p:spPr>
      </p:sp>
      <p:sp>
        <p:nvSpPr>
          <p:cNvPr id="6" name="identity-label-36">
            <a:extLst xmlns:a="http://schemas.openxmlformats.org/drawingml/2006/main">
              <a:ext uri="{FF2B5EF4-FFF2-40B4-BE49-F238E27FC236}">
                <a16:creationId xmlns:a16="http://schemas.microsoft.com/office/drawing/2014/main" id="{72B9B79F-A71E-423E-A06A-EA2F3001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KEY IDENTITY</a:t>
            </a:r>
          </a:p>
        </p:txBody>
      </p:sp>
      <p:sp>
        <p:nvSpPr>
          <p:cNvPr id="7" name="identity-formula-36">
            <a:extLst xmlns:a="http://schemas.openxmlformats.org/drawingml/2006/main">
              <a:ext uri="{FF2B5EF4-FFF2-40B4-BE49-F238E27FC236}">
                <a16:creationId xmlns:a16="http://schemas.microsoft.com/office/drawing/2014/main" id="{A0F996D1-8569-4EE1-ACCE-63ABDDB2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42481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min</m:t>
                      </m:r>
                    </m:e>
                    <m:sub>
                      <m:r>
                        <m:t>j</m:t>
                      </m:r>
                    </m:sub>
                  </m:sSub>
                  <m:sSub>
                    <m:e>
                      <m:r>
                        <m:t>inf</m:t>
                      </m:r>
                    </m:e>
                    <m:sub>
                      <m:r>
                        <m:t>π</m:t>
                      </m:r>
                    </m:sub>
                  </m:sSub>
                  <m:sSubSup>
                    <m:e>
                      <m:r>
                        <m:t>X</m:t>
                      </m:r>
                    </m:e>
                    <m:sub>
                      <m:r>
                        <m:t>π</m:t>
                      </m:r>
                    </m:sub>
                    <m:sup>
                      <m:r>
                        <m:t>(</m:t>
                      </m:r>
                      <m:r>
                        <m:t>j</m:t>
                      </m:r>
                      <m:r>
                        <m:t>)</m:t>
                      </m:r>
                    </m:sup>
                  </m:sSubSup>
                  <m:r>
                    <m:t>=</m:t>
                  </m:r>
                  <m:sSub>
                    <m:e>
                      <m:r>
                        <m:t>inf</m:t>
                      </m:r>
                    </m:e>
                    <m:sub>
                      <m:r>
                        <m:t>π</m:t>
                      </m:r>
                    </m:sub>
                  </m:sSub>
                  <m:sSub>
                    <m:e>
                      <m:r>
                        <m:t>min</m:t>
                      </m:r>
                    </m:e>
                    <m:sub>
                      <m:r>
                        <m:t>j</m:t>
                      </m:r>
                    </m:sub>
                  </m:sSub>
                  <m:sSubSup>
                    <m:e>
                      <m:r>
                        <m:t>X</m:t>
                      </m:r>
                    </m:e>
                    <m:sub>
                      <m:r>
                        <m:t>π</m:t>
                      </m:r>
                    </m:sub>
                    <m:sup>
                      <m:r>
                        <m:t>(</m:t>
                      </m:r>
                      <m:r>
                        <m:t>j</m:t>
                      </m:r>
                      <m:r>
                        <m:t>)</m:t>
                      </m:r>
                    </m:sup>
                  </m:sSubSup>
                </m:oMath>
              </m:oMathPara>
            </a14:m>
          </a:p>
        </p:txBody>
      </p:sp>
      <p:sp>
        <p:nvSpPr>
          <p:cNvPr id="8" name="proof-num-36-0">
            <a:extLst xmlns:a="http://schemas.openxmlformats.org/drawingml/2006/main">
              <a:ext uri="{FF2B5EF4-FFF2-40B4-BE49-F238E27FC236}">
                <a16:creationId xmlns:a16="http://schemas.microsoft.com/office/drawing/2014/main" id="{22A932DB-178F-41FE-A460-1B452519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478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proof-head-36-0">
            <a:extLst xmlns:a="http://schemas.openxmlformats.org/drawingml/2006/main">
              <a:ext uri="{FF2B5EF4-FFF2-40B4-BE49-F238E27FC236}">
                <a16:creationId xmlns:a16="http://schemas.microsoft.com/office/drawing/2014/main" id="{EA87E69F-E3AF-43D0-AB1B-7419A49A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Pathwise</a:t>
            </a:r>
          </a:p>
        </p:txBody>
      </p:sp>
      <p:sp>
        <p:nvSpPr>
          <p:cNvPr id="10" name="proof-body-36-0">
            <a:extLst xmlns:a="http://schemas.openxmlformats.org/drawingml/2006/main">
              <a:ext uri="{FF2B5EF4-FFF2-40B4-BE49-F238E27FC236}">
                <a16:creationId xmlns:a16="http://schemas.microsoft.com/office/drawing/2014/main" id="{FB6D71B0-0E8A-4EDB-BEA6-8DF04B89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Minimum over replications and infimum over prevalence commute on each realized array.</a:t>
            </a:r>
          </a:p>
        </p:txBody>
      </p:sp>
      <p:sp>
        <p:nvSpPr>
          <p:cNvPr id="11" name="proof-num-36-1">
            <a:extLst xmlns:a="http://schemas.openxmlformats.org/drawingml/2006/main">
              <a:ext uri="{FF2B5EF4-FFF2-40B4-BE49-F238E27FC236}">
                <a16:creationId xmlns:a16="http://schemas.microsoft.com/office/drawing/2014/main" id="{3BE8A087-E95B-4D37-B113-D09B7CA0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proof-head-36-1">
            <a:extLst xmlns:a="http://schemas.openxmlformats.org/drawingml/2006/main">
              <a:ext uri="{FF2B5EF4-FFF2-40B4-BE49-F238E27FC236}">
                <a16:creationId xmlns:a16="http://schemas.microsoft.com/office/drawing/2014/main" id="{FD82662E-7666-442B-A8CA-063FE626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Then average</a:t>
            </a:r>
          </a:p>
        </p:txBody>
      </p:sp>
      <p:sp>
        <p:nvSpPr>
          <p:cNvPr id="13" name="proof-body-36-1">
            <a:extLst xmlns:a="http://schemas.openxmlformats.org/drawingml/2006/main">
              <a:ext uri="{FF2B5EF4-FFF2-40B4-BE49-F238E27FC236}">
                <a16:creationId xmlns:a16="http://schemas.microsoft.com/office/drawing/2014/main" id="{423E6A28-6FB6-4D5D-AB52-C6456776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385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expected profilewise minimum cannot exceed the minimum expected profile value.</a:t>
            </a:r>
          </a:p>
        </p:txBody>
      </p:sp>
      <p:sp>
        <p:nvSpPr>
          <p:cNvPr id="14" name="proof-num-36-2">
            <a:extLst xmlns:a="http://schemas.openxmlformats.org/drawingml/2006/main">
              <a:ext uri="{FF2B5EF4-FFF2-40B4-BE49-F238E27FC236}">
                <a16:creationId xmlns:a16="http://schemas.microsoft.com/office/drawing/2014/main" id="{D184C745-B653-4498-98DF-C144760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148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proof-head-36-2">
            <a:extLst xmlns:a="http://schemas.openxmlformats.org/drawingml/2006/main">
              <a:ext uri="{FF2B5EF4-FFF2-40B4-BE49-F238E27FC236}">
                <a16:creationId xmlns:a16="http://schemas.microsoft.com/office/drawing/2014/main" id="{5BF8EF4C-EAB6-4249-875A-A51621A4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Equality</a:t>
            </a:r>
          </a:p>
        </p:txBody>
      </p:sp>
      <p:sp>
        <p:nvSpPr>
          <p:cNvPr id="16" name="proof-body-36-2">
            <a:extLst xmlns:a="http://schemas.openxmlformats.org/drawingml/2006/main">
              <a:ext uri="{FF2B5EF4-FFF2-40B4-BE49-F238E27FC236}">
                <a16:creationId xmlns:a16="http://schemas.microsoft.com/office/drawing/2014/main" id="{8615A0CB-DC69-4F81-A1EC-0097D70A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720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A common almost-sure minimizing prevalence removes the gap.</a:t>
            </a:r>
          </a:p>
        </p:txBody>
      </p:sp>
    </p:spTree>
    <p:extLst>
      <p:ext uri="{BB962C8B-B14F-4D97-AF65-F5344CB8AC3E}">
        <p14:creationId xmlns:p14="http://schemas.microsoft.com/office/powerpoint/2010/main" val="821832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37">
            <a:extLst xmlns:a="http://schemas.openxmlformats.org/drawingml/2006/main">
              <a:ext uri="{FF2B5EF4-FFF2-40B4-BE49-F238E27FC236}">
                <a16:creationId xmlns:a16="http://schemas.microsoft.com/office/drawing/2014/main" id="{F34781AC-2298-4F01-8AE9-222AEBE3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Challenge monotonicity follows from pathwise set inclusion</a:t>
            </a:r>
          </a:p>
        </p:txBody>
      </p:sp>
      <p:sp>
        <p:nvSpPr>
          <p:cNvPr id="2" name="rule-37">
            <a:extLst xmlns:a="http://schemas.openxmlformats.org/drawingml/2006/main">
              <a:ext uri="{FF2B5EF4-FFF2-40B4-BE49-F238E27FC236}">
                <a16:creationId xmlns:a16="http://schemas.microsoft.com/office/drawing/2014/main" id="{CE4ADF68-DC84-4241-8674-A1CD0F7F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37">
            <a:extLst xmlns:a="http://schemas.openxmlformats.org/drawingml/2006/main">
              <a:ext uri="{FF2B5EF4-FFF2-40B4-BE49-F238E27FC236}">
                <a16:creationId xmlns:a16="http://schemas.microsoft.com/office/drawing/2014/main" id="{593D64FF-6962-4547-9A76-157876E8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37">
            <a:extLst xmlns:a="http://schemas.openxmlformats.org/drawingml/2006/main">
              <a:ext uri="{FF2B5EF4-FFF2-40B4-BE49-F238E27FC236}">
                <a16:creationId xmlns:a16="http://schemas.microsoft.com/office/drawing/2014/main" id="{69D26D31-AE6A-4CD1-B308-EC8182A4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sp>
        <p:nvSpPr>
          <p:cNvPr id="5" name="identity-37">
            <a:extLst xmlns:a="http://schemas.openxmlformats.org/drawingml/2006/main">
              <a:ext uri="{FF2B5EF4-FFF2-40B4-BE49-F238E27FC236}">
                <a16:creationId xmlns:a16="http://schemas.microsoft.com/office/drawing/2014/main" id="{2D5CB363-DC60-4E01-A7AB-12D6451E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85775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4288">
            <a:solidFill>
              <a:srgbClr val="D79B22"/>
            </a:solidFill>
            <a:prstDash val="solid"/>
          </a:ln>
        </p:spPr>
      </p:sp>
      <p:sp>
        <p:nvSpPr>
          <p:cNvPr id="6" name="identity-label-37">
            <a:extLst xmlns:a="http://schemas.openxmlformats.org/drawingml/2006/main">
              <a:ext uri="{FF2B5EF4-FFF2-40B4-BE49-F238E27FC236}">
                <a16:creationId xmlns:a16="http://schemas.microsoft.com/office/drawing/2014/main" id="{346A17AC-16C2-442B-9D99-477FA6D6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KEY IDENTITY</a:t>
            </a:r>
          </a:p>
        </p:txBody>
      </p:sp>
      <p:sp>
        <p:nvSpPr>
          <p:cNvPr id="7" name="identity-formula-37">
            <a:extLst xmlns:a="http://schemas.openxmlformats.org/drawingml/2006/main">
              <a:ext uri="{FF2B5EF4-FFF2-40B4-BE49-F238E27FC236}">
                <a16:creationId xmlns:a16="http://schemas.microsoft.com/office/drawing/2014/main" id="{1941B588-476E-4D86-8196-2C2E7BBD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42481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min</m:t>
                      </m:r>
                    </m:e>
                    <m:sub>
                      <m:r>
                        <m:t>j</m:t>
                      </m:r>
                      <m:r>
                        <m:t>≤</m:t>
                      </m:r>
                      <m:sSub>
                        <m:e>
                          <m:r>
                            <m:t>K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</m:sub>
                  </m:sSub>
                  <m:sSub>
                    <m:e>
                      <m:r>
                        <m:t>inf</m:t>
                      </m:r>
                    </m:e>
                    <m:sub>
                      <m:r>
                        <m:t>π</m:t>
                      </m:r>
                      <m:r>
                        <m:t>∈</m:t>
                      </m:r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</m:sub>
                  </m:sSub>
                  <m:sSubSup>
                    <m:e>
                      <m:r>
                        <m:t>X</m:t>
                      </m:r>
                    </m:e>
                    <m:sub>
                      <m:r>
                        <m:t>π</m:t>
                      </m:r>
                    </m:sub>
                    <m:sup>
                      <m:r>
                        <m:t>(</m:t>
                      </m:r>
                      <m:r>
                        <m:t>j</m:t>
                      </m:r>
                      <m:r>
                        <m:t>)</m:t>
                      </m:r>
                    </m:sup>
                  </m:sSubSup>
                  <m:r>
                    <m:t>≤</m:t>
                  </m:r>
                  <m:sSub>
                    <m:e>
                      <m:r>
                        <m:t>min</m:t>
                      </m:r>
                    </m:e>
                    <m:sub>
                      <m:r>
                        <m:t>j</m:t>
                      </m:r>
                      <m:r>
                        <m:t>≤</m:t>
                      </m:r>
                      <m:sSub>
                        <m:e>
                          <m:r>
                            <m:t>K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</m:sub>
                  </m:sSub>
                  <m:sSub>
                    <m:e>
                      <m:r>
                        <m:t>inf</m:t>
                      </m:r>
                    </m:e>
                    <m:sub>
                      <m:r>
                        <m:t>π</m:t>
                      </m:r>
                      <m:r>
                        <m:t>∈</m:t>
                      </m:r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</m:sub>
                  </m:sSub>
                  <m:sSubSup>
                    <m:e>
                      <m:r>
                        <m:t>X</m:t>
                      </m:r>
                    </m:e>
                    <m:sub>
                      <m:r>
                        <m:t>π</m:t>
                      </m:r>
                    </m:sub>
                    <m:sup>
                      <m:r>
                        <m:t>(</m:t>
                      </m:r>
                      <m:r>
                        <m:t>j</m:t>
                      </m:r>
                      <m:r>
                        <m:t>)</m:t>
                      </m:r>
                    </m:sup>
                  </m:sSubSup>
                </m:oMath>
              </m:oMathPara>
            </a14:m>
          </a:p>
        </p:txBody>
      </p:sp>
      <p:sp>
        <p:nvSpPr>
          <p:cNvPr id="8" name="proof-num-37-0">
            <a:extLst xmlns:a="http://schemas.openxmlformats.org/drawingml/2006/main">
              <a:ext uri="{FF2B5EF4-FFF2-40B4-BE49-F238E27FC236}">
                <a16:creationId xmlns:a16="http://schemas.microsoft.com/office/drawing/2014/main" id="{A151478C-E178-4FE4-AD65-67052F0B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478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proof-head-37-0">
            <a:extLst xmlns:a="http://schemas.openxmlformats.org/drawingml/2006/main">
              <a:ext uri="{FF2B5EF4-FFF2-40B4-BE49-F238E27FC236}">
                <a16:creationId xmlns:a16="http://schemas.microsoft.com/office/drawing/2014/main" id="{08B3B3C2-972B-4557-9EA8-E7FEAE58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Couple</a:t>
            </a:r>
          </a:p>
        </p:txBody>
      </p:sp>
      <p:sp>
        <p:nvSpPr>
          <p:cNvPr id="10" name="proof-body-37-0">
            <a:extLst xmlns:a="http://schemas.openxmlformats.org/drawingml/2006/main">
              <a:ext uri="{FF2B5EF4-FFF2-40B4-BE49-F238E27FC236}">
                <a16:creationId xmlns:a16="http://schemas.microsoft.com/office/drawing/2014/main" id="{011F3F5C-33C0-4386-9D20-2989286F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Draw K₂ replications once.</a:t>
            </a:r>
          </a:p>
        </p:txBody>
      </p:sp>
      <p:sp>
        <p:nvSpPr>
          <p:cNvPr id="11" name="proof-num-37-1">
            <a:extLst xmlns:a="http://schemas.openxmlformats.org/drawingml/2006/main">
              <a:ext uri="{FF2B5EF4-FFF2-40B4-BE49-F238E27FC236}">
                <a16:creationId xmlns:a16="http://schemas.microsoft.com/office/drawing/2014/main" id="{4C9D23D2-CE46-4B19-AD77-18D0B62D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proof-head-37-1">
            <a:extLst xmlns:a="http://schemas.openxmlformats.org/drawingml/2006/main">
              <a:ext uri="{FF2B5EF4-FFF2-40B4-BE49-F238E27FC236}">
                <a16:creationId xmlns:a16="http://schemas.microsoft.com/office/drawing/2014/main" id="{9ED2FB04-7AD8-4537-B6A4-DE8C1C92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Reuse</a:t>
            </a:r>
          </a:p>
        </p:txBody>
      </p:sp>
      <p:sp>
        <p:nvSpPr>
          <p:cNvPr id="13" name="proof-body-37-1">
            <a:extLst xmlns:a="http://schemas.openxmlformats.org/drawingml/2006/main">
              <a:ext uri="{FF2B5EF4-FFF2-40B4-BE49-F238E27FC236}">
                <a16:creationId xmlns:a16="http://schemas.microsoft.com/office/drawing/2014/main" id="{0DC3F99F-F780-4E2D-91C2-21BA1D7C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385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Use the first K₁ for the smaller assessment.</a:t>
            </a:r>
          </a:p>
        </p:txBody>
      </p:sp>
      <p:sp>
        <p:nvSpPr>
          <p:cNvPr id="14" name="proof-num-37-2">
            <a:extLst xmlns:a="http://schemas.openxmlformats.org/drawingml/2006/main">
              <a:ext uri="{FF2B5EF4-FFF2-40B4-BE49-F238E27FC236}">
                <a16:creationId xmlns:a16="http://schemas.microsoft.com/office/drawing/2014/main" id="{1F326983-9443-4990-A96C-646CD6A1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148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proof-head-37-2">
            <a:extLst xmlns:a="http://schemas.openxmlformats.org/drawingml/2006/main">
              <a:ext uri="{FF2B5EF4-FFF2-40B4-BE49-F238E27FC236}">
                <a16:creationId xmlns:a16="http://schemas.microsoft.com/office/drawing/2014/main" id="{737F3BEB-D372-40FD-AF58-7BA785D7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Contain</a:t>
            </a:r>
          </a:p>
        </p:txBody>
      </p:sp>
      <p:sp>
        <p:nvSpPr>
          <p:cNvPr id="16" name="proof-body-37-2">
            <a:extLst xmlns:a="http://schemas.openxmlformats.org/drawingml/2006/main">
              <a:ext uri="{FF2B5EF4-FFF2-40B4-BE49-F238E27FC236}">
                <a16:creationId xmlns:a16="http://schemas.microsoft.com/office/drawing/2014/main" id="{A750985F-64BA-4AC8-8DAD-141CA974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720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larger challenge set contains every index in the smaller one.</a:t>
            </a:r>
          </a:p>
        </p:txBody>
      </p:sp>
    </p:spTree>
    <p:extLst>
      <p:ext uri="{BB962C8B-B14F-4D97-AF65-F5344CB8AC3E}">
        <p14:creationId xmlns:p14="http://schemas.microsoft.com/office/powerpoint/2010/main" val="19285611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38">
            <a:extLst xmlns:a="http://schemas.openxmlformats.org/drawingml/2006/main">
              <a:ext uri="{FF2B5EF4-FFF2-40B4-BE49-F238E27FC236}">
                <a16:creationId xmlns:a16="http://schemas.microsoft.com/office/drawing/2014/main" id="{98F52967-7714-42C1-8AD6-4121A8C3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Increasing K shifts support toward the lower tail</a:t>
            </a:r>
          </a:p>
        </p:txBody>
      </p:sp>
      <p:sp>
        <p:nvSpPr>
          <p:cNvPr id="2" name="rule-38">
            <a:extLst xmlns:a="http://schemas.openxmlformats.org/drawingml/2006/main">
              <a:ext uri="{FF2B5EF4-FFF2-40B4-BE49-F238E27FC236}">
                <a16:creationId xmlns:a16="http://schemas.microsoft.com/office/drawing/2014/main" id="{5728C4D2-46FD-4E1A-8602-E7641B51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38">
            <a:extLst xmlns:a="http://schemas.openxmlformats.org/drawingml/2006/main">
              <a:ext uri="{FF2B5EF4-FFF2-40B4-BE49-F238E27FC236}">
                <a16:creationId xmlns:a16="http://schemas.microsoft.com/office/drawing/2014/main" id="{1A59167A-8EF8-49D8-81E7-25A9553E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38">
            <a:extLst xmlns:a="http://schemas.openxmlformats.org/drawingml/2006/main">
              <a:ext uri="{FF2B5EF4-FFF2-40B4-BE49-F238E27FC236}">
                <a16:creationId xmlns:a16="http://schemas.microsoft.com/office/drawing/2014/main" id="{5AF79ECA-B85E-45BD-9883-6C36BEF3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  <p:sp>
        <p:nvSpPr>
          <p:cNvPr id="5" name="formula-panel-38">
            <a:extLst xmlns:a="http://schemas.openxmlformats.org/drawingml/2006/main">
              <a:ext uri="{FF2B5EF4-FFF2-40B4-BE49-F238E27FC236}">
                <a16:creationId xmlns:a16="http://schemas.microsoft.com/office/drawing/2014/main" id="{EC4EE8D9-7A32-48C8-A6DD-11F64C6A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</p:sp>
      <p:sp>
        <p:nvSpPr>
          <p:cNvPr id="6" name="formula-label-38">
            <a:extLst xmlns:a="http://schemas.openxmlformats.org/drawingml/2006/main">
              <a:ext uri="{FF2B5EF4-FFF2-40B4-BE49-F238E27FC236}">
                <a16:creationId xmlns:a16="http://schemas.microsoft.com/office/drawing/2014/main" id="{FC49D3B6-46FF-4B6E-A8CE-4BBBDDC7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38">
            <a:extLst xmlns:a="http://schemas.openxmlformats.org/drawingml/2006/main">
              <a:ext uri="{FF2B5EF4-FFF2-40B4-BE49-F238E27FC236}">
                <a16:creationId xmlns:a16="http://schemas.microsoft.com/office/drawing/2014/main" id="{6B70A08F-165E-4B05-BA35-74B1A5AD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6388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</m:sub>
                  </m:sSub>
                  <m:r>
                    <m:t>(</m:t>
                  </m:r>
                  <m:r>
                    <m:t>T</m:t>
                  </m:r>
                  <m:r>
                    <m:t>)</m:t>
                  </m:r>
                  <m:r>
                    <m:t>=</m:t>
                  </m:r>
                  <m:nary>
                    <m:naryPr>
                      <m:chr m:val="∫"/>
                      <m:limLoc m:val="undOvr"/>
                      <m:subHide m:val="off"/>
                      <m:supHide m:val="off"/>
                    </m:naryPr>
                    <m:sub>
                      <m:r>
                        <m:t>0</m:t>
                      </m:r>
                    </m:sub>
                    <m:sup>
                      <m:r>
                        <m:t>1</m:t>
                      </m:r>
                    </m:sup>
                    <m:e>
                      <m:r>
                        <m:t>Q</m:t>
                      </m:r>
                      <m:r>
                        <m:t>(</m:t>
                      </m:r>
                      <m:r>
                        <m:t>v</m:t>
                      </m:r>
                      <m:r>
                        <m:t>)</m:t>
                      </m:r>
                      <m:r>
                        <m:t xml:space="preserve"> </m:t>
                      </m:r>
                      <m:r>
                        <m:t>K</m:t>
                      </m:r>
                      <m:r>
                        <m:t>(</m:t>
                      </m:r>
                      <m:r>
                        <m:t>1</m:t>
                      </m:r>
                      <m:r>
                        <m:t>-</m:t>
                      </m:r>
                      <m:r>
                        <m:t>v</m:t>
                      </m:r>
                      <m:sSup>
                        <m:e>
                          <m:r>
                            <m:t>)</m:t>
                          </m:r>
                        </m:e>
                        <m:sup>
                          <m:r>
                            <m:t>K</m:t>
                          </m:r>
                          <m:r>
                            <m:t>-</m:t>
                          </m:r>
                          <m:r>
                            <m:t>1</m:t>
                          </m:r>
                        </m:sup>
                      </m:sSup>
                      <m:r>
                        <m:t xml:space="preserve"> </m:t>
                      </m:r>
                      <m:r>
                        <m:t>dv</m:t>
                      </m:r>
                    </m:e>
                  </m:nary>
                </m:oMath>
              </m:oMathPara>
            </a14:m>
          </a:p>
        </p:txBody>
      </p:sp>
      <p:sp>
        <p:nvSpPr>
          <p:cNvPr id="8" name="meaning-label-38">
            <a:extLst xmlns:a="http://schemas.openxmlformats.org/drawingml/2006/main">
              <a:ext uri="{FF2B5EF4-FFF2-40B4-BE49-F238E27FC236}">
                <a16:creationId xmlns:a16="http://schemas.microsoft.com/office/drawing/2014/main" id="{A77410F3-8875-4CDA-99DD-7CB4860C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9" name="meaning-38">
            <a:extLst xmlns:a="http://schemas.openxmlformats.org/drawingml/2006/main">
              <a:ext uri="{FF2B5EF4-FFF2-40B4-BE49-F238E27FC236}">
                <a16:creationId xmlns:a16="http://schemas.microsoft.com/office/drawing/2014/main" id="{3D72FD8F-3869-40EE-BE68-335AFCDE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The minimum of K draws samples lower quantiles more heavily as K grows.</a:t>
            </a:r>
          </a:p>
        </p:txBody>
      </p:sp>
      <p:sp>
        <p:nvSpPr>
          <p:cNvPr id="10" name="why-38">
            <a:extLst xmlns:a="http://schemas.openxmlformats.org/drawingml/2006/main">
              <a:ext uri="{FF2B5EF4-FFF2-40B4-BE49-F238E27FC236}">
                <a16:creationId xmlns:a16="http://schemas.microsoft.com/office/drawing/2014/main" id="{BFC9F7EC-C6CB-4959-A2FD-30F273E5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At K=2: support = first L-moment − second L-moment. A mean-preserving spread cannot raise support.</a:t>
            </a:r>
          </a:p>
        </p:txBody>
      </p:sp>
    </p:spTree>
    <p:extLst>
      <p:ext uri="{BB962C8B-B14F-4D97-AF65-F5344CB8AC3E}">
        <p14:creationId xmlns:p14="http://schemas.microsoft.com/office/powerpoint/2010/main" val="53888042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39">
            <a:extLst xmlns:a="http://schemas.openxmlformats.org/drawingml/2006/main">
              <a:ext uri="{FF2B5EF4-FFF2-40B4-BE49-F238E27FC236}">
                <a16:creationId xmlns:a16="http://schemas.microsoft.com/office/drawing/2014/main" id="{C4F0904E-BED7-4BBB-9F8C-7109177A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Why does joint survival imply a power distortion?</a:t>
            </a:r>
          </a:p>
        </p:txBody>
      </p:sp>
      <p:sp>
        <p:nvSpPr>
          <p:cNvPr id="2" name="rule-39">
            <a:extLst xmlns:a="http://schemas.openxmlformats.org/drawingml/2006/main">
              <a:ext uri="{FF2B5EF4-FFF2-40B4-BE49-F238E27FC236}">
                <a16:creationId xmlns:a16="http://schemas.microsoft.com/office/drawing/2014/main" id="{86241401-0386-4923-9A51-96D6E0D2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39">
            <a:extLst xmlns:a="http://schemas.openxmlformats.org/drawingml/2006/main">
              <a:ext uri="{FF2B5EF4-FFF2-40B4-BE49-F238E27FC236}">
                <a16:creationId xmlns:a16="http://schemas.microsoft.com/office/drawing/2014/main" id="{11438FC3-E1A0-4F6D-A500-048223BD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39">
            <a:extLst xmlns:a="http://schemas.openxmlformats.org/drawingml/2006/main">
              <a:ext uri="{FF2B5EF4-FFF2-40B4-BE49-F238E27FC236}">
                <a16:creationId xmlns:a16="http://schemas.microsoft.com/office/drawing/2014/main" id="{797C4864-0958-4F88-9CE6-9827D0AC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  <p:sp>
        <p:nvSpPr>
          <p:cNvPr id="5" name="formula-panel-39">
            <a:extLst xmlns:a="http://schemas.openxmlformats.org/drawingml/2006/main">
              <a:ext uri="{FF2B5EF4-FFF2-40B4-BE49-F238E27FC236}">
                <a16:creationId xmlns:a16="http://schemas.microsoft.com/office/drawing/2014/main" id="{A7578188-7442-4533-863F-81F54575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14288">
            <a:solidFill>
              <a:srgbClr val="E76F51"/>
            </a:solidFill>
            <a:prstDash val="solid"/>
          </a:ln>
        </p:spPr>
      </p:sp>
      <p:sp>
        <p:nvSpPr>
          <p:cNvPr id="6" name="formula-label-39">
            <a:extLst xmlns:a="http://schemas.openxmlformats.org/drawingml/2006/main">
              <a:ext uri="{FF2B5EF4-FFF2-40B4-BE49-F238E27FC236}">
                <a16:creationId xmlns:a16="http://schemas.microsoft.com/office/drawing/2014/main" id="{08E690D3-7C05-4280-96FC-8F8CE9BD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39-0">
            <a:extLst xmlns:a="http://schemas.openxmlformats.org/drawingml/2006/main">
              <a:ext uri="{FF2B5EF4-FFF2-40B4-BE49-F238E27FC236}">
                <a16:creationId xmlns:a16="http://schemas.microsoft.com/office/drawing/2014/main" id="{BDDC2F36-FB85-4F6F-A82E-E71AB9D8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m:t>g</m:t>
                  </m:r>
                  <m:r>
                    <m:t>(</m:t>
                  </m:r>
                  <m:sSub>
                    <m:e>
                      <m:r>
                        <m:t>u</m:t>
                      </m:r>
                    </m:e>
                    <m:sub>
                      <m:r>
                        <m:t>1</m:t>
                      </m:r>
                    </m:sub>
                  </m:sSub>
                  <m:sSub>
                    <m:e>
                      <m:r>
                        <m:t>u</m:t>
                      </m:r>
                    </m:e>
                    <m:sub>
                      <m:r>
                        <m:t>2</m:t>
                      </m:r>
                    </m:sub>
                  </m:sSub>
                  <m:r>
                    <m:t>)</m:t>
                  </m:r>
                  <m:r>
                    <m:t>=</m:t>
                  </m:r>
                  <m:r>
                    <m:t>g</m:t>
                  </m:r>
                  <m:r>
                    <m:t>(</m:t>
                  </m:r>
                  <m:sSub>
                    <m:e>
                      <m:r>
                        <m:t>u</m:t>
                      </m:r>
                    </m:e>
                    <m:sub>
                      <m:r>
                        <m:t>1</m:t>
                      </m:r>
                    </m:sub>
                  </m:sSub>
                  <m:r>
                    <m:t>)</m:t>
                  </m:r>
                  <m:r>
                    <m:t>g</m:t>
                  </m:r>
                  <m:r>
                    <m:t>(</m:t>
                  </m:r>
                  <m:sSub>
                    <m:e>
                      <m:r>
                        <m:t>u</m:t>
                      </m:r>
                    </m:e>
                    <m:sub>
                      <m:r>
                        <m:t>2</m:t>
                      </m:r>
                    </m:sub>
                  </m:sSub>
                  <m:r>
                    <m:t>)</m:t>
                  </m:r>
                  <m:r>
                    <m:t xml:space="preserve"> </m:t>
                  </m:r>
                  <m:r>
                    <m:t>→</m:t>
                  </m:r>
                  <m:r>
                    <m:t xml:space="preserve"> </m:t>
                  </m:r>
                  <m:r>
                    <m:t>g</m:t>
                  </m:r>
                  <m:r>
                    <m:t>(</m:t>
                  </m:r>
                  <m:r>
                    <m:t>u</m:t>
                  </m:r>
                  <m:r>
                    <m:t>)</m:t>
                  </m:r>
                  <m:r>
                    <m:t>=</m:t>
                  </m:r>
                  <m:sSup>
                    <m:e>
                      <m:r>
                        <m:t>u</m:t>
                      </m:r>
                    </m:e>
                    <m:sup>
                      <m:r>
                        <m:t>c</m:t>
                      </m:r>
                    </m:sup>
                  </m:sSup>
                </m:oMath>
              </m:oMathPara>
            </a14:m>
          </a:p>
        </p:txBody>
      </p:sp>
      <p:sp>
        <p:nvSpPr>
          <p:cNvPr id="8" name="formula-39-1">
            <a:extLst xmlns:a="http://schemas.openxmlformats.org/drawingml/2006/main">
              <a:ext uri="{FF2B5EF4-FFF2-40B4-BE49-F238E27FC236}">
                <a16:creationId xmlns:a16="http://schemas.microsoft.com/office/drawing/2014/main" id="{E5E2B02C-DAA4-44CB-856B-B2D839A6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638800" cy="847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m:t>K</m:t>
                  </m:r>
                  <m:r>
                    <m:rPr>
                      <m:nor/>
                      <m:sty m:val="p"/>
                    </m:rPr>
                    <m:t xml:space="preserve"> replications</m:t>
                  </m:r>
                  <m:r>
                    <m:t xml:space="preserve"> </m:t>
                  </m:r>
                  <m:r>
                    <m:t>→</m:t>
                  </m:r>
                  <m:r>
                    <m:t xml:space="preserve"> </m:t>
                  </m:r>
                  <m:r>
                    <m:t>c</m:t>
                  </m:r>
                  <m:r>
                    <m:t>=</m:t>
                  </m:r>
                  <m:r>
                    <m:t>K</m:t>
                  </m:r>
                </m:oMath>
              </m:oMathPara>
            </a14:m>
          </a:p>
        </p:txBody>
      </p:sp>
      <p:sp>
        <p:nvSpPr>
          <p:cNvPr id="9" name="meaning-label-39">
            <a:extLst xmlns:a="http://schemas.openxmlformats.org/drawingml/2006/main">
              <a:ext uri="{FF2B5EF4-FFF2-40B4-BE49-F238E27FC236}">
                <a16:creationId xmlns:a16="http://schemas.microsoft.com/office/drawing/2014/main" id="{ADA5678E-CFD2-43B7-8996-991B0C0E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10" name="meaning-39">
            <a:extLst xmlns:a="http://schemas.openxmlformats.org/drawingml/2006/main">
              <a:ext uri="{FF2B5EF4-FFF2-40B4-BE49-F238E27FC236}">
                <a16:creationId xmlns:a16="http://schemas.microsoft.com/office/drawing/2014/main" id="{4F64E3B3-05C3-46DF-ACE0-437742D0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Weights must compose multiplicatively when independent challenges are conjoined.</a:t>
            </a:r>
          </a:p>
        </p:txBody>
      </p:sp>
      <p:sp>
        <p:nvSpPr>
          <p:cNvPr id="11" name="why-39">
            <a:extLst xmlns:a="http://schemas.openxmlformats.org/drawingml/2006/main">
              <a:ext uri="{FF2B5EF4-FFF2-40B4-BE49-F238E27FC236}">
                <a16:creationId xmlns:a16="http://schemas.microsoft.com/office/drawing/2014/main" id="{0CB313B3-92B2-4275-B7C1-1BDFC355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This characterizes the family under explicit representation assumptions; it does not make quantiles or expected shortfall illegitimate.</a:t>
            </a:r>
          </a:p>
        </p:txBody>
      </p:sp>
    </p:spTree>
    <p:extLst>
      <p:ext uri="{BB962C8B-B14F-4D97-AF65-F5344CB8AC3E}">
        <p14:creationId xmlns:p14="http://schemas.microsoft.com/office/powerpoint/2010/main" val="40240192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40">
            <a:extLst xmlns:a="http://schemas.openxmlformats.org/drawingml/2006/main">
              <a:ext uri="{FF2B5EF4-FFF2-40B4-BE49-F238E27FC236}">
                <a16:creationId xmlns:a16="http://schemas.microsoft.com/office/drawing/2014/main" id="{E0DE1329-9D7D-4F58-8B06-BB9F2266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Why must model differences be paired before subtraction?</a:t>
            </a:r>
          </a:p>
        </p:txBody>
      </p:sp>
      <p:sp>
        <p:nvSpPr>
          <p:cNvPr id="2" name="rule-40">
            <a:extLst xmlns:a="http://schemas.openxmlformats.org/drawingml/2006/main">
              <a:ext uri="{FF2B5EF4-FFF2-40B4-BE49-F238E27FC236}">
                <a16:creationId xmlns:a16="http://schemas.microsoft.com/office/drawing/2014/main" id="{D881A841-0F26-49DB-BACF-0300D629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40">
            <a:extLst xmlns:a="http://schemas.openxmlformats.org/drawingml/2006/main">
              <a:ext uri="{FF2B5EF4-FFF2-40B4-BE49-F238E27FC236}">
                <a16:creationId xmlns:a16="http://schemas.microsoft.com/office/drawing/2014/main" id="{912FF986-C306-4273-B79E-B939AAF9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40">
            <a:extLst xmlns:a="http://schemas.openxmlformats.org/drawingml/2006/main">
              <a:ext uri="{FF2B5EF4-FFF2-40B4-BE49-F238E27FC236}">
                <a16:creationId xmlns:a16="http://schemas.microsoft.com/office/drawing/2014/main" id="{3CA482F8-FC6A-44A1-8D4C-D2495A86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  <p:sp>
        <p:nvSpPr>
          <p:cNvPr id="5" name="identity-40">
            <a:extLst xmlns:a="http://schemas.openxmlformats.org/drawingml/2006/main">
              <a:ext uri="{FF2B5EF4-FFF2-40B4-BE49-F238E27FC236}">
                <a16:creationId xmlns:a16="http://schemas.microsoft.com/office/drawing/2014/main" id="{FF94180E-C29A-474F-98FF-7DC0B808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85775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14288">
            <a:solidFill>
              <a:srgbClr val="E76F51"/>
            </a:solidFill>
            <a:prstDash val="solid"/>
          </a:ln>
        </p:spPr>
      </p:sp>
      <p:sp>
        <p:nvSpPr>
          <p:cNvPr id="6" name="identity-label-40">
            <a:extLst xmlns:a="http://schemas.openxmlformats.org/drawingml/2006/main">
              <a:ext uri="{FF2B5EF4-FFF2-40B4-BE49-F238E27FC236}">
                <a16:creationId xmlns:a16="http://schemas.microsoft.com/office/drawing/2014/main" id="{4B83AB67-D875-4379-AB1E-468A6765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KEY IDENTITY</a:t>
            </a:r>
          </a:p>
        </p:txBody>
      </p:sp>
      <p:sp>
        <p:nvSpPr>
          <p:cNvPr id="7" name="identity-formula-40">
            <a:extLst xmlns:a="http://schemas.openxmlformats.org/drawingml/2006/main">
              <a:ext uri="{FF2B5EF4-FFF2-40B4-BE49-F238E27FC236}">
                <a16:creationId xmlns:a16="http://schemas.microsoft.com/office/drawing/2014/main" id="{B3AA936F-1894-404B-818E-126FE627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42481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</m:sub>
                  </m:sSub>
                  <m:r>
                    <m:t>(</m:t>
                  </m:r>
                  <m:sSub>
                    <m:e>
                      <m:r>
                        <m:t>U</m:t>
                      </m:r>
                    </m:e>
                    <m:sub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∗</m:t>
                          </m:r>
                        </m:sub>
                      </m:sSub>
                    </m:sub>
                  </m:sSub>
                  <m:r>
                    <m:t>)</m:t>
                  </m:r>
                  <m:r>
                    <m:t>-</m:t>
                  </m:r>
                  <m:sSub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</m:sub>
                  </m:sSub>
                  <m:r>
                    <m:t>(</m:t>
                  </m:r>
                  <m:sSub>
                    <m:e>
                      <m:r>
                        <m:t>V</m:t>
                      </m:r>
                    </m:e>
                    <m:sub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∗</m:t>
                          </m:r>
                        </m:sub>
                      </m:sSub>
                    </m:sub>
                  </m:sSub>
                  <m:r>
                    <m:t>)</m:t>
                  </m:r>
                  <m:r>
                    <m:t>≥</m:t>
                  </m:r>
                  <m:sSub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</m:sub>
                  </m:sSub>
                  <m:r>
                    <m:t>(</m:t>
                  </m:r>
                  <m:sSub>
                    <m:e>
                      <m:r>
                        <m:t>T</m:t>
                      </m:r>
                    </m:e>
                    <m:sub>
                      <m:sSub>
                        <m:e>
                          <m:r>
                            <m:t>Π</m:t>
                          </m:r>
                        </m:e>
                        <m:sub>
                          <m:r>
                            <m:t>∗</m:t>
                          </m:r>
                        </m:sub>
                      </m:sSub>
                    </m:sub>
                  </m:sSub>
                  <m:r>
                    <m:t>)</m:t>
                  </m:r>
                </m:oMath>
              </m:oMathPara>
            </a14:m>
          </a:p>
        </p:txBody>
      </p:sp>
      <p:sp>
        <p:nvSpPr>
          <p:cNvPr id="8" name="proof-num-40-0">
            <a:extLst xmlns:a="http://schemas.openxmlformats.org/drawingml/2006/main">
              <a:ext uri="{FF2B5EF4-FFF2-40B4-BE49-F238E27FC236}">
                <a16:creationId xmlns:a16="http://schemas.microsoft.com/office/drawing/2014/main" id="{18E7C913-20A2-487E-A86E-09DC6B43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478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proof-head-40-0">
            <a:extLst xmlns:a="http://schemas.openxmlformats.org/drawingml/2006/main">
              <a:ext uri="{FF2B5EF4-FFF2-40B4-BE49-F238E27FC236}">
                <a16:creationId xmlns:a16="http://schemas.microsoft.com/office/drawing/2014/main" id="{0B2118B5-4446-4706-B24E-8AAFE6C9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Population step</a:t>
            </a:r>
          </a:p>
        </p:txBody>
      </p:sp>
      <p:sp>
        <p:nvSpPr>
          <p:cNvPr id="10" name="proof-body-40-0">
            <a:extLst xmlns:a="http://schemas.openxmlformats.org/drawingml/2006/main">
              <a:ext uri="{FF2B5EF4-FFF2-40B4-BE49-F238E27FC236}">
                <a16:creationId xmlns:a16="http://schemas.microsoft.com/office/drawing/2014/main" id="{D7E1AC95-EB22-4905-B921-7817D238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worst paired difference cannot exceed the difference between separate worst profiles.</a:t>
            </a:r>
          </a:p>
        </p:txBody>
      </p:sp>
      <p:sp>
        <p:nvSpPr>
          <p:cNvPr id="11" name="proof-num-40-1">
            <a:extLst xmlns:a="http://schemas.openxmlformats.org/drawingml/2006/main">
              <a:ext uri="{FF2B5EF4-FFF2-40B4-BE49-F238E27FC236}">
                <a16:creationId xmlns:a16="http://schemas.microsoft.com/office/drawing/2014/main" id="{09872634-5C56-4688-987F-8F1A060A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proof-head-40-1">
            <a:extLst xmlns:a="http://schemas.openxmlformats.org/drawingml/2006/main">
              <a:ext uri="{FF2B5EF4-FFF2-40B4-BE49-F238E27FC236}">
                <a16:creationId xmlns:a16="http://schemas.microsoft.com/office/drawing/2014/main" id="{4D99A999-1A1A-43E4-86D6-0C4937BC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Replication step</a:t>
            </a:r>
          </a:p>
        </p:txBody>
      </p:sp>
      <p:sp>
        <p:nvSpPr>
          <p:cNvPr id="13" name="proof-body-40-1">
            <a:extLst xmlns:a="http://schemas.openxmlformats.org/drawingml/2006/main">
              <a:ext uri="{FF2B5EF4-FFF2-40B4-BE49-F238E27FC236}">
                <a16:creationId xmlns:a16="http://schemas.microsoft.com/office/drawing/2014/main" id="{F13BBD92-9CEA-440D-8C0B-01576AEC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385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minimum is superadditive on paired replications.</a:t>
            </a:r>
          </a:p>
        </p:txBody>
      </p:sp>
      <p:sp>
        <p:nvSpPr>
          <p:cNvPr id="14" name="proof-num-40-2">
            <a:extLst xmlns:a="http://schemas.openxmlformats.org/drawingml/2006/main">
              <a:ext uri="{FF2B5EF4-FFF2-40B4-BE49-F238E27FC236}">
                <a16:creationId xmlns:a16="http://schemas.microsoft.com/office/drawing/2014/main" id="{58DEE0EA-D9DD-44A3-9AC3-D61F4565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148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proof-head-40-2">
            <a:extLst xmlns:a="http://schemas.openxmlformats.org/drawingml/2006/main">
              <a:ext uri="{FF2B5EF4-FFF2-40B4-BE49-F238E27FC236}">
                <a16:creationId xmlns:a16="http://schemas.microsoft.com/office/drawing/2014/main" id="{0E69A3D7-4BCB-4AD4-933E-B0D24A75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16" name="proof-body-40-2">
            <a:extLst xmlns:a="http://schemas.openxmlformats.org/drawingml/2006/main">
              <a:ext uri="{FF2B5EF4-FFF2-40B4-BE49-F238E27FC236}">
                <a16:creationId xmlns:a16="http://schemas.microsoft.com/office/drawing/2014/main" id="{5E9B5624-505D-456B-B44D-DE5AE499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720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Separate adverse cases lose the joint comparison.</a:t>
            </a:r>
          </a:p>
        </p:txBody>
      </p:sp>
    </p:spTree>
    <p:extLst>
      <p:ext uri="{BB962C8B-B14F-4D97-AF65-F5344CB8AC3E}">
        <p14:creationId xmlns:p14="http://schemas.microsoft.com/office/powerpoint/2010/main" val="198428813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41">
            <a:extLst xmlns:a="http://schemas.openxmlformats.org/drawingml/2006/main">
              <a:ext uri="{FF2B5EF4-FFF2-40B4-BE49-F238E27FC236}">
                <a16:creationId xmlns:a16="http://schemas.microsoft.com/office/drawing/2014/main" id="{41313D45-704E-42D5-972E-1B7F7139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Tie refinement is neutral by the tower property</a:t>
            </a:r>
          </a:p>
        </p:txBody>
      </p:sp>
      <p:sp>
        <p:nvSpPr>
          <p:cNvPr id="2" name="rule-41">
            <a:extLst xmlns:a="http://schemas.openxmlformats.org/drawingml/2006/main">
              <a:ext uri="{FF2B5EF4-FFF2-40B4-BE49-F238E27FC236}">
                <a16:creationId xmlns:a16="http://schemas.microsoft.com/office/drawing/2014/main" id="{9769AA0E-3C64-49A1-BDF4-173DDF17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41">
            <a:extLst xmlns:a="http://schemas.openxmlformats.org/drawingml/2006/main">
              <a:ext uri="{FF2B5EF4-FFF2-40B4-BE49-F238E27FC236}">
                <a16:creationId xmlns:a16="http://schemas.microsoft.com/office/drawing/2014/main" id="{57FA9AF3-F24C-4249-84BB-BD8C6B47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41">
            <a:extLst xmlns:a="http://schemas.openxmlformats.org/drawingml/2006/main">
              <a:ext uri="{FF2B5EF4-FFF2-40B4-BE49-F238E27FC236}">
                <a16:creationId xmlns:a16="http://schemas.microsoft.com/office/drawing/2014/main" id="{B0851E04-E187-4CF0-8467-D9D96052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41</a:t>
            </a:r>
          </a:p>
        </p:txBody>
      </p:sp>
      <p:sp>
        <p:nvSpPr>
          <p:cNvPr id="5" name="identity-41">
            <a:extLst xmlns:a="http://schemas.openxmlformats.org/drawingml/2006/main">
              <a:ext uri="{FF2B5EF4-FFF2-40B4-BE49-F238E27FC236}">
                <a16:creationId xmlns:a16="http://schemas.microsoft.com/office/drawing/2014/main" id="{914495C1-50B9-4D09-8F61-D0E648FD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85775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14288">
            <a:solidFill>
              <a:srgbClr val="0F9D91"/>
            </a:solidFill>
            <a:prstDash val="solid"/>
          </a:ln>
        </p:spPr>
      </p:sp>
      <p:sp>
        <p:nvSpPr>
          <p:cNvPr id="6" name="identity-label-41">
            <a:extLst xmlns:a="http://schemas.openxmlformats.org/drawingml/2006/main">
              <a:ext uri="{FF2B5EF4-FFF2-40B4-BE49-F238E27FC236}">
                <a16:creationId xmlns:a16="http://schemas.microsoft.com/office/drawing/2014/main" id="{4A6E9B36-417C-4C8E-AC34-F2A183DC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KEY IDENTITY</a:t>
            </a:r>
          </a:p>
        </p:txBody>
      </p:sp>
      <p:sp>
        <p:nvSpPr>
          <p:cNvPr id="7" name="identity-formula-41">
            <a:extLst xmlns:a="http://schemas.openxmlformats.org/drawingml/2006/main">
              <a:ext uri="{FF2B5EF4-FFF2-40B4-BE49-F238E27FC236}">
                <a16:creationId xmlns:a16="http://schemas.microsoft.com/office/drawing/2014/main" id="{61A58E9E-FE50-4E86-9248-A3090EBF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42481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func>
                    <m:fName>
                      <m:r>
                        <m:t>E</m:t>
                      </m:r>
                    </m:fName>
                    <m:e>
                      <m:d>
                        <m:dPr>
                          <m:begChr m:val="["/>
                          <m:sepChr m:val=","/>
                          <m:endChr m:val="]"/>
                          <m:grow m:val="on"/>
                        </m:dPr>
                        <m:e>
                          <m:sSubSup>
                            <m:e>
                              <m:r>
                                <m:t>AP</m:t>
                              </m:r>
                            </m:e>
                            <m:sub>
                              <m:r>
                                <m:t>A</m:t>
                              </m:r>
                              <m:r>
                                <m:t>,</m:t>
                              </m:r>
                              <m:r>
                                <m:t>π</m:t>
                              </m:r>
                            </m:sub>
                            <m:sup>
                              <m:r>
                                <m:rPr>
                                  <m:nor/>
                                  <m:sty m:val="p"/>
                                </m:rPr>
                                <m:t>TA</m:t>
                              </m:r>
                            </m:sup>
                          </m:sSubSup>
                        </m:e>
                        <m:e>
                          <m:r>
                            <m:t xml:space="preserve"> </m:t>
                          </m:r>
                        </m:e>
                        <m:e>
                          <m:r>
                            <m:t>|</m:t>
                          </m:r>
                        </m:e>
                        <m:e>
                          <m:r>
                            <m:t xml:space="preserve"> </m:t>
                          </m:r>
                        </m:e>
                        <m:e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B</m:t>
                              </m:r>
                            </m:sub>
                          </m:sSub>
                        </m:e>
                        <m:e>
                          <m:r>
                            <m:t>Y</m:t>
                          </m:r>
                        </m:e>
                      </m:d>
                    </m:e>
                  </m:func>
                  <m:r>
                    <m:t>=</m:t>
                  </m:r>
                  <m:sSubSup>
                    <m:e>
                      <m:r>
                        <m:t>AP</m:t>
                      </m:r>
                    </m:e>
                    <m:sub>
                      <m:r>
                        <m:t>B</m:t>
                      </m:r>
                      <m:r>
                        <m:t>,</m:t>
                      </m:r>
                      <m:r>
                        <m:t>π</m:t>
                      </m:r>
                    </m:sub>
                    <m:sup>
                      <m:r>
                        <m:rPr>
                          <m:nor/>
                          <m:sty m:val="p"/>
                        </m:rPr>
                        <m:t>TA</m:t>
                      </m:r>
                    </m:sup>
                  </m:sSubSup>
                </m:oMath>
              </m:oMathPara>
            </a14:m>
          </a:p>
        </p:txBody>
      </p:sp>
      <p:sp>
        <p:nvSpPr>
          <p:cNvPr id="8" name="proof-num-41-0">
            <a:extLst xmlns:a="http://schemas.openxmlformats.org/drawingml/2006/main">
              <a:ext uri="{FF2B5EF4-FFF2-40B4-BE49-F238E27FC236}">
                <a16:creationId xmlns:a16="http://schemas.microsoft.com/office/drawing/2014/main" id="{B848E14B-1F13-4742-A866-4F667211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478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proof-head-41-0">
            <a:extLst xmlns:a="http://schemas.openxmlformats.org/drawingml/2006/main">
              <a:ext uri="{FF2B5EF4-FFF2-40B4-BE49-F238E27FC236}">
                <a16:creationId xmlns:a16="http://schemas.microsoft.com/office/drawing/2014/main" id="{62BDDE2E-A1AD-424A-A457-C45269E2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Condition</a:t>
            </a:r>
          </a:p>
        </p:txBody>
      </p:sp>
      <p:sp>
        <p:nvSpPr>
          <p:cNvPr id="10" name="proof-body-41-0">
            <a:extLst xmlns:a="http://schemas.openxmlformats.org/drawingml/2006/main">
              <a:ext uri="{FF2B5EF4-FFF2-40B4-BE49-F238E27FC236}">
                <a16:creationId xmlns:a16="http://schemas.microsoft.com/office/drawing/2014/main" id="{06F1229B-A79C-4EF8-93F2-0D742BC4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Hold the coarse score blocks and realized outcomes fixed.</a:t>
            </a:r>
          </a:p>
        </p:txBody>
      </p:sp>
      <p:sp>
        <p:nvSpPr>
          <p:cNvPr id="11" name="proof-num-41-1">
            <a:extLst xmlns:a="http://schemas.openxmlformats.org/drawingml/2006/main">
              <a:ext uri="{FF2B5EF4-FFF2-40B4-BE49-F238E27FC236}">
                <a16:creationId xmlns:a16="http://schemas.microsoft.com/office/drawing/2014/main" id="{3A1C6090-561C-4C64-8A76-3B29083D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proof-head-41-1">
            <a:extLst xmlns:a="http://schemas.openxmlformats.org/drawingml/2006/main">
              <a:ext uri="{FF2B5EF4-FFF2-40B4-BE49-F238E27FC236}">
                <a16:creationId xmlns:a16="http://schemas.microsoft.com/office/drawing/2014/main" id="{EC549870-AFF8-4214-B760-4560782D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Average</a:t>
            </a:r>
          </a:p>
        </p:txBody>
      </p:sp>
      <p:sp>
        <p:nvSpPr>
          <p:cNvPr id="13" name="proof-body-41-1">
            <a:extLst xmlns:a="http://schemas.openxmlformats.org/drawingml/2006/main">
              <a:ext uri="{FF2B5EF4-FFF2-40B4-BE49-F238E27FC236}">
                <a16:creationId xmlns:a16="http://schemas.microsoft.com/office/drawing/2014/main" id="{F08BA096-6BA3-4821-BD7C-D3E8FDF9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385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A’s strict ranking is uniform over the orderings allowed by B’s ties.</a:t>
            </a:r>
          </a:p>
        </p:txBody>
      </p:sp>
      <p:sp>
        <p:nvSpPr>
          <p:cNvPr id="14" name="proof-num-41-2">
            <a:extLst xmlns:a="http://schemas.openxmlformats.org/drawingml/2006/main">
              <a:ext uri="{FF2B5EF4-FFF2-40B4-BE49-F238E27FC236}">
                <a16:creationId xmlns:a16="http://schemas.microsoft.com/office/drawing/2014/main" id="{F0BC43C0-B9A8-472F-844A-17326174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148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proof-head-41-2">
            <a:extLst xmlns:a="http://schemas.openxmlformats.org/drawingml/2006/main">
              <a:ext uri="{FF2B5EF4-FFF2-40B4-BE49-F238E27FC236}">
                <a16:creationId xmlns:a16="http://schemas.microsoft.com/office/drawing/2014/main" id="{12D27290-E507-44A9-96BD-C856C45A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Collapse</a:t>
            </a:r>
          </a:p>
        </p:txBody>
      </p:sp>
      <p:sp>
        <p:nvSpPr>
          <p:cNvPr id="16" name="proof-body-41-2">
            <a:extLst xmlns:a="http://schemas.openxmlformats.org/drawingml/2006/main">
              <a:ext uri="{FF2B5EF4-FFF2-40B4-BE49-F238E27FC236}">
                <a16:creationId xmlns:a16="http://schemas.microsoft.com/office/drawing/2014/main" id="{48071418-ADB7-4F92-BFD5-BC1A30C7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720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Expected ordinary AP becomes B’s tie-averaged AP.</a:t>
            </a:r>
          </a:p>
        </p:txBody>
      </p:sp>
    </p:spTree>
    <p:extLst>
      <p:ext uri="{BB962C8B-B14F-4D97-AF65-F5344CB8AC3E}">
        <p14:creationId xmlns:p14="http://schemas.microsoft.com/office/powerpoint/2010/main" val="132051823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42">
            <a:extLst xmlns:a="http://schemas.openxmlformats.org/drawingml/2006/main">
              <a:ext uri="{FF2B5EF4-FFF2-40B4-BE49-F238E27FC236}">
                <a16:creationId xmlns:a16="http://schemas.microsoft.com/office/drawing/2014/main" id="{8A976C0F-DB13-4B1F-BA65-C7B6DBFA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Exchangeable labels make the zero-reference law rank-invariant</a:t>
            </a:r>
          </a:p>
        </p:txBody>
      </p:sp>
      <p:sp>
        <p:nvSpPr>
          <p:cNvPr id="2" name="rule-42">
            <a:extLst xmlns:a="http://schemas.openxmlformats.org/drawingml/2006/main">
              <a:ext uri="{FF2B5EF4-FFF2-40B4-BE49-F238E27FC236}">
                <a16:creationId xmlns:a16="http://schemas.microsoft.com/office/drawing/2014/main" id="{B4168575-0867-46CC-9E84-6C5860EF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42">
            <a:extLst xmlns:a="http://schemas.openxmlformats.org/drawingml/2006/main">
              <a:ext uri="{FF2B5EF4-FFF2-40B4-BE49-F238E27FC236}">
                <a16:creationId xmlns:a16="http://schemas.microsoft.com/office/drawing/2014/main" id="{78EFD687-4622-40BD-8844-C5C81D18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42">
            <a:extLst xmlns:a="http://schemas.openxmlformats.org/drawingml/2006/main">
              <a:ext uri="{FF2B5EF4-FFF2-40B4-BE49-F238E27FC236}">
                <a16:creationId xmlns:a16="http://schemas.microsoft.com/office/drawing/2014/main" id="{8E226C01-DF6B-4AB6-998D-1DA48A3C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  <p:sp>
        <p:nvSpPr>
          <p:cNvPr id="5" name="identity-42">
            <a:extLst xmlns:a="http://schemas.openxmlformats.org/drawingml/2006/main">
              <a:ext uri="{FF2B5EF4-FFF2-40B4-BE49-F238E27FC236}">
                <a16:creationId xmlns:a16="http://schemas.microsoft.com/office/drawing/2014/main" id="{7DE3F8D4-FA82-422F-9AA8-A01DF0D2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85775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</p:sp>
      <p:sp>
        <p:nvSpPr>
          <p:cNvPr id="6" name="identity-label-42">
            <a:extLst xmlns:a="http://schemas.openxmlformats.org/drawingml/2006/main">
              <a:ext uri="{FF2B5EF4-FFF2-40B4-BE49-F238E27FC236}">
                <a16:creationId xmlns:a16="http://schemas.microsoft.com/office/drawing/2014/main" id="{7B17BADC-9731-4523-94C1-2A66DB88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KEY IDENTITY</a:t>
            </a:r>
          </a:p>
        </p:txBody>
      </p:sp>
      <p:sp>
        <p:nvSpPr>
          <p:cNvPr id="7" name="identity-formula-42">
            <a:extLst xmlns:a="http://schemas.openxmlformats.org/drawingml/2006/main">
              <a:ext uri="{FF2B5EF4-FFF2-40B4-BE49-F238E27FC236}">
                <a16:creationId xmlns:a16="http://schemas.microsoft.com/office/drawing/2014/main" id="{ECFAB5FE-7FCF-420D-BB6B-E8E0B9F5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42481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E</m:t>
                      </m:r>
                    </m:e>
                    <m:sub>
                      <m:r>
                        <m:t>0</m:t>
                      </m:r>
                    </m:sub>
                  </m:sSub>
                  <m:r>
                    <m:t>[</m:t>
                  </m:r>
                  <m:sSubSup>
                    <m:e>
                      <m:r>
                        <m:t>Δ</m:t>
                      </m:r>
                    </m:e>
                    <m:sub>
                      <m:r>
                        <m:t>π</m:t>
                      </m:r>
                    </m:sub>
                    <m:sup>
                      <m:r>
                        <m:rPr>
                          <m:nor/>
                          <m:sty m:val="p"/>
                        </m:rPr>
                        <m:t>TA</m:t>
                      </m:r>
                    </m:sup>
                  </m:sSubSup>
                  <m:r>
                    <m:t>]</m:t>
                  </m:r>
                  <m:r>
                    <m:t>=</m:t>
                  </m:r>
                  <m:r>
                    <m:t>0</m:t>
                  </m:r>
                </m:oMath>
              </m:oMathPara>
            </a14:m>
          </a:p>
        </p:txBody>
      </p:sp>
      <p:sp>
        <p:nvSpPr>
          <p:cNvPr id="8" name="proof-num-42-0">
            <a:extLst xmlns:a="http://schemas.openxmlformats.org/drawingml/2006/main">
              <a:ext uri="{FF2B5EF4-FFF2-40B4-BE49-F238E27FC236}">
                <a16:creationId xmlns:a16="http://schemas.microsoft.com/office/drawing/2014/main" id="{8D174EAB-7F18-4073-99EA-78091C99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478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proof-head-42-0">
            <a:extLst xmlns:a="http://schemas.openxmlformats.org/drawingml/2006/main">
              <a:ext uri="{FF2B5EF4-FFF2-40B4-BE49-F238E27FC236}">
                <a16:creationId xmlns:a16="http://schemas.microsoft.com/office/drawing/2014/main" id="{90A7A220-2EA9-4BB4-9C53-76D4D8CA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Uniform sequences</a:t>
            </a:r>
          </a:p>
        </p:txBody>
      </p:sp>
      <p:sp>
        <p:nvSpPr>
          <p:cNvPr id="10" name="proof-body-42-0">
            <a:extLst xmlns:a="http://schemas.openxmlformats.org/drawingml/2006/main">
              <a:ext uri="{FF2B5EF4-FFF2-40B4-BE49-F238E27FC236}">
                <a16:creationId xmlns:a16="http://schemas.microsoft.com/office/drawing/2014/main" id="{4C12BF95-E1E9-4C37-833D-84B613C3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Along any fixed strict ranking, fixed-count label sequences have the same law.</a:t>
            </a:r>
          </a:p>
        </p:txBody>
      </p:sp>
      <p:sp>
        <p:nvSpPr>
          <p:cNvPr id="11" name="proof-num-42-1">
            <a:extLst xmlns:a="http://schemas.openxmlformats.org/drawingml/2006/main">
              <a:ext uri="{FF2B5EF4-FFF2-40B4-BE49-F238E27FC236}">
                <a16:creationId xmlns:a16="http://schemas.microsoft.com/office/drawing/2014/main" id="{4F82378F-2A50-4449-AA93-4A5993A4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proof-head-42-1">
            <a:extLst xmlns:a="http://schemas.openxmlformats.org/drawingml/2006/main">
              <a:ext uri="{FF2B5EF4-FFF2-40B4-BE49-F238E27FC236}">
                <a16:creationId xmlns:a16="http://schemas.microsoft.com/office/drawing/2014/main" id="{435AC96F-FFE7-4D62-A8CC-2901124C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Average ties</a:t>
            </a:r>
          </a:p>
        </p:txBody>
      </p:sp>
      <p:sp>
        <p:nvSpPr>
          <p:cNvPr id="13" name="proof-body-42-1">
            <a:extLst xmlns:a="http://schemas.openxmlformats.org/drawingml/2006/main">
              <a:ext uri="{FF2B5EF4-FFF2-40B4-BE49-F238E27FC236}">
                <a16:creationId xmlns:a16="http://schemas.microsoft.com/office/drawing/2014/main" id="{65C03B94-B516-4197-AF80-D5D58AA9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385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A convex combination of equal expectations keeps the same anchor.</a:t>
            </a:r>
          </a:p>
        </p:txBody>
      </p:sp>
      <p:sp>
        <p:nvSpPr>
          <p:cNvPr id="14" name="proof-num-42-2">
            <a:extLst xmlns:a="http://schemas.openxmlformats.org/drawingml/2006/main">
              <a:ext uri="{FF2B5EF4-FFF2-40B4-BE49-F238E27FC236}">
                <a16:creationId xmlns:a16="http://schemas.microsoft.com/office/drawing/2014/main" id="{A2C884E8-4DE7-4F9E-8BDA-5681E79B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14875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proof-head-42-2">
            <a:extLst xmlns:a="http://schemas.openxmlformats.org/drawingml/2006/main">
              <a:ext uri="{FF2B5EF4-FFF2-40B4-BE49-F238E27FC236}">
                <a16:creationId xmlns:a16="http://schemas.microsoft.com/office/drawing/2014/main" id="{108B0E0C-2095-42F8-8958-8A88951D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Challenge</a:t>
            </a:r>
          </a:p>
        </p:txBody>
      </p:sp>
      <p:sp>
        <p:nvSpPr>
          <p:cNvPr id="16" name="proof-body-42-2">
            <a:extLst xmlns:a="http://schemas.openxmlformats.org/drawingml/2006/main">
              <a:ext uri="{FF2B5EF4-FFF2-40B4-BE49-F238E27FC236}">
                <a16:creationId xmlns:a16="http://schemas.microsoft.com/office/drawing/2014/main" id="{44A25006-073F-4ACB-8733-FFA1A6FC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72075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Infimum and minimum can only move paired support to ≤ 0.</a:t>
            </a:r>
          </a:p>
        </p:txBody>
      </p:sp>
    </p:spTree>
    <p:extLst>
      <p:ext uri="{BB962C8B-B14F-4D97-AF65-F5344CB8AC3E}">
        <p14:creationId xmlns:p14="http://schemas.microsoft.com/office/powerpoint/2010/main" val="211894030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43">
            <a:extLst xmlns:a="http://schemas.openxmlformats.org/drawingml/2006/main">
              <a:ext uri="{FF2B5EF4-FFF2-40B4-BE49-F238E27FC236}">
                <a16:creationId xmlns:a16="http://schemas.microsoft.com/office/drawing/2014/main" id="{E7AA7237-BDA1-4FF4-8301-270C5F1D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Restricted label symmetry leaves multiple design orbits</a:t>
            </a:r>
          </a:p>
        </p:txBody>
      </p:sp>
      <p:sp>
        <p:nvSpPr>
          <p:cNvPr id="2" name="rule-43">
            <a:extLst xmlns:a="http://schemas.openxmlformats.org/drawingml/2006/main">
              <a:ext uri="{FF2B5EF4-FFF2-40B4-BE49-F238E27FC236}">
                <a16:creationId xmlns:a16="http://schemas.microsoft.com/office/drawing/2014/main" id="{27A7C7FA-5E67-40AA-A98E-A68745BB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43">
            <a:extLst xmlns:a="http://schemas.openxmlformats.org/drawingml/2006/main">
              <a:ext uri="{FF2B5EF4-FFF2-40B4-BE49-F238E27FC236}">
                <a16:creationId xmlns:a16="http://schemas.microsoft.com/office/drawing/2014/main" id="{25138948-2A88-49CF-9C60-F2B18B98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43">
            <a:extLst xmlns:a="http://schemas.openxmlformats.org/drawingml/2006/main">
              <a:ext uri="{FF2B5EF4-FFF2-40B4-BE49-F238E27FC236}">
                <a16:creationId xmlns:a16="http://schemas.microsoft.com/office/drawing/2014/main" id="{B364F329-F87A-45A5-AADA-80421480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  <p:sp>
        <p:nvSpPr>
          <p:cNvPr id="5" name="left-panel-43">
            <a:extLst xmlns:a="http://schemas.openxmlformats.org/drawingml/2006/main">
              <a:ext uri="{FF2B5EF4-FFF2-40B4-BE49-F238E27FC236}">
                <a16:creationId xmlns:a16="http://schemas.microsoft.com/office/drawing/2014/main" id="{359751D0-720B-4C74-BD9B-F4746B32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3816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right-panel-43">
            <a:extLst xmlns:a="http://schemas.openxmlformats.org/drawingml/2006/main">
              <a:ext uri="{FF2B5EF4-FFF2-40B4-BE49-F238E27FC236}">
                <a16:creationId xmlns:a16="http://schemas.microsoft.com/office/drawing/2014/main" id="{719D55F3-CEFD-4F16-A5CF-58C85944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6007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7" name="left-kicker-43">
            <a:extLst xmlns:a="http://schemas.openxmlformats.org/drawingml/2006/main">
              <a:ext uri="{FF2B5EF4-FFF2-40B4-BE49-F238E27FC236}">
                <a16:creationId xmlns:a16="http://schemas.microsoft.com/office/drawing/2014/main" id="{43DAD750-9A69-4336-8DCD-2E42AF6B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MATCHED EXAMPLE</a:t>
            </a:r>
          </a:p>
        </p:txBody>
      </p:sp>
      <p:sp>
        <p:nvSpPr>
          <p:cNvPr id="8" name="left-head-43">
            <a:extLst xmlns:a="http://schemas.openxmlformats.org/drawingml/2006/main">
              <a:ext uri="{FF2B5EF4-FFF2-40B4-BE49-F238E27FC236}">
                <a16:creationId xmlns:a16="http://schemas.microsoft.com/office/drawing/2014/main" id="{48D25398-1982-4C7B-90FE-640A1611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Two pairs, exactly one positive per pair</a:t>
            </a:r>
          </a:p>
        </p:txBody>
      </p:sp>
      <p:sp>
        <p:nvSpPr>
          <p:cNvPr id="9" name="left-body-43">
            <a:extLst xmlns:a="http://schemas.openxmlformats.org/drawingml/2006/main">
              <a:ext uri="{FF2B5EF4-FFF2-40B4-BE49-F238E27FC236}">
                <a16:creationId xmlns:a16="http://schemas.microsoft.com/office/drawing/2014/main" id="{771D46B4-57CF-454F-897F-A9058B1E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Permitted permutations swap labels only within pairs. A score aligned with pairs carries design information.</a:t>
            </a:r>
          </a:p>
        </p:txBody>
      </p:sp>
      <p:sp>
        <p:nvSpPr>
          <p:cNvPr id="10" name="right-kicker-43">
            <a:extLst xmlns:a="http://schemas.openxmlformats.org/drawingml/2006/main">
              <a:ext uri="{FF2B5EF4-FFF2-40B4-BE49-F238E27FC236}">
                <a16:creationId xmlns:a16="http://schemas.microsoft.com/office/drawing/2014/main" id="{9A02980E-4ADC-4BE3-B22C-1CCF7E8C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CONSEQUENCE</a:t>
            </a:r>
          </a:p>
        </p:txBody>
      </p:sp>
      <p:sp>
        <p:nvSpPr>
          <p:cNvPr id="11" name="right-head-43">
            <a:extLst xmlns:a="http://schemas.openxmlformats.org/drawingml/2006/main">
              <a:ext uri="{FF2B5EF4-FFF2-40B4-BE49-F238E27FC236}">
                <a16:creationId xmlns:a16="http://schemas.microsoft.com/office/drawing/2014/main" id="{B83D714D-B4AC-464D-803F-3E82D3D0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28875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Tie averaging cannot cross design orbits</a:t>
            </a:r>
          </a:p>
        </p:txBody>
      </p:sp>
      <p:sp>
        <p:nvSpPr>
          <p:cNvPr id="12" name="right-body-43">
            <a:extLst xmlns:a="http://schemas.openxmlformats.org/drawingml/2006/main">
              <a:ext uri="{FF2B5EF4-FFF2-40B4-BE49-F238E27FC236}">
                <a16:creationId xmlns:a16="http://schemas.microsoft.com/office/drawing/2014/main" id="{BC9405E9-3E0C-46C0-AD5D-1862C951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8137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Possible remedies change the claim: restrict model pairs, evaluate within strata, or standardize to another target population.</a:t>
            </a:r>
          </a:p>
        </p:txBody>
      </p:sp>
    </p:spTree>
    <p:extLst>
      <p:ext uri="{BB962C8B-B14F-4D97-AF65-F5344CB8AC3E}">
        <p14:creationId xmlns:p14="http://schemas.microsoft.com/office/powerpoint/2010/main" val="144770631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44">
            <a:extLst xmlns:a="http://schemas.openxmlformats.org/drawingml/2006/main">
              <a:ext uri="{FF2B5EF4-FFF2-40B4-BE49-F238E27FC236}">
                <a16:creationId xmlns:a16="http://schemas.microsoft.com/office/drawing/2014/main" id="{A752D37D-83DE-48F6-BBFB-FEF1B549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 null anchor cannot serve as an additive correction</a:t>
            </a:r>
          </a:p>
        </p:txBody>
      </p:sp>
      <p:sp>
        <p:nvSpPr>
          <p:cNvPr id="2" name="rule-44">
            <a:extLst xmlns:a="http://schemas.openxmlformats.org/drawingml/2006/main">
              <a:ext uri="{FF2B5EF4-FFF2-40B4-BE49-F238E27FC236}">
                <a16:creationId xmlns:a16="http://schemas.microsoft.com/office/drawing/2014/main" id="{3F4C2395-E3B4-4060-BDEA-C793E1BE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44">
            <a:extLst xmlns:a="http://schemas.openxmlformats.org/drawingml/2006/main">
              <a:ext uri="{FF2B5EF4-FFF2-40B4-BE49-F238E27FC236}">
                <a16:creationId xmlns:a16="http://schemas.microsoft.com/office/drawing/2014/main" id="{B5019444-FE31-457A-9992-B77844C5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44">
            <a:extLst xmlns:a="http://schemas.openxmlformats.org/drawingml/2006/main">
              <a:ext uri="{FF2B5EF4-FFF2-40B4-BE49-F238E27FC236}">
                <a16:creationId xmlns:a16="http://schemas.microsoft.com/office/drawing/2014/main" id="{8DB0DF54-5083-4648-BF65-53C3A670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44</a:t>
            </a:r>
          </a:p>
        </p:txBody>
      </p:sp>
      <p:sp>
        <p:nvSpPr>
          <p:cNvPr id="5" name="left-panel-44">
            <a:extLst xmlns:a="http://schemas.openxmlformats.org/drawingml/2006/main">
              <a:ext uri="{FF2B5EF4-FFF2-40B4-BE49-F238E27FC236}">
                <a16:creationId xmlns:a16="http://schemas.microsoft.com/office/drawing/2014/main" id="{BACE964C-72E0-4E3D-A5F2-FE9DC4A4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3816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right-panel-44">
            <a:extLst xmlns:a="http://schemas.openxmlformats.org/drawingml/2006/main">
              <a:ext uri="{FF2B5EF4-FFF2-40B4-BE49-F238E27FC236}">
                <a16:creationId xmlns:a16="http://schemas.microsoft.com/office/drawing/2014/main" id="{17EB87A0-85A5-4D30-94A3-179B05C8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6007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7" name="left-kicker-44">
            <a:extLst xmlns:a="http://schemas.openxmlformats.org/drawingml/2006/main">
              <a:ext uri="{FF2B5EF4-FFF2-40B4-BE49-F238E27FC236}">
                <a16:creationId xmlns:a16="http://schemas.microsoft.com/office/drawing/2014/main" id="{1A7EF17F-7C65-45F4-BE49-8E58A563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INFORMATIVE DATA</a:t>
            </a:r>
          </a:p>
        </p:txBody>
      </p:sp>
      <p:sp>
        <p:nvSpPr>
          <p:cNvPr id="8" name="left-head-44">
            <a:extLst xmlns:a="http://schemas.openxmlformats.org/drawingml/2006/main">
              <a:ext uri="{FF2B5EF4-FFF2-40B4-BE49-F238E27FC236}">
                <a16:creationId xmlns:a16="http://schemas.microsoft.com/office/drawing/2014/main" id="{DB55FA52-CE44-49FD-B504-FA0E79A0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Both models separate perfectly</a:t>
            </a:r>
          </a:p>
        </p:txBody>
      </p:sp>
      <p:sp>
        <p:nvSpPr>
          <p:cNvPr id="9" name="left-body-44">
            <a:extLst xmlns:a="http://schemas.openxmlformats.org/drawingml/2006/main">
              <a:ext uri="{FF2B5EF4-FFF2-40B4-BE49-F238E27FC236}">
                <a16:creationId xmlns:a16="http://schemas.microsoft.com/office/drawing/2014/main" id="{59DF9A70-B76A-43B5-9D88-C272A013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Paired CNAP difference is zero in every stratified bootstrap replication.</a:t>
            </a:r>
          </a:p>
        </p:txBody>
      </p:sp>
      <p:sp>
        <p:nvSpPr>
          <p:cNvPr id="10" name="right-kicker-44">
            <a:extLst xmlns:a="http://schemas.openxmlformats.org/drawingml/2006/main">
              <a:ext uri="{FF2B5EF4-FFF2-40B4-BE49-F238E27FC236}">
                <a16:creationId xmlns:a16="http://schemas.microsoft.com/office/drawing/2014/main" id="{EBD70378-8AC5-4401-B16C-DE31F18A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NULL-CENTERED RESULT</a:t>
            </a:r>
          </a:p>
        </p:txBody>
      </p:sp>
      <p:sp>
        <p:nvSpPr>
          <p:cNvPr id="11" name="right-head-44">
            <a:extLst xmlns:a="http://schemas.openxmlformats.org/drawingml/2006/main">
              <a:ext uri="{FF2B5EF4-FFF2-40B4-BE49-F238E27FC236}">
                <a16:creationId xmlns:a16="http://schemas.microsoft.com/office/drawing/2014/main" id="{DDF46250-F82E-4A87-875A-298DB649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28875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One orientation can falsely favor the coarser model</a:t>
            </a:r>
          </a:p>
        </p:txBody>
      </p:sp>
      <p:sp>
        <p:nvSpPr>
          <p:cNvPr id="12" name="right-body-44">
            <a:extLst xmlns:a="http://schemas.openxmlformats.org/drawingml/2006/main">
              <a:ext uri="{FF2B5EF4-FFF2-40B4-BE49-F238E27FC236}">
                <a16:creationId xmlns:a16="http://schemas.microsoft.com/office/drawing/2014/main" id="{4D7A2DEC-9BBA-4A36-8850-D4AD0F74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81375"/>
            <a:ext cx="4953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The displacement is largest near no association and must vanish at the ceiling. It cannot be subtracted uniformly.</a:t>
            </a:r>
          </a:p>
        </p:txBody>
      </p:sp>
    </p:spTree>
    <p:extLst>
      <p:ext uri="{BB962C8B-B14F-4D97-AF65-F5344CB8AC3E}">
        <p14:creationId xmlns:p14="http://schemas.microsoft.com/office/powerpoint/2010/main" val="41186953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45">
            <a:extLst xmlns:a="http://schemas.openxmlformats.org/drawingml/2006/main">
              <a:ext uri="{FF2B5EF4-FFF2-40B4-BE49-F238E27FC236}">
                <a16:creationId xmlns:a16="http://schemas.microsoft.com/office/drawing/2014/main" id="{E1D2951D-5CFA-48A9-BD3B-A445AB8A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Reversing orientation turns a minimum into a maximum</a:t>
            </a:r>
          </a:p>
        </p:txBody>
      </p:sp>
      <p:sp>
        <p:nvSpPr>
          <p:cNvPr id="2" name="rule-45">
            <a:extLst xmlns:a="http://schemas.openxmlformats.org/drawingml/2006/main">
              <a:ext uri="{FF2B5EF4-FFF2-40B4-BE49-F238E27FC236}">
                <a16:creationId xmlns:a16="http://schemas.microsoft.com/office/drawing/2014/main" id="{FA270EAE-F916-45CD-98D3-4110DF95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45">
            <a:extLst xmlns:a="http://schemas.openxmlformats.org/drawingml/2006/main">
              <a:ext uri="{FF2B5EF4-FFF2-40B4-BE49-F238E27FC236}">
                <a16:creationId xmlns:a16="http://schemas.microsoft.com/office/drawing/2014/main" id="{C2F80036-C350-4BFF-8AED-49C931CA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329CA9E4-379B-4102-94B9-42A22BA6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45</a:t>
            </a:r>
          </a:p>
        </p:txBody>
      </p:sp>
      <p:sp>
        <p:nvSpPr>
          <p:cNvPr id="5" name="formula-panel-45">
            <a:extLst xmlns:a="http://schemas.openxmlformats.org/drawingml/2006/main">
              <a:ext uri="{FF2B5EF4-FFF2-40B4-BE49-F238E27FC236}">
                <a16:creationId xmlns:a16="http://schemas.microsoft.com/office/drawing/2014/main" id="{E590EDF8-0215-4E79-8DCA-31BF5CF1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14288">
            <a:solidFill>
              <a:srgbClr val="0F9D91"/>
            </a:solidFill>
            <a:prstDash val="solid"/>
          </a:ln>
        </p:spPr>
      </p:sp>
      <p:sp>
        <p:nvSpPr>
          <p:cNvPr id="6" name="formula-label-45">
            <a:extLst xmlns:a="http://schemas.openxmlformats.org/drawingml/2006/main">
              <a:ext uri="{FF2B5EF4-FFF2-40B4-BE49-F238E27FC236}">
                <a16:creationId xmlns:a16="http://schemas.microsoft.com/office/drawing/2014/main" id="{54DE14B5-ECAF-48A2-A97E-D64D55D7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45">
            <a:extLst xmlns:a="http://schemas.openxmlformats.org/drawingml/2006/main">
              <a:ext uri="{FF2B5EF4-FFF2-40B4-BE49-F238E27FC236}">
                <a16:creationId xmlns:a16="http://schemas.microsoft.com/office/drawing/2014/main" id="{352581B7-4C3F-4CC9-A374-28E5A960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6388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</m:sub>
                  </m:sSub>
                  <m:r>
                    <m:t>(</m:t>
                  </m:r>
                  <m:r>
                    <m:t>T</m:t>
                  </m:r>
                  <m:r>
                    <m:t>)</m:t>
                  </m:r>
                  <m:r>
                    <m:t>+</m:t>
                  </m:r>
                  <m:sSub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</m:sub>
                  </m:sSub>
                  <m:r>
                    <m:t>(</m:t>
                  </m:r>
                  <m:r>
                    <m:t>-</m:t>
                  </m:r>
                  <m:r>
                    <m:t>T</m:t>
                  </m:r>
                  <m:r>
                    <m:t>)</m:t>
                  </m:r>
                  <m:r>
                    <m:t>=</m:t>
                  </m:r>
                  <m:func>
                    <m:fName>
                      <m:r>
                        <m:t>E</m:t>
                      </m:r>
                    </m:fName>
                    <m:e>
                      <m:d>
                        <m:dPr>
                          <m:begChr m:val="["/>
                          <m:sepChr m:val=","/>
                          <m:endChr m:val="]"/>
                          <m:grow m:val="on"/>
                        </m:dPr>
                        <m:e>
                          <m:sSub>
                            <m:e>
                              <m:r>
                                <m:t>min</m:t>
                              </m:r>
                            </m:e>
                            <m:sub>
                              <m:r>
                                <m:t>j</m:t>
                              </m:r>
                              <m:r>
                                <m:t>≤</m:t>
                              </m:r>
                              <m:r>
                                <m:t>K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r>
                                <m:t>T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  <m:e>
                          <m:r>
                            <m:t>-</m:t>
                          </m:r>
                        </m:e>
                        <m:e>
                          <m:sSub>
                            <m:e>
                              <m:r>
                                <m:t>max</m:t>
                              </m:r>
                            </m:e>
                            <m:sub>
                              <m:r>
                                <m:t>j</m:t>
                              </m:r>
                              <m:r>
                                <m:t>≤</m:t>
                              </m:r>
                              <m:r>
                                <m:t>K</m:t>
                              </m:r>
                            </m:sub>
                          </m:sSub>
                        </m:e>
                        <m:e>
                          <m:sSub>
                            <m:e>
                              <m:r>
                                <m:t>T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d>
                    </m:e>
                  </m:func>
                  <m:r>
                    <m:t>≤</m:t>
                  </m:r>
                  <m:r>
                    <m:t>0</m:t>
                  </m:r>
                </m:oMath>
              </m:oMathPara>
            </a14:m>
          </a:p>
        </p:txBody>
      </p:sp>
      <p:sp>
        <p:nvSpPr>
          <p:cNvPr id="8" name="meaning-label-45">
            <a:extLst xmlns:a="http://schemas.openxmlformats.org/drawingml/2006/main">
              <a:ext uri="{FF2B5EF4-FFF2-40B4-BE49-F238E27FC236}">
                <a16:creationId xmlns:a16="http://schemas.microsoft.com/office/drawing/2014/main" id="{64C3AF6B-DD0C-44D0-B25A-A46EAE56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9" name="meaning-45">
            <a:extLst xmlns:a="http://schemas.openxmlformats.org/drawingml/2006/main">
              <a:ext uri="{FF2B5EF4-FFF2-40B4-BE49-F238E27FC236}">
                <a16:creationId xmlns:a16="http://schemas.microsoft.com/office/drawing/2014/main" id="{DD3416FB-2971-4312-B61A-F54CD58B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Reversing orientation converts the expected minimum into the negative expected maximum.</a:t>
            </a:r>
          </a:p>
        </p:txBody>
      </p:sp>
      <p:sp>
        <p:nvSpPr>
          <p:cNvPr id="10" name="why-45">
            <a:extLst xmlns:a="http://schemas.openxmlformats.org/drawingml/2006/main">
              <a:ext uri="{FF2B5EF4-FFF2-40B4-BE49-F238E27FC236}">
                <a16:creationId xmlns:a16="http://schemas.microsoft.com/office/drawing/2014/main" id="{2861267F-413D-4F7F-9798-98BBB722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At K=2, the negative sum is E|T₁−T₂|: the width of the no-verdict region.</a:t>
            </a:r>
          </a:p>
        </p:txBody>
      </p:sp>
    </p:spTree>
    <p:extLst>
      <p:ext uri="{BB962C8B-B14F-4D97-AF65-F5344CB8AC3E}">
        <p14:creationId xmlns:p14="http://schemas.microsoft.com/office/powerpoint/2010/main" val="94958026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46">
            <a:extLst xmlns:a="http://schemas.openxmlformats.org/drawingml/2006/main">
              <a:ext uri="{FF2B5EF4-FFF2-40B4-BE49-F238E27FC236}">
                <a16:creationId xmlns:a16="http://schemas.microsoft.com/office/drawing/2014/main" id="{6EAEF673-A193-42B9-AE29-2606D6E1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How can tie-averaged AP avoid enumerating tie orders?</a:t>
            </a:r>
          </a:p>
        </p:txBody>
      </p:sp>
      <p:sp>
        <p:nvSpPr>
          <p:cNvPr id="2" name="rule-46">
            <a:extLst xmlns:a="http://schemas.openxmlformats.org/drawingml/2006/main">
              <a:ext uri="{FF2B5EF4-FFF2-40B4-BE49-F238E27FC236}">
                <a16:creationId xmlns:a16="http://schemas.microsoft.com/office/drawing/2014/main" id="{541BFB55-E17E-47FA-A054-FA086CC5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46">
            <a:extLst xmlns:a="http://schemas.openxmlformats.org/drawingml/2006/main">
              <a:ext uri="{FF2B5EF4-FFF2-40B4-BE49-F238E27FC236}">
                <a16:creationId xmlns:a16="http://schemas.microsoft.com/office/drawing/2014/main" id="{6C08C9CC-76E3-4A5C-9EAA-41AC6888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46">
            <a:extLst xmlns:a="http://schemas.openxmlformats.org/drawingml/2006/main">
              <a:ext uri="{FF2B5EF4-FFF2-40B4-BE49-F238E27FC236}">
                <a16:creationId xmlns:a16="http://schemas.microsoft.com/office/drawing/2014/main" id="{35EC9245-1283-4C7F-A366-F39D18E0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46</a:t>
            </a:r>
          </a:p>
        </p:txBody>
      </p:sp>
      <p:sp>
        <p:nvSpPr>
          <p:cNvPr id="5" name="arrow-46-0">
            <a:extLst xmlns:a="http://schemas.openxmlformats.org/drawingml/2006/main">
              <a:ext uri="{FF2B5EF4-FFF2-40B4-BE49-F238E27FC236}">
                <a16:creationId xmlns:a16="http://schemas.microsoft.com/office/drawing/2014/main" id="{E9B6DC03-C622-4AC4-A497-91C33C13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195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46-1">
            <a:extLst xmlns:a="http://schemas.openxmlformats.org/drawingml/2006/main">
              <a:ext uri="{FF2B5EF4-FFF2-40B4-BE49-F238E27FC236}">
                <a16:creationId xmlns:a16="http://schemas.microsoft.com/office/drawing/2014/main" id="{CBCB5EDC-1DC7-45D0-8C15-DB515DE8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195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46-2">
            <a:extLst xmlns:a="http://schemas.openxmlformats.org/drawingml/2006/main">
              <a:ext uri="{FF2B5EF4-FFF2-40B4-BE49-F238E27FC236}">
                <a16:creationId xmlns:a16="http://schemas.microsoft.com/office/drawing/2014/main" id="{EDEF2014-BA74-4E1A-B48D-4E7457C3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46-0">
            <a:extLst xmlns:a="http://schemas.openxmlformats.org/drawingml/2006/main">
              <a:ext uri="{FF2B5EF4-FFF2-40B4-BE49-F238E27FC236}">
                <a16:creationId xmlns:a16="http://schemas.microsoft.com/office/drawing/2014/main" id="{CB08CCB2-3462-4AC4-BE49-9D6E603E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2552700" cy="29527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9" name="step-num-46-0">
            <a:extLst xmlns:a="http://schemas.openxmlformats.org/drawingml/2006/main">
              <a:ext uri="{FF2B5EF4-FFF2-40B4-BE49-F238E27FC236}">
                <a16:creationId xmlns:a16="http://schemas.microsoft.com/office/drawing/2014/main" id="{65FC4E8C-BFE4-4065-BCF7-06FC882E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step-head-46-0">
            <a:extLst xmlns:a="http://schemas.openxmlformats.org/drawingml/2006/main">
              <a:ext uri="{FF2B5EF4-FFF2-40B4-BE49-F238E27FC236}">
                <a16:creationId xmlns:a16="http://schemas.microsoft.com/office/drawing/2014/main" id="{13930C0D-2A48-4353-9222-28ED2027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765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Choose position k</a:t>
            </a:r>
          </a:p>
        </p:txBody>
      </p:sp>
      <p:sp>
        <p:nvSpPr>
          <p:cNvPr id="11" name="step-body-46-0">
            <a:extLst xmlns:a="http://schemas.openxmlformats.org/drawingml/2006/main">
              <a:ext uri="{FF2B5EF4-FFF2-40B4-BE49-F238E27FC236}">
                <a16:creationId xmlns:a16="http://schemas.microsoft.com/office/drawing/2014/main" id="{75A5F2D1-38F9-4FE0-BF9E-A20170E9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Within a block of size mj, k is uniform.</a:t>
            </a:r>
          </a:p>
        </p:txBody>
      </p:sp>
      <p:sp>
        <p:nvSpPr>
          <p:cNvPr id="12" name="step-46-1">
            <a:extLst xmlns:a="http://schemas.openxmlformats.org/drawingml/2006/main">
              <a:ext uri="{FF2B5EF4-FFF2-40B4-BE49-F238E27FC236}">
                <a16:creationId xmlns:a16="http://schemas.microsoft.com/office/drawing/2014/main" id="{83120108-CD94-4A6F-9F8B-AD36DD52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33625"/>
            <a:ext cx="2552700" cy="29527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3" name="step-num-46-1">
            <a:extLst xmlns:a="http://schemas.openxmlformats.org/drawingml/2006/main">
              <a:ext uri="{FF2B5EF4-FFF2-40B4-BE49-F238E27FC236}">
                <a16:creationId xmlns:a16="http://schemas.microsoft.com/office/drawing/2014/main" id="{38673F44-A5C7-481D-8394-E38B280F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62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step-head-46-1">
            <a:extLst xmlns:a="http://schemas.openxmlformats.org/drawingml/2006/main">
              <a:ext uri="{FF2B5EF4-FFF2-40B4-BE49-F238E27FC236}">
                <a16:creationId xmlns:a16="http://schemas.microsoft.com/office/drawing/2014/main" id="{CB4221F7-CD9E-466E-8EE5-D9D63F65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765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Count earlier positives t</a:t>
            </a:r>
          </a:p>
        </p:txBody>
      </p:sp>
      <p:sp>
        <p:nvSpPr>
          <p:cNvPr id="15" name="step-body-46-1">
            <a:extLst xmlns:a="http://schemas.openxmlformats.org/drawingml/2006/main">
              <a:ext uri="{FF2B5EF4-FFF2-40B4-BE49-F238E27FC236}">
                <a16:creationId xmlns:a16="http://schemas.microsoft.com/office/drawing/2014/main" id="{14983F89-3F82-4495-8901-869324AA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t follows a hypergeometric law.</a:t>
            </a:r>
          </a:p>
        </p:txBody>
      </p:sp>
      <p:sp>
        <p:nvSpPr>
          <p:cNvPr id="16" name="step-46-2">
            <a:extLst xmlns:a="http://schemas.openxmlformats.org/drawingml/2006/main">
              <a:ext uri="{FF2B5EF4-FFF2-40B4-BE49-F238E27FC236}">
                <a16:creationId xmlns:a16="http://schemas.microsoft.com/office/drawing/2014/main" id="{C35E7E90-AAA8-4236-A0C6-93CDF3DE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2552700" cy="29527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7" name="step-num-46-2">
            <a:extLst xmlns:a="http://schemas.openxmlformats.org/drawingml/2006/main">
              <a:ext uri="{FF2B5EF4-FFF2-40B4-BE49-F238E27FC236}">
                <a16:creationId xmlns:a16="http://schemas.microsoft.com/office/drawing/2014/main" id="{26B98328-8312-49CE-94F5-4E15B9EF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2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step-head-46-2">
            <a:extLst xmlns:a="http://schemas.openxmlformats.org/drawingml/2006/main">
              <a:ext uri="{FF2B5EF4-FFF2-40B4-BE49-F238E27FC236}">
                <a16:creationId xmlns:a16="http://schemas.microsoft.com/office/drawing/2014/main" id="{7DC14B30-8BFD-4C17-801E-8E856468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765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Compute rjkt and fjkt</a:t>
            </a:r>
          </a:p>
        </p:txBody>
      </p:sp>
      <p:sp>
        <p:nvSpPr>
          <p:cNvPr id="19" name="step-body-46-2">
            <a:extLst xmlns:a="http://schemas.openxmlformats.org/drawingml/2006/main">
              <a:ext uri="{FF2B5EF4-FFF2-40B4-BE49-F238E27FC236}">
                <a16:creationId xmlns:a16="http://schemas.microsoft.com/office/drawing/2014/main" id="{4ED3E7B4-366B-4413-9A5E-098C03F5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Add preceding blocks and the within-block counts.</a:t>
            </a:r>
          </a:p>
        </p:txBody>
      </p:sp>
      <p:sp>
        <p:nvSpPr>
          <p:cNvPr id="20" name="step-46-3">
            <a:extLst xmlns:a="http://schemas.openxmlformats.org/drawingml/2006/main">
              <a:ext uri="{FF2B5EF4-FFF2-40B4-BE49-F238E27FC236}">
                <a16:creationId xmlns:a16="http://schemas.microsoft.com/office/drawing/2014/main" id="{2B71C32D-3012-48BA-85AA-0241264F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552700" cy="29527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21" name="step-num-46-3">
            <a:extLst xmlns:a="http://schemas.openxmlformats.org/drawingml/2006/main">
              <a:ext uri="{FF2B5EF4-FFF2-40B4-BE49-F238E27FC236}">
                <a16:creationId xmlns:a16="http://schemas.microsoft.com/office/drawing/2014/main" id="{4BD72632-F97A-4F8D-B6F7-6A8C71B9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62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step-head-46-3">
            <a:extLst xmlns:a="http://schemas.openxmlformats.org/drawingml/2006/main">
              <a:ext uri="{FF2B5EF4-FFF2-40B4-BE49-F238E27FC236}">
                <a16:creationId xmlns:a16="http://schemas.microsoft.com/office/drawing/2014/main" id="{4B0788D4-E8DF-4590-BDC6-AB929197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765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Average and sum</a:t>
            </a:r>
          </a:p>
        </p:txBody>
      </p:sp>
      <p:sp>
        <p:nvSpPr>
          <p:cNvPr id="23" name="step-body-46-3">
            <a:extLst xmlns:a="http://schemas.openxmlformats.org/drawingml/2006/main">
              <a:ext uri="{FF2B5EF4-FFF2-40B4-BE49-F238E27FC236}">
                <a16:creationId xmlns:a16="http://schemas.microsoft.com/office/drawing/2014/main" id="{2E41F26C-5C2F-4C8B-A559-F54AF1CC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005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Reuse combinatorial weights across π values.</a:t>
            </a:r>
          </a:p>
        </p:txBody>
      </p:sp>
      <p:sp>
        <p:nvSpPr>
          <p:cNvPr id="24" name="lead-46">
            <a:extLst xmlns:a="http://schemas.openxmlformats.org/drawingml/2006/main">
              <a:ext uri="{FF2B5EF4-FFF2-40B4-BE49-F238E27FC236}">
                <a16:creationId xmlns:a16="http://schemas.microsoft.com/office/drawing/2014/main" id="{AD386FC9-D2AB-486F-831F-05530C68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For each score block, average the precision contribution of one representative positive.</a:t>
            </a:r>
          </a:p>
        </p:txBody>
      </p:sp>
    </p:spTree>
    <p:extLst>
      <p:ext uri="{BB962C8B-B14F-4D97-AF65-F5344CB8AC3E}">
        <p14:creationId xmlns:p14="http://schemas.microsoft.com/office/powerpoint/2010/main" val="159200690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47">
            <a:extLst xmlns:a="http://schemas.openxmlformats.org/drawingml/2006/main">
              <a:ext uri="{FF2B5EF4-FFF2-40B4-BE49-F238E27FC236}">
                <a16:creationId xmlns:a16="http://schemas.microsoft.com/office/drawing/2014/main" id="{2127E469-7413-4910-979F-B48C2351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Sorting yields the complete order-K support estimator</a:t>
            </a:r>
          </a:p>
        </p:txBody>
      </p:sp>
      <p:sp>
        <p:nvSpPr>
          <p:cNvPr id="2" name="rule-47">
            <a:extLst xmlns:a="http://schemas.openxmlformats.org/drawingml/2006/main">
              <a:ext uri="{FF2B5EF4-FFF2-40B4-BE49-F238E27FC236}">
                <a16:creationId xmlns:a16="http://schemas.microsoft.com/office/drawing/2014/main" id="{225520C0-C57B-4B45-8C7A-B5399F04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47">
            <a:extLst xmlns:a="http://schemas.openxmlformats.org/drawingml/2006/main">
              <a:ext uri="{FF2B5EF4-FFF2-40B4-BE49-F238E27FC236}">
                <a16:creationId xmlns:a16="http://schemas.microsoft.com/office/drawing/2014/main" id="{14A121D4-752B-47AA-ABBD-C69DA9F8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47">
            <a:extLst xmlns:a="http://schemas.openxmlformats.org/drawingml/2006/main">
              <a:ext uri="{FF2B5EF4-FFF2-40B4-BE49-F238E27FC236}">
                <a16:creationId xmlns:a16="http://schemas.microsoft.com/office/drawing/2014/main" id="{E3E09735-C085-405F-ABAC-6AEE356F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47</a:t>
            </a:r>
          </a:p>
        </p:txBody>
      </p:sp>
      <p:sp>
        <p:nvSpPr>
          <p:cNvPr id="5" name="formula-panel-47">
            <a:extLst xmlns:a="http://schemas.openxmlformats.org/drawingml/2006/main">
              <a:ext uri="{FF2B5EF4-FFF2-40B4-BE49-F238E27FC236}">
                <a16:creationId xmlns:a16="http://schemas.microsoft.com/office/drawing/2014/main" id="{03C64AA3-5ADE-4FE8-A1F3-7361AD49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</p:sp>
      <p:sp>
        <p:nvSpPr>
          <p:cNvPr id="6" name="formula-label-47">
            <a:extLst xmlns:a="http://schemas.openxmlformats.org/drawingml/2006/main">
              <a:ext uri="{FF2B5EF4-FFF2-40B4-BE49-F238E27FC236}">
                <a16:creationId xmlns:a16="http://schemas.microsoft.com/office/drawing/2014/main" id="{E6855CA2-8D93-4D38-BE4D-7BE17D63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47">
            <a:extLst xmlns:a="http://schemas.openxmlformats.org/drawingml/2006/main">
              <a:ext uri="{FF2B5EF4-FFF2-40B4-BE49-F238E27FC236}">
                <a16:creationId xmlns:a16="http://schemas.microsoft.com/office/drawing/2014/main" id="{14B98ABB-3669-40CF-AD0D-D3764E91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6388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S</m:t>
                      </m:r>
                    </m:e>
                    <m:sub>
                      <m:r>
                        <m:t>K</m:t>
                      </m:r>
                      <m:r>
                        <m:t>,</m:t>
                      </m:r>
                      <m:r>
                        <m:rPr>
                          <m:nor/>
                          <m:sty m:val="p"/>
                        </m:rPr>
                        <m:t>est</m:t>
                      </m:r>
                    </m:sub>
                  </m:sSub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r>
                        <m:rPr>
                          <m:nor/>
                          <m:sty m:val="p"/>
                        </m:rPr>
                        <m:t/>
                      </m:r>
                      <m:r>
                        <m:t>C</m:t>
                      </m:r>
                      <m:r>
                        <m:t>(</m:t>
                      </m:r>
                      <m:r>
                        <m:t>B</m:t>
                      </m:r>
                      <m:r>
                        <m:t>,</m:t>
                      </m:r>
                      <m:r>
                        <m:t>K</m:t>
                      </m:r>
                      <m:r>
                        <m:t>)</m:t>
                      </m:r>
                    </m:den>
                  </m:f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m:t>i</m:t>
                      </m:r>
                      <m:r>
                        <m:t>=</m:t>
                      </m:r>
                      <m:r>
                        <m:t>1</m:t>
                      </m:r>
                    </m:sub>
                    <m:sup>
                      <m:r>
                        <m:t>B</m:t>
                      </m:r>
                      <m:r>
                        <m:t>-</m:t>
                      </m:r>
                      <m:r>
                        <m:t>K</m:t>
                      </m:r>
                      <m:r>
                        <m:t>+</m:t>
                      </m:r>
                      <m:r>
                        <m:t>1</m:t>
                      </m:r>
                    </m:sup>
                    <m:e>
                      <m:r>
                        <m:rPr>
                          <m:nor/>
                          <m:sty m:val="p"/>
                        </m:rPr>
                        <m:t/>
                      </m:r>
                      <m:r>
                        <m:t>C</m:t>
                      </m:r>
                      <m:r>
                        <m:t>(</m:t>
                      </m:r>
                      <m:r>
                        <m:t>B</m:t>
                      </m:r>
                      <m:r>
                        <m:t>-</m:t>
                      </m:r>
                      <m:r>
                        <m:t>i</m:t>
                      </m:r>
                      <m:r>
                        <m:t>,</m:t>
                      </m:r>
                      <m:r>
                        <m:t>K</m:t>
                      </m:r>
                      <m:r>
                        <m:t>-</m:t>
                      </m:r>
                      <m:r>
                        <m:t>1</m:t>
                      </m:r>
                      <m:r>
                        <m:t>)</m:t>
                      </m:r>
                      <m:r>
                        <m:t xml:space="preserve"> </m:t>
                      </m:r>
                      <m:sSub>
                        <m:e>
                          <m:r>
                            <m:t>z</m:t>
                          </m:r>
                        </m:e>
                        <m:sub>
                          <m:r>
                            <m:t>(</m:t>
                          </m:r>
                          <m:r>
                            <m:t>i</m:t>
                          </m:r>
                          <m:r>
                            <m:t>)</m:t>
                          </m:r>
                        </m:sub>
                      </m:sSub>
                    </m:e>
                  </m:nary>
                </m:oMath>
              </m:oMathPara>
            </a14:m>
          </a:p>
        </p:txBody>
      </p:sp>
      <p:sp>
        <p:nvSpPr>
          <p:cNvPr id="8" name="meaning-label-47">
            <a:extLst xmlns:a="http://schemas.openxmlformats.org/drawingml/2006/main">
              <a:ext uri="{FF2B5EF4-FFF2-40B4-BE49-F238E27FC236}">
                <a16:creationId xmlns:a16="http://schemas.microsoft.com/office/drawing/2014/main" id="{4F116D74-C095-4963-A866-B64B8297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F80ED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9" name="meaning-47">
            <a:extLst xmlns:a="http://schemas.openxmlformats.org/drawingml/2006/main">
              <a:ext uri="{FF2B5EF4-FFF2-40B4-BE49-F238E27FC236}">
                <a16:creationId xmlns:a16="http://schemas.microsoft.com/office/drawing/2014/main" id="{127B8666-D5B1-4337-8243-9EB2336D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z(i) is the minimum in every K-subset that contains it and K−1 larger effects.</a:t>
            </a:r>
          </a:p>
        </p:txBody>
      </p:sp>
      <p:sp>
        <p:nvSpPr>
          <p:cNvPr id="10" name="why-47">
            <a:extLst xmlns:a="http://schemas.openxmlformats.org/drawingml/2006/main">
              <a:ext uri="{FF2B5EF4-FFF2-40B4-BE49-F238E27FC236}">
                <a16:creationId xmlns:a16="http://schemas.microsoft.com/office/drawing/2014/main" id="{E2170256-5A01-48FC-9C17-AB36A9F5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Sorting avoids enumerating all C(B,K) subsets. For K=2, the weight is proportional to B−i.</a:t>
            </a:r>
          </a:p>
        </p:txBody>
      </p:sp>
    </p:spTree>
    <p:extLst>
      <p:ext uri="{BB962C8B-B14F-4D97-AF65-F5344CB8AC3E}">
        <p14:creationId xmlns:p14="http://schemas.microsoft.com/office/powerpoint/2010/main" val="141130301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48">
            <a:extLst xmlns:a="http://schemas.openxmlformats.org/drawingml/2006/main">
              <a:ext uri="{FF2B5EF4-FFF2-40B4-BE49-F238E27FC236}">
                <a16:creationId xmlns:a16="http://schemas.microsoft.com/office/drawing/2014/main" id="{5C7769EF-F5AE-464B-984F-A934B929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Leave-one-replication projections quantify Monte Carlo error</a:t>
            </a:r>
          </a:p>
        </p:txBody>
      </p:sp>
      <p:sp>
        <p:nvSpPr>
          <p:cNvPr id="2" name="rule-48">
            <a:extLst xmlns:a="http://schemas.openxmlformats.org/drawingml/2006/main">
              <a:ext uri="{FF2B5EF4-FFF2-40B4-BE49-F238E27FC236}">
                <a16:creationId xmlns:a16="http://schemas.microsoft.com/office/drawing/2014/main" id="{2F8F4A43-AE5D-462B-8E76-70F65443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48">
            <a:extLst xmlns:a="http://schemas.openxmlformats.org/drawingml/2006/main">
              <a:ext uri="{FF2B5EF4-FFF2-40B4-BE49-F238E27FC236}">
                <a16:creationId xmlns:a16="http://schemas.microsoft.com/office/drawing/2014/main" id="{8725ABE3-8C4A-4A1F-AA69-EEADA427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48">
            <a:extLst xmlns:a="http://schemas.openxmlformats.org/drawingml/2006/main">
              <a:ext uri="{FF2B5EF4-FFF2-40B4-BE49-F238E27FC236}">
                <a16:creationId xmlns:a16="http://schemas.microsoft.com/office/drawing/2014/main" id="{37101EBD-4494-4FDB-99ED-CEB884B2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48</a:t>
            </a:r>
          </a:p>
        </p:txBody>
      </p:sp>
      <p:sp>
        <p:nvSpPr>
          <p:cNvPr id="5" name="formula-panel-48">
            <a:extLst xmlns:a="http://schemas.openxmlformats.org/drawingml/2006/main">
              <a:ext uri="{FF2B5EF4-FFF2-40B4-BE49-F238E27FC236}">
                <a16:creationId xmlns:a16="http://schemas.microsoft.com/office/drawing/2014/main" id="{0A57C1EB-978F-4D82-9081-205F05FF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286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14288">
            <a:solidFill>
              <a:srgbClr val="0F9D91"/>
            </a:solidFill>
            <a:prstDash val="solid"/>
          </a:ln>
        </p:spPr>
      </p:sp>
      <p:sp>
        <p:nvSpPr>
          <p:cNvPr id="6" name="formula-label-48">
            <a:extLst xmlns:a="http://schemas.openxmlformats.org/drawingml/2006/main">
              <a:ext uri="{FF2B5EF4-FFF2-40B4-BE49-F238E27FC236}">
                <a16:creationId xmlns:a16="http://schemas.microsoft.com/office/drawing/2014/main" id="{41CCA602-39F2-4D33-840B-1B6AF261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FORM</a:t>
            </a:r>
          </a:p>
        </p:txBody>
      </p:sp>
      <p:sp>
        <p:nvSpPr>
          <p:cNvPr id="7" name="formula-48">
            <a:extLst xmlns:a="http://schemas.openxmlformats.org/drawingml/2006/main">
              <a:ext uri="{FF2B5EF4-FFF2-40B4-BE49-F238E27FC236}">
                <a16:creationId xmlns:a16="http://schemas.microsoft.com/office/drawing/2014/main" id="{8FF9410E-C0DD-43ED-801E-F371E906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6388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/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m:t>SE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m:t>MC</m:t>
                      </m:r>
                    </m:sub>
                  </m:sSub>
                  <m:r>
                    <m:t>=</m:t>
                  </m:r>
                  <m:f>
                    <m:fPr>
                      <m:type m:val="bar"/>
                    </m:fPr>
                    <m:num>
                      <m:r>
                        <m:t>2</m:t>
                      </m:r>
                    </m:num>
                    <m:den>
                      <m:rad>
                        <m:radPr>
                          <m:degHide m:val="on"/>
                        </m:radPr>
                        <m:e>
                          <m:r>
                            <m:t>B</m:t>
                          </m:r>
                        </m:e>
                      </m:rad>
                    </m:den>
                  </m:f>
                  <m:sSub>
                    <m:e>
                      <m:r>
                        <m:t>sd</m:t>
                      </m:r>
                    </m:e>
                    <m:sub>
                      <m:r>
                        <m:t>i</m:t>
                      </m:r>
                    </m:sub>
                  </m:sSub>
                  <m:d>
                    <m:dPr>
                      <m:begChr m:val="{"/>
                      <m:sepChr m:val=","/>
                      <m:endChr m:val="}"/>
                      <m:grow m:val="on"/>
                    </m:dPr>
                    <m:e>
                      <m:sSubSup>
                        <m:e>
                          <m:r>
                            <m:t>h</m:t>
                          </m:r>
                        </m:e>
                        <m:sub>
                          <m:r>
                            <m:t>1</m:t>
                          </m:r>
                          <m:r>
                            <m:t>,</m:t>
                          </m:r>
                          <m:r>
                            <m:t>-</m:t>
                          </m:r>
                          <m:r>
                            <m:t>i</m:t>
                          </m:r>
                        </m:sub>
                        <m:sup>
                          <m:r>
                            <m:rPr>
                              <m:nor/>
                              <m:sty m:val="p"/>
                            </m:rPr>
                            <m:t>est</m:t>
                          </m:r>
                        </m:sup>
                      </m:sSubSup>
                    </m:e>
                    <m:e>
                      <m:r>
                        <m:t>(</m:t>
                      </m:r>
                    </m:e>
                    <m:e>
                      <m:sSub>
                        <m:e>
                          <m:r>
                            <m:t>z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e>
                    <m:e>
                      <m:r>
                        <m:t>)</m:t>
                      </m:r>
                    </m:e>
                  </m:d>
                </m:oMath>
              </m:oMathPara>
            </a14:m>
          </a:p>
        </p:txBody>
      </p:sp>
      <p:sp>
        <p:nvSpPr>
          <p:cNvPr id="8" name="meaning-label-48">
            <a:extLst xmlns:a="http://schemas.openxmlformats.org/drawingml/2006/main">
              <a:ext uri="{FF2B5EF4-FFF2-40B4-BE49-F238E27FC236}">
                <a16:creationId xmlns:a16="http://schemas.microsoft.com/office/drawing/2014/main" id="{9121F202-FD42-4903-A9C9-189664A3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0F9D91"/>
                </a:solidFill>
                <a:latin typeface="Helvetica Neue"/>
                <a:ea typeface="Helvetica Neue"/>
                <a:cs typeface="Helvetica Neue"/>
              </a:rPr>
              <a:t>READ IT AS</a:t>
            </a:r>
          </a:p>
        </p:txBody>
      </p:sp>
      <p:sp>
        <p:nvSpPr>
          <p:cNvPr id="9" name="meaning-48">
            <a:extLst xmlns:a="http://schemas.openxmlformats.org/drawingml/2006/main">
              <a:ext uri="{FF2B5EF4-FFF2-40B4-BE49-F238E27FC236}">
                <a16:creationId xmlns:a16="http://schemas.microsoft.com/office/drawing/2014/main" id="{38E7FB7A-0A3A-4F89-BA06-13B5FA99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Measure how much each computational replication influences its average pairwise minimum.</a:t>
            </a:r>
          </a:p>
        </p:txBody>
      </p:sp>
      <p:sp>
        <p:nvSpPr>
          <p:cNvPr id="10" name="why-48">
            <a:extLst xmlns:a="http://schemas.openxmlformats.org/drawingml/2006/main">
              <a:ext uri="{FF2B5EF4-FFF2-40B4-BE49-F238E27FC236}">
                <a16:creationId xmlns:a16="http://schemas.microsoft.com/office/drawing/2014/main" id="{AB697C31-9322-4871-B507-5EC2C836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Prefix sums compute all projections after sorting. Conditional permutation adds a second Monte Carlo component governed by M.</a:t>
            </a:r>
          </a:p>
        </p:txBody>
      </p:sp>
    </p:spTree>
    <p:extLst>
      <p:ext uri="{BB962C8B-B14F-4D97-AF65-F5344CB8AC3E}">
        <p14:creationId xmlns:p14="http://schemas.microsoft.com/office/powerpoint/2010/main" val="70107834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49">
            <a:extLst xmlns:a="http://schemas.openxmlformats.org/drawingml/2006/main">
              <a:ext uri="{FF2B5EF4-FFF2-40B4-BE49-F238E27FC236}">
                <a16:creationId xmlns:a16="http://schemas.microsoft.com/office/drawing/2014/main" id="{AAB8698D-3353-4DEC-89CF-D354DE85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Efficient prevalence evaluation reuses threshold structure</a:t>
            </a:r>
          </a:p>
        </p:txBody>
      </p:sp>
      <p:sp>
        <p:nvSpPr>
          <p:cNvPr id="2" name="rule-49">
            <a:extLst xmlns:a="http://schemas.openxmlformats.org/drawingml/2006/main">
              <a:ext uri="{FF2B5EF4-FFF2-40B4-BE49-F238E27FC236}">
                <a16:creationId xmlns:a16="http://schemas.microsoft.com/office/drawing/2014/main" id="{03F4119C-FB03-4143-81A1-7CE312C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49">
            <a:extLst xmlns:a="http://schemas.openxmlformats.org/drawingml/2006/main">
              <a:ext uri="{FF2B5EF4-FFF2-40B4-BE49-F238E27FC236}">
                <a16:creationId xmlns:a16="http://schemas.microsoft.com/office/drawing/2014/main" id="{2036D8A8-4868-4B3D-98B7-CAD84675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49">
            <a:extLst xmlns:a="http://schemas.openxmlformats.org/drawingml/2006/main">
              <a:ext uri="{FF2B5EF4-FFF2-40B4-BE49-F238E27FC236}">
                <a16:creationId xmlns:a16="http://schemas.microsoft.com/office/drawing/2014/main" id="{E2EE77C5-5496-4E12-B252-7F25E3F0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49</a:t>
            </a:r>
          </a:p>
        </p:txBody>
      </p:sp>
      <p:sp>
        <p:nvSpPr>
          <p:cNvPr id="5" name="card-49-0">
            <a:extLst xmlns:a="http://schemas.openxmlformats.org/drawingml/2006/main">
              <a:ext uri="{FF2B5EF4-FFF2-40B4-BE49-F238E27FC236}">
                <a16:creationId xmlns:a16="http://schemas.microsoft.com/office/drawing/2014/main" id="{BBC6686B-F46C-4732-B2FD-CFC394A5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6" name="num-49-0">
            <a:extLst xmlns:a="http://schemas.openxmlformats.org/drawingml/2006/main">
              <a:ext uri="{FF2B5EF4-FFF2-40B4-BE49-F238E27FC236}">
                <a16:creationId xmlns:a16="http://schemas.microsoft.com/office/drawing/2014/main" id="{CB9BF5D5-0D46-47D6-ADD3-8D1AA600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FINITE SET</a:t>
            </a:r>
          </a:p>
        </p:txBody>
      </p:sp>
      <p:sp>
        <p:nvSpPr>
          <p:cNvPr id="7" name="head-49-0">
            <a:extLst xmlns:a="http://schemas.openxmlformats.org/drawingml/2006/main">
              <a:ext uri="{FF2B5EF4-FFF2-40B4-BE49-F238E27FC236}">
                <a16:creationId xmlns:a16="http://schemas.microsoft.com/office/drawing/2014/main" id="{F1B99768-6C96-4159-B4D3-0F61175A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Reuse threshold counts</a:t>
            </a:r>
          </a:p>
        </p:txBody>
      </p:sp>
      <p:sp>
        <p:nvSpPr>
          <p:cNvPr id="8" name="body-49-0">
            <a:extLst xmlns:a="http://schemas.openxmlformats.org/drawingml/2006/main">
              <a:ext uri="{FF2B5EF4-FFF2-40B4-BE49-F238E27FC236}">
                <a16:creationId xmlns:a16="http://schemas.microsoft.com/office/drawing/2014/main" id="{EDD90CB7-4DE8-47FE-A211-A969DBAF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Ordinary block AP costs O(BGH) for B bootstraps, G prevalences, H thresholds.</a:t>
            </a:r>
          </a:p>
        </p:txBody>
      </p:sp>
      <p:sp>
        <p:nvSpPr>
          <p:cNvPr id="9" name="card-49-1">
            <a:extLst xmlns:a="http://schemas.openxmlformats.org/drawingml/2006/main">
              <a:ext uri="{FF2B5EF4-FFF2-40B4-BE49-F238E27FC236}">
                <a16:creationId xmlns:a16="http://schemas.microsoft.com/office/drawing/2014/main" id="{F2D1B7AB-6F91-4D86-BC0D-9F99B328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0" name="num-49-1">
            <a:extLst xmlns:a="http://schemas.openxmlformats.org/drawingml/2006/main">
              <a:ext uri="{FF2B5EF4-FFF2-40B4-BE49-F238E27FC236}">
                <a16:creationId xmlns:a16="http://schemas.microsoft.com/office/drawing/2014/main" id="{462C16BC-F5C8-45B1-9CF5-CEA4B079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PAIRED TIES</a:t>
            </a:r>
          </a:p>
        </p:txBody>
      </p:sp>
      <p:sp>
        <p:nvSpPr>
          <p:cNvPr id="11" name="head-49-1">
            <a:extLst xmlns:a="http://schemas.openxmlformats.org/drawingml/2006/main">
              <a:ext uri="{FF2B5EF4-FFF2-40B4-BE49-F238E27FC236}">
                <a16:creationId xmlns:a16="http://schemas.microsoft.com/office/drawing/2014/main" id="{359C4DB6-2FCB-4FCE-9D00-6CFC6CDC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Reuse block combinatorics</a:t>
            </a:r>
          </a:p>
        </p:txBody>
      </p:sp>
      <p:sp>
        <p:nvSpPr>
          <p:cNvPr id="12" name="body-49-1">
            <a:extLst xmlns:a="http://schemas.openxmlformats.org/drawingml/2006/main">
              <a:ext uri="{FF2B5EF4-FFF2-40B4-BE49-F238E27FC236}">
                <a16:creationId xmlns:a16="http://schemas.microsoft.com/office/drawing/2014/main" id="{89561C9A-3D7D-4A48-80C6-C35360DD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Only the prevalence-dependent precision term changes.</a:t>
            </a:r>
          </a:p>
        </p:txBody>
      </p:sp>
      <p:sp>
        <p:nvSpPr>
          <p:cNvPr id="13" name="card-49-2">
            <a:extLst xmlns:a="http://schemas.openxmlformats.org/drawingml/2006/main">
              <a:ext uri="{FF2B5EF4-FFF2-40B4-BE49-F238E27FC236}">
                <a16:creationId xmlns:a16="http://schemas.microsoft.com/office/drawing/2014/main" id="{ACEA6F0F-503C-471C-BE05-22E943A9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81400" cy="3714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4" name="num-49-2">
            <a:extLst xmlns:a="http://schemas.openxmlformats.org/drawingml/2006/main">
              <a:ext uri="{FF2B5EF4-FFF2-40B4-BE49-F238E27FC236}">
                <a16:creationId xmlns:a16="http://schemas.microsoft.com/office/drawing/2014/main" id="{3858FE63-6A5C-486A-B821-4CFCCEA7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38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79B22"/>
                </a:solidFill>
                <a:latin typeface="Helvetica Neue"/>
                <a:ea typeface="Helvetica Neue"/>
                <a:cs typeface="Helvetica Neue"/>
              </a:rPr>
              <a:t>INTERVAL</a:t>
            </a:r>
          </a:p>
        </p:txBody>
      </p:sp>
      <p:sp>
        <p:nvSpPr>
          <p:cNvPr id="15" name="head-49-2">
            <a:extLst xmlns:a="http://schemas.openxmlformats.org/drawingml/2006/main">
              <a:ext uri="{FF2B5EF4-FFF2-40B4-BE49-F238E27FC236}">
                <a16:creationId xmlns:a16="http://schemas.microsoft.com/office/drawing/2014/main" id="{F5EA2034-09BE-4B3F-8AF1-9EFA3EE6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Optimize one dimension</a:t>
            </a:r>
          </a:p>
        </p:txBody>
      </p:sp>
      <p:sp>
        <p:nvSpPr>
          <p:cNvPr id="16" name="body-49-2">
            <a:extLst xmlns:a="http://schemas.openxmlformats.org/drawingml/2006/main">
              <a:ext uri="{FF2B5EF4-FFF2-40B4-BE49-F238E27FC236}">
                <a16:creationId xmlns:a16="http://schemas.microsoft.com/office/drawing/2014/main" id="{8A94BEC9-94C9-4EE9-949A-90559280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62375"/>
            <a:ext cx="300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Check endpoints and stationary points; validate against a dense grid.</a:t>
            </a:r>
          </a:p>
        </p:txBody>
      </p:sp>
    </p:spTree>
    <p:extLst>
      <p:ext uri="{BB962C8B-B14F-4D97-AF65-F5344CB8AC3E}">
        <p14:creationId xmlns:p14="http://schemas.microsoft.com/office/powerpoint/2010/main" val="83181480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50">
            <a:extLst xmlns:a="http://schemas.openxmlformats.org/drawingml/2006/main">
              <a:ext uri="{FF2B5EF4-FFF2-40B4-BE49-F238E27FC236}">
                <a16:creationId xmlns:a16="http://schemas.microsoft.com/office/drawing/2014/main" id="{38FA7122-EB17-42EB-A4B3-21603FC4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Outer confidence bounds must repeat the full inner procedure</a:t>
            </a:r>
          </a:p>
        </p:txBody>
      </p:sp>
      <p:sp>
        <p:nvSpPr>
          <p:cNvPr id="2" name="rule-50">
            <a:extLst xmlns:a="http://schemas.openxmlformats.org/drawingml/2006/main">
              <a:ext uri="{FF2B5EF4-FFF2-40B4-BE49-F238E27FC236}">
                <a16:creationId xmlns:a16="http://schemas.microsoft.com/office/drawing/2014/main" id="{C01A1DC7-E518-45FC-8A57-0E23C82E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footer-50">
            <a:extLst xmlns:a="http://schemas.openxmlformats.org/drawingml/2006/main">
              <a:ext uri="{FF2B5EF4-FFF2-40B4-BE49-F238E27FC236}">
                <a16:creationId xmlns:a16="http://schemas.microsoft.com/office/drawing/2014/main" id="{6C19489E-CAB6-4158-90EF-DF7D4DAA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Supported model comparison across target prevalences</a:t>
            </a:r>
          </a:p>
        </p:txBody>
      </p:sp>
      <p:sp>
        <p:nvSpPr>
          <p:cNvPr id="4" name="page-50">
            <a:extLst xmlns:a="http://schemas.openxmlformats.org/drawingml/2006/main">
              <a:ext uri="{FF2B5EF4-FFF2-40B4-BE49-F238E27FC236}">
                <a16:creationId xmlns:a16="http://schemas.microsoft.com/office/drawing/2014/main" id="{BB690C05-44D4-4730-875C-8ADBACA5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50</a:t>
            </a:r>
          </a:p>
        </p:txBody>
      </p:sp>
      <p:sp>
        <p:nvSpPr>
          <p:cNvPr id="5" name="arrow-50-0">
            <a:extLst xmlns:a="http://schemas.openxmlformats.org/drawingml/2006/main">
              <a:ext uri="{FF2B5EF4-FFF2-40B4-BE49-F238E27FC236}">
                <a16:creationId xmlns:a16="http://schemas.microsoft.com/office/drawing/2014/main" id="{EBE26F30-E92E-43E3-82DB-72B2AA21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195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50-1">
            <a:extLst xmlns:a="http://schemas.openxmlformats.org/drawingml/2006/main">
              <a:ext uri="{FF2B5EF4-FFF2-40B4-BE49-F238E27FC236}">
                <a16:creationId xmlns:a16="http://schemas.microsoft.com/office/drawing/2014/main" id="{76D592B6-BF15-429B-B378-B3319E6D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195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50-2">
            <a:extLst xmlns:a="http://schemas.openxmlformats.org/drawingml/2006/main">
              <a:ext uri="{FF2B5EF4-FFF2-40B4-BE49-F238E27FC236}">
                <a16:creationId xmlns:a16="http://schemas.microsoft.com/office/drawing/2014/main" id="{B3341083-F3F6-4172-B34B-DF687AFE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50-0">
            <a:extLst xmlns:a="http://schemas.openxmlformats.org/drawingml/2006/main">
              <a:ext uri="{FF2B5EF4-FFF2-40B4-BE49-F238E27FC236}">
                <a16:creationId xmlns:a16="http://schemas.microsoft.com/office/drawing/2014/main" id="{03F094EC-4458-4849-BB09-B2FEC052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2552700" cy="29527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CEDE8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9" name="step-num-50-0">
            <a:extLst xmlns:a="http://schemas.openxmlformats.org/drawingml/2006/main">
              <a:ext uri="{FF2B5EF4-FFF2-40B4-BE49-F238E27FC236}">
                <a16:creationId xmlns:a16="http://schemas.microsoft.com/office/drawing/2014/main" id="{F51BEF85-B799-4E30-9529-EBE30ACD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step-head-50-0">
            <a:extLst xmlns:a="http://schemas.openxmlformats.org/drawingml/2006/main">
              <a:ext uri="{FF2B5EF4-FFF2-40B4-BE49-F238E27FC236}">
                <a16:creationId xmlns:a16="http://schemas.microsoft.com/office/drawing/2014/main" id="{DB049E0A-F50E-490E-9EF1-A9E95A3B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765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Outer sample</a:t>
            </a:r>
          </a:p>
        </p:txBody>
      </p:sp>
      <p:sp>
        <p:nvSpPr>
          <p:cNvPr id="11" name="step-body-50-0">
            <a:extLst xmlns:a="http://schemas.openxmlformats.org/drawingml/2006/main">
              <a:ext uri="{FF2B5EF4-FFF2-40B4-BE49-F238E27FC236}">
                <a16:creationId xmlns:a16="http://schemas.microsoft.com/office/drawing/2014/main" id="{4BED8858-C523-4989-98F5-5009A5E3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Resample the observed evaluation within class.</a:t>
            </a:r>
          </a:p>
        </p:txBody>
      </p:sp>
      <p:sp>
        <p:nvSpPr>
          <p:cNvPr id="12" name="step-50-1">
            <a:extLst xmlns:a="http://schemas.openxmlformats.org/drawingml/2006/main">
              <a:ext uri="{FF2B5EF4-FFF2-40B4-BE49-F238E27FC236}">
                <a16:creationId xmlns:a16="http://schemas.microsoft.com/office/drawing/2014/main" id="{F8D16CAE-C793-4010-871B-92123763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33625"/>
            <a:ext cx="2552700" cy="29527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3" name="step-num-50-1">
            <a:extLst xmlns:a="http://schemas.openxmlformats.org/drawingml/2006/main">
              <a:ext uri="{FF2B5EF4-FFF2-40B4-BE49-F238E27FC236}">
                <a16:creationId xmlns:a16="http://schemas.microsoft.com/office/drawing/2014/main" id="{02069282-A136-4EBD-A663-84C28A5B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62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step-head-50-1">
            <a:extLst xmlns:a="http://schemas.openxmlformats.org/drawingml/2006/main">
              <a:ext uri="{FF2B5EF4-FFF2-40B4-BE49-F238E27FC236}">
                <a16:creationId xmlns:a16="http://schemas.microsoft.com/office/drawing/2014/main" id="{8DB891BB-E49F-45A3-8CD6-761AD651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765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Inner support</a:t>
            </a:r>
          </a:p>
        </p:txBody>
      </p:sp>
      <p:sp>
        <p:nvSpPr>
          <p:cNvPr id="15" name="step-body-50-1">
            <a:extLst xmlns:a="http://schemas.openxmlformats.org/drawingml/2006/main">
              <a:ext uri="{FF2B5EF4-FFF2-40B4-BE49-F238E27FC236}">
                <a16:creationId xmlns:a16="http://schemas.microsoft.com/office/drawing/2014/main" id="{D11054C4-3A97-4D6E-BD04-2FFBE68A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Repeat bootstrap, prevalence search, and joint-survival estimator.</a:t>
            </a:r>
          </a:p>
        </p:txBody>
      </p:sp>
      <p:sp>
        <p:nvSpPr>
          <p:cNvPr id="16" name="step-50-2">
            <a:extLst xmlns:a="http://schemas.openxmlformats.org/drawingml/2006/main">
              <a:ext uri="{FF2B5EF4-FFF2-40B4-BE49-F238E27FC236}">
                <a16:creationId xmlns:a16="http://schemas.microsoft.com/office/drawing/2014/main" id="{BB816C93-BE6A-4E5F-8C6C-957A5397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2552700" cy="29527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17" name="step-num-50-2">
            <a:extLst xmlns:a="http://schemas.openxmlformats.org/drawingml/2006/main">
              <a:ext uri="{FF2B5EF4-FFF2-40B4-BE49-F238E27FC236}">
                <a16:creationId xmlns:a16="http://schemas.microsoft.com/office/drawing/2014/main" id="{167CA869-8A37-413E-9466-337D66D5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2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step-head-50-2">
            <a:extLst xmlns:a="http://schemas.openxmlformats.org/drawingml/2006/main">
              <a:ext uri="{FF2B5EF4-FFF2-40B4-BE49-F238E27FC236}">
                <a16:creationId xmlns:a16="http://schemas.microsoft.com/office/drawing/2014/main" id="{8F9F22C7-142D-4DBF-A739-1727C0B1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765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Preserve design</a:t>
            </a:r>
          </a:p>
        </p:txBody>
      </p:sp>
      <p:sp>
        <p:nvSpPr>
          <p:cNvPr id="19" name="step-body-50-2">
            <a:extLst xmlns:a="http://schemas.openxmlformats.org/drawingml/2006/main">
              <a:ext uri="{FF2B5EF4-FFF2-40B4-BE49-F238E27FC236}">
                <a16:creationId xmlns:a16="http://schemas.microsoft.com/office/drawing/2014/main" id="{C70FCBBC-2881-4DF6-981C-D41C8D8C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Keep model pairs attached; recompute single-model anchors.</a:t>
            </a:r>
          </a:p>
        </p:txBody>
      </p:sp>
      <p:sp>
        <p:nvSpPr>
          <p:cNvPr id="20" name="step-50-3">
            <a:extLst xmlns:a="http://schemas.openxmlformats.org/drawingml/2006/main">
              <a:ext uri="{FF2B5EF4-FFF2-40B4-BE49-F238E27FC236}">
                <a16:creationId xmlns:a16="http://schemas.microsoft.com/office/drawing/2014/main" id="{BC8E8FB6-4134-45D5-9302-747DB034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33625"/>
            <a:ext cx="2552700" cy="29527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CAD3DB"/>
            </a:solidFill>
            <a:prstDash val="solid"/>
          </a:ln>
        </p:spPr>
      </p:sp>
      <p:sp>
        <p:nvSpPr>
          <p:cNvPr id="21" name="step-num-50-3">
            <a:extLst xmlns:a="http://schemas.openxmlformats.org/drawingml/2006/main">
              <a:ext uri="{FF2B5EF4-FFF2-40B4-BE49-F238E27FC236}">
                <a16:creationId xmlns:a16="http://schemas.microsoft.com/office/drawing/2014/main" id="{36087E56-7875-45DE-AC56-4703E868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62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E76F5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step-head-50-3">
            <a:extLst xmlns:a="http://schemas.openxmlformats.org/drawingml/2006/main">
              <a:ext uri="{FF2B5EF4-FFF2-40B4-BE49-F238E27FC236}">
                <a16:creationId xmlns:a16="http://schemas.microsoft.com/office/drawing/2014/main" id="{7468BDB9-440E-467C-8B9A-7A8FB70F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765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Validate the bound</a:t>
            </a:r>
          </a:p>
        </p:txBody>
      </p:sp>
      <p:sp>
        <p:nvSpPr>
          <p:cNvPr id="23" name="step-body-50-3">
            <a:extLst xmlns:a="http://schemas.openxmlformats.org/drawingml/2006/main">
              <a:ext uri="{FF2B5EF4-FFF2-40B4-BE49-F238E27FC236}">
                <a16:creationId xmlns:a16="http://schemas.microsoft.com/office/drawing/2014/main" id="{F5B76988-C836-42E7-8415-E496CFBA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005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2436"/>
                </a:solidFill>
                <a:latin typeface="Helvetica Neue"/>
                <a:ea typeface="Helvetica Neue"/>
                <a:cs typeface="Helvetica Neue"/>
              </a:rPr>
              <a:t>Nonsmooth minima can break nominal coverage.</a:t>
            </a:r>
          </a:p>
        </p:txBody>
      </p:sp>
      <p:sp>
        <p:nvSpPr>
          <p:cNvPr id="24" name="lead-50">
            <a:extLst xmlns:a="http://schemas.openxmlformats.org/drawingml/2006/main">
              <a:ext uri="{FF2B5EF4-FFF2-40B4-BE49-F238E27FC236}">
                <a16:creationId xmlns:a16="http://schemas.microsoft.com/office/drawing/2014/main" id="{27D3FFC1-76B6-4822-8066-B7579589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The outer layer asks how well the observed evaluation identifies the supported target.</a:t>
            </a:r>
          </a:p>
        </p:txBody>
      </p:sp>
    </p:spTree>
    <p:extLst>
      <p:ext uri="{BB962C8B-B14F-4D97-AF65-F5344CB8AC3E}">
        <p14:creationId xmlns:p14="http://schemas.microsoft.com/office/powerpoint/2010/main" val="1468023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2026-07-30T02:07:05.3700000Z</dcterms:created>
  <dcterms:modified xsi:type="dcterms:W3CDTF">2026-07-30T02:07:05.3700000Z</dcterms:modified>
</coreProperties>
</file>