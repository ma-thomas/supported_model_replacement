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4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800e5d9ea4435" /><Relationship Type="http://schemas.openxmlformats.org/officeDocument/2006/relationships/extended-properties" Target="/docProps/app.xml" Id="R6cd84cb30d2840a1" /><Relationship Type="http://schemas.openxmlformats.org/officeDocument/2006/relationships/officeDocument" Target="/ppt/presentation.xml" Id="R5410d1666a57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b9bb26e57447b"/>
  </p:sldMasterIdLst>
  <p:notesMasterIdLst>
    <p:notesMasterId xmlns:r="http://schemas.openxmlformats.org/officeDocument/2006/relationships" r:id="R2bec1c1378a94808"/>
  </p:notesMasterIdLst>
  <p:sldIdLst>
    <p:sldId xmlns:r="http://schemas.openxmlformats.org/officeDocument/2006/relationships" id="256" r:id="Refd99d32ff174e12"/>
    <p:sldId xmlns:r="http://schemas.openxmlformats.org/officeDocument/2006/relationships" id="257" r:id="R416e762929b54570"/>
    <p:sldId xmlns:r="http://schemas.openxmlformats.org/officeDocument/2006/relationships" id="258" r:id="R878e08b6e8084d81"/>
    <p:sldId xmlns:r="http://schemas.openxmlformats.org/officeDocument/2006/relationships" id="259" r:id="Recc1b08b96de4771"/>
    <p:sldId xmlns:r="http://schemas.openxmlformats.org/officeDocument/2006/relationships" id="260" r:id="R6c241aa725764999"/>
    <p:sldId xmlns:r="http://schemas.openxmlformats.org/officeDocument/2006/relationships" id="261" r:id="R670841de595141a7"/>
    <p:sldId xmlns:r="http://schemas.openxmlformats.org/officeDocument/2006/relationships" id="262" r:id="R4a6bf710fcd844fa"/>
    <p:sldId xmlns:r="http://schemas.openxmlformats.org/officeDocument/2006/relationships" id="263" r:id="Rbec1c14b7de940a2"/>
    <p:sldId xmlns:r="http://schemas.openxmlformats.org/officeDocument/2006/relationships" id="264" r:id="R45a677ec35ce419e"/>
    <p:sldId xmlns:r="http://schemas.openxmlformats.org/officeDocument/2006/relationships" id="265" r:id="R8667802ef616483e"/>
    <p:sldId xmlns:r="http://schemas.openxmlformats.org/officeDocument/2006/relationships" id="266" r:id="R903600a25a7447ca"/>
    <p:sldId xmlns:r="http://schemas.openxmlformats.org/officeDocument/2006/relationships" id="267" r:id="R6270d02474134d8c"/>
    <p:sldId xmlns:r="http://schemas.openxmlformats.org/officeDocument/2006/relationships" id="268" r:id="R23ca2e2ee7e240f1"/>
    <p:sldId xmlns:r="http://schemas.openxmlformats.org/officeDocument/2006/relationships" id="269" r:id="Ra0020bd12af441bf"/>
    <p:sldId xmlns:r="http://schemas.openxmlformats.org/officeDocument/2006/relationships" id="270" r:id="R8abe3cd75b624206"/>
    <p:sldId xmlns:r="http://schemas.openxmlformats.org/officeDocument/2006/relationships" id="271" r:id="R404fd725ef2343ad"/>
    <p:sldId xmlns:r="http://schemas.openxmlformats.org/officeDocument/2006/relationships" id="272" r:id="R74812fc5debc4844"/>
    <p:sldId xmlns:r="http://schemas.openxmlformats.org/officeDocument/2006/relationships" id="273" r:id="Rb0832cbb385e45d6"/>
    <p:sldId xmlns:r="http://schemas.openxmlformats.org/officeDocument/2006/relationships" id="274" r:id="R200eda252401410d"/>
    <p:sldId xmlns:r="http://schemas.openxmlformats.org/officeDocument/2006/relationships" id="275" r:id="Rc107309301fa46e8"/>
    <p:sldId xmlns:r="http://schemas.openxmlformats.org/officeDocument/2006/relationships" id="276" r:id="R1acba7bf5ea94cf7"/>
    <p:sldId xmlns:r="http://schemas.openxmlformats.org/officeDocument/2006/relationships" id="277" r:id="Rda4daa0286254670"/>
    <p:sldId xmlns:r="http://schemas.openxmlformats.org/officeDocument/2006/relationships" id="278" r:id="R01bea7a5be5f4760"/>
    <p:sldId xmlns:r="http://schemas.openxmlformats.org/officeDocument/2006/relationships" id="279" r:id="R01f7f77afc4a4e36"/>
    <p:sldId xmlns:r="http://schemas.openxmlformats.org/officeDocument/2006/relationships" id="280" r:id="R91905e029d3646e6"/>
    <p:sldId xmlns:r="http://schemas.openxmlformats.org/officeDocument/2006/relationships" id="281" r:id="R81a81f9b300a481b"/>
    <p:sldId xmlns:r="http://schemas.openxmlformats.org/officeDocument/2006/relationships" id="282" r:id="R166af63d658a4307"/>
    <p:sldId xmlns:r="http://schemas.openxmlformats.org/officeDocument/2006/relationships" id="283" r:id="R331c4215fec947d0"/>
    <p:sldId xmlns:r="http://schemas.openxmlformats.org/officeDocument/2006/relationships" id="284" r:id="R6a2cb85b2ac441a3"/>
    <p:sldId xmlns:r="http://schemas.openxmlformats.org/officeDocument/2006/relationships" id="285" r:id="R8630c6cbc95949ac"/>
    <p:sldId xmlns:r="http://schemas.openxmlformats.org/officeDocument/2006/relationships" id="286" r:id="R5ec75ad750f74802"/>
    <p:sldId xmlns:r="http://schemas.openxmlformats.org/officeDocument/2006/relationships" id="287" r:id="R4d2212a1a2684aca"/>
    <p:sldId xmlns:r="http://schemas.openxmlformats.org/officeDocument/2006/relationships" id="288" r:id="R5df11d3d18d14015"/>
    <p:sldId xmlns:r="http://schemas.openxmlformats.org/officeDocument/2006/relationships" id="289" r:id="Re7177e6a5ab8426f"/>
    <p:sldId xmlns:r="http://schemas.openxmlformats.org/officeDocument/2006/relationships" id="290" r:id="R0d27738c185c4229"/>
    <p:sldId xmlns:r="http://schemas.openxmlformats.org/officeDocument/2006/relationships" id="291" r:id="Rd0f2148f25ff4342"/>
    <p:sldId xmlns:r="http://schemas.openxmlformats.org/officeDocument/2006/relationships" id="292" r:id="Re4af05ad5de941d3"/>
    <p:sldId xmlns:r="http://schemas.openxmlformats.org/officeDocument/2006/relationships" id="293" r:id="Red9bfcdd8bc34984"/>
    <p:sldId xmlns:r="http://schemas.openxmlformats.org/officeDocument/2006/relationships" id="294" r:id="R667b036ea02745c7"/>
    <p:sldId xmlns:r="http://schemas.openxmlformats.org/officeDocument/2006/relationships" id="295" r:id="R0abbbbe90cde48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bfc8bef2f4df8" /><Relationship Type="http://schemas.openxmlformats.org/officeDocument/2006/relationships/slideMaster" Target="/ppt/slideMasters/slideMaster1.xml" Id="R027b9bb26e57447b" /><Relationship Type="http://schemas.openxmlformats.org/officeDocument/2006/relationships/notesMaster" Target="/ppt/notesMasters/notesMaster1.xml" Id="R2bec1c1378a94808" /><Relationship Type="http://schemas.openxmlformats.org/officeDocument/2006/relationships/presProps" Target="/ppt/presProps.xml" Id="R4c6fccba2e884c2e" /><Relationship Type="http://schemas.openxmlformats.org/officeDocument/2006/relationships/tableStyles" Target="/ppt/tableStyles.xml" Id="Rccd7e1f382034005" /><Relationship Type="http://schemas.openxmlformats.org/officeDocument/2006/relationships/slide" Target="/ppt/slides/slide1.xml" Id="Refd99d32ff174e12" /><Relationship Type="http://schemas.openxmlformats.org/officeDocument/2006/relationships/slide" Target="/ppt/slides/slide2.xml" Id="R416e762929b54570" /><Relationship Type="http://schemas.openxmlformats.org/officeDocument/2006/relationships/slide" Target="/ppt/slides/slide3.xml" Id="R878e08b6e8084d81" /><Relationship Type="http://schemas.openxmlformats.org/officeDocument/2006/relationships/slide" Target="/ppt/slides/slide4.xml" Id="Recc1b08b96de4771" /><Relationship Type="http://schemas.openxmlformats.org/officeDocument/2006/relationships/slide" Target="/ppt/slides/slide5.xml" Id="R6c241aa725764999" /><Relationship Type="http://schemas.openxmlformats.org/officeDocument/2006/relationships/slide" Target="/ppt/slides/slide6.xml" Id="R670841de595141a7" /><Relationship Type="http://schemas.openxmlformats.org/officeDocument/2006/relationships/slide" Target="/ppt/slides/slide7.xml" Id="R4a6bf710fcd844fa" /><Relationship Type="http://schemas.openxmlformats.org/officeDocument/2006/relationships/slide" Target="/ppt/slides/slide8.xml" Id="Rbec1c14b7de940a2" /><Relationship Type="http://schemas.openxmlformats.org/officeDocument/2006/relationships/slide" Target="/ppt/slides/slide9.xml" Id="R45a677ec35ce419e" /><Relationship Type="http://schemas.openxmlformats.org/officeDocument/2006/relationships/slide" Target="/ppt/slides/slide10.xml" Id="R8667802ef616483e" /><Relationship Type="http://schemas.openxmlformats.org/officeDocument/2006/relationships/slide" Target="/ppt/slides/slide11.xml" Id="R903600a25a7447ca" /><Relationship Type="http://schemas.openxmlformats.org/officeDocument/2006/relationships/slide" Target="/ppt/slides/slide12.xml" Id="R6270d02474134d8c" /><Relationship Type="http://schemas.openxmlformats.org/officeDocument/2006/relationships/slide" Target="/ppt/slides/slide13.xml" Id="R23ca2e2ee7e240f1" /><Relationship Type="http://schemas.openxmlformats.org/officeDocument/2006/relationships/slide" Target="/ppt/slides/slide14.xml" Id="Ra0020bd12af441bf" /><Relationship Type="http://schemas.openxmlformats.org/officeDocument/2006/relationships/slide" Target="/ppt/slides/slide15.xml" Id="R8abe3cd75b624206" /><Relationship Type="http://schemas.openxmlformats.org/officeDocument/2006/relationships/slide" Target="/ppt/slides/slide16.xml" Id="R404fd725ef2343ad" /><Relationship Type="http://schemas.openxmlformats.org/officeDocument/2006/relationships/slide" Target="/ppt/slides/slide17.xml" Id="R74812fc5debc4844" /><Relationship Type="http://schemas.openxmlformats.org/officeDocument/2006/relationships/slide" Target="/ppt/slides/slide18.xml" Id="Rb0832cbb385e45d6" /><Relationship Type="http://schemas.openxmlformats.org/officeDocument/2006/relationships/slide" Target="/ppt/slides/slide19.xml" Id="R200eda252401410d" /><Relationship Type="http://schemas.openxmlformats.org/officeDocument/2006/relationships/slide" Target="/ppt/slides/slide20.xml" Id="Rc107309301fa46e8" /><Relationship Type="http://schemas.openxmlformats.org/officeDocument/2006/relationships/slide" Target="/ppt/slides/slide21.xml" Id="R1acba7bf5ea94cf7" /><Relationship Type="http://schemas.openxmlformats.org/officeDocument/2006/relationships/slide" Target="/ppt/slides/slide22.xml" Id="Rda4daa0286254670" /><Relationship Type="http://schemas.openxmlformats.org/officeDocument/2006/relationships/slide" Target="/ppt/slides/slide23.xml" Id="R01bea7a5be5f4760" /><Relationship Type="http://schemas.openxmlformats.org/officeDocument/2006/relationships/slide" Target="/ppt/slides/slide24.xml" Id="R01f7f77afc4a4e36" /><Relationship Type="http://schemas.openxmlformats.org/officeDocument/2006/relationships/slide" Target="/ppt/slides/slide25.xml" Id="R91905e029d3646e6" /><Relationship Type="http://schemas.openxmlformats.org/officeDocument/2006/relationships/slide" Target="/ppt/slides/slide26.xml" Id="R81a81f9b300a481b" /><Relationship Type="http://schemas.openxmlformats.org/officeDocument/2006/relationships/slide" Target="/ppt/slides/slide27.xml" Id="R166af63d658a4307" /><Relationship Type="http://schemas.openxmlformats.org/officeDocument/2006/relationships/slide" Target="/ppt/slides/slide28.xml" Id="R331c4215fec947d0" /><Relationship Type="http://schemas.openxmlformats.org/officeDocument/2006/relationships/slide" Target="/ppt/slides/slide29.xml" Id="R6a2cb85b2ac441a3" /><Relationship Type="http://schemas.openxmlformats.org/officeDocument/2006/relationships/slide" Target="/ppt/slides/slide30.xml" Id="R8630c6cbc95949ac" /><Relationship Type="http://schemas.openxmlformats.org/officeDocument/2006/relationships/slide" Target="/ppt/slides/slide31.xml" Id="R5ec75ad750f74802" /><Relationship Type="http://schemas.openxmlformats.org/officeDocument/2006/relationships/slide" Target="/ppt/slides/slide32.xml" Id="R4d2212a1a2684aca" /><Relationship Type="http://schemas.openxmlformats.org/officeDocument/2006/relationships/slide" Target="/ppt/slides/slide33.xml" Id="R5df11d3d18d14015" /><Relationship Type="http://schemas.openxmlformats.org/officeDocument/2006/relationships/slide" Target="/ppt/slides/slide34.xml" Id="Re7177e6a5ab8426f" /><Relationship Type="http://schemas.openxmlformats.org/officeDocument/2006/relationships/slide" Target="/ppt/slides/slide35.xml" Id="R0d27738c185c4229" /><Relationship Type="http://schemas.openxmlformats.org/officeDocument/2006/relationships/slide" Target="/ppt/slides/slide36.xml" Id="Rd0f2148f25ff4342" /><Relationship Type="http://schemas.openxmlformats.org/officeDocument/2006/relationships/slide" Target="/ppt/slides/slide37.xml" Id="Re4af05ad5de941d3" /><Relationship Type="http://schemas.openxmlformats.org/officeDocument/2006/relationships/slide" Target="/ppt/slides/slide38.xml" Id="Red9bfcdd8bc34984" /><Relationship Type="http://schemas.openxmlformats.org/officeDocument/2006/relationships/slide" Target="/ppt/slides/slide39.xml" Id="R667b036ea02745c7" /><Relationship Type="http://schemas.openxmlformats.org/officeDocument/2006/relationships/slide" Target="/ppt/slides/slide40.xml" Id="R0abbbbe90cde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162aee7c0f4f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c25582159480a" /><Relationship Type="http://schemas.openxmlformats.org/officeDocument/2006/relationships/notesMaster" Target="/ppt/notesMasters/notesMaster1.xml" Id="R5cf843c0cc8a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57f8d58294f2f" /><Relationship Type="http://schemas.openxmlformats.org/officeDocument/2006/relationships/notesMaster" Target="/ppt/notesMasters/notesMaster1.xml" Id="Rc00eaccd6b9d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7badef6514d0e" /><Relationship Type="http://schemas.openxmlformats.org/officeDocument/2006/relationships/notesMaster" Target="/ppt/notesMasters/notesMaster1.xml" Id="R054624ee231b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ba7f0b5e648ce" /><Relationship Type="http://schemas.openxmlformats.org/officeDocument/2006/relationships/notesMaster" Target="/ppt/notesMasters/notesMaster1.xml" Id="Ra85d13a3c722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4b801b1134649" /><Relationship Type="http://schemas.openxmlformats.org/officeDocument/2006/relationships/notesMaster" Target="/ppt/notesMasters/notesMaster1.xml" Id="Rc7d38b393eac4c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810fa7e8b4b64" /><Relationship Type="http://schemas.openxmlformats.org/officeDocument/2006/relationships/notesMaster" Target="/ppt/notesMasters/notesMaster1.xml" Id="R91a8df670acc49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379bc90bc44da5" /><Relationship Type="http://schemas.openxmlformats.org/officeDocument/2006/relationships/notesMaster" Target="/ppt/notesMasters/notesMaster1.xml" Id="R9ad07f7c68ec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3cce9ba24447ef" /><Relationship Type="http://schemas.openxmlformats.org/officeDocument/2006/relationships/notesMaster" Target="/ppt/notesMasters/notesMaster1.xml" Id="R80934a9c5f194e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0277da51194dac" /><Relationship Type="http://schemas.openxmlformats.org/officeDocument/2006/relationships/notesMaster" Target="/ppt/notesMasters/notesMaster1.xml" Id="R3ce99766f46a41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67a93730c4632" /><Relationship Type="http://schemas.openxmlformats.org/officeDocument/2006/relationships/notesMaster" Target="/ppt/notesMasters/notesMaster1.xml" Id="Ra1b572b2c03d49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0653ae54b842c0" /><Relationship Type="http://schemas.openxmlformats.org/officeDocument/2006/relationships/notesMaster" Target="/ppt/notesMasters/notesMaster1.xml" Id="Rd277b90d7ba144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74325745b54f9c" /><Relationship Type="http://schemas.openxmlformats.org/officeDocument/2006/relationships/notesMaster" Target="/ppt/notesMasters/notesMaster1.xml" Id="R05d51bf74b4342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e8aafd11e946d9" /><Relationship Type="http://schemas.openxmlformats.org/officeDocument/2006/relationships/notesMaster" Target="/ppt/notesMasters/notesMaster1.xml" Id="R9bd588b6797047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0f9df2e9b94c6a" /><Relationship Type="http://schemas.openxmlformats.org/officeDocument/2006/relationships/notesMaster" Target="/ppt/notesMasters/notesMaster1.xml" Id="Rb0d0d776d06744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b571aeffc1466c" /><Relationship Type="http://schemas.openxmlformats.org/officeDocument/2006/relationships/notesMaster" Target="/ppt/notesMasters/notesMaster1.xml" Id="R0b06c63b87c342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bb0057f68b429e" /><Relationship Type="http://schemas.openxmlformats.org/officeDocument/2006/relationships/notesMaster" Target="/ppt/notesMasters/notesMaster1.xml" Id="R83914d718e344a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b0d18806ca4d3c" /><Relationship Type="http://schemas.openxmlformats.org/officeDocument/2006/relationships/notesMaster" Target="/ppt/notesMasters/notesMaster1.xml" Id="R0cf5a87d935a42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decb186e2a4165" /><Relationship Type="http://schemas.openxmlformats.org/officeDocument/2006/relationships/notesMaster" Target="/ppt/notesMasters/notesMaster1.xml" Id="Rc6e2fef1bd524c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70e9ef95914013" /><Relationship Type="http://schemas.openxmlformats.org/officeDocument/2006/relationships/notesMaster" Target="/ppt/notesMasters/notesMaster1.xml" Id="R15191b871a6445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3f8a6835634446" /><Relationship Type="http://schemas.openxmlformats.org/officeDocument/2006/relationships/notesMaster" Target="/ppt/notesMasters/notesMaster1.xml" Id="Rcecdacd9fff646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b2525d200f400d" /><Relationship Type="http://schemas.openxmlformats.org/officeDocument/2006/relationships/notesMaster" Target="/ppt/notesMasters/notesMaster1.xml" Id="Rb5cdb8c488b348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88da6b9d3545b2" /><Relationship Type="http://schemas.openxmlformats.org/officeDocument/2006/relationships/notesMaster" Target="/ppt/notesMasters/notesMaster1.xml" Id="R98216b158b774a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316dfc38834638" /><Relationship Type="http://schemas.openxmlformats.org/officeDocument/2006/relationships/notesMaster" Target="/ppt/notesMasters/notesMaster1.xml" Id="Rdb63dbc9067440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684e72297a44e2" /><Relationship Type="http://schemas.openxmlformats.org/officeDocument/2006/relationships/notesMaster" Target="/ppt/notesMasters/notesMaster1.xml" Id="R93a50fbf49e942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ac276a0e9f48e1" /><Relationship Type="http://schemas.openxmlformats.org/officeDocument/2006/relationships/notesMaster" Target="/ppt/notesMasters/notesMaster1.xml" Id="Re7488d683cf04f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513b58e4194c18" /><Relationship Type="http://schemas.openxmlformats.org/officeDocument/2006/relationships/notesMaster" Target="/ppt/notesMasters/notesMaster1.xml" Id="R30b7dcfbd72a49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2ec37c1a204eba" /><Relationship Type="http://schemas.openxmlformats.org/officeDocument/2006/relationships/notesMaster" Target="/ppt/notesMasters/notesMaster1.xml" Id="R75e0c34590ae45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3d9ea3948374f71" /><Relationship Type="http://schemas.openxmlformats.org/officeDocument/2006/relationships/notesMaster" Target="/ppt/notesMasters/notesMaster1.xml" Id="R163c114c10eb40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85fd0e9563413e" /><Relationship Type="http://schemas.openxmlformats.org/officeDocument/2006/relationships/notesMaster" Target="/ppt/notesMasters/notesMaster1.xml" Id="R83c58642137f4c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c6673f1907419a" /><Relationship Type="http://schemas.openxmlformats.org/officeDocument/2006/relationships/notesMaster" Target="/ppt/notesMasters/notesMaster1.xml" Id="Rf0b6174e51ca41e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de892961014a84" /><Relationship Type="http://schemas.openxmlformats.org/officeDocument/2006/relationships/notesMaster" Target="/ppt/notesMasters/notesMaster1.xml" Id="R614ae308025c472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2758c6059974261" /><Relationship Type="http://schemas.openxmlformats.org/officeDocument/2006/relationships/notesMaster" Target="/ppt/notesMasters/notesMaster1.xml" Id="R0353e574c03b4d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018f46512c4cd2" /><Relationship Type="http://schemas.openxmlformats.org/officeDocument/2006/relationships/notesMaster" Target="/ppt/notesMasters/notesMaster1.xml" Id="Re67a5560255f435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3bc885986646c5" /><Relationship Type="http://schemas.openxmlformats.org/officeDocument/2006/relationships/notesMaster" Target="/ppt/notesMasters/notesMaster1.xml" Id="R81c2707d9efd4e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64dff4e00c4697" /><Relationship Type="http://schemas.openxmlformats.org/officeDocument/2006/relationships/notesMaster" Target="/ppt/notesMasters/notesMaster1.xml" Id="Refe4e9a8fe85484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2e31b20083943c8" /><Relationship Type="http://schemas.openxmlformats.org/officeDocument/2006/relationships/notesMaster" Target="/ppt/notesMasters/notesMaster1.xml" Id="R480c38b7bf8e40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a25efdf2b034826" /><Relationship Type="http://schemas.openxmlformats.org/officeDocument/2006/relationships/notesMaster" Target="/ppt/notesMasters/notesMaster1.xml" Id="R52a53872ccc641a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4d0cbc196f4a47" /><Relationship Type="http://schemas.openxmlformats.org/officeDocument/2006/relationships/notesMaster" Target="/ppt/notesMasters/notesMaster1.xml" Id="Rcce4bbd644a343e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7775ba4af8c4644" /><Relationship Type="http://schemas.openxmlformats.org/officeDocument/2006/relationships/notesMaster" Target="/ppt/notesMasters/notesMaster1.xml" Id="R7457ff9fa81349b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cf06404589e4a3f" /><Relationship Type="http://schemas.openxmlformats.org/officeDocument/2006/relationships/notesMaster" Target="/ppt/notesMasters/notesMaster1.xml" Id="R7b688b65b159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paper’s governing question. The talk is not about proposing another context-free score; it is about making the conditions of a performance claim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Stats_Paper_Extending_PRAUC_v12.tex, abstract and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ranking statistic with the object that downstream decisions actually consume: a selected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two axes before showing a PR curve. Emphasize that neither is a threshold-free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threshold down the list. The curve is generated by a sequence of selected 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 AP directly from the three positive ranks. This makes the later weighted formula less mysterious.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numerical contrast to create the central population tension. TPR and FPR are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transformation criterion before presenting the formula: preserve class-conditional behavior; alter only the prior.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Substitute r=.80 and f=.05. The values reproduce the slide 6 precision contrast and fill in intermediate populations.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a firm boundary around the reweighting claim. If score behavior within class changes, prevalence must be represented through environments in the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raw AP values at different prevalences do not share a random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makes zero and one common, but it does not erase how false positives matter differently as prevalence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the scientific claim is an expectation across populations or a level that must hold in all of them. The infimum answers only the latter.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assessment only now that both population and repetition questions are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bootstrap is not a scientific target. The regime names the target; resampling must then represent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apparent asymmetry. Prevalence is part of the same assessment, but invariance lets it be computed within a realized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failed average. The number 0.375 summarizes compensation, not survival.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realized minimum is the greatest level all K challenges retain. Expectation keeps the result on the performance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K=2 the operator has a transparent decomposition. This is not a standard-error penalty.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Popper carefully: the language is negative and conditional. Support records survival under stated tests; it is not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B, K, and genuinely new evidence. This prevents computational effort from being mistaken for severity.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different profile shapes show why each replication must face the entire prevalence set before replications are combined.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numerical decomposition is illustrative. Its job is diagnostic: distinguish weak mean performance, moving limiting populations, and unstable retained levels.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same sampled units must generate the complete prevalence 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two-unit example proves that a population chance anchor does not automatically center a finite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is useful for describing one fixed model. Stress the non-composability of different conditional anchors.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replacement effect must be realized under the same conditions. Marginal worst cases do not supply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are uninformative. The finer score vector nevertheless receives positive expected advantage under ordinary 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averaging changes the convention rather than subtracting a null artifact. Arbitrary within-block order is averaged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estimand from left to right. Pair first; challenge second.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 guarantee has a real design assumption. Pairing and tie averaging do not create exchangeability.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is not odd, but the orientation inequality prevents contradictory positive recommendations. It still allows honest indecision.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positive estimate is insufficient. The uncertainty-qualified effect must clear a prespecified practical margin.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performance is assessment-relative. Reporting only the scalar removes the conditions that gave it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The framework’s contribution is a claim structure that can be criticized and improved.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only if the audience wants the exact empirical AP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 and the regime control different aspects of severity. The values in the chart are illustrative.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sorted formula gives the complete order-two U-statistic efficiently.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closed form integrates over positions and within-block label composition; the visible slide intentionally omits the full combinatorial expression.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Outer resampling targets inferential uncertainty about the supported functional, not replication variation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questions about intellectual lineage and technical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11cdb4696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874a81b9a494d" /><Relationship Type="http://schemas.openxmlformats.org/officeDocument/2006/relationships/slideLayout" Target="/ppt/slideLayouts/slideLayout1.xml" Id="R15b85982f3f1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b85982f3f1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531233ecf477f" /><Relationship Type="http://schemas.openxmlformats.org/officeDocument/2006/relationships/notesSlide" Target="/ppt/notesSlides/notesSlide1.xml" Id="Re87b215aebad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bcdf6e02e479c" /><Relationship Type="http://schemas.openxmlformats.org/officeDocument/2006/relationships/notesSlide" Target="/ppt/notesSlides/notesSlide2.xml" Id="R8926c1c97782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998fb10c44b53" /><Relationship Type="http://schemas.openxmlformats.org/officeDocument/2006/relationships/image" Target="/ppt/media/image.png" Id="R3b59149167984fb6" /><Relationship Type="http://schemas.openxmlformats.org/officeDocument/2006/relationships/image" Target="/ppt/media/image2.png" Id="R056c7e565dcd419f" /><Relationship Type="http://schemas.openxmlformats.org/officeDocument/2006/relationships/notesSlide" Target="/ppt/notesSlides/notesSlide3.xml" Id="R96b95ae9cac342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efe530d68466a" /><Relationship Type="http://schemas.openxmlformats.org/officeDocument/2006/relationships/chart" Target="/ppt/slides/charts/chart1.xml" Id="R12486596d2654392" /><Relationship Type="http://schemas.openxmlformats.org/officeDocument/2006/relationships/notesSlide" Target="/ppt/notesSlides/notesSlide4.xml" Id="R08d9d2c3c5b5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53a7b958b475e" /><Relationship Type="http://schemas.openxmlformats.org/officeDocument/2006/relationships/image" Target="/ppt/media/image3.png" Id="R8ad8aff1135c4541" /><Relationship Type="http://schemas.openxmlformats.org/officeDocument/2006/relationships/image" Target="/ppt/media/image4.png" Id="R9633227f779e47a0" /><Relationship Type="http://schemas.openxmlformats.org/officeDocument/2006/relationships/image" Target="/ppt/media/image5.png" Id="R7dea65d4c6284151" /><Relationship Type="http://schemas.openxmlformats.org/officeDocument/2006/relationships/image" Target="/ppt/media/image6.png" Id="R6aa4500ce35742a4" /><Relationship Type="http://schemas.openxmlformats.org/officeDocument/2006/relationships/image" Target="/ppt/media/image7.png" Id="R54ca1e99a3014328" /><Relationship Type="http://schemas.openxmlformats.org/officeDocument/2006/relationships/notesSlide" Target="/ppt/notesSlides/notesSlide5.xml" Id="Rcee043227c07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67163d3d4ca2" /><Relationship Type="http://schemas.openxmlformats.org/officeDocument/2006/relationships/image" Target="/ppt/media/image8.png" Id="R357100dbc07145b4" /><Relationship Type="http://schemas.openxmlformats.org/officeDocument/2006/relationships/notesSlide" Target="/ppt/notesSlides/notesSlide6.xml" Id="R244e7307be1940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192b240b349fa" /><Relationship Type="http://schemas.openxmlformats.org/officeDocument/2006/relationships/image" Target="/ppt/media/image9.png" Id="R03c96e23f88a4676" /><Relationship Type="http://schemas.openxmlformats.org/officeDocument/2006/relationships/image" Target="/ppt/media/image10.png" Id="R476c2f8791cb45d3" /><Relationship Type="http://schemas.openxmlformats.org/officeDocument/2006/relationships/image" Target="/ppt/media/image11.png" Id="Rdeb05ea8f013492d" /><Relationship Type="http://schemas.openxmlformats.org/officeDocument/2006/relationships/notesSlide" Target="/ppt/notesSlides/notesSlide7.xml" Id="R3bb20c6a07ea4e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f85ba04fb491e" /><Relationship Type="http://schemas.openxmlformats.org/officeDocument/2006/relationships/image" Target="/ppt/media/image12.png" Id="R5ba60a94689a421c" /><Relationship Type="http://schemas.openxmlformats.org/officeDocument/2006/relationships/notesSlide" Target="/ppt/notesSlides/notesSlide8.xml" Id="R6cd59314ee7e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9b7d47994b7d" /><Relationship Type="http://schemas.openxmlformats.org/officeDocument/2006/relationships/image" Target="/ppt/media/image13.png" Id="Rfaa138e95dd24b83" /><Relationship Type="http://schemas.openxmlformats.org/officeDocument/2006/relationships/notesSlide" Target="/ppt/notesSlides/notesSlide9.xml" Id="R66922c9b3f51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72fbac19b4acb" /><Relationship Type="http://schemas.openxmlformats.org/officeDocument/2006/relationships/image" Target="/ppt/media/image14.png" Id="R26d4f62a52fd47af" /><Relationship Type="http://schemas.openxmlformats.org/officeDocument/2006/relationships/image" Target="/ppt/media/image15.png" Id="R7c3a9751ed62424a" /><Relationship Type="http://schemas.openxmlformats.org/officeDocument/2006/relationships/notesSlide" Target="/ppt/notesSlides/notesSlide10.xml" Id="Rd8e084e2bb6041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2c6c50ff741c7" /><Relationship Type="http://schemas.openxmlformats.org/officeDocument/2006/relationships/chart" Target="/ppt/slides/charts/chart2.xml" Id="R2e530e51bb6440ba" /><Relationship Type="http://schemas.openxmlformats.org/officeDocument/2006/relationships/notesSlide" Target="/ppt/notesSlides/notesSlide11.xml" Id="R00a472d0b39942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d9a3af1f4a1a" /><Relationship Type="http://schemas.openxmlformats.org/officeDocument/2006/relationships/notesSlide" Target="/ppt/notesSlides/notesSlide12.xml" Id="R08e474a98d114b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b09a42e9c428a" /><Relationship Type="http://schemas.openxmlformats.org/officeDocument/2006/relationships/image" Target="/ppt/media/image16.png" Id="R364f4ebacfa44b7c" /><Relationship Type="http://schemas.openxmlformats.org/officeDocument/2006/relationships/notesSlide" Target="/ppt/notesSlides/notesSlide13.xml" Id="R86570c3d338c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45da5505f414f" /><Relationship Type="http://schemas.openxmlformats.org/officeDocument/2006/relationships/notesSlide" Target="/ppt/notesSlides/notesSlide14.xml" Id="R3e52acdfe90743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8bc63f61a449e" /><Relationship Type="http://schemas.openxmlformats.org/officeDocument/2006/relationships/notesSlide" Target="/ppt/notesSlides/notesSlide15.xml" Id="R4bf660b43f3743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9bab462f846b7" /><Relationship Type="http://schemas.openxmlformats.org/officeDocument/2006/relationships/notesSlide" Target="/ppt/notesSlides/notesSlide16.xml" Id="R13d96dd2647746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1bac82c394ede" /><Relationship Type="http://schemas.openxmlformats.org/officeDocument/2006/relationships/image" Target="/ppt/media/image17.png" Id="R8aa732383760458e" /><Relationship Type="http://schemas.openxmlformats.org/officeDocument/2006/relationships/notesSlide" Target="/ppt/notesSlides/notesSlide17.xml" Id="R54c8cc9813d440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5776233924a68" /><Relationship Type="http://schemas.openxmlformats.org/officeDocument/2006/relationships/image" Target="/ppt/media/image18.png" Id="Rd1e1ba4cbd9148d3" /><Relationship Type="http://schemas.openxmlformats.org/officeDocument/2006/relationships/notesSlide" Target="/ppt/notesSlides/notesSlide18.xml" Id="R2cfeafa8706f43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0e46a7cc44e80" /><Relationship Type="http://schemas.openxmlformats.org/officeDocument/2006/relationships/notesSlide" Target="/ppt/notesSlides/notesSlide19.xml" Id="R968565050e6240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cd7358a3047c1" /><Relationship Type="http://schemas.openxmlformats.org/officeDocument/2006/relationships/notesSlide" Target="/ppt/notesSlides/notesSlide20.xml" Id="R862b039221204e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e610c063c4054" /><Relationship Type="http://schemas.openxmlformats.org/officeDocument/2006/relationships/chart" Target="/ppt/slides/charts/chart3.xml" Id="R14ab61371a4a49bc" /><Relationship Type="http://schemas.openxmlformats.org/officeDocument/2006/relationships/notesSlide" Target="/ppt/notesSlides/notesSlide21.xml" Id="R9422a35eb58d4d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f0d9c09634f27" /><Relationship Type="http://schemas.openxmlformats.org/officeDocument/2006/relationships/image" Target="/ppt/media/image19.png" Id="R85c0a4ceb3474249" /><Relationship Type="http://schemas.openxmlformats.org/officeDocument/2006/relationships/notesSlide" Target="/ppt/notesSlides/notesSlide22.xml" Id="R53df9937c74d4e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b1d06332b403d" /><Relationship Type="http://schemas.openxmlformats.org/officeDocument/2006/relationships/notesSlide" Target="/ppt/notesSlides/notesSlide23.xml" Id="R55d54b88d87e42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587fd65c14c67" /><Relationship Type="http://schemas.openxmlformats.org/officeDocument/2006/relationships/image" Target="/ppt/media/image20.png" Id="R6906ca1c1ad94169" /><Relationship Type="http://schemas.openxmlformats.org/officeDocument/2006/relationships/image" Target="/ppt/media/image21.png" Id="Rd966e194c07b40b6" /><Relationship Type="http://schemas.openxmlformats.org/officeDocument/2006/relationships/notesSlide" Target="/ppt/notesSlides/notesSlide24.xml" Id="R0216676d1f4941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b63a9b3a64089" /><Relationship Type="http://schemas.openxmlformats.org/officeDocument/2006/relationships/image" Target="/ppt/media/image22.png" Id="R1bda6a75849346be" /><Relationship Type="http://schemas.openxmlformats.org/officeDocument/2006/relationships/notesSlide" Target="/ppt/notesSlides/notesSlide25.xml" Id="Rfab5c619ed6748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8c5769224705" /><Relationship Type="http://schemas.openxmlformats.org/officeDocument/2006/relationships/image" Target="/ppt/media/image23.png" Id="R6d12795617494af9" /><Relationship Type="http://schemas.openxmlformats.org/officeDocument/2006/relationships/notesSlide" Target="/ppt/notesSlides/notesSlide26.xml" Id="R61dd8b8a4829482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844f521364e64" /><Relationship Type="http://schemas.openxmlformats.org/officeDocument/2006/relationships/image" Target="/ppt/media/image24.png" Id="Rd22572f00aeb4bb2" /><Relationship Type="http://schemas.openxmlformats.org/officeDocument/2006/relationships/image" Target="/ppt/media/image25.png" Id="Reac99c7588544105" /><Relationship Type="http://schemas.openxmlformats.org/officeDocument/2006/relationships/image" Target="/ppt/media/image26.png" Id="R0a620a96b5034399" /><Relationship Type="http://schemas.openxmlformats.org/officeDocument/2006/relationships/notesSlide" Target="/ppt/notesSlides/notesSlide27.xml" Id="R33d1a44b47134c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f316f7da54e55" /><Relationship Type="http://schemas.openxmlformats.org/officeDocument/2006/relationships/image" Target="/ppt/media/image27.png" Id="Rdda9329dcfab4c79" /><Relationship Type="http://schemas.openxmlformats.org/officeDocument/2006/relationships/image" Target="/ppt/media/image28.png" Id="R81624851e03b4452" /><Relationship Type="http://schemas.openxmlformats.org/officeDocument/2006/relationships/image" Target="/ppt/media/image29.png" Id="Ra8f6282e6cf743a1" /><Relationship Type="http://schemas.openxmlformats.org/officeDocument/2006/relationships/notesSlide" Target="/ppt/notesSlides/notesSlide28.xml" Id="Rc8245214c56441e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f6261853a4625" /><Relationship Type="http://schemas.openxmlformats.org/officeDocument/2006/relationships/image" Target="/ppt/media/image30.png" Id="Rd37e7b11a84a4eab" /><Relationship Type="http://schemas.openxmlformats.org/officeDocument/2006/relationships/image" Target="/ppt/media/image31.png" Id="R01d9acd5a3474eb9" /><Relationship Type="http://schemas.openxmlformats.org/officeDocument/2006/relationships/image" Target="/ppt/media/image32.png" Id="R6342a6ff12944da1" /><Relationship Type="http://schemas.openxmlformats.org/officeDocument/2006/relationships/image" Target="/ppt/media/image33.png" Id="R4cf1687a87b641af" /><Relationship Type="http://schemas.openxmlformats.org/officeDocument/2006/relationships/notesSlide" Target="/ppt/notesSlides/notesSlide29.xml" Id="Ra4d7acdcf53e4d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6fe94b1834ca8" /><Relationship Type="http://schemas.openxmlformats.org/officeDocument/2006/relationships/notesSlide" Target="/ppt/notesSlides/notesSlide30.xml" Id="Re72021420acf432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7f61bc254d69" /><Relationship Type="http://schemas.openxmlformats.org/officeDocument/2006/relationships/image" Target="/ppt/media/image34.png" Id="R626784cb65264f5f" /><Relationship Type="http://schemas.openxmlformats.org/officeDocument/2006/relationships/image" Target="/ppt/media/image35.png" Id="R06057ba54a6447a5" /><Relationship Type="http://schemas.openxmlformats.org/officeDocument/2006/relationships/image" Target="/ppt/media/image36.png" Id="Rb8cde157a047459d" /><Relationship Type="http://schemas.openxmlformats.org/officeDocument/2006/relationships/notesSlide" Target="/ppt/notesSlides/notesSlide31.xml" Id="Re56a1d640ba146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cdf8341642f6" /><Relationship Type="http://schemas.openxmlformats.org/officeDocument/2006/relationships/notesSlide" Target="/ppt/notesSlides/notesSlide32.xml" Id="R0568615391ce4a2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31a5a9e6d4503" /><Relationship Type="http://schemas.openxmlformats.org/officeDocument/2006/relationships/notesSlide" Target="/ppt/notesSlides/notesSlide33.xml" Id="Re5af7158c5494f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6a4265d3b42d3" /><Relationship Type="http://schemas.openxmlformats.org/officeDocument/2006/relationships/notesSlide" Target="/ppt/notesSlides/notesSlide34.xml" Id="R47d80b5dfbcb465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0480aa22b46e3" /><Relationship Type="http://schemas.openxmlformats.org/officeDocument/2006/relationships/image" Target="/ppt/media/image37.png" Id="Rcaafff02d91b4a68" /><Relationship Type="http://schemas.openxmlformats.org/officeDocument/2006/relationships/image" Target="/ppt/media/image38.png" Id="Re8bfa506970741c7" /><Relationship Type="http://schemas.openxmlformats.org/officeDocument/2006/relationships/image" Target="/ppt/media/image39.png" Id="R7bcba33d127546f3" /><Relationship Type="http://schemas.openxmlformats.org/officeDocument/2006/relationships/image" Target="/ppt/media/image40.png" Id="Rb606d3ac40764726" /><Relationship Type="http://schemas.openxmlformats.org/officeDocument/2006/relationships/notesSlide" Target="/ppt/notesSlides/notesSlide35.xml" Id="R85b0ee4837ac42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4d213600a47c8" /><Relationship Type="http://schemas.openxmlformats.org/officeDocument/2006/relationships/chart" Target="/ppt/slides/charts/chart4.xml" Id="Rcef45cbbfb8d4f04" /><Relationship Type="http://schemas.openxmlformats.org/officeDocument/2006/relationships/notesSlide" Target="/ppt/notesSlides/notesSlide36.xml" Id="R52c99ccc356a4d5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ccdea5f014a17" /><Relationship Type="http://schemas.openxmlformats.org/officeDocument/2006/relationships/image" Target="/ppt/media/image41.png" Id="R714678d6aff24059" /><Relationship Type="http://schemas.openxmlformats.org/officeDocument/2006/relationships/notesSlide" Target="/ppt/notesSlides/notesSlide37.xml" Id="R01201ab3681a4d8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fda24aa41414b" /><Relationship Type="http://schemas.openxmlformats.org/officeDocument/2006/relationships/image" Target="/ppt/media/image42.png" Id="Rd63c29c88df246ce" /><Relationship Type="http://schemas.openxmlformats.org/officeDocument/2006/relationships/notesSlide" Target="/ppt/notesSlides/notesSlide38.xml" Id="R6ae6b68e639f4b4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da14ceced4228" /><Relationship Type="http://schemas.openxmlformats.org/officeDocument/2006/relationships/notesSlide" Target="/ppt/notesSlides/notesSlide39.xml" Id="Rbfb85049a12e42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ab6d34b0743e4" /><Relationship Type="http://schemas.openxmlformats.org/officeDocument/2006/relationships/notesSlide" Target="/ppt/notesSlides/notesSlide40.xml" Id="Rdb020bb6e63c483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8"/>
              <c:pt idx="0">
                <c:v>0</c:v>
              </c:pt>
              <c:pt idx="1">
                <c:v>.33</c:v>
              </c:pt>
              <c:pt idx="2">
                <c:v>.33</c:v>
              </c:pt>
              <c:pt idx="3">
                <c:v>.67</c:v>
              </c:pt>
              <c:pt idx="4">
                <c:v>.67</c:v>
              </c:pt>
              <c:pt idx="5">
                <c:v>.67</c:v>
              </c:pt>
              <c:pt idx="6">
                <c:v>1.0</c:v>
              </c:pt>
              <c:pt idx="7">
                <c:v>1.0</c:v>
              </c:pt>
            </c:numLit>
          </c:cat>
          <c:val>
            <c:numLit>
              <c:formatCode>General</c:formatCode>
              <c:ptCount val="8"/>
              <c:pt idx="0">
                <c:v>100</c:v>
              </c:pt>
              <c:pt idx="1">
                <c:v>100</c:v>
              </c:pt>
              <c:pt idx="2">
                <c:v>50</c:v>
              </c:pt>
              <c:pt idx="3">
                <c:v>66.7</c:v>
              </c:pt>
              <c:pt idx="4">
                <c:v>50</c:v>
              </c:pt>
              <c:pt idx="5">
                <c:v>40</c:v>
              </c:pt>
              <c:pt idx="6">
                <c:v>50</c:v>
              </c:pt>
              <c:pt idx="7">
                <c:v>37.5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AP at target prevalence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0.10</c:v>
              </c:pt>
              <c:pt idx="4">
                <c:v>0.20</c:v>
              </c:pt>
              <c:pt idx="5">
                <c:v>0.40</c:v>
              </c:pt>
              <c:pt idx="6">
                <c:v>0.60</c:v>
              </c:pt>
            </c:numLit>
          </c:cat>
          <c:val>
            <c:numLit>
              <c:formatCode>General</c:formatCode>
              <c:ptCount val="7"/>
              <c:pt idx="0">
                <c:v>35</c:v>
              </c:pt>
              <c:pt idx="1">
                <c:v>38.1</c:v>
              </c:pt>
              <c:pt idx="2">
                <c:v>41</c:v>
              </c:pt>
              <c:pt idx="3">
                <c:v>47.6</c:v>
              </c:pt>
              <c:pt idx="4">
                <c:v>58.3</c:v>
              </c:pt>
              <c:pt idx="5">
                <c:v>73.9</c:v>
              </c:pt>
              <c:pt idx="6">
                <c:v>84.9</c:v>
              </c:pt>
            </c:numLit>
          </c:val>
        </c:ser>
        <c:ser>
          <c:idx val="1"/>
          <c:order val="1"/>
          <c:tx>
            <c:v>CNAP at target prevalence</c:v>
          </c:tx>
          <c:spPr>
            <a:ln xmlns:a="http://schemas.openxmlformats.org/drawingml/2006/main" w="38100">
              <a:solidFill>
                <a:srgbClr val="0E7C66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0.10</c:v>
              </c:pt>
              <c:pt idx="4">
                <c:v>0.20</c:v>
              </c:pt>
              <c:pt idx="5">
                <c:v>0.40</c:v>
              </c:pt>
              <c:pt idx="6">
                <c:v>0.60</c:v>
              </c:pt>
            </c:numLit>
          </c:cat>
          <c:val>
            <c:numLit>
              <c:formatCode>General</c:formatCode>
              <c:ptCount val="7"/>
              <c:pt idx="0">
                <c:v>34.3</c:v>
              </c:pt>
              <c:pt idx="1">
                <c:v>36.2</c:v>
              </c:pt>
              <c:pt idx="2">
                <c:v>37.9</c:v>
              </c:pt>
              <c:pt idx="3">
                <c:v>41.7</c:v>
              </c:pt>
              <c:pt idx="4">
                <c:v>47.9</c:v>
              </c:pt>
              <c:pt idx="5">
                <c:v>56.4</c:v>
              </c:pt>
              <c:pt idx="6">
                <c:v>62.3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replication 1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4"/>
              <c:pt idx="0">
                <c:v>.01</c:v>
              </c:pt>
              <c:pt idx="1">
                <c:v>.05</c:v>
              </c:pt>
              <c:pt idx="2">
                <c:v>.20</c:v>
              </c:pt>
              <c:pt idx="3">
                <c:v>.40</c:v>
              </c:pt>
            </c:num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38</c:v>
              </c:pt>
              <c:pt idx="2">
                <c:v>55</c:v>
              </c:pt>
              <c:pt idx="3">
                <c:v>61</c:v>
              </c:pt>
            </c:numLit>
          </c:val>
        </c:ser>
        <c:ser>
          <c:idx val="1"/>
          <c:order val="1"/>
          <c:tx>
            <c:v>replication 2</c:v>
          </c:tx>
          <c:spPr>
            <a:ln xmlns:a="http://schemas.openxmlformats.org/drawingml/2006/main" w="38100">
              <a:solidFill>
                <a:srgbClr val="D97706"/>
              </a:solidFill>
              <a:prstDash val="solid"/>
            </a:ln>
          </c:spPr>
          <c:marker>
            <c:symbol val="diamond"/>
            <c:size val="7"/>
          </c:marker>
          <c:cat>
            <c:numLit>
              <c:formatCode>General</c:formatCode>
              <c:ptCount val="4"/>
              <c:pt idx="0">
                <c:v>.01</c:v>
              </c:pt>
              <c:pt idx="1">
                <c:v>.05</c:v>
              </c:pt>
              <c:pt idx="2">
                <c:v>.20</c:v>
              </c:pt>
              <c:pt idx="3">
                <c:v>.40</c:v>
              </c:pt>
            </c:num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54</c:v>
              </c:pt>
              <c:pt idx="2">
                <c:v>36</c:v>
              </c:pt>
              <c:pt idx="3">
                <c:v>18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supported level</c:v>
          </c:tx>
          <c:spPr>
            <a:ln xmlns:a="http://schemas.openxmlformats.org/drawingml/2006/main" w="38100">
              <a:solidFill>
                <a:srgbClr val="6B4E8E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52</c:v>
              </c:pt>
              <c:pt idx="1">
                <c:v>43</c:v>
              </c:pt>
              <c:pt idx="2">
                <c:v>38</c:v>
              </c:pt>
              <c:pt idx="3">
                <c:v>34</c:v>
              </c:pt>
              <c:pt idx="4">
                <c:v>31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AD14F-87B4-4816-8C91-BCD18F0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LAB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6530C-BD12-40AB-8BE7-A49C027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09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What did the performance</a:t>
            </a:r>
          </a:p>
          <a:p xmlns:a="http://schemas.openxmlformats.org/drawingml/2006/main">
            <a:pPr algn="l"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claim survive?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D2292-27D3-4F24-A6F8-6FAA5ED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A pedagogical route from average precision to prevalence-robust,</a:t>
            </a:r>
          </a:p>
          <a:p xmlns:a="http://schemas.openxmlformats.org/drawingml/2006/main">
            <a:pPr algn="l"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replication-supported model replacement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A5AE-B813-4CA7-A756-980D6FA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52C07-97DE-46F1-A92F-DDF8D56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240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2B6CB0"/>
                </a:solidFill>
              </a:defRPr>
            </a:pPr>
            <a:r>
              <a:rPr sz="4350" b="1" i="0">
                <a:solidFill>
                  <a:srgbClr val="2B6CB0"/>
                </a:solidFill>
              </a:rPr>
              <a:t>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67BB1-E5AD-44BF-BC8B-97F3774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8AC1B-0067-4F4E-9A7C-D26DD2BC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90BF4-A9D3-4CA8-BDB0-AAED7AF4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04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D709-9641-42DD-9C89-B0D55CB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14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survived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0B436-5274-4BA1-8004-F67F8F9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F2575-E9D0-4E24-B10C-72753FC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Stats_Paper_Extending_PRAUC_v12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70206-6466-447E-9A36-1746BFF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81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Computational lab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080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ABC0F-E31C-4741-8D1E-D0DB646C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F22CD-9F47-40D7-87D5-E1EFB83E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AUROC describes separation—but our decisions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receive a selected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5252E-4592-4D42-B724-9DF58393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2DE0D-EE0C-4F03-8E63-B89E449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5CD30-20C9-43B4-8EDD-B560CE7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F56A6-BC3A-48DB-A0B8-36B7264D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SEPARATION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0B086-357F-4BB3-A7F0-2353CEB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6CB25-C321-44D8-90EC-D6BDDB14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981BD-70F2-4186-B44C-BA7BDA91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4ABE2-B311-4BF7-8C1C-6FF45927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8CA4B-9194-44C7-891D-AFFA9946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2995D-E2D8-4623-BEC4-C95E0FD3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7967-F86F-4286-AD7A-55EFCF4E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0F43C-6460-4567-9B28-106F811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6749F-285F-4158-BFF1-371967A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How often does a positive</a:t>
            </a:r>
          </a:p>
          <a:p xmlns:a="http://schemas.openxmlformats.org/drawingml/2006/main">
            <a:pPr algn="l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outrank a negative?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0DCC9-30EC-49FE-A4F2-D593C799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765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AED00-8D8E-4303-987A-7DE1220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SELECTED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DE878-34D5-4715-8052-6D3CC03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5E6AB-30DB-4B28-BE1C-78C7B0C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69054-06AC-4DF9-8F69-DB5C776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605C7-2D41-4541-BD6F-A5A4965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01659-5817-42DA-B8E0-30EBE1C0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F1B72-6B37-419C-A14B-C8212B86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B60D5-E7F2-4335-BF70-5B461617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6420B-B0FA-4409-B97F-07E321D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B77F0-29C8-48B8-9118-19AC0626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E7C66"/>
                </a:solidFill>
              </a:defRPr>
            </a:pPr>
            <a:r>
              <a:rPr sz="2100" b="1" i="0">
                <a:solidFill>
                  <a:srgbClr val="0E7C66"/>
                </a:solidFill>
              </a:rPr>
              <a:t>Who actually enters the review,</a:t>
            </a:r>
          </a:p>
          <a:p xmlns:a="http://schemas.openxmlformats.org/drawingml/2006/main">
            <a:pPr algn="l">
              <a:defRPr sz="2100" b="1" i="0">
                <a:solidFill>
                  <a:srgbClr val="0E7C66"/>
                </a:solidFill>
              </a:defRPr>
            </a:pPr>
            <a:r>
              <a:rPr sz="2100" b="1" i="0">
                <a:solidFill>
                  <a:srgbClr val="0E7C66"/>
                </a:solidFill>
              </a:rPr>
              <a:t>assay, or intervention queue?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4BFAF-48BD-476B-BE24-622C07F9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E476D-7AEC-431B-894C-B95C6C4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The composition of the selected set is itself a scientific outcome.</a:t>
            </a:r>
          </a:p>
        </p:txBody>
      </p:sp>
    </p:spTree>
    <p:extLst>
      <p:ext uri="{BB962C8B-B14F-4D97-AF65-F5344CB8AC3E}">
        <p14:creationId xmlns:p14="http://schemas.microsoft.com/office/powerpoint/2010/main" val="316417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69ADF-3998-408C-80AD-973AF3B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F1DC8-DC71-4DEC-8B57-D680EBF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Precision asks whom we selected;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recall asks whom we missed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8CE1A-AAA9-4830-9BF9-D446A580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3BB5B-F00F-45E3-8658-1AC058B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BB03A-09F2-4140-8494-CC4B0199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C0739-8351-4256-A73B-B985334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A48EA-7029-4039-AC5A-C05CF3A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4325A-66A7-4218-8560-E9B1CF8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the cases we selected,</a:t>
            </a:r>
          </a:p>
          <a:p xmlns:a="http://schemas.openxmlformats.org/drawingml/2006/main">
            <a:pPr algn="l"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are positive?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9149167984fb6"/>
          <a:stretch xmlns:a="http://schemas.openxmlformats.org/drawingml/2006/main"/>
        </p:blipFill>
        <p:spPr>
          <a:xfrm xmlns:a="http://schemas.openxmlformats.org/drawingml/2006/main">
            <a:off x="2074196" y="3790950"/>
            <a:ext cx="2080958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2A900-038F-4C8C-8954-A42E6968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B061B-5149-49BA-995F-F242906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C83C0-2336-4AC1-B559-32C744C0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all positive cases,</a:t>
            </a:r>
          </a:p>
          <a:p xmlns:a="http://schemas.openxmlformats.org/drawingml/2006/main">
            <a:pPr algn="l"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did we select?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7e565dcd419f"/>
          <a:stretch xmlns:a="http://schemas.openxmlformats.org/drawingml/2006/main"/>
        </p:blipFill>
        <p:spPr>
          <a:xfrm xmlns:a="http://schemas.openxmlformats.org/drawingml/2006/main">
            <a:off x="7994965" y="3790950"/>
            <a:ext cx="182182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AFEF8-1418-4474-8572-E469D5E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48250"/>
            <a:ext cx="6400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CED8B-2646-4A3E-8699-59FC25D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Move the score threshold → both quantities change together.</a:t>
            </a:r>
          </a:p>
        </p:txBody>
      </p:sp>
    </p:spTree>
    <p:extLst>
      <p:ext uri="{BB962C8B-B14F-4D97-AF65-F5344CB8AC3E}">
        <p14:creationId xmlns:p14="http://schemas.microsoft.com/office/powerpoint/2010/main" val="473080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77495-B207-4194-836C-5630CE6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5673E-2DA3-47B1-8A4D-EC5D291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PR curve records what happens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as the selected set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8F8BC-80C7-46CF-B71D-3DC1B922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AB66C-8873-4AD5-9326-8F0850D0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2E27D-5083-437B-AABC-CEBF611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794BA-A32B-41B5-8383-72CC4A4C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ONE RANKED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3E2A7-FF10-4E93-843D-BF085187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44E04-9798-40ED-96BB-C04A6843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E5F3C-D050-44B5-9348-3DA4803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2AFDA-C762-4DF5-845C-32A4FDD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F66A9-6116-4F0B-97FF-AA1E7BCC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86FA6-387D-4D27-8972-5269EC26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730B4-2BA5-4E09-AC28-7DB72E21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79E82-AB9C-4F11-8145-1DDA486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5FC20-F205-4041-B11C-0F3FCD86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69B02-B97D-40D2-85C9-55C2A81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8FFA9-A10D-4A2E-95CE-E53B0DC4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4C8D8-1F07-4B89-993D-F38F6BD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AE3D1-5EDF-4AA9-89EF-F987BD0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64648-3DD1-4023-B35E-73CB35E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057CE-8FF2-4344-BDC2-F85E9B0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387DF-8752-41C7-AA6E-379B5E4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D1A64-6D7C-4465-8FE0-B4D78E9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77A50-0C7A-422F-9AB4-A2ABECF3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B5FF3-FCFB-493C-A647-17C328F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655C6-82D2-4A76-894A-2A7D467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8562D-1228-4B0C-AC01-34E0D528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84919-81A8-4D60-BC50-C23FDB06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D040A-85AC-48AA-B4DC-BC314D7C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3B581-1DF8-4BD2-BFB2-8C40A2B7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14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1EE97-89C8-447F-8847-6200F90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6667500" y="2057400"/>
          <a:ext xmlns:a="http://schemas.openxmlformats.org/drawingml/2006/main" cx="4476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486596d2654392"/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86E70F-AD0F-46DB-B7FD-6AD2F28B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recall 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0C8C5-F5E5-422A-9B3D-1A4AEED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Every positive expands recall; every false positive can dilute precision.</a:t>
            </a:r>
          </a:p>
        </p:txBody>
      </p:sp>
    </p:spTree>
    <p:extLst>
      <p:ext uri="{BB962C8B-B14F-4D97-AF65-F5344CB8AC3E}">
        <p14:creationId xmlns:p14="http://schemas.microsoft.com/office/powerpoint/2010/main" val="348430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211A8-A237-4C20-A4A1-659F4C25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44B96-720F-4387-A99C-CEA4FD2B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 rises when positives</a:t>
            </a:r>
          </a:p>
          <a:p xmlns:a="http://schemas.openxmlformats.org/drawingml/2006/main">
            <a:pPr algn="l"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appear 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DA46A-DA16-40E1-86E8-39B0A053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DEEC-5268-4C13-8924-9C6CE1B5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0FFB8-646D-4B27-B4D1-D4229C4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A20E0-0876-40F9-AD76-7DED92A2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POSITIVE RANKS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193F7-E664-4C84-B7B9-0D6F2872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CABC7-298D-40AA-8D93-420A6BA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DA4D9-DEFC-4FEE-A99A-6140300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1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8aff1135c4541"/>
          <a:stretch xmlns:a="http://schemas.openxmlformats.org/drawingml/2006/main"/>
        </p:blipFill>
        <p:spPr>
          <a:xfrm xmlns:a="http://schemas.openxmlformats.org/drawingml/2006/main">
            <a:off x="3597325" y="2609850"/>
            <a:ext cx="787301" cy="438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D0A96-67C0-4282-A3AE-7B4390AB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2E7AD-8147-4EFA-A1A2-D81711B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892B5-D017-4FEE-BEA3-61D955A4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3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3227f779e47a0"/>
          <a:stretch xmlns:a="http://schemas.openxmlformats.org/drawingml/2006/main"/>
        </p:blipFill>
        <p:spPr>
          <a:xfrm xmlns:a="http://schemas.openxmlformats.org/drawingml/2006/main">
            <a:off x="3600376" y="342900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2079D-B4AE-46E0-BA16-FCC053B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CC9F7-5AA2-4977-98F2-C714F821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183AF-7646-4C70-A7D1-D68FCCC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14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a65d4c6284151"/>
          <a:stretch xmlns:a="http://schemas.openxmlformats.org/drawingml/2006/main"/>
        </p:blipFill>
        <p:spPr>
          <a:xfrm xmlns:a="http://schemas.openxmlformats.org/drawingml/2006/main">
            <a:off x="3600376" y="424815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9410A-06C4-4786-839B-63EC51A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4500ce35742a4"/>
          <a:stretch xmlns:a="http://schemas.openxmlformats.org/drawingml/2006/main"/>
        </p:blipFill>
        <p:spPr>
          <a:xfrm xmlns:a="http://schemas.openxmlformats.org/drawingml/2006/main">
            <a:off x="6722804" y="2724150"/>
            <a:ext cx="3699392" cy="7810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a1e99a3014328"/>
          <a:stretch xmlns:a="http://schemas.openxmlformats.org/drawingml/2006/main"/>
        </p:blipFill>
        <p:spPr>
          <a:xfrm xmlns:a="http://schemas.openxmlformats.org/drawingml/2006/main">
            <a:off x="7133034" y="3619500"/>
            <a:ext cx="2878931" cy="5905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6B665-FCB9-45E8-9F3F-27DBEED8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E1232-E881-4C5A-BAFD-3C063BDE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 is a weighted summary of precision over recall—not the area of a smooth geometric shape.</a:t>
            </a:r>
          </a:p>
        </p:txBody>
      </p:sp>
    </p:spTree>
    <p:extLst>
      <p:ext uri="{BB962C8B-B14F-4D97-AF65-F5344CB8AC3E}">
        <p14:creationId xmlns:p14="http://schemas.microsoft.com/office/powerpoint/2010/main" val="1613780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15ADF-2DDC-4CA3-B6C7-C8D290D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0AF53-F539-4269-84C0-784BD55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ranking can stay unchanged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while precision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81E98-97D9-43C0-9F56-27279358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EF242-C14E-4FB0-A14B-4E2EE4B8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29C66-65EA-4847-875F-3BD7126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1F906-F585-48E8-B86A-83C1ADD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SAME OPERATING BEHAVIOR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100dbc07145b4"/>
          <a:stretch xmlns:a="http://schemas.openxmlformats.org/drawingml/2006/main"/>
        </p:blipFill>
        <p:spPr>
          <a:xfrm xmlns:a="http://schemas.openxmlformats.org/drawingml/2006/main">
            <a:off x="685800" y="2372447"/>
            <a:ext cx="4476750" cy="47480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2EE16-B1D9-47B6-A9A1-354CA1E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59FE3-234C-4E9F-82D8-4495CCF2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38500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C1A36-9F30-4730-906F-0D295EFB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50% prevalence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0C6B2-DADE-44F8-A60F-4FAF75A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24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9BDA-9DF4-42EF-8FC3-C6A7459B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0E973-8992-4846-A18E-F49474FA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734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B862F-540F-4F24-A00E-7FABD806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1% prevalence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8426D-2AC1-4E21-90C2-B452B20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A22C4-8291-4D18-82D9-0962D9B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0957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57A7B-8DBD-44F0-BC1C-E764BA28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The classifier did not change.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B9E92-7800-4930-ABDE-1BB34FD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The supply of negatives did.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BD6CD-2867-4BAE-A114-2FD7DF7E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Precision therefore describes</a:t>
            </a:r>
          </a:p>
          <a:p xmlns:a="http://schemas.openxmlformats.org/drawingml/2006/main">
            <a:pPr algn="ctr"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a ranking in a population.</a:t>
            </a:r>
          </a:p>
        </p:txBody>
      </p:sp>
    </p:spTree>
    <p:extLst>
      <p:ext uri="{BB962C8B-B14F-4D97-AF65-F5344CB8AC3E}">
        <p14:creationId xmlns:p14="http://schemas.microsoft.com/office/powerpoint/2010/main" val="566053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563F2-9239-4946-B576-E09A8C0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AD24D-204A-483E-AFC0-0C5A0942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Change the class prior—but preserve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within-class ranking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4C6F2-F520-48E9-9A39-158FA090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402C0-1E8A-4AA5-8E30-BAEDFCF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6D09E-C447-4424-A1D5-C32E52FD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F0520-10FE-4D3D-A0F3-5001BC65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KEEP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786E7-9325-4A2F-B863-728553F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96e23f88a4676"/>
          <a:stretch xmlns:a="http://schemas.openxmlformats.org/drawingml/2006/main"/>
        </p:blipFill>
        <p:spPr>
          <a:xfrm xmlns:a="http://schemas.openxmlformats.org/drawingml/2006/main">
            <a:off x="1066800" y="2896269"/>
            <a:ext cx="3581400" cy="47491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c2f8791cb45d3"/>
          <a:stretch xmlns:a="http://schemas.openxmlformats.org/drawingml/2006/main"/>
        </p:blipFill>
        <p:spPr>
          <a:xfrm xmlns:a="http://schemas.openxmlformats.org/drawingml/2006/main">
            <a:off x="1066800" y="3661557"/>
            <a:ext cx="3581400" cy="46833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F7511-C075-426A-82A4-BE7B3FB5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Observed class-conditional</a:t>
            </a:r>
          </a:p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ranking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288C3-5F68-49A4-951E-218DDB6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5F6B78"/>
                </a:solidFill>
              </a:defRPr>
            </a:pPr>
            <a:r>
              <a:rPr sz="39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E68C3-B538-4A82-BEFA-D4FA5313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F0DA0-3A5B-45CC-BE23-35A450F7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05ea8f013492d"/>
          <a:stretch xmlns:a="http://schemas.openxmlformats.org/drawingml/2006/main"/>
        </p:blipFill>
        <p:spPr>
          <a:xfrm xmlns:a="http://schemas.openxmlformats.org/drawingml/2006/main">
            <a:off x="7505700" y="3105000"/>
            <a:ext cx="3162300" cy="59085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77F8F-DD47-42DD-B593-03D433EA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The target population’s</a:t>
            </a:r>
          </a:p>
          <a:p xmlns:a="http://schemas.openxmlformats.org/drawingml/2006/main">
            <a:pPr algn="ctr"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class prior</a:t>
            </a:r>
          </a:p>
        </p:txBody>
      </p:sp>
    </p:spTree>
    <p:extLst>
      <p:ext uri="{BB962C8B-B14F-4D97-AF65-F5344CB8AC3E}">
        <p14:creationId xmlns:p14="http://schemas.microsoft.com/office/powerpoint/2010/main" val="1160539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0B1E2-35A2-4C4D-A345-8E2E67E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6FB9B-7C3D-41AF-B077-A9FC6B7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Prior-standardized precision makes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target prevalence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91609-A64F-441C-BBFB-E26F043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EF9BC-D992-4C59-949B-3E92460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92CAF-80B3-4D46-B699-208511F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CD91-9CAC-4017-9EDB-B546FFD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60a94689a421c"/>
          <a:stretch xmlns:a="http://schemas.openxmlformats.org/drawingml/2006/main"/>
        </p:blipFill>
        <p:spPr>
          <a:xfrm xmlns:a="http://schemas.openxmlformats.org/drawingml/2006/main">
            <a:off x="3784426" y="2343150"/>
            <a:ext cx="4623148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B77BE-BBD6-4015-BC75-604D4C5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1%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3BD8B-A6F3-4D29-9B5F-BDDD1FB0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3178-517C-4907-8700-437FF141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ED72A-CF13-4F8F-94A5-54898B3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5%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37B9B-0EB7-43AC-B7B3-B62090BC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51FD2-7FC0-4790-ABAE-1D9F3270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0.46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D10B3-C029-4E81-91B0-5A1BD7B2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10%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643F2-B845-4FD3-8992-3BEFB079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F2C53-68CC-42BA-838D-8DA5942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069E6-C3B5-4231-8581-3166A7C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20%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81EE2-7738-47D9-850F-468A77E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7A0D-3DDB-452D-BED5-93704F3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D2727-2994-41EF-A35B-A118182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50%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3CA8B-4EBF-4D61-9706-2A0D034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B08D0-EC49-449D-AE20-B9D6F3C4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1F9D8-FF01-484D-AC16-74C4CF7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The example fixes recall at 0.80 and the false-positive rate at 0.05.</a:t>
            </a:r>
          </a:p>
        </p:txBody>
      </p:sp>
    </p:spTree>
    <p:extLst>
      <p:ext uri="{BB962C8B-B14F-4D97-AF65-F5344CB8AC3E}">
        <p14:creationId xmlns:p14="http://schemas.microsoft.com/office/powerpoint/2010/main" val="1405284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F1B3C-AA32-4E5C-85A3-AC2E1EA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D2B54-48C4-4D0A-91C0-D2FB5F9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Reweighting is licensed only when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class-conditional scores transport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91F5E-C3B0-4869-9FC6-E545471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97D4-A1F1-4780-A26B-ADED051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D6A21-983B-476D-95FE-F1831AB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1A546-C490-49BD-A486-CC2D554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C99C1-6A8D-4A91-AAFE-B99A1C2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LICENSED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138e95dd24b83"/>
          <a:stretch xmlns:a="http://schemas.openxmlformats.org/drawingml/2006/main"/>
        </p:blipFill>
        <p:spPr>
          <a:xfrm xmlns:a="http://schemas.openxmlformats.org/drawingml/2006/main">
            <a:off x="1066800" y="3271907"/>
            <a:ext cx="4419600" cy="35228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4920-EF2D-486B-9802-5318BE5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Only the class prior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01533-964D-4B93-A8F1-47E750AA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6DAFD-E86C-44E7-8032-79B658C1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LICENSED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63DC0-167F-4623-BF0B-D62C8CC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924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Severity shifts</a:t>
            </a:r>
          </a:p>
          <a:p xmlns:a="http://schemas.openxmlformats.org/drawingml/2006/main">
            <a:pPr algn="ctr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Measurement shifts</a:t>
            </a:r>
          </a:p>
          <a:p xmlns:a="http://schemas.openxmlformats.org/drawingml/2006/main">
            <a:pPr algn="ctr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Within-class scores shift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8DA58-72DE-4B5C-B0A8-F85D4B7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B5473C"/>
                </a:solidFill>
              </a:defRPr>
            </a:pPr>
            <a:r>
              <a:rPr sz="1725" b="0" i="0">
                <a:solidFill>
                  <a:srgbClr val="B5473C"/>
                </a:solidFill>
              </a:rPr>
              <a:t>Those changes belong in the regime.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B8D1E-201A-4B74-A9E3-AC4A640C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8801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18FB2-46AC-4C47-805F-619FC02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81650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Invariance is a prespecified transport claim—not something the reweighted curve can prove.</a:t>
            </a:r>
          </a:p>
        </p:txBody>
      </p:sp>
    </p:spTree>
    <p:extLst>
      <p:ext uri="{BB962C8B-B14F-4D97-AF65-F5344CB8AC3E}">
        <p14:creationId xmlns:p14="http://schemas.microsoft.com/office/powerpoint/2010/main" val="2082233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EE057-E1FB-4A99-B111-87E640E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6AD1-9833-4459-BA38-A1110D08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AP needs a common baseline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before prevalences can be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3C8BE-66D9-4289-AAA4-6CEDF8F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A8E58-1571-4386-A6F1-925A89DA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6633-05C4-481F-93DB-8A03322D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A7058-D73F-4815-8782-4F83E8D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F6B78"/>
                </a:solidFill>
              </a:defRPr>
            </a:pPr>
            <a:r>
              <a:rPr sz="2100" b="0" i="0">
                <a:solidFill>
                  <a:srgbClr val="5F6B78"/>
                </a:solidFill>
              </a:rPr>
              <a:t>Random ranking has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4f62a52fd47af"/>
          <a:stretch xmlns:a="http://schemas.openxmlformats.org/drawingml/2006/main"/>
        </p:blipFill>
        <p:spPr>
          <a:xfrm xmlns:a="http://schemas.openxmlformats.org/drawingml/2006/main">
            <a:off x="1426618" y="2800350"/>
            <a:ext cx="2233115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C12F7-3097-4B96-9775-3D0440D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 a raw AP of 0.30 means</a:t>
            </a:r>
          </a:p>
          <a:p xmlns:a="http://schemas.openxmlformats.org/drawingml/2006/main">
            <a:pPr algn="l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something different at 1%</a:t>
            </a:r>
          </a:p>
          <a:p xmlns:a="http://schemas.openxmlformats.org/drawingml/2006/main">
            <a:pPr algn="l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than at 20% prevalence.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1ED80-71F4-4FD8-AF27-EFAA2DE1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2C5DD-1C98-41F1-A621-E6A570B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45529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a9751ed62424a"/>
          <a:stretch xmlns:a="http://schemas.openxmlformats.org/drawingml/2006/main"/>
        </p:blipFill>
        <p:spPr>
          <a:xfrm xmlns:a="http://schemas.openxmlformats.org/drawingml/2006/main">
            <a:off x="7251652" y="2647950"/>
            <a:ext cx="2927447" cy="781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1253E-A428-4199-AA81-0002B4B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0 marks population random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5054A-07AC-4B21-BBC8-61B5739D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1 marks perfect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EB89-7774-4BF6-87BA-CBE07E8E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00650"/>
            <a:ext cx="5981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638FB-2467-44E4-BD30-FDBE7EC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Normalize after evaluating the ranking in the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393696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0EFBA-8B1B-4261-BA3D-CEAA5AC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FF4ED-D9BE-49A5-9363-9820434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Chance normalization aligns the endpoints—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the whole prevalence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7B35-615F-4C0B-A526-FE3C402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7712C-7CC5-4813-BDE0-C5BAD8E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EA08C-CB6D-4364-8438-9D9F516C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7334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530e51bb6440b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4B682-9F78-45FB-921B-F0E5E5A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465F-7E0E-44C1-BA5C-BF8D5203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004D1-0764-41D4-AE5D-6D9306A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Same endpoints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B4955-4C18-435C-8E09-D16FF22D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Difficulty varies</a:t>
            </a:r>
          </a:p>
          <a:p xmlns:a="http://schemas.openxmlformats.org/drawingml/2006/main">
            <a:pPr algn="ctr"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by prevalence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FA913-5207-4B12-BF88-3CA64B7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769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target prevalence →</a:t>
            </a:r>
          </a:p>
        </p:txBody>
      </p:sp>
    </p:spTree>
    <p:extLst>
      <p:ext uri="{BB962C8B-B14F-4D97-AF65-F5344CB8AC3E}">
        <p14:creationId xmlns:p14="http://schemas.microsoft.com/office/powerpoint/2010/main" val="1027479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86CD9-9EF8-4EC2-8257-D8A1D2D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AD25C-31DF-4B66-A465-E851FC8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If the claim must hold everywhere,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an average answers the wrong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70EE1-6487-4182-BC01-A1E5745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2C8AD-57A7-4217-AAA8-B8EE3C1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81607-8600-4434-B550-2A19419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83D32-C6B3-4093-8D86-51AEB3D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C5F5D-912E-41F0-AA6F-A304B4D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.01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507C1-8B76-4BB9-8537-01D3AA7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5C134-0191-45DE-9920-26573DD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F2581-E040-4A18-BC91-EDF8EDF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.05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1004A-5C72-4368-AC63-B0FFB7B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780C3-94D0-4EE6-9FC9-E7F7C1E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36529-195B-45ED-8A89-82F05A8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.20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F8D63-28A0-4CE9-B032-10A5D7C2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3CFC6-8C4E-46D9-9CBF-394FC38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507EC-DCD3-4853-8F84-573C480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.40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32FEF-F16A-42B9-A2F0-FA81105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E5B66-0D2A-4660-9BA4-8BFD9B3E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7DB01-E4BE-466D-AD6E-6C3FA2B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1619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77643-4F5D-498F-AB5F-E25FF36C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A5BD6-5745-4B82-B9A2-39230D3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E7C66"/>
                </a:solidFill>
              </a:defRPr>
            </a:pPr>
            <a:r>
              <a:rPr sz="2550" b="1" i="0">
                <a:solidFill>
                  <a:srgbClr val="0E7C66"/>
                </a:solidFill>
              </a:rPr>
              <a:t>0.31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161F9-191A-4F7C-835C-928D44FE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43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Average: 0.47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5A084-67AA-4783-A11E-35BA5AB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97706"/>
                </a:solidFill>
              </a:defRPr>
            </a:pPr>
            <a:r>
              <a:rPr sz="2100" b="1" i="0">
                <a:solidFill>
                  <a:srgbClr val="D97706"/>
                </a:solidFill>
              </a:rPr>
              <a:t>but the claim failed at 0.31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F6605-7E4F-4625-A888-413807E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886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0D228-6FF7-4BAC-86CF-4ED0B38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Robust CNAP is the largest level attained at every declared prevalence.</a:t>
            </a:r>
          </a:p>
        </p:txBody>
      </p:sp>
    </p:spTree>
    <p:extLst>
      <p:ext uri="{BB962C8B-B14F-4D97-AF65-F5344CB8AC3E}">
        <p14:creationId xmlns:p14="http://schemas.microsoft.com/office/powerpoint/2010/main" val="693752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35301-23CB-4FEA-B465-D846310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8C820-15BB-4ED7-8568-B4275F4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performance claim needs three declarations: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populations, regime, and attempts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F00C-28ED-498E-841B-395218B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70A68-2C5F-4485-BE27-70018B0E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55D4-7FA6-434C-BA03-66B4E611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f4ebacfa44b7c"/>
          <a:stretch xmlns:a="http://schemas.openxmlformats.org/drawingml/2006/main"/>
        </p:blipFill>
        <p:spPr>
          <a:xfrm xmlns:a="http://schemas.openxmlformats.org/drawingml/2006/main">
            <a:off x="4045039" y="2190750"/>
            <a:ext cx="4101921" cy="74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910E5-8319-49AC-9301-EB967E12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39EDC-619E-4026-9E30-870E233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2B6CB0"/>
                </a:solidFill>
              </a:defRPr>
            </a:pPr>
            <a:r>
              <a:rPr sz="3150" b="1" i="0">
                <a:solidFill>
                  <a:srgbClr val="2B6CB0"/>
                </a:solidFill>
              </a:rPr>
              <a:t>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D9136-6B9F-45E3-813E-2EB9D73C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Where must the</a:t>
            </a:r>
          </a:p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claim hold?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9FC4-073C-4896-8D93-D4E2E64D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D00C6-6F78-4430-9470-4A262C85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6B4E8E"/>
                </a:solidFill>
              </a:defRPr>
            </a:pPr>
            <a:r>
              <a:rPr sz="3150" b="1" i="0">
                <a:solidFill>
                  <a:srgbClr val="6B4E8E"/>
                </a:solidFill>
              </a:rPr>
              <a:t>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EE859-9FC9-4061-8A15-64EA71A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What may vary in a</a:t>
            </a:r>
          </a:p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complete replication?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4620F-830C-4F4A-AC4C-21DC35EE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15ADD-31AA-4073-AE6C-AF9C921D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D97706"/>
                </a:solidFill>
              </a:defRPr>
            </a:pPr>
            <a:r>
              <a:rPr sz="3150" b="1" i="0">
                <a:solidFill>
                  <a:srgbClr val="D97706"/>
                </a:solidFill>
              </a:rPr>
              <a:t>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90CDC-D267-43E6-BDAB-3281A9AA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How many attempts</a:t>
            </a:r>
          </a:p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must be survived?</a:t>
            </a:r>
          </a:p>
        </p:txBody>
      </p:sp>
    </p:spTree>
    <p:extLst>
      <p:ext uri="{BB962C8B-B14F-4D97-AF65-F5344CB8AC3E}">
        <p14:creationId xmlns:p14="http://schemas.microsoft.com/office/powerpoint/2010/main" val="1586839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CBF04-2FDA-4978-B96E-AB6AA961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34282-7221-4477-AA70-AA8DF47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“Replication” is incomplete until we say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what is allowed to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07600-2C8D-4DC0-A9BC-47D4A8B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46BAD-E0D4-47D4-A62E-E1D59C6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719EE-A373-43F6-90AC-F67D60E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3F157-5115-4E26-A983-813D5E19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REGIME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C4048-F5AE-46EF-B98B-F0882776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FDF1-2AE9-4868-8AEF-A8266914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CF09D-D2F1-4859-B4CA-E5CF5A3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74A4E-E962-43BC-9B47-E7FCB745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1CBCA-02CD-4701-B5DF-AE7FEC4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Fixed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C0B63-479E-4B6C-B355-CB6913E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9949B-61E0-4A3F-9C18-BAD92B9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72833-EA29-4009-BD6A-05B295BF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9134A-3469-40D5-B0A9-076512D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F20F2-4265-441E-B1C0-25206635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B4E8E"/>
                </a:solidFill>
              </a:defRPr>
            </a:pPr>
            <a:r>
              <a:rPr sz="1650" b="1" i="0">
                <a:solidFill>
                  <a:srgbClr val="6B4E8E"/>
                </a:solidFill>
              </a:rPr>
              <a:t>New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325CB-5C88-4231-AAF0-DFAB8FB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6653-0495-4B9B-AE4D-85E52BF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6E770-237C-4F85-9668-82EBA003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21DF4-8180-4E20-9C09-3F8DAF3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0E0AE-6F7C-46AC-8152-329BACD0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Repeated development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F58FC-ED54-459D-A1AA-B6171224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66C86-7BFF-4AAF-8D0F-32CE8EB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EAA9D-C77A-4131-B3EA-23C9562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refit + reselect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E8C99-66AB-422C-8944-CABF62D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A unit bootstrap identifies only the first target.</a:t>
            </a:r>
          </a:p>
        </p:txBody>
      </p:sp>
    </p:spTree>
    <p:extLst>
      <p:ext uri="{BB962C8B-B14F-4D97-AF65-F5344CB8AC3E}">
        <p14:creationId xmlns:p14="http://schemas.microsoft.com/office/powerpoint/2010/main" val="3652067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5258-2625-43D5-A818-5713EB07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F8A98-5072-4589-955C-DC9228F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Prevalence is computed within each draw;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other conditions are generated by the regime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9A43-FF2B-4706-9458-191C183F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19F0-ACF0-46AB-BC88-01AA6854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7355A-86C2-428B-B6DE-D5D307D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F779E-88B2-4DF7-954D-17F6F743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EED9D-87B8-493D-8CBF-627626C4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COMPUTED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2FEE7-BA9B-4197-8815-E3FD5350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Evaluate every target prevalence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within the same replication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C2C98-63CC-4C65-BD8B-9A5B3D1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Licensed by score-level</a:t>
            </a:r>
          </a:p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prior-shift invariance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054AE-CBD9-4141-8046-FC497433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0FB21-25C4-4E1F-AD80-A9D42849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GENERATED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B11EE-6123-4ADC-9F3A-A4A96AC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Draw environments, units,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 from the regime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B07FD-5F0F-4223-887F-345EACE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Cannot be recovered by</a:t>
            </a:r>
          </a:p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reweighting one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A1ECA-99E9-436E-A2D0-C1331B0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14950"/>
            <a:ext cx="8077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29BC1-F589-4750-98F2-C545B66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86400"/>
            <a:ext cx="769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If invariance fails, prevalence becomes part of the environments generated by the regime.</a:t>
            </a:r>
          </a:p>
        </p:txBody>
      </p:sp>
    </p:spTree>
    <p:extLst>
      <p:ext uri="{BB962C8B-B14F-4D97-AF65-F5344CB8AC3E}">
        <p14:creationId xmlns:p14="http://schemas.microsoft.com/office/powerpoint/2010/main" val="5644005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F85A8-87B8-490C-834E-604CB45E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3594-832C-479A-9C85-FA8F087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Expected performance can conceal a replication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defeated the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B4AFF-74D3-41EE-889E-EE6D99E4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87A3C-BEF4-41AB-8909-4F7BC5C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579FB-70B9-4B2D-AA25-4CBC8FD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009E-B210-45FD-A965-15942D5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9ED7D-1ECD-4ECC-97F2-335542C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89794-B6F0-4785-B096-DF6A951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75" b="1" i="0">
                <a:solidFill>
                  <a:srgbClr val="0E7C66"/>
                </a:solidFill>
              </a:defRPr>
            </a:pPr>
            <a:r>
              <a:rPr sz="3975" b="1" i="0">
                <a:solidFill>
                  <a:srgbClr val="0E7C66"/>
                </a:solidFill>
              </a:rPr>
              <a:t>0.70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346B6-18AD-4054-803A-7E970B0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4C0F4-C9CC-47F7-814A-E396870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DF196-BBF6-439A-A9A6-994FF6D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272F7-4850-4026-987C-5B11B09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75" b="1" i="0">
                <a:solidFill>
                  <a:srgbClr val="B5473C"/>
                </a:solidFill>
              </a:defRPr>
            </a:pPr>
            <a:r>
              <a:rPr sz="3975" b="1" i="0">
                <a:solidFill>
                  <a:srgbClr val="B5473C"/>
                </a:solidFill>
              </a:rPr>
              <a:t>0.05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7907B-63EC-4B0A-9C1F-FB75F3BF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293F1-998F-4E43-B263-4BF386A0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43150"/>
            <a:ext cx="1428750" cy="1733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509AC-03BC-4E4C-8610-940C1A3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00E71-4F2C-4E58-AB0B-B191C8FF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D97706"/>
                </a:solidFill>
              </a:defRPr>
            </a:pPr>
            <a:r>
              <a:rPr sz="2325" b="1" i="0">
                <a:solidFill>
                  <a:srgbClr val="D97706"/>
                </a:solidFill>
              </a:rPr>
              <a:t>0.375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BD0A1-9AB1-4796-B538-89EBD84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B5473C"/>
                </a:solidFill>
              </a:defRPr>
            </a:pPr>
            <a:r>
              <a:rPr sz="2325" b="1" i="0">
                <a:solidFill>
                  <a:srgbClr val="B5473C"/>
                </a:solidFill>
              </a:rPr>
              <a:t>A claim at 0.375 did not survive replication 2.</a:t>
            </a:r>
          </a:p>
        </p:txBody>
      </p:sp>
    </p:spTree>
    <p:extLst>
      <p:ext uri="{BB962C8B-B14F-4D97-AF65-F5344CB8AC3E}">
        <p14:creationId xmlns:p14="http://schemas.microsoft.com/office/powerpoint/2010/main" val="20118590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9E8A5-CE39-4660-A906-5B04958C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1D52F-8DD7-4FD8-A519-B766017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is the expected level retained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by every declared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EDC0C-7C66-45C3-886F-2807FDD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0696B-637C-4A71-80B2-191DADB2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6CF41-D3B1-4BF4-88BF-7F7F202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9B59-337C-4AEF-819E-0D2285E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3F64-F949-48D3-A2F2-5CD178C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6BB5-2D83-480D-A293-01956990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E5E1C-C6E9-47BB-8FBA-70741A09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5081C-633A-47BC-9653-860270C6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9FBC1-9FCC-4A71-949F-05B8ABE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C86E6-5948-4E07-B17A-AA6BFF4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E3DE6-A6D7-4E0B-A71C-345B06C6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2878A-7121-45A3-A67E-FF22A319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97F89-5D9E-40B9-921D-C9D1DC91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2EAF2-8E16-4835-AE03-5CE424A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C7263-C0A8-47EE-B46A-1EE9BA0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C96BC-EC56-4509-8FE6-4F0AD9F5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204EB-3D6B-409A-8567-D849A70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143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0F885-B482-4BE7-8A1B-17B585B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B312B-4734-4300-9D74-E409F5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0.29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CFB4E-6993-4DE3-A7FB-F524FAE5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62450"/>
            <a:ext cx="731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732383760458e"/>
          <a:stretch xmlns:a="http://schemas.openxmlformats.org/drawingml/2006/main"/>
        </p:blipFill>
        <p:spPr>
          <a:xfrm xmlns:a="http://schemas.openxmlformats.org/drawingml/2006/main">
            <a:off x="3214255" y="4495800"/>
            <a:ext cx="5763491" cy="685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1BC10-FB11-4548-8AA9-8BA70251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626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Expectation is over repeated executions of the declared regime.</a:t>
            </a:r>
          </a:p>
        </p:txBody>
      </p:sp>
    </p:spTree>
    <p:extLst>
      <p:ext uri="{BB962C8B-B14F-4D97-AF65-F5344CB8AC3E}">
        <p14:creationId xmlns:p14="http://schemas.microsoft.com/office/powerpoint/2010/main" val="1768881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D5CA1-E3FA-4873-BA2B-0E1A8CB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9BCDE-E8F2-4900-9307-59D8B03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two attempts, corroboration charges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half the replication disagreement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BF03E-35E4-4208-BE43-8DC86D8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7F94C-85AD-4E11-9C83-6714C4BA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F78BA-BBF2-4FEF-9D26-60D7F38C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01785-06DE-440B-A356-D0F4BAD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0172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1ba4cbd9148d3"/>
          <a:stretch xmlns:a="http://schemas.openxmlformats.org/drawingml/2006/main"/>
        </p:blipFill>
        <p:spPr>
          <a:xfrm xmlns:a="http://schemas.openxmlformats.org/drawingml/2006/main">
            <a:off x="3395886" y="2400300"/>
            <a:ext cx="5400229" cy="781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BA723-DCD9-4483-905F-790395F0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714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987A8-C2DD-4310-BE3B-6A997B0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6CB0"/>
                </a:solidFill>
              </a:defRPr>
            </a:pPr>
            <a:r>
              <a:rPr sz="1800" b="1" i="0">
                <a:solidFill>
                  <a:srgbClr val="2B6CB0"/>
                </a:solidFill>
              </a:rPr>
              <a:t>Expected 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6E971-457D-4C80-9B3E-FFC542F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7F138-AEEA-4EEC-A784-057E7C0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7F59B-728A-40AE-928F-3F27AB7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4286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55557-BFF6-406B-B75F-1B40C3F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97706"/>
                </a:solidFill>
              </a:defRPr>
            </a:pPr>
            <a:r>
              <a:rPr sz="1800" b="1" i="0">
                <a:solidFill>
                  <a:srgbClr val="D97706"/>
                </a:solidFill>
              </a:rPr>
              <a:t>Half the expected disagreement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494F7-FC87-484A-BEC9-AEE433F1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5EBC8-E814-43FE-8768-84FBE04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0FF44-7AC5-41F2-9AA0-33DBA52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E7C66"/>
                </a:solidFill>
              </a:defRPr>
            </a:pPr>
            <a:r>
              <a:rPr sz="2025" b="1" i="0">
                <a:solidFill>
                  <a:srgbClr val="0E7C66"/>
                </a:solidFill>
              </a:rPr>
              <a:t>Supported level: 0.38</a:t>
            </a:r>
          </a:p>
        </p:txBody>
      </p:sp>
    </p:spTree>
    <p:extLst>
      <p:ext uri="{BB962C8B-B14F-4D97-AF65-F5344CB8AC3E}">
        <p14:creationId xmlns:p14="http://schemas.microsoft.com/office/powerpoint/2010/main" val="3202194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8458D-0573-4056-B407-CA27A60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D9EAE-C72A-44D2-B81D-97CE4C6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 Popper’s sense, survival is support—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probability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EEF09-6EAA-4D21-9ED5-2D28FB4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B41AB-D917-42DC-96C2-E4C6CD6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DCD85-5775-41E0-93A6-283EB02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6C746-4FAE-4600-AC39-5666006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C226C-3E9C-4B60-9DAA-C847A78F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WHAT THE CLAIM EARNS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2A861-79FC-48B0-BB1A-D5668F2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It survived specified</a:t>
            </a:r>
          </a:p>
          <a:p xmlns:a="http://schemas.openxmlformats.org/drawingml/2006/main">
            <a:pPr algn="ctr"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opportunities for defeat.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9769A-0D21-4B43-8B85-B7287EA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assessment makes those</a:t>
            </a:r>
          </a:p>
          <a:p xmlns:a="http://schemas.openxmlformats.org/drawingml/2006/main">
            <a:pPr algn="ctr"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opportunities criticizable.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29C83-FD12-4AD5-988B-0174CF26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0820E-42BC-41DF-BA7C-92C4DF6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WHAT IT DOES NOT 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C38D9-B221-4177-8E93-D6A6ED0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A probability that the</a:t>
            </a:r>
          </a:p>
          <a:p xmlns:a="http://schemas.openxmlformats.org/drawingml/2006/main">
            <a:pPr algn="ctr"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model or claim is true.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6AD84-54A0-4C4B-A565-785E1A5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Nor a fixed confidence level.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B1CFA-F119-4F04-883F-622ECC44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B4E8E"/>
                </a:solidFill>
              </a:defRPr>
            </a:pPr>
            <a:r>
              <a:rPr sz="1950" b="1" i="0">
                <a:solidFill>
                  <a:srgbClr val="6B4E8E"/>
                </a:solidFill>
              </a:rPr>
              <a:t>Corroboration remains negative: the claim has not yet been defeated under 𝒜.</a:t>
            </a:r>
          </a:p>
        </p:txBody>
      </p:sp>
    </p:spTree>
    <p:extLst>
      <p:ext uri="{BB962C8B-B14F-4D97-AF65-F5344CB8AC3E}">
        <p14:creationId xmlns:p14="http://schemas.microsoft.com/office/powerpoint/2010/main" val="19248499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AC14F-8E84-441A-8368-60413B7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6453-5B46-4068-9CED-4B1AF78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bootstrap estimates projected support;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it does not manufacture replications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91C46-9226-4AF0-8E55-A08665F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83FB7-4634-4807-AE99-0D6B3521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1B8D5-D749-46DD-8CFE-7481932D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3DDB1-8238-4439-8CAF-CD55F3D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6CD7A-F1E3-4B2F-AF35-67B7BA0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1148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C31C8-AD9A-4DED-AC05-9F1774C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1 observed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C9AE2-C56D-40FE-BEB9-FBAB6105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EDFC8-DB38-4A9C-A83D-66261FEA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B6CB0"/>
                </a:solidFill>
              </a:defRPr>
            </a:pPr>
            <a:r>
              <a:rPr sz="2025" b="1" i="0">
                <a:solidFill>
                  <a:srgbClr val="2B6CB0"/>
                </a:solidFill>
              </a:rPr>
              <a:t>1,000 bootstrap draws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BD1B5-05E9-42C8-BF7D-7A075B7D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Less Monte Carlo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3FD20-D2F3-4E2A-8DA8-60935E2B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80E2A-8149-43B6-B55C-7D3C7D7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514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C616-D055-472D-9151-8DF6FFD4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New sites, measurements,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D4EAF-3F7E-4C10-B9C6-C1D7A58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Can reveal failures the bootstrap</a:t>
            </a:r>
          </a:p>
          <a:p xmlns:a="http://schemas.openxmlformats.org/drawingml/2006/main">
            <a:pPr algn="ctr"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held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9E312-FB59-4214-81BC-04E164D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85FD8-0255-4BAC-B855-91E3DF11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More bootstrap draws improve computation; more attempts strengthen the claim; new environments change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5395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01B2E-FA09-4C79-9448-CDEB56D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1F072-E4E7-444E-96D8-0552093B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Each replication must face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full prevalence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AD269-2AB2-4859-BF53-8E89D8F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A7160-FC75-4B3B-A538-ACF5983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0A232-A743-4563-AE30-2CC9A51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ab61371a4a49b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D79CC-F46F-496A-BFDC-F43BE22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1242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D8C7C-8470-4F10-9CA3-9FBE6A4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Replication 1 fails first</a:t>
            </a:r>
          </a:p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at low prevalence.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48EB2-A53A-4136-99D9-F3223BD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Replication 2 fails first</a:t>
            </a:r>
          </a:p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at high prevalence.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2D87-B55B-4F33-87DE-99F44858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Each replication must reveal its own limiting population.</a:t>
            </a:r>
          </a:p>
        </p:txBody>
      </p:sp>
    </p:spTree>
    <p:extLst>
      <p:ext uri="{BB962C8B-B14F-4D97-AF65-F5344CB8AC3E}">
        <p14:creationId xmlns:p14="http://schemas.microsoft.com/office/powerpoint/2010/main" val="13111235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7F804-17CF-4C25-9855-1D7934F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2B7E5-74A3-4122-B10A-A3408C5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equals mean performance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minus two costs of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E7D5-733D-4DF7-8093-F13674C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95F48-64D9-4FBD-AF0B-5D64B3C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126FF-46C9-4713-B326-EBF3E481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94CDB-E35E-43F4-9CEB-ED37D47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BF13-3F86-44A0-8597-C411A0B7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2B6CB0"/>
                </a:solidFill>
              </a:defRPr>
            </a:pPr>
            <a:r>
              <a:rPr sz="2925" b="1" i="0">
                <a:solidFill>
                  <a:srgbClr val="2B6CB0"/>
                </a:solidFill>
              </a:rPr>
              <a:t>0.54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421FE-0A85-470E-8010-67EF1078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Best fixed-prevalence</a:t>
            </a:r>
          </a:p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expected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55796-8C1F-4F6B-8ED8-AF0EF39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13B4-FCE0-44FD-95D8-0F4B5855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BC0DF-EB48-47F2-B335-264A591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D97706"/>
                </a:solidFill>
              </a:defRPr>
            </a:pPr>
            <a:r>
              <a:rPr sz="2925" b="1" i="0">
                <a:solidFill>
                  <a:srgbClr val="D97706"/>
                </a:solidFill>
              </a:rPr>
              <a:t>−0.08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60DA0-0895-469F-A732-FE291662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Movement of limiting</a:t>
            </a:r>
          </a:p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prevalence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200C6-D7F3-4E76-AE56-71431D6D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E35C-7B32-4D2B-B0C9-530586E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D71E1-B044-480E-B93A-B03EECD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6B4E8E"/>
                </a:solidFill>
              </a:defRPr>
            </a:pPr>
            <a:r>
              <a:rPr sz="2925" b="1" i="0">
                <a:solidFill>
                  <a:srgbClr val="6B4E8E"/>
                </a:solidFill>
              </a:rPr>
              <a:t>−0.06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97057-BAC7-4436-A0D5-4472BD85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Replication</a:t>
            </a:r>
          </a:p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disagreement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72D98-BF89-49C2-8A1C-B0759AE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8F1A-4CC6-4DAC-BB59-2BF1747E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0DCD2-E9F4-4A2C-A57B-742E3A4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0E7C66"/>
                </a:solidFill>
              </a:defRPr>
            </a:pPr>
            <a:r>
              <a:rPr sz="2925" b="1" i="0">
                <a:solidFill>
                  <a:srgbClr val="0E7C66"/>
                </a:solidFill>
              </a:rPr>
              <a:t>0.40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08740-6FA5-4E83-8DBF-36A8C06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Supported</a:t>
            </a:r>
          </a:p>
          <a:p xmlns:a="http://schemas.openxmlformats.org/drawingml/2006/main">
            <a:pPr algn="ctr"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performance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0a4ceb3474249"/>
          <a:stretch xmlns:a="http://schemas.openxmlformats.org/drawingml/2006/main"/>
        </p:blipFill>
        <p:spPr>
          <a:xfrm xmlns:a="http://schemas.openxmlformats.org/drawingml/2006/main">
            <a:off x="3106882" y="4762500"/>
            <a:ext cx="5978236" cy="6858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9FCA1-39D3-488F-AD45-20D3452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816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costs diagnose why support is low; they are not new headline estimands.</a:t>
            </a:r>
          </a:p>
        </p:txBody>
      </p:sp>
    </p:spTree>
    <p:extLst>
      <p:ext uri="{BB962C8B-B14F-4D97-AF65-F5344CB8AC3E}">
        <p14:creationId xmlns:p14="http://schemas.microsoft.com/office/powerpoint/2010/main" val="20341364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43D87-F3F4-48B7-81FC-2E14B38D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ESTIMATION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602AC-6E3E-484B-9DEA-EFC0E097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fixed-model bootstrap preserves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order of the scientific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DA1EA-FCBB-47F3-B437-17F55351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863D4-69E5-4EA6-AF45-F83E341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ESTIMATION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DE21B-8D74-4166-B3FA-CB39B322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4C9A0-F0E9-4ED2-8187-BE74A12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E1913-53DA-4216-A9BC-8D960D8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AA0F2-652C-40DE-9D3D-60986600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E5C1E-770C-4BC7-8E96-356DAC9D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Resample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EA99D-2A85-4063-816A-927A8D29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Stratify by observed</a:t>
            </a:r>
          </a:p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outcome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4B3FD-40E6-4B60-8B4A-ACE992B3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D5327-8851-4BFD-9EA1-FC5B5BE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06C48-A919-49D9-8B43-31495415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97CD1-5FDA-4398-995F-E322CBCD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75ABC-67BB-42D6-A025-698067F0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Build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DD57D-327C-472D-B136-5A84AE14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Evaluate every target</a:t>
            </a:r>
          </a:p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on those same units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9C4F-C0FE-495C-BB74-CEE1D296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3492D-906E-4BE5-9BBF-E92407D7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F59A8-9FF5-4FAE-98BB-B16BB00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61618-F952-45C2-9611-C31C48D7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69312-5D80-412F-B816-94642E7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Retain worst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7621D-4ECD-4ED1-A819-76944917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Keep the profile minimum</a:t>
            </a:r>
          </a:p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for each replication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05EE6-C753-4172-8BC8-D88315CD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A3A32-16A7-4C9D-813C-5739A233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BDC70-3BE0-434E-8F65-5E2C18E8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8CC1D-5B17-46E1-B08E-386625C5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66AD0-9D7A-411A-837C-C583E7EA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Apply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2CB93-F626-4D13-90A7-9CF1BE23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Average minima over</a:t>
            </a:r>
          </a:p>
          <a:p xmlns:a="http://schemas.openxmlformats.org/drawingml/2006/main">
            <a:pPr algn="ctr"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groups of attempts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1C00E-9602-4C02-8678-F912DECC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86400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Resampling separately at each prevalence would destroy the joint profile.</a:t>
            </a:r>
          </a:p>
        </p:txBody>
      </p:sp>
    </p:spTree>
    <p:extLst>
      <p:ext uri="{BB962C8B-B14F-4D97-AF65-F5344CB8AC3E}">
        <p14:creationId xmlns:p14="http://schemas.microsoft.com/office/powerpoint/2010/main" val="4770373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C0B9E-5418-4B25-924E-DA059C2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DESIGN ANCHOR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03407-E50A-4022-911F-270F863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Finite-sample AP has a design anchor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need not equal prevalence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D4D0A-206F-4E47-8388-859EC24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BB90F-4095-4703-A867-07E0875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551F4-D714-4CC6-A115-4CEE688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3D943-20C2-4AA3-AF57-5373D618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POSITIVE + ONE NEGATIVE; 50% PREVALENCE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BDB47-AE31-4958-8B18-0773FBD7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DF4F7-A833-44AD-8EAB-A72957C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07C57-51CD-4459-9FF4-54432E3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2D310-B60D-49C7-80BA-9CA7524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0B3B-CE77-4A60-92BA-356137F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4D413-02A5-493E-9ACB-2A514F6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6ca1c1ad94169"/>
          <a:stretch xmlns:a="http://schemas.openxmlformats.org/drawingml/2006/main"/>
        </p:blipFill>
        <p:spPr>
          <a:xfrm xmlns:a="http://schemas.openxmlformats.org/drawingml/2006/main">
            <a:off x="1104900" y="3753322"/>
            <a:ext cx="3505200" cy="45625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00FE6-F292-42FE-B596-34D4C741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155F5-E2FF-4287-8451-C11EC4DD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4889B-C916-4ECA-8A53-3457D4B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57021-E7A0-4362-B55D-F90C4D1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0EB5D-336D-47CE-95C8-27AEA172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C4AA9-3CBB-4AC5-9900-E374F39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6e194c07b40b6"/>
          <a:stretch xmlns:a="http://schemas.openxmlformats.org/drawingml/2006/main"/>
        </p:blipFill>
        <p:spPr>
          <a:xfrm xmlns:a="http://schemas.openxmlformats.org/drawingml/2006/main">
            <a:off x="5971282" y="3657600"/>
            <a:ext cx="2459236" cy="647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1DC5F-8BEA-47B5-9A14-E0967C9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B7DD5-6E02-41D5-8B2A-61F23B44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1314450" cy="13906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9E8A4-2F3E-4CEE-B65F-345E03F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17C72-438D-4A72-8780-3FB79AA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099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5473C"/>
                </a:solidFill>
              </a:defRPr>
            </a:pPr>
            <a:r>
              <a:rPr sz="2550" b="1" i="0">
                <a:solidFill>
                  <a:srgbClr val="B5473C"/>
                </a:solidFill>
              </a:rPr>
              <a:t>0.25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7B078-8401-413E-A7A8-7F818A9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902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49047-DB99-4994-ABC6-88526692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864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Pure noise can return positive supported CNAP because stepwise AP rewards favorable finite orderings.</a:t>
            </a:r>
          </a:p>
        </p:txBody>
      </p:sp>
    </p:spTree>
    <p:extLst>
      <p:ext uri="{BB962C8B-B14F-4D97-AF65-F5344CB8AC3E}">
        <p14:creationId xmlns:p14="http://schemas.microsoft.com/office/powerpoint/2010/main" val="19603336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5A74C-6BB3-40E3-9F1A-A161460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DESIGN ANCHOR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7B77-5A28-44F9-9D28-91E111DC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Conditional calibration makes one model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interpretable—but not comparable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4BA93-C6FA-42FD-A468-4E37893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6336E-E987-4169-8497-644EAAD8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AFBAE-2C7C-45FA-AB96-BEFF88B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EA26A-55CA-41E1-BFA2-4E79E1DD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8577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DA234-D087-4230-B4C2-36A4684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FOR ONE FIXED SCORE VECTOR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5A099-0B8B-4947-9952-621AF6E2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Permute labels under the</a:t>
            </a:r>
          </a:p>
          <a:p xmlns:a="http://schemas.openxmlformats.org/drawingml/2006/main">
            <a:pPr algn="ctr"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design’s allowed symmetry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39B60-D127-46CC-9379-5309874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→ estimate its conditional</a:t>
            </a:r>
          </a:p>
          <a:p xmlns:a="http://schemas.openxmlformats.org/drawingml/2006/main">
            <a:pPr algn="ctr"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null anchor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21B17-173C-41C6-B20B-0755162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5F6B78"/>
                </a:solidFill>
              </a:defRPr>
            </a:pPr>
            <a:r>
              <a:rPr sz="33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24735-612F-4679-A2A4-2D6076B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6291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a6a75849346be"/>
          <a:stretch xmlns:a="http://schemas.openxmlformats.org/drawingml/2006/main"/>
        </p:blipFill>
        <p:spPr>
          <a:xfrm xmlns:a="http://schemas.openxmlformats.org/drawingml/2006/main">
            <a:off x="7731303" y="2647950"/>
            <a:ext cx="2577745" cy="819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03A8A-CF44-4570-BCC1-1EA6662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Raw value + anchor + ratio</a:t>
            </a:r>
          </a:p>
          <a:p xmlns:a="http://schemas.openxmlformats.org/drawingml/2006/main">
            <a:pPr algn="ctr"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must travel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F100B-CFC3-4E20-8CB6-519251B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02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Different score vectors have different anchors → calibrated values cannot be subtracted.</a:t>
            </a:r>
          </a:p>
        </p:txBody>
      </p:sp>
    </p:spTree>
    <p:extLst>
      <p:ext uri="{BB962C8B-B14F-4D97-AF65-F5344CB8AC3E}">
        <p14:creationId xmlns:p14="http://schemas.microsoft.com/office/powerpoint/2010/main" val="10279200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A9E43-A381-4E33-B937-8CCDE084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92169-40F5-4396-B0BE-3CB51CB5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Subtracting two marginal reports combines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adverse cases that never co-occurred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C5910-15C1-4880-9235-C59E6A8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E386F-1B68-47C1-9444-0618EE1B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3C024-6871-4E7F-8294-3D1A075F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135E3-7D1E-4926-9F3D-663861F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37D6-95A0-48B0-BA53-EF51ACF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A’S MARGINAL WORST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0EB8F-8FD5-4704-AA71-D15E6DC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1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1% prevalence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F3BF6-769A-495B-9B4A-97F02C8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F9225-01CC-4DD7-B008-E23F7ACA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MODEL B’S MARGINAL WORST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CD799-79A2-4F94-A17F-C549036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2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30% prevalence</a:t>
            </a:r>
          </a:p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0.25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2795617494af9"/>
          <a:stretch xmlns:a="http://schemas.openxmlformats.org/drawingml/2006/main"/>
        </p:blipFill>
        <p:spPr>
          <a:xfrm xmlns:a="http://schemas.openxmlformats.org/drawingml/2006/main">
            <a:off x="4095750" y="5041275"/>
            <a:ext cx="4000500" cy="47115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AE66C-9EEB-4534-AE6A-BC14A7D7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3880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But no evaluation ever contained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13045795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E8712-408C-4186-B8A1-DD51D55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A1DF6-E418-4A57-84AE-2A3DAD1E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Pairing can still reward</a:t>
            </a:r>
          </a:p>
          <a:p xmlns:a="http://schemas.openxmlformats.org/drawingml/2006/main">
            <a:pPr algn="l"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arbitrary tie-breaking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BD3C2-46BB-4F5F-BABF-ED7461A6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F676-6B83-4C64-9A2E-E7223A18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2E26-20E9-4355-96A7-1ECD8AD5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09F99-EF51-4D71-8644-E888487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C38A6-6388-4D8A-975B-E951BED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A: FOUR DISTINCT SCORES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7DFA7-7A1B-403B-BE46-85F3717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DFCD8-325D-459F-8D54-C97C8F7B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6532-6DF9-4A5C-9585-26FCEBE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C830-02CF-42E2-AE0A-9E807BB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C4EF7-FB8D-46B7-AB91-A6C7180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0308F-547D-4EAC-B053-5A1FFBE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5CBC-752A-41A0-9FF0-3CCB9E16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E0A54-81E1-4EF9-B3CD-1DD6CA61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0.3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572f00aeb4bb2"/>
          <a:stretch xmlns:a="http://schemas.openxmlformats.org/drawingml/2006/main"/>
        </p:blipFill>
        <p:spPr>
          <a:xfrm xmlns:a="http://schemas.openxmlformats.org/drawingml/2006/main">
            <a:off x="2391440" y="4171950"/>
            <a:ext cx="1389321" cy="5334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A53E0-ECD2-4BFF-A14B-7FA906E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A2581-53B5-4C49-A124-D19E614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MODEL B: ONE COMPLETE TIE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78878-993F-46F0-BDC6-D880F11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162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4E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EE613-18EA-45F2-B6BB-97E1B0D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B4E8E"/>
                </a:solidFill>
              </a:defRPr>
            </a:pPr>
            <a:r>
              <a:rPr sz="1725" b="1" i="0">
                <a:solidFill>
                  <a:srgbClr val="6B4E8E"/>
                </a:solidFill>
              </a:rPr>
              <a:t>0.5     0.5     0.5     0.5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99c7588544105"/>
          <a:stretch xmlns:a="http://schemas.openxmlformats.org/drawingml/2006/main"/>
        </p:blipFill>
        <p:spPr>
          <a:xfrm xmlns:a="http://schemas.openxmlformats.org/drawingml/2006/main">
            <a:off x="8680847" y="4171950"/>
            <a:ext cx="850106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16187-9C9E-4F88-8D9C-0C3C626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742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E7ED6-F8E6-4192-8720-AC848DB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57800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5473C"/>
                </a:solidFill>
              </a:defRPr>
            </a:pPr>
            <a:r>
              <a:rPr sz="1575" b="1" i="0">
                <a:solidFill>
                  <a:srgbClr val="B5473C"/>
                </a:solidFill>
              </a:rPr>
              <a:t>No association—yet the expected paired difference is positive: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0a96b5034399"/>
          <a:stretch xmlns:a="http://schemas.openxmlformats.org/drawingml/2006/main"/>
        </p:blipFill>
        <p:spPr>
          <a:xfrm xmlns:a="http://schemas.openxmlformats.org/drawingml/2006/main">
            <a:off x="4381500" y="5553324"/>
            <a:ext cx="3429000" cy="3805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941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3559B-0D0F-4898-9F5A-D64744F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E13C3-AA39-4F6B-8814-9DBA02D4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removes expected credit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for distinctions the model did not make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F8836-006A-4494-B32E-FADF96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D2021-2865-429E-A91C-819DB4E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F8350-EDF3-4F9E-9A66-2B7AF04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C6EE5-7556-42C1-8686-6EE433C8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TIED BLOCK WITH TWO POSITIVES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EA478-CCC3-4950-B8FA-2DCDD743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CCE3C-BC3B-4F25-9018-A2413BB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1E245-3C31-4098-ABD3-4ED24B4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1FF8A-B5F3-45C9-95C6-95ECBD4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6BC55-E3AC-46DF-AFF2-4272F66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34AF3-6C98-45E3-8508-E48C230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03D5D-E784-4E5E-BD11-04BF3E69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9329dcfab4c79"/>
          <a:stretch xmlns:a="http://schemas.openxmlformats.org/drawingml/2006/main"/>
        </p:blipFill>
        <p:spPr>
          <a:xfrm xmlns:a="http://schemas.openxmlformats.org/drawingml/2006/main">
            <a:off x="12192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53D10-1395-4584-876F-7D36F03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87F65-30FB-41C3-BEB9-55597DE3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D5C82-44FB-4A00-8410-228A99C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31085-C967-4FBC-A91F-12C3EA30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8E1E0-63E8-45C0-8D1B-DFADEBA4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D6BD8-D0ED-4A5E-BAAF-A988411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64DAA-D7CA-4F7C-859C-AA0C2692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24851e03b4452"/>
          <a:stretch xmlns:a="http://schemas.openxmlformats.org/drawingml/2006/main"/>
        </p:blipFill>
        <p:spPr>
          <a:xfrm xmlns:a="http://schemas.openxmlformats.org/drawingml/2006/main">
            <a:off x="409575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FBF5D-1B35-4CFD-9146-E8C31498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91560-A2DA-4ECA-A9D1-9B1D30B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ACD70-595B-4554-9212-876EBCD7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6ECA4-8066-43B6-A209-59BDEAC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00417-F6B8-4DDA-8AC4-7E4F6D16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5F963-77CE-4E47-92C7-38610872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04833-264C-4E18-A689-7B9193E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6282e6cf743a1"/>
          <a:stretch xmlns:a="http://schemas.openxmlformats.org/drawingml/2006/main"/>
        </p:blipFill>
        <p:spPr>
          <a:xfrm xmlns:a="http://schemas.openxmlformats.org/drawingml/2006/main">
            <a:off x="69723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AB4DB6-7DEC-4B02-9851-135AC36F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704CA-0DF5-43DC-B23C-63115A4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428750" cy="17907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10242B-8DF8-422F-9E46-65E4A5C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average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5DF2FE-5627-428A-8760-681F31A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0.81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CA5C7-A4F1-40C7-B1D7-9A0DE62F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Useful refinement still helps when it aligns with outcomes; arbitrary refinement earns zero expected advantage.</a:t>
            </a:r>
          </a:p>
        </p:txBody>
      </p:sp>
    </p:spTree>
    <p:extLst>
      <p:ext uri="{BB962C8B-B14F-4D97-AF65-F5344CB8AC3E}">
        <p14:creationId xmlns:p14="http://schemas.microsoft.com/office/powerpoint/2010/main" val="8865582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570D6-A296-45D9-872E-FF7A7AC8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0B116-3C7B-4ABF-BF29-89A9F1F8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Form the paired advantage before</a:t>
            </a:r>
          </a:p>
          <a:p xmlns:a="http://schemas.openxmlformats.org/drawingml/2006/main">
            <a:pPr algn="l"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applying either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CA34-0955-409C-B47D-A51B0EB3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75A2-7B81-4DC0-A572-C1FDD329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0B362-1C61-44D3-AD09-7239B63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488B5-8C14-48BA-8F8D-9EB37BE9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474AF-36A5-4CA2-9564-76441C5E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PAIR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e7b11a84a4eab"/>
          <a:stretch xmlns:a="http://schemas.openxmlformats.org/drawingml/2006/main"/>
        </p:blipFill>
        <p:spPr>
          <a:xfrm xmlns:a="http://schemas.openxmlformats.org/drawingml/2006/main">
            <a:off x="914400" y="3429847"/>
            <a:ext cx="1866900" cy="60790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5961-77FC-4E6F-ACA2-7249E3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CDD22-9445-41F7-B5C1-9F8BE33E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037BF-4F30-49B6-9A76-C2A7BC1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9acd5a3474eb9"/>
          <a:stretch xmlns:a="http://schemas.openxmlformats.org/drawingml/2006/main"/>
        </p:blipFill>
        <p:spPr>
          <a:xfrm xmlns:a="http://schemas.openxmlformats.org/drawingml/2006/main">
            <a:off x="3771900" y="3453485"/>
            <a:ext cx="1866900" cy="56063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D0CE6-38C5-4B50-BE4E-6AF31A8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915EB-E1C3-498A-BE88-8EF4595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C4FF9-C817-4C55-B097-07F46C8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REPLICATION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2a6ff12944da1"/>
          <a:stretch xmlns:a="http://schemas.openxmlformats.org/drawingml/2006/main"/>
        </p:blipFill>
        <p:spPr>
          <a:xfrm xmlns:a="http://schemas.openxmlformats.org/drawingml/2006/main">
            <a:off x="6629400" y="3537676"/>
            <a:ext cx="1866900" cy="392248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BE892-1622-48F1-8CE4-37A96986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2E4A9-F61D-48C5-B1EB-C41DC1A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04C02-11A0-4CDD-801A-5C1B0D89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EXPECTATION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1687a87b641af"/>
          <a:stretch xmlns:a="http://schemas.openxmlformats.org/drawingml/2006/main"/>
        </p:blipFill>
        <p:spPr>
          <a:xfrm xmlns:a="http://schemas.openxmlformats.org/drawingml/2006/main">
            <a:off x="9486900" y="3387708"/>
            <a:ext cx="1866900" cy="692184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5FD5C-45C6-4A17-863A-1F76DD6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5676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C0CC4-BDBF-4B9B-8F9E-8F6C078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0545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units → same prevalence → same replication</a:t>
            </a:r>
          </a:p>
        </p:txBody>
      </p:sp>
    </p:spTree>
    <p:extLst>
      <p:ext uri="{BB962C8B-B14F-4D97-AF65-F5344CB8AC3E}">
        <p14:creationId xmlns:p14="http://schemas.microsoft.com/office/powerpoint/2010/main" val="9712150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CCB8F-F90B-430D-9199-FA9FCA32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334F-3E37-4FCA-8355-D83149A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neutrality needs an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exchangeable-label reference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0F940-B935-4A7D-801C-856A272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1E840-5354-490B-AE78-026A951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EF9A7-2E5B-4989-BFB4-50053B6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C81F5-745D-4A6E-AC5F-58E5501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880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Conditionally on both score vectors and the observed positive count,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A11BB-F81B-4CB4-B6D4-83D977B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B4E8E"/>
                </a:solidFill>
              </a:defRPr>
            </a:pPr>
            <a:r>
              <a:rPr sz="2400" b="1" i="0">
                <a:solidFill>
                  <a:srgbClr val="6B4E8E"/>
                </a:solidFill>
              </a:rPr>
              <a:t>every label vector with that many positives is equally likely.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6D582-5A64-48C7-AE96-5E71247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1042C-3234-47B8-B70D-B1CCBF66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DEFENSIBLE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DFFD0-48CF-4EAF-B3DA-260EBCD9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i.i.d. held-out units</a:t>
            </a:r>
          </a:p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under a signal-free label law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4BAEF-E543-400C-9196-C3F23096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3B577-6D5A-45D7-BABE-4D643374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AUTOMATIC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E35B4-7D71-4CE5-9E4A-3C4062A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matched, clustered, or</a:t>
            </a:r>
          </a:p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heterogeneous-risk designs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6B7E6-5A90-4F7F-A333-B174F59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79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Without the law, the paired estimand remains descriptive—but the no-positive-anchor guarantee is lost.</a:t>
            </a:r>
          </a:p>
        </p:txBody>
      </p:sp>
    </p:spTree>
    <p:extLst>
      <p:ext uri="{BB962C8B-B14F-4D97-AF65-F5344CB8AC3E}">
        <p14:creationId xmlns:p14="http://schemas.microsoft.com/office/powerpoint/2010/main" val="2781898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6FAE9-4817-41B6-B45A-8449F84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4AD1-9CE1-4F64-A9A1-64A46DBB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Coherent replacement permits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no-verdict region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7F89-F309-4EA9-AB24-D61F55D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76BE8-B544-4920-8A98-97FDBC3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46DBB-0B7E-4E27-B302-61439B43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784cb65264f5f"/>
          <a:stretch xmlns:a="http://schemas.openxmlformats.org/drawingml/2006/main"/>
        </p:blipFill>
        <p:spPr>
          <a:xfrm xmlns:a="http://schemas.openxmlformats.org/drawingml/2006/main">
            <a:off x="4156166" y="2019300"/>
            <a:ext cx="3879669" cy="685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76D6B-239C-4257-83CB-09D8E8E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7C66"/>
                </a:solidFill>
              </a:defRPr>
            </a:pPr>
            <a:r>
              <a:rPr sz="1800" b="1" i="0">
                <a:solidFill>
                  <a:srgbClr val="0E7C66"/>
                </a:solidFill>
              </a:rPr>
              <a:t>Both orientations cannot be positive.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AC043-E70C-44FA-8D0A-B6DADFB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25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FE690-9534-434F-83DD-BB45AF99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48B6A-968F-47F7-9BFC-FD648A7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97545-EDED-43D3-9FFA-40A1E8C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EC08F-EFE2-422D-A976-12720747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1277A-A055-4060-B4AD-78DFE29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57ba54a6447a5"/>
          <a:stretch xmlns:a="http://schemas.openxmlformats.org/drawingml/2006/main"/>
        </p:blipFill>
        <p:spPr>
          <a:xfrm xmlns:a="http://schemas.openxmlformats.org/drawingml/2006/main">
            <a:off x="3790950" y="4623492"/>
            <a:ext cx="1657350" cy="316116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de157a047459d"/>
          <a:stretch xmlns:a="http://schemas.openxmlformats.org/drawingml/2006/main"/>
        </p:blipFill>
        <p:spPr>
          <a:xfrm xmlns:a="http://schemas.openxmlformats.org/drawingml/2006/main">
            <a:off x="7029450" y="4611441"/>
            <a:ext cx="1657350" cy="34021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7DE71-5F8A-4C75-8682-262E663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no verdict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8423E-73FC-4E0C-B174-48409E6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693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6B415-BE4E-47E6-A117-58605F1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14950"/>
            <a:ext cx="655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The declared challenges may defeat superiority in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14314813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38DD4-4D0C-4995-9515-505DB5C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F0964-93A1-495F-B0E9-7B08A08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Replacement needs a lower bound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above the decision margin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7BE8D-1A1D-45CA-9746-C8987FE9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BDAB0-91B8-48BB-9B89-148AEE8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0377F-973D-48BE-9285-C245D71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9BA2C-805B-4166-8170-9B0830B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ILLUSTRATIVE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8A0E4-4204-4D4D-8249-3A5C74A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9B676-AAC7-481D-B116-B52BCDD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2850"/>
            <a:ext cx="3810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90E2D-34B7-4FBC-B4CB-154E2F5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9999F-2057-4E81-BEF6-A585229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48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1321D-C960-459A-8566-A1EE69A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81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lower bound .03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D4BA-7122-4B64-95B5-45870649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estimate .08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ECBAE-6793-4C79-9B68-45F6A2F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decision margin .05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BB878-0A27-4C47-8668-A52D451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7505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A41EC-2C94-4C2E-8D0A-2DBD910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10200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Do not replace: the outer lower bound does not exceed the decision margin.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1ACD7-1BEF-42AC-9EA4-E0762177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967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Performance evidence is one decision input; costs, fairness, calibration, and intervention effects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8806036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9DE49-E625-4BC8-9458-0E516B6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B44B-9AC0-41AB-B761-6F0B8C64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number is meaningful only together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the assessment it survived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3EF45-D6EB-4125-B7BE-518F803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3D132-30A4-42A0-985E-BFAC2846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6EA32-853D-4BC4-B0B8-C935439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31815-4CFE-4EC4-8786-188C6E5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1D47D-C593-433B-8E72-E77613CE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Supported quantity: raw support or paired advantage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FC1F3-9615-4B49-B769-1DCCFE0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3752D-5CC1-49A3-BC15-C805EF16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0F3AF-AAC2-49D3-9993-93CAAB39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76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populations had to be survived?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F95DA-4D44-4993-A626-E94CE1C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BB7D3-3816-4549-AFE3-6CBD84F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F35F-C4EB-42F1-889E-F8D872E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What changed in a complete replication?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3D404-272C-4697-A120-5BF98E4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BF23F-8436-437A-B797-A892BF3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407FF-1B36-4ACD-866E-EDAA525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339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How many opportunities for defeat were joined?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E4B3F-2CD9-4CD3-98D8-A8FC8D0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BC048-A098-4A94-AEA4-BBCC6A98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64A81-2987-4A69-BE9D-D2A3958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invariance, symmetry, and uncertainty assumptions qualify the result?</a:t>
            </a:r>
          </a:p>
        </p:txBody>
      </p:sp>
    </p:spTree>
    <p:extLst>
      <p:ext uri="{BB962C8B-B14F-4D97-AF65-F5344CB8AC3E}">
        <p14:creationId xmlns:p14="http://schemas.microsoft.com/office/powerpoint/2010/main" val="7893984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4179B-BC95-40D4-8ECE-28DDAC3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39B2B-583E-4141-A7E7-763A2BD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Performance becomes a scientific claim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only when its challenges are declared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BDB8B-A233-4AA2-A231-2E595B7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0E329-E137-4CB7-8441-F5CEE92D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CEF5E-F233-4051-A72E-3E94839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A78F7-CC8A-4E4B-9835-9C33F82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A2574-AA9A-408D-9280-9C3EA0F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Name populations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EF695-31B6-4DCA-BFB3-83D4585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Standardize the prior</a:t>
            </a:r>
          </a:p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and normalize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1295F-FB53-402B-9DEC-362CA72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C23BA-022D-4AB3-8EA2-134934D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0FF09-4075-4F97-AD45-9F49695A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Expose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FDCE4-1802-40BB-8A7E-3786CED6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Minimum over target</a:t>
            </a:r>
          </a:p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prevalence in each draw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B1E8F-8902-4352-B508-3B842C8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91638-AB39-49BD-992C-012F6B36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47FA9-C033-45CE-A929-944755BF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Demand survival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618C1-9D9A-4165-82C8-BFF0E18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Expected minimum</a:t>
            </a:r>
          </a:p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over 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78CF9-7952-421F-8212-970BD72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98945-4E11-436F-84FC-537ACB8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07CB4-275E-49C6-B536-B559D73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Make the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E9342-6EEB-4070-952B-D9AC831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Paired, tie-neutral,</a:t>
            </a:r>
          </a:p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margin-qualified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064E6-D7C5-4D1F-98BD-944463C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Support is not a new name for high performance.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15469-84A0-4DA9-9F1F-779C724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880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E7C66"/>
                </a:solidFill>
              </a:defRPr>
            </a:pPr>
            <a:r>
              <a:rPr sz="1875" b="0" i="0">
                <a:solidFill>
                  <a:srgbClr val="0E7C66"/>
                </a:solidFill>
              </a:rPr>
              <a:t>It is the surviving magnitude after the challenges have been declared.</a:t>
            </a:r>
          </a:p>
        </p:txBody>
      </p:sp>
    </p:spTree>
    <p:extLst>
      <p:ext uri="{BB962C8B-B14F-4D97-AF65-F5344CB8AC3E}">
        <p14:creationId xmlns:p14="http://schemas.microsoft.com/office/powerpoint/2010/main" val="6206347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B7F67-316B-46D0-A2AB-1F431A8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DE4E3-22AC-432A-BFF9-C1BA760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Empirical prior-standardized AP is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weighted threshold 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72663-FFAF-4D7B-9389-361A2F0B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E5A7C-2057-4EFB-B903-FB00BEE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835A3-B27B-4837-92A6-B995788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8D8A4-98C2-468A-8982-4C25EB9C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1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ff02d91b4a68"/>
          <a:stretch xmlns:a="http://schemas.openxmlformats.org/drawingml/2006/main"/>
        </p:blipFill>
        <p:spPr>
          <a:xfrm xmlns:a="http://schemas.openxmlformats.org/drawingml/2006/main">
            <a:off x="2804033" y="2305050"/>
            <a:ext cx="6583934" cy="8763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fa506970741c7"/>
          <a:stretch xmlns:a="http://schemas.openxmlformats.org/drawingml/2006/main"/>
        </p:blipFill>
        <p:spPr>
          <a:xfrm xmlns:a="http://schemas.openxmlformats.org/drawingml/2006/main">
            <a:off x="1451309" y="3733800"/>
            <a:ext cx="2069432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6362C-7959-4DD2-A526-A5965CD8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recall gained when a score block enters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ba33d127546f3"/>
          <a:stretch xmlns:a="http://schemas.openxmlformats.org/drawingml/2006/main"/>
        </p:blipFill>
        <p:spPr>
          <a:xfrm xmlns:a="http://schemas.openxmlformats.org/drawingml/2006/main">
            <a:off x="2040857" y="4476750"/>
            <a:ext cx="890337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967D8-719C-4196-85A4-DE1D953C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positive mass selected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6d3ac40764726"/>
          <a:stretch xmlns:a="http://schemas.openxmlformats.org/drawingml/2006/main"/>
        </p:blipFill>
        <p:spPr>
          <a:xfrm xmlns:a="http://schemas.openxmlformats.org/drawingml/2006/main">
            <a:off x="1552307" y="5219700"/>
            <a:ext cx="186743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9E2C7-BB6D-4FCB-96C1-3602DBBF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negative mass selected</a:t>
            </a:r>
          </a:p>
        </p:txBody>
      </p:sp>
    </p:spTree>
    <p:extLst>
      <p:ext uri="{BB962C8B-B14F-4D97-AF65-F5344CB8AC3E}">
        <p14:creationId xmlns:p14="http://schemas.microsoft.com/office/powerpoint/2010/main" val="1387356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A3FCF-C5B5-4670-8414-E318D00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A654B-779F-4BB4-A4F7-72E51B70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More attempts strengthen the challenge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but do not broaden the regime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744B5-3336-4211-B32E-7978A355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59953-99AC-4C7A-B041-51C4A2B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467FC-5927-4CCA-8050-687360A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19150" y="2076450"/>
          <a:ext xmlns:a="http://schemas.openxmlformats.org/drawingml/2006/main" cx="64389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f45cbbfb8d4f0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54A70-F58A-421F-92D3-D6C004AB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attempts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87795-F33F-45EA-9D3A-B4B90FD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F489D-40BD-47EC-9A95-F3B6659B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The attempt count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C28CD-EDB8-4FE7-A586-F1FDA69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how many draws</a:t>
            </a:r>
          </a:p>
          <a:p xmlns:a="http://schemas.openxmlformats.org/drawingml/2006/main">
            <a:pPr algn="ctr"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must survive jointly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C3FDD-1DA5-4BEB-AD59-36750D2C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It does not decide whether</a:t>
            </a:r>
          </a:p>
          <a:p xmlns:a="http://schemas.openxmlformats.org/drawingml/2006/main">
            <a:pPr algn="ctr"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sites or model fits vary.</a:t>
            </a:r>
          </a:p>
        </p:txBody>
      </p:sp>
    </p:spTree>
    <p:extLst>
      <p:ext uri="{BB962C8B-B14F-4D97-AF65-F5344CB8AC3E}">
        <p14:creationId xmlns:p14="http://schemas.microsoft.com/office/powerpoint/2010/main" val="2170291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6E4FA-F918-4BDC-B064-D0F0129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82F4F-BF90-4FC4-9F5D-BCCAA98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two-attempt estimator avoids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enumerating replication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FBAAA-CB48-4747-8B1A-075E5D53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49C99-36C8-4040-8D63-DE8E4119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ABC1D-8031-4387-BA48-1235FAAE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5A5AB-17B0-409C-85D3-94E050FC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902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Sort the retained bootstrap effects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91B33-91AC-4D0D-9CF6-03C1B91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23F1-4CA1-4220-A5FF-45FE9E2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26C5A-8145-4191-A420-98183C17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5060-7839-494F-8656-54655FF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A7C49-C291-47E2-B65F-060F1E4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4AEB8-AE50-4B69-9C04-F214839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EE9EC-42BA-41D3-B86E-A94F6D6A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B426C-43D3-46DE-BE0B-4E57FC27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FD25D-9B93-47E3-8FA2-5FBA6CD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B2EC9-C12C-450F-B616-966B5824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6E8B3-DC78-45C5-A87B-E28B6D1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B40B0-0938-475C-965D-737FB78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F0A98-3B33-4597-AE5E-9EF599C1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E6AA5-2957-4B2B-B659-050914E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C1BD4-1B83-42A4-A4E9-BB2E3EAD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FCD10-7DEE-4BE9-9FDD-FABED66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9410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678d6aff24059"/>
          <a:stretch xmlns:a="http://schemas.openxmlformats.org/drawingml/2006/main"/>
        </p:blipFill>
        <p:spPr>
          <a:xfrm xmlns:a="http://schemas.openxmlformats.org/drawingml/2006/main">
            <a:off x="4475451" y="4495800"/>
            <a:ext cx="3241098" cy="723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E74E7-AC85-4497-97E9-7A92536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777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Small values receive larger weights because they are the minimum in more pairs.</a:t>
            </a:r>
          </a:p>
        </p:txBody>
      </p:sp>
    </p:spTree>
    <p:extLst>
      <p:ext uri="{BB962C8B-B14F-4D97-AF65-F5344CB8AC3E}">
        <p14:creationId xmlns:p14="http://schemas.microsoft.com/office/powerpoint/2010/main" val="9522763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35F25-8BF8-441D-8789-54A9DD5A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62B80-2FB6-441F-B838-4AB2AAF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can be computed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without enumerating orderings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74F33-7164-40FE-A022-5CB79BC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2BD5-B14B-4D1D-AFE9-CE901DB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933EA-7928-4329-97F8-5902A754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3C179-ADE2-49D2-A850-A30E65A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00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19683-1E10-4ECE-8EAE-69431982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FOR EACH TIED 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7C26-725E-4A34-A452-89A2173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390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1. Choose the position k</a:t>
            </a:r>
          </a:p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of a focal 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2. Count t preceding positives</a:t>
            </a:r>
          </a:p>
          <a:p xmlns:a="http://schemas.openxmlformats.org/drawingml/2006/main">
            <a:pPr algn="l"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with a hypergeometric 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37692-99A3-46DC-B709-5CDC05C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5F6B78"/>
                </a:solidFill>
              </a:defRPr>
            </a:pPr>
            <a:r>
              <a:rPr sz="36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117D2-0B91-430A-8FE8-57CEBBD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4781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029AB-D254-47EC-B2D3-4BEC204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019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Average its prior-standardized</a:t>
            </a:r>
          </a:p>
          <a:p xmlns:a="http://schemas.openxmlformats.org/drawingml/2006/main">
            <a:pPr algn="ctr"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precision over k and 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7759A-7341-4320-8EF3-9DDF9FB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Computational cost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c29c88df246ce"/>
          <a:stretch xmlns:a="http://schemas.openxmlformats.org/drawingml/2006/main"/>
        </p:blipFill>
        <p:spPr>
          <a:xfrm xmlns:a="http://schemas.openxmlformats.org/drawingml/2006/main">
            <a:off x="8544654" y="3829050"/>
            <a:ext cx="760542" cy="476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7F0F5-C905-4BB6-8D22-2CEBF0FA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No enumeration or random jitter is required.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59DBB-D46A-4E9F-90D3-9511F4B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The combinatorial weights do not depend on prevalence and can be reused during the search.</a:t>
            </a:r>
          </a:p>
        </p:txBody>
      </p:sp>
    </p:spTree>
    <p:extLst>
      <p:ext uri="{BB962C8B-B14F-4D97-AF65-F5344CB8AC3E}">
        <p14:creationId xmlns:p14="http://schemas.microsoft.com/office/powerpoint/2010/main" val="18239930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65437-9FC4-4258-B73D-2F0C605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F4E6-DAE8-4A2D-BCFF-7DF248A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Outer uncertainty asks how well</a:t>
            </a:r>
          </a:p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one evaluation identifies the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6BBB1-745D-4C0C-B729-7B94CFDF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A3BE-E8BD-4A6F-8AF1-872DB01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1A707-F7E9-411E-B164-730D523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7F3B-3E72-487D-B37E-962D1349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277FA-9832-406B-8CEA-744818DD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Observed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03B3F-A9E1-4A6E-9AAD-C7D6DC6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one empirical score–label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9597D-A597-49BE-9CD9-815B53E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D7427-B12E-4631-9E37-5BC4027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72CE9-8A82-4E63-B17B-905E885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Outer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25477-C216-48F8-93DF-B226E7F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new empirical distribution of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FCE27-6707-43E3-A751-1C0AB970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30D84-E108-4C17-8F50-53674A6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8FDD4-F66B-4E60-A021-B6A04E3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Full inner procedure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FA893-FFB8-4882-8BA5-CA38E19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profile → infimum →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D0831-1465-4B90-8F98-5753704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3E58E-410E-4B3E-81AE-82C2AF3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857250" cy="16954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BCBF6-7BB5-4B7C-9E3C-65DA818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lower</a:t>
            </a:r>
          </a:p>
          <a:p xmlns:a="http://schemas.openxmlformats.org/drawingml/2006/main">
            <a:pPr algn="ctr"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bound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BCE98-CC29-4D34-AF01-7A8D24D3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Coverage is not automatic when the minimizing prevalence is flat or moves.</a:t>
            </a:r>
          </a:p>
        </p:txBody>
      </p:sp>
    </p:spTree>
    <p:extLst>
      <p:ext uri="{BB962C8B-B14F-4D97-AF65-F5344CB8AC3E}">
        <p14:creationId xmlns:p14="http://schemas.microsoft.com/office/powerpoint/2010/main" val="4551026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C3593-92F0-4C9E-B299-4B8F870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344D5-46F4-49E0-BEA5-96508D4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Key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F68AD-1D22-4F91-B3AB-014E0EC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1316C-A3A0-4AD4-9953-8ABA625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1BA36-8199-4C16-8DC8-DBAEF009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D6E60-9631-4B53-A9D1-1CF80140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 + CORROBORATION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5A17D-55BE-4CF6-9969-F59EDD8F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(1959). The Logic of Scientific Discovery.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0503E-7F0A-4C11-B005-5D0E019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(1963). Conjectures and Refutations.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13936-5B40-44F8-B87B-E32AA5BA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Siblini et al. (2020). Master your metrics with calibration.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47EE-5373-4DCE-BAF3-C6888A2A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Elkan, C. (2001). Foundations of cost-sensitive learning.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E9A1D-CA51-4F59-A74A-DBD70292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Saerens et al. (2002). Adjusting outputs to new priors.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5BDF9-B324-476F-A582-3C17115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DESIGN + COMPUTATION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5CDF2-56DE-480E-A647-DEC3CC7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Bestgen, Y. (2015). Exact expected AP of the random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99B07-08CF-452A-9C90-44B3DE41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Ojala &amp; Garriga (2010). Permutation tests for classifier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1792F-B6A8-47DA-8C5E-709C667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Bareinboim &amp; Pearl (2013). Transportability of experimental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7EF63-9188-4EC6-A3B3-435DD707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Hoeffding, W. (1948). U-statistics.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21000-F8B7-461F-9653-A4A3765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Perdomo et al. (2020). Performative prediction.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B53D8-84AF-4378-86AE-0D80BAC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62650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F6B78"/>
                </a:solidFill>
              </a:defRPr>
            </a:pPr>
            <a:r>
              <a:rPr sz="1500" b="0" i="0">
                <a:solidFill>
                  <a:srgbClr val="5F6B78"/>
                </a:solidFill>
              </a:rPr>
              <a:t>Complete references appear in Stats_Paper_Extending_PRAUC_v12.tex.</a:t>
            </a:r>
          </a:p>
        </p:txBody>
      </p:sp>
    </p:spTree>
    <p:extLst>
      <p:ext uri="{BB962C8B-B14F-4D97-AF65-F5344CB8AC3E}">
        <p14:creationId xmlns:p14="http://schemas.microsoft.com/office/powerpoint/2010/main" val="77453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2026-07-29T15:54:54.9710000Z</dcterms:created>
  <dcterms:modified xsi:type="dcterms:W3CDTF">2026-07-29T15:54:54.9710000Z</dcterms:modified>
</coreProperties>
</file>